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77" r:id="rId2"/>
    <p:sldId id="297" r:id="rId3"/>
    <p:sldId id="296" r:id="rId4"/>
    <p:sldId id="278" r:id="rId5"/>
    <p:sldId id="295" r:id="rId6"/>
    <p:sldId id="309" r:id="rId7"/>
    <p:sldId id="310" r:id="rId8"/>
    <p:sldId id="319" r:id="rId9"/>
    <p:sldId id="318" r:id="rId10"/>
    <p:sldId id="314" r:id="rId11"/>
    <p:sldId id="271" r:id="rId12"/>
    <p:sldId id="261" r:id="rId13"/>
    <p:sldId id="294" r:id="rId14"/>
    <p:sldId id="279" r:id="rId15"/>
    <p:sldId id="280" r:id="rId16"/>
    <p:sldId id="290" r:id="rId17"/>
    <p:sldId id="281" r:id="rId18"/>
    <p:sldId id="291" r:id="rId19"/>
    <p:sldId id="300" r:id="rId20"/>
    <p:sldId id="298" r:id="rId21"/>
    <p:sldId id="299" r:id="rId22"/>
    <p:sldId id="306" r:id="rId23"/>
    <p:sldId id="292" r:id="rId24"/>
    <p:sldId id="293" r:id="rId25"/>
    <p:sldId id="308" r:id="rId26"/>
    <p:sldId id="313" r:id="rId27"/>
    <p:sldId id="316" r:id="rId28"/>
    <p:sldId id="303" r:id="rId29"/>
    <p:sldId id="272" r:id="rId30"/>
    <p:sldId id="273" r:id="rId31"/>
    <p:sldId id="305" r:id="rId32"/>
    <p:sldId id="304" r:id="rId33"/>
    <p:sldId id="258" r:id="rId34"/>
    <p:sldId id="259" r:id="rId35"/>
    <p:sldId id="260" r:id="rId36"/>
    <p:sldId id="282" r:id="rId37"/>
    <p:sldId id="307" r:id="rId38"/>
    <p:sldId id="284" r:id="rId39"/>
    <p:sldId id="301" r:id="rId40"/>
    <p:sldId id="285" r:id="rId41"/>
    <p:sldId id="288" r:id="rId42"/>
    <p:sldId id="315" r:id="rId43"/>
    <p:sldId id="320" r:id="rId44"/>
    <p:sldId id="283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212136374807458"/>
          <c:y val="0.15236899138756813"/>
          <c:w val="0.49126106882793347"/>
          <c:h val="0.73689154401969903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1187-4CEC-9CED-034EBAADE1A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187-4CEC-9CED-034EBAADE1A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1187-4CEC-9CED-034EBAADE1A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239-449E-8235-188FAFCB890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8DD-4CDB-8FB4-964038A643E4}"/>
              </c:ext>
            </c:extLst>
          </c:dPt>
          <c:dLbls>
            <c:dLbl>
              <c:idx val="0"/>
              <c:layout>
                <c:manualLayout>
                  <c:x val="-9.002712396799456E-2"/>
                  <c:y val="-0.3726785333398154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187-4CEC-9CED-034EBAADE1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Лист1!$A$2:$A$6</c:f>
              <c:strCache>
                <c:ptCount val="5"/>
                <c:pt idx="0">
                  <c:v>Облачная</c:v>
                </c:pt>
                <c:pt idx="1">
                  <c:v>Базовая</c:v>
                </c:pt>
                <c:pt idx="2">
                  <c:v>ПРОФ</c:v>
                </c:pt>
                <c:pt idx="3">
                  <c:v>КОРП</c:v>
                </c:pt>
                <c:pt idx="4">
                  <c:v>Другое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87-4CEC-9CED-034EBAADE1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597033374536464E-2"/>
          <c:y val="0.13553326836143198"/>
          <c:w val="0.97280593325092712"/>
          <c:h val="0.79525697591560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1С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100</c:v>
                </c:pt>
                <c:pt idx="1">
                  <c:v>125</c:v>
                </c:pt>
                <c:pt idx="2">
                  <c:v>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BC-404D-9E11-190224186FC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Антивирусы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80</c:v>
                </c:pt>
                <c:pt idx="1">
                  <c:v>75</c:v>
                </c:pt>
                <c:pt idx="2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BC-404D-9E11-190224186FC1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Сервисы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Лист1!$D$2:$D$4</c:f>
              <c:numCache>
                <c:formatCode>General</c:formatCode>
                <c:ptCount val="3"/>
                <c:pt idx="0">
                  <c:v>175</c:v>
                </c:pt>
                <c:pt idx="1">
                  <c:v>200</c:v>
                </c:pt>
                <c:pt idx="2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BC-404D-9E11-190224186FC1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ИТС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Лист1!$A$2:$A$4</c:f>
              <c:numCache>
                <c:formatCode>General</c:formatCode>
                <c:ptCount val="3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</c:numCache>
            </c:numRef>
          </c:cat>
          <c:val>
            <c:numRef>
              <c:f>Лист1!$E$2:$E$4</c:f>
              <c:numCache>
                <c:formatCode>General</c:formatCode>
                <c:ptCount val="3"/>
                <c:pt idx="0">
                  <c:v>125</c:v>
                </c:pt>
                <c:pt idx="1">
                  <c:v>142</c:v>
                </c:pt>
                <c:pt idx="2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5BC-404D-9E11-190224186F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979226576"/>
        <c:axId val="979226992"/>
      </c:barChart>
      <c:catAx>
        <c:axId val="97922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979226992"/>
        <c:crosses val="autoZero"/>
        <c:auto val="1"/>
        <c:lblAlgn val="ctr"/>
        <c:lblOffset val="100"/>
        <c:tickMarkSkip val="10"/>
        <c:noMultiLvlLbl val="0"/>
      </c:catAx>
      <c:valAx>
        <c:axId val="9792269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79226576"/>
        <c:crosses val="autoZero"/>
        <c:crossBetween val="between"/>
      </c:valAx>
      <c:spPr>
        <a:noFill/>
        <a:ln w="0" cmpd="dbl">
          <a:noFill/>
        </a:ln>
        <a:effectLst>
          <a:softEdge rad="0"/>
        </a:effectLst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652232983022401"/>
          <c:y val="4.0943819173002945E-2"/>
          <c:w val="0.87254024609041936"/>
          <c:h val="0.65781094818940888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Лист1!$B$25</c:f>
              <c:strCache>
                <c:ptCount val="1"/>
                <c:pt idx="0">
                  <c:v>Показатель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Лист1!$A$26:$A$37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Лист1!$B$26:$B$37</c:f>
              <c:numCache>
                <c:formatCode>0</c:formatCode>
                <c:ptCount val="12"/>
                <c:pt idx="0">
                  <c:v>4453</c:v>
                </c:pt>
                <c:pt idx="1">
                  <c:v>7541</c:v>
                </c:pt>
                <c:pt idx="2">
                  <c:v>6853</c:v>
                </c:pt>
                <c:pt idx="3">
                  <c:v>9530</c:v>
                </c:pt>
                <c:pt idx="4">
                  <c:v>6802</c:v>
                </c:pt>
                <c:pt idx="5">
                  <c:v>6992</c:v>
                </c:pt>
                <c:pt idx="6">
                  <c:v>7427</c:v>
                </c:pt>
                <c:pt idx="7">
                  <c:v>5963</c:v>
                </c:pt>
                <c:pt idx="8">
                  <c:v>6948</c:v>
                </c:pt>
                <c:pt idx="9">
                  <c:v>8346</c:v>
                </c:pt>
                <c:pt idx="10">
                  <c:v>7870</c:v>
                </c:pt>
                <c:pt idx="11">
                  <c:v>8787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7F-4E1A-9632-900417BE8BC8}"/>
            </c:ext>
          </c:extLst>
        </c:ser>
        <c:ser>
          <c:idx val="1"/>
          <c:order val="1"/>
          <c:tx>
            <c:strRef>
              <c:f>Лист1!$C$25</c:f>
              <c:strCache>
                <c:ptCount val="1"/>
                <c:pt idx="0">
                  <c:v>Показатель 2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strRef>
              <c:f>Лист1!$A$26:$A$37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Лист1!$C$26:$C$37</c:f>
              <c:numCache>
                <c:formatCode>0</c:formatCode>
                <c:ptCount val="12"/>
                <c:pt idx="0">
                  <c:v>5167</c:v>
                </c:pt>
                <c:pt idx="1">
                  <c:v>9674</c:v>
                </c:pt>
                <c:pt idx="2">
                  <c:v>8107</c:v>
                </c:pt>
                <c:pt idx="3">
                  <c:v>8934</c:v>
                </c:pt>
                <c:pt idx="4">
                  <c:v>7624</c:v>
                </c:pt>
                <c:pt idx="5">
                  <c:v>7350</c:v>
                </c:pt>
                <c:pt idx="6">
                  <c:v>8362</c:v>
                </c:pt>
                <c:pt idx="7">
                  <c:v>7893</c:v>
                </c:pt>
                <c:pt idx="8">
                  <c:v>9395</c:v>
                </c:pt>
                <c:pt idx="9">
                  <c:v>10436</c:v>
                </c:pt>
                <c:pt idx="10">
                  <c:v>9255</c:v>
                </c:pt>
                <c:pt idx="11">
                  <c:v>6725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7F-4E1A-9632-900417BE8B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8468527"/>
        <c:axId val="488474767"/>
      </c:lineChart>
      <c:catAx>
        <c:axId val="488468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488474767"/>
        <c:crosses val="autoZero"/>
        <c:auto val="1"/>
        <c:lblAlgn val="ctr"/>
        <c:lblOffset val="100"/>
        <c:noMultiLvlLbl val="0"/>
      </c:catAx>
      <c:valAx>
        <c:axId val="488474767"/>
        <c:scaling>
          <c:orientation val="minMax"/>
          <c:min val="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ru-RU"/>
          </a:p>
        </c:txPr>
        <c:crossAx val="488468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7826185808323208E-2"/>
          <c:y val="0.89069582462220021"/>
          <c:w val="0.97196108726529518"/>
          <c:h val="9.24620070914614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lnSpc>
              <a:spcPct val="90000"/>
            </a:lnSpc>
            <a:defRPr sz="1050" b="0" i="0" u="none" strike="noStrike" kern="1200" baseline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D6420-324F-4B35-AE1D-31198132CD0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721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2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.png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9" Type="http://schemas.openxmlformats.org/officeDocument/2006/relationships/image" Target="../media/image70.png"/><Relationship Id="rId21" Type="http://schemas.openxmlformats.org/officeDocument/2006/relationships/image" Target="../media/image57.png"/><Relationship Id="rId34" Type="http://schemas.openxmlformats.org/officeDocument/2006/relationships/image" Target="../media/image67.png"/><Relationship Id="rId42" Type="http://schemas.openxmlformats.org/officeDocument/2006/relationships/image" Target="../media/image73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6" Type="http://schemas.openxmlformats.org/officeDocument/2006/relationships/image" Target="../media/image28.png"/><Relationship Id="rId20" Type="http://schemas.openxmlformats.org/officeDocument/2006/relationships/image" Target="../media/image56.png"/><Relationship Id="rId29" Type="http://schemas.openxmlformats.org/officeDocument/2006/relationships/image" Target="../media/image62.png"/><Relationship Id="rId41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24" Type="http://schemas.openxmlformats.org/officeDocument/2006/relationships/image" Target="../media/image25.png"/><Relationship Id="rId32" Type="http://schemas.openxmlformats.org/officeDocument/2006/relationships/image" Target="../media/image65.png"/><Relationship Id="rId37" Type="http://schemas.openxmlformats.org/officeDocument/2006/relationships/image" Target="../media/image69.png"/><Relationship Id="rId40" Type="http://schemas.openxmlformats.org/officeDocument/2006/relationships/image" Target="../media/image71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23" Type="http://schemas.openxmlformats.org/officeDocument/2006/relationships/image" Target="../media/image59.png"/><Relationship Id="rId28" Type="http://schemas.openxmlformats.org/officeDocument/2006/relationships/image" Target="../media/image61.png"/><Relationship Id="rId36" Type="http://schemas.openxmlformats.org/officeDocument/2006/relationships/image" Target="../media/image68.png"/><Relationship Id="rId10" Type="http://schemas.openxmlformats.org/officeDocument/2006/relationships/image" Target="../media/image48.png"/><Relationship Id="rId19" Type="http://schemas.openxmlformats.org/officeDocument/2006/relationships/image" Target="../media/image55.png"/><Relationship Id="rId31" Type="http://schemas.openxmlformats.org/officeDocument/2006/relationships/image" Target="../media/image64.png"/><Relationship Id="rId44" Type="http://schemas.openxmlformats.org/officeDocument/2006/relationships/image" Target="../media/image75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58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Relationship Id="rId35" Type="http://schemas.openxmlformats.org/officeDocument/2006/relationships/image" Target="../media/image27.png"/><Relationship Id="rId43" Type="http://schemas.openxmlformats.org/officeDocument/2006/relationships/image" Target="../media/image74.png"/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12" Type="http://schemas.openxmlformats.org/officeDocument/2006/relationships/image" Target="../media/image50.png"/><Relationship Id="rId17" Type="http://schemas.openxmlformats.org/officeDocument/2006/relationships/image" Target="../media/image54.png"/><Relationship Id="rId25" Type="http://schemas.openxmlformats.org/officeDocument/2006/relationships/image" Target="../media/image24.png"/><Relationship Id="rId33" Type="http://schemas.openxmlformats.org/officeDocument/2006/relationships/image" Target="../media/image66.png"/><Relationship Id="rId38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26" Type="http://schemas.openxmlformats.org/officeDocument/2006/relationships/image" Target="../media/image100.png"/><Relationship Id="rId3" Type="http://schemas.openxmlformats.org/officeDocument/2006/relationships/image" Target="../media/image77.png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9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32" Type="http://schemas.openxmlformats.org/officeDocument/2006/relationships/image" Target="../media/image106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28" Type="http://schemas.openxmlformats.org/officeDocument/2006/relationships/image" Target="../media/image102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31" Type="http://schemas.openxmlformats.org/officeDocument/2006/relationships/image" Target="../media/image105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Relationship Id="rId27" Type="http://schemas.openxmlformats.org/officeDocument/2006/relationships/image" Target="../media/image101.png"/><Relationship Id="rId30" Type="http://schemas.openxmlformats.org/officeDocument/2006/relationships/image" Target="../media/image10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6.png"/><Relationship Id="rId3" Type="http://schemas.openxmlformats.org/officeDocument/2006/relationships/image" Target="../media/image108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15.png"/><Relationship Id="rId5" Type="http://schemas.openxmlformats.org/officeDocument/2006/relationships/image" Target="../media/image110.png"/><Relationship Id="rId10" Type="http://schemas.openxmlformats.org/officeDocument/2006/relationships/image" Target="../media/image114.png"/><Relationship Id="rId4" Type="http://schemas.openxmlformats.org/officeDocument/2006/relationships/image" Target="../media/image109.png"/><Relationship Id="rId9" Type="http://schemas.openxmlformats.org/officeDocument/2006/relationships/image" Target="../media/image11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Темный шаблон презентации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Иван Иванов </a:t>
            </a:r>
          </a:p>
          <a:p>
            <a:r>
              <a:rPr lang="ru-RU" dirty="0"/>
              <a:t>Автор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99493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684DF4B-EABF-4073-B5C2-94DE8683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713" y="3295649"/>
            <a:ext cx="9850501" cy="2001363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1"/>
                </a:solidFill>
              </a:rPr>
              <a:t>Второй вариант </a:t>
            </a:r>
            <a:r>
              <a:rPr lang="ru-RU" dirty="0"/>
              <a:t>Название презентации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96F3C994-B952-4F7D-B91B-8CFC3E448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713" y="5297013"/>
            <a:ext cx="9850501" cy="776557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53629D-FDB2-4562-976B-50A7277053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0" y="669219"/>
            <a:ext cx="3274131" cy="327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49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B6E8BF1-1B06-46B5-A28D-7F2095BEF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092" y="399597"/>
            <a:ext cx="4510845" cy="361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B08148-DC28-432F-807B-6DF221A858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Еще один вариант</a:t>
            </a:r>
            <a:br>
              <a:rPr lang="ru-RU" dirty="0"/>
            </a:br>
            <a:r>
              <a:rPr lang="ru-RU" dirty="0"/>
              <a:t>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23F0AC-88C0-4E45-B2F4-5B5268E9A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8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Типовой лист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884902" y="1562401"/>
            <a:ext cx="10392697" cy="739177"/>
          </a:xfrm>
        </p:spPr>
        <p:txBody>
          <a:bodyPr/>
          <a:lstStyle/>
          <a:p>
            <a:r>
              <a:rPr lang="ru-RU" dirty="0"/>
              <a:t>Все остальные страницы с контентом строятся на основе такого типового листа.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D2B5041-8B08-456F-ABC2-1441BD630214}"/>
              </a:ext>
            </a:extLst>
          </p:cNvPr>
          <p:cNvCxnSpPr/>
          <p:nvPr/>
        </p:nvCxnSpPr>
        <p:spPr>
          <a:xfrm>
            <a:off x="4471593" y="4419683"/>
            <a:ext cx="1428750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F957A8B-854B-4595-A963-AF9AC2706052}"/>
              </a:ext>
            </a:extLst>
          </p:cNvPr>
          <p:cNvSpPr txBox="1"/>
          <p:nvPr/>
        </p:nvSpPr>
        <p:spPr>
          <a:xfrm>
            <a:off x="814385" y="2713706"/>
            <a:ext cx="77390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</a:rPr>
              <a:t>Можно выбрать слайд </a:t>
            </a:r>
            <a:r>
              <a:rPr lang="ru-RU" sz="2400" b="1" dirty="0"/>
              <a:t>с серым росчерком снизу или без росчерка вовсе</a:t>
            </a:r>
            <a:endParaRPr lang="ru-RU" sz="240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10799538-8683-44F7-8B9D-19875E54B390}"/>
              </a:ext>
            </a:extLst>
          </p:cNvPr>
          <p:cNvGrpSpPr/>
          <p:nvPr/>
        </p:nvGrpSpPr>
        <p:grpSpPr>
          <a:xfrm>
            <a:off x="874713" y="3856215"/>
            <a:ext cx="3314700" cy="1142224"/>
            <a:chOff x="884902" y="2914649"/>
            <a:chExt cx="2880000" cy="2880000"/>
          </a:xfrm>
        </p:grpSpPr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4B5DB96-2D7A-4BC0-9448-AB9427D2E5D8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9156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Текст 3">
              <a:extLst>
                <a:ext uri="{FF2B5EF4-FFF2-40B4-BE49-F238E27FC236}">
                  <a16:creationId xmlns:a16="http://schemas.microsoft.com/office/drawing/2014/main" id="{4D50F1F9-C54E-4DF8-80C3-E035E6133333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068235"/>
              <a:ext cx="2530069" cy="2534284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>
                  <a:solidFill>
                    <a:schemeClr val="bg2"/>
                  </a:solidFill>
                </a:rPr>
                <a:t>Нажмите правой кнопкой мыши на слайд в списке слайдов слева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FABD9E16-5205-457B-8EDC-537A046772C8}"/>
              </a:ext>
            </a:extLst>
          </p:cNvPr>
          <p:cNvGrpSpPr/>
          <p:nvPr/>
        </p:nvGrpSpPr>
        <p:grpSpPr>
          <a:xfrm>
            <a:off x="6182523" y="3856215"/>
            <a:ext cx="3314700" cy="1142224"/>
            <a:chOff x="884902" y="2914649"/>
            <a:chExt cx="2880000" cy="2880000"/>
          </a:xfrm>
        </p:grpSpPr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8F7387FB-4B6B-4DD8-889D-8CFFB4F924B9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9156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Текст 3">
              <a:extLst>
                <a:ext uri="{FF2B5EF4-FFF2-40B4-BE49-F238E27FC236}">
                  <a16:creationId xmlns:a16="http://schemas.microsoft.com/office/drawing/2014/main" id="{11E1192D-9541-4C6F-8253-5AC6B052FBCA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068235"/>
              <a:ext cx="2530069" cy="2534284"/>
            </a:xfrm>
            <a:prstGeom prst="rect">
              <a:avLst/>
            </a:prstGeom>
          </p:spPr>
          <p:txBody>
            <a:bodyPr anchor="ctr"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>
                  <a:solidFill>
                    <a:schemeClr val="bg2"/>
                  </a:solidFill>
                </a:rPr>
                <a:t>Нажмите «Макет» </a:t>
              </a:r>
              <a:br>
                <a:rPr lang="ru-RU" sz="1600" b="0" dirty="0">
                  <a:solidFill>
                    <a:schemeClr val="bg2"/>
                  </a:solidFill>
                </a:rPr>
              </a:br>
              <a:r>
                <a:rPr lang="ru-RU" sz="1600" b="0" dirty="0">
                  <a:solidFill>
                    <a:schemeClr val="bg2"/>
                  </a:solidFill>
                </a:rPr>
                <a:t>и выберите подходящий слайд</a:t>
              </a:r>
            </a:p>
          </p:txBody>
        </p:sp>
      </p:grp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4838EA0-9866-4D46-965F-4EDF23E90DF5}"/>
              </a:ext>
            </a:extLst>
          </p:cNvPr>
          <p:cNvSpPr/>
          <p:nvPr/>
        </p:nvSpPr>
        <p:spPr>
          <a:xfrm>
            <a:off x="685800" y="2581275"/>
            <a:ext cx="10106025" cy="2714324"/>
          </a:xfrm>
          <a:prstGeom prst="roundRect">
            <a:avLst>
              <a:gd name="adj" fmla="val 4736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878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CB1DFCDF-6784-44B4-AE62-EEF3589D5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441325"/>
            <a:ext cx="10406062" cy="5327879"/>
          </a:xfrm>
          <a:solidFill>
            <a:schemeClr val="bg1">
              <a:lumMod val="95000"/>
              <a:alpha val="25000"/>
            </a:schemeClr>
          </a:solidFill>
        </p:spPr>
        <p:txBody>
          <a:bodyPr lIns="720000" tIns="0" rIns="720000" bIns="0" anchor="ctr" anchorCtr="0">
            <a:normAutofit/>
          </a:bodyPr>
          <a:lstStyle/>
          <a:p>
            <a:r>
              <a:rPr lang="ru-RU" dirty="0"/>
              <a:t>Рабочая область</a:t>
            </a:r>
            <a:br>
              <a:rPr lang="en-US" dirty="0"/>
            </a:br>
            <a:br>
              <a:rPr lang="ru-RU" dirty="0"/>
            </a:br>
            <a:br>
              <a:rPr lang="ru-RU" dirty="0"/>
            </a:br>
            <a:r>
              <a:rPr lang="ru-RU" sz="1800" b="0" dirty="0"/>
              <a:t>Весь контент должен заключаться в этой области экрана. </a:t>
            </a:r>
            <a:br>
              <a:rPr lang="ru-RU" sz="1800" b="0" dirty="0"/>
            </a:br>
            <a:r>
              <a:rPr lang="ru-RU" sz="1800" b="0" dirty="0"/>
              <a:t>Такое зонирование позволит разместить текст и другую информацию </a:t>
            </a:r>
            <a:br>
              <a:rPr lang="ru-RU" sz="1800" b="0" dirty="0"/>
            </a:br>
            <a:r>
              <a:rPr lang="ru-RU" sz="1800" b="0" dirty="0"/>
              <a:t>в максимально комфортном для восприятия месте.</a:t>
            </a:r>
            <a:br>
              <a:rPr lang="ru-RU" sz="1800" b="0" dirty="0"/>
            </a:br>
            <a:br>
              <a:rPr lang="ru-RU" sz="1800" b="0" dirty="0"/>
            </a:br>
            <a:r>
              <a:rPr lang="ru-RU" sz="1800" b="0" dirty="0"/>
              <a:t>Так же в макете имеются направляющие, по которым можно </a:t>
            </a:r>
            <a:br>
              <a:rPr lang="ru-RU" sz="1800" b="0" dirty="0"/>
            </a:br>
            <a:r>
              <a:rPr lang="ru-RU" sz="1800" b="0" dirty="0"/>
              <a:t>выравнивать расположение объектов и не выходить за рамки. </a:t>
            </a:r>
          </a:p>
        </p:txBody>
      </p:sp>
    </p:spTree>
    <p:extLst>
      <p:ext uri="{BB962C8B-B14F-4D97-AF65-F5344CB8AC3E}">
        <p14:creationId xmlns:p14="http://schemas.microsoft.com/office/powerpoint/2010/main" val="1215799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7921E-A985-4091-AD6E-B9A0B9C6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Имиджевые </a:t>
            </a:r>
            <a:r>
              <a:rPr lang="ru-RU" dirty="0">
                <a:solidFill>
                  <a:schemeClr val="accent1"/>
                </a:solidFill>
              </a:rPr>
              <a:t>слайды </a:t>
            </a:r>
            <a:br>
              <a:rPr lang="ru-RU" dirty="0">
                <a:solidFill>
                  <a:schemeClr val="accent1"/>
                </a:solidFill>
              </a:rPr>
            </a:br>
            <a:r>
              <a:rPr lang="ru-RU" dirty="0">
                <a:solidFill>
                  <a:schemeClr val="accent1"/>
                </a:solidFill>
              </a:rPr>
              <a:t>о компании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E02A3D-7EB0-4DD4-A0D2-5B400BC5C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41325"/>
            <a:ext cx="4733925" cy="446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45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5">
            <a:extLst>
              <a:ext uri="{FF2B5EF4-FFF2-40B4-BE49-F238E27FC236}">
                <a16:creationId xmlns:a16="http://schemas.microsoft.com/office/drawing/2014/main" id="{B2AF6F76-DA7B-45B9-BB83-D8714CD27C38}"/>
              </a:ext>
            </a:extLst>
          </p:cNvPr>
          <p:cNvSpPr txBox="1">
            <a:spLocks/>
          </p:cNvSpPr>
          <p:nvPr/>
        </p:nvSpPr>
        <p:spPr>
          <a:xfrm>
            <a:off x="818227" y="1212771"/>
            <a:ext cx="4179467" cy="212773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«</a:t>
            </a:r>
            <a:r>
              <a:rPr lang="ru-RU" dirty="0" err="1">
                <a:solidFill>
                  <a:schemeClr val="tx1"/>
                </a:solidFill>
              </a:rPr>
              <a:t>Форус</a:t>
            </a:r>
            <a:r>
              <a:rPr lang="ru-RU" dirty="0">
                <a:solidFill>
                  <a:schemeClr val="tx1"/>
                </a:solidFill>
              </a:rPr>
              <a:t>» —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accent1"/>
                </a:solidFill>
              </a:rPr>
              <a:t>IT-интегратор</a:t>
            </a:r>
            <a:r>
              <a:rPr lang="ru-RU" dirty="0">
                <a:solidFill>
                  <a:schemeClr val="tx1"/>
                </a:solidFill>
              </a:rPr>
              <a:t>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и помощник для компаний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60B1B08A-780F-40FE-9EB3-29502AF18B29}"/>
              </a:ext>
            </a:extLst>
          </p:cNvPr>
          <p:cNvSpPr txBox="1">
            <a:spLocks/>
          </p:cNvSpPr>
          <p:nvPr/>
        </p:nvSpPr>
        <p:spPr>
          <a:xfrm>
            <a:off x="818227" y="4031645"/>
            <a:ext cx="5020598" cy="180658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800" b="0" dirty="0">
                <a:solidFill>
                  <a:schemeClr val="tx1"/>
                </a:solidFill>
              </a:rPr>
              <a:t>Поставляем программы</a:t>
            </a:r>
            <a:br>
              <a:rPr lang="ru-RU" sz="1800" b="0" dirty="0">
                <a:solidFill>
                  <a:schemeClr val="tx1"/>
                </a:solidFill>
              </a:rPr>
            </a:br>
            <a:r>
              <a:rPr lang="ru-RU" sz="1800" b="0" dirty="0">
                <a:solidFill>
                  <a:schemeClr val="tx1"/>
                </a:solidFill>
              </a:rPr>
              <a:t>и сервисы, консультируем, </a:t>
            </a:r>
            <a:r>
              <a:rPr lang="ru-RU" sz="1800" b="0" dirty="0" err="1">
                <a:solidFill>
                  <a:schemeClr val="tx1"/>
                </a:solidFill>
              </a:rPr>
              <a:t>цифровизируем</a:t>
            </a:r>
            <a:r>
              <a:rPr lang="ru-RU" sz="1800" b="0" dirty="0">
                <a:solidFill>
                  <a:schemeClr val="tx1"/>
                </a:solidFill>
              </a:rPr>
              <a:t> и автоматизируем крупные предприятия не только </a:t>
            </a:r>
            <a:br>
              <a:rPr lang="ru-RU" sz="1800" b="0" dirty="0">
                <a:solidFill>
                  <a:schemeClr val="tx1"/>
                </a:solidFill>
              </a:rPr>
            </a:br>
            <a:r>
              <a:rPr lang="ru-RU" sz="1800" b="0" dirty="0">
                <a:solidFill>
                  <a:schemeClr val="tx1"/>
                </a:solidFill>
              </a:rPr>
              <a:t>на территории нашей страны, </a:t>
            </a:r>
            <a:br>
              <a:rPr lang="ru-RU" sz="1800" b="0" dirty="0">
                <a:solidFill>
                  <a:schemeClr val="tx1"/>
                </a:solidFill>
              </a:rPr>
            </a:br>
            <a:r>
              <a:rPr lang="ru-RU" sz="1800" b="0" dirty="0">
                <a:solidFill>
                  <a:schemeClr val="tx1"/>
                </a:solidFill>
              </a:rPr>
              <a:t>но и за её пределами!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D856E-89BF-4B30-9A8A-15EB804329C6}"/>
              </a:ext>
            </a:extLst>
          </p:cNvPr>
          <p:cNvSpPr txBox="1"/>
          <p:nvPr/>
        </p:nvSpPr>
        <p:spPr>
          <a:xfrm>
            <a:off x="8248650" y="4914900"/>
            <a:ext cx="31251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b="1" dirty="0"/>
              <a:t>Мы выводим </a:t>
            </a:r>
            <a:br>
              <a:rPr lang="en-US" b="1" dirty="0"/>
            </a:br>
            <a:r>
              <a:rPr lang="ru-RU" b="1" dirty="0"/>
              <a:t>бизнес на новый </a:t>
            </a:r>
            <a:br>
              <a:rPr lang="en-US" b="1" dirty="0"/>
            </a:br>
            <a:r>
              <a:rPr lang="ru-RU" b="1" dirty="0"/>
              <a:t>уровень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F6E864-D826-419B-9AE8-BDAA47CDD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9" r="21405"/>
          <a:stretch/>
        </p:blipFill>
        <p:spPr>
          <a:xfrm>
            <a:off x="4690031" y="0"/>
            <a:ext cx="7501969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569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B2E98BF-13AB-4250-9895-85C50DBF683E}"/>
              </a:ext>
            </a:extLst>
          </p:cNvPr>
          <p:cNvSpPr txBox="1">
            <a:spLocks/>
          </p:cNvSpPr>
          <p:nvPr/>
        </p:nvSpPr>
        <p:spPr>
          <a:xfrm>
            <a:off x="910248" y="764535"/>
            <a:ext cx="5010161" cy="12260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Направления</a:t>
            </a:r>
            <a:r>
              <a:rPr lang="ru-RU" dirty="0">
                <a:solidFill>
                  <a:schemeClr val="accent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деятельности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DAC81D-BA8A-480F-9587-D6239909D5C9}"/>
              </a:ext>
            </a:extLst>
          </p:cNvPr>
          <p:cNvSpPr txBox="1"/>
          <p:nvPr/>
        </p:nvSpPr>
        <p:spPr>
          <a:xfrm>
            <a:off x="1247775" y="3940231"/>
            <a:ext cx="41919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Обслуживание и сопровождение 1С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E7692D-8846-44A2-8C15-78A79C74E2CA}"/>
              </a:ext>
            </a:extLst>
          </p:cNvPr>
          <p:cNvSpPr txBox="1"/>
          <p:nvPr/>
        </p:nvSpPr>
        <p:spPr>
          <a:xfrm>
            <a:off x="1247775" y="5280406"/>
            <a:ext cx="39157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800"/>
              </a:spcBef>
              <a:spcAft>
                <a:spcPts val="800"/>
              </a:spcAft>
            </a:pPr>
            <a:r>
              <a:rPr lang="en-US" sz="16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Аутсорсинг</a:t>
            </a:r>
            <a:r>
              <a:rPr lang="en-U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бухгалтерских</a:t>
            </a:r>
            <a:r>
              <a:rPr lang="en-U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услуг</a:t>
            </a:r>
            <a:endParaRPr lang="ru-RU" sz="16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03719B-4F5C-4A7D-9B6C-36034A757421}"/>
              </a:ext>
            </a:extLst>
          </p:cNvPr>
          <p:cNvSpPr txBox="1"/>
          <p:nvPr/>
        </p:nvSpPr>
        <p:spPr>
          <a:xfrm>
            <a:off x="1247775" y="2153327"/>
            <a:ext cx="5276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и внедрение</a:t>
            </a:r>
            <a:r>
              <a:rPr lang="en-U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IT</a:t>
            </a:r>
            <a:r>
              <a:rPr lang="ru-RU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-решений</a:t>
            </a:r>
            <a:endParaRPr lang="ru-RU" sz="16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967D31-C29B-4AB8-9D80-E22DFB778103}"/>
              </a:ext>
            </a:extLst>
          </p:cNvPr>
          <p:cNvSpPr txBox="1"/>
          <p:nvPr/>
        </p:nvSpPr>
        <p:spPr>
          <a:xfrm>
            <a:off x="1247775" y="2600053"/>
            <a:ext cx="5800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sz="16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Цифровизация</a:t>
            </a:r>
            <a:r>
              <a:rPr lang="en-U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</a:t>
            </a:r>
            <a:r>
              <a:rPr lang="en-US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бизнеса</a:t>
            </a:r>
            <a:endParaRPr lang="ru-RU" sz="16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2E5773-E0D8-4ABF-B832-D303DD1369FD}"/>
              </a:ext>
            </a:extLst>
          </p:cNvPr>
          <p:cNvSpPr txBox="1"/>
          <p:nvPr/>
        </p:nvSpPr>
        <p:spPr>
          <a:xfrm>
            <a:off x="1247775" y="3046779"/>
            <a:ext cx="5800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Автоматизация учёта государственных учреждений</a:t>
            </a:r>
            <a:endParaRPr lang="ru-RU" sz="16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B6645-08F3-4386-A870-5F91B44519D7}"/>
              </a:ext>
            </a:extLst>
          </p:cNvPr>
          <p:cNvSpPr txBox="1"/>
          <p:nvPr/>
        </p:nvSpPr>
        <p:spPr>
          <a:xfrm>
            <a:off x="1247775" y="3493505"/>
            <a:ext cx="5800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Обеспечение информационной безопасности</a:t>
            </a:r>
            <a:endParaRPr lang="ru-RU" sz="16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9E5D0F-4DE8-42B8-B697-97A4A574F84B}"/>
              </a:ext>
            </a:extLst>
          </p:cNvPr>
          <p:cNvSpPr txBox="1"/>
          <p:nvPr/>
        </p:nvSpPr>
        <p:spPr>
          <a:xfrm>
            <a:off x="1247775" y="4386957"/>
            <a:ext cx="41919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Обучение пользователей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D35A6B-3313-45C3-BD2D-47E44DDEE2B3}"/>
              </a:ext>
            </a:extLst>
          </p:cNvPr>
          <p:cNvSpPr txBox="1"/>
          <p:nvPr/>
        </p:nvSpPr>
        <p:spPr>
          <a:xfrm>
            <a:off x="1247775" y="4833683"/>
            <a:ext cx="41919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800"/>
              </a:spcBef>
              <a:spcAft>
                <a:spcPts val="800"/>
              </a:spcAft>
            </a:pPr>
            <a:r>
              <a:rPr lang="ru-RU" sz="16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Дистрибьюция ПО и оборудования</a:t>
            </a:r>
            <a:endParaRPr lang="ru-RU" sz="16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A67C2A-16A4-459C-8037-6999F3E43A58}"/>
              </a:ext>
            </a:extLst>
          </p:cNvPr>
          <p:cNvSpPr txBox="1"/>
          <p:nvPr/>
        </p:nvSpPr>
        <p:spPr>
          <a:xfrm>
            <a:off x="7296150" y="4754086"/>
            <a:ext cx="40692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b="1" dirty="0"/>
              <a:t>Мы не просто решаем текущие проблемы клиентов, а </a:t>
            </a:r>
            <a:r>
              <a:rPr lang="ru-RU" b="1" dirty="0">
                <a:solidFill>
                  <a:schemeClr val="accent1"/>
                </a:solidFill>
              </a:rPr>
              <a:t>выстраиваем партнёрские отношения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8EFC0BA-AAF2-44A4-B300-A5F28206A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88" y="2190062"/>
            <a:ext cx="263345" cy="26334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7A4C3CE-FDEA-4BFB-A692-62FFFB5AC6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88" y="2637657"/>
            <a:ext cx="263345" cy="26334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E219A80B-7869-4BCC-AAEC-E7DFBDF8DD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88" y="3094777"/>
            <a:ext cx="263345" cy="26334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C24D654-CB97-4EFE-B792-C794445A85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88" y="3542372"/>
            <a:ext cx="263345" cy="26334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274BBFC-9DE1-4BFF-A416-C1F69535B2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88" y="3970194"/>
            <a:ext cx="263345" cy="26334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66D7649-77A6-40A1-B465-A506BAFC49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88" y="4417789"/>
            <a:ext cx="263345" cy="26334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BFDCB54-4736-4359-A9D7-F0470C8034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88" y="4879445"/>
            <a:ext cx="263345" cy="263345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642F2268-128F-4DCF-AF99-0F1AF0D73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088" y="5317515"/>
            <a:ext cx="263345" cy="263345"/>
          </a:xfrm>
          <a:prstGeom prst="rect">
            <a:avLst/>
          </a:prstGeom>
        </p:spPr>
      </p:pic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3E53C7E-62BA-430E-9977-354482D02502}"/>
              </a:ext>
            </a:extLst>
          </p:cNvPr>
          <p:cNvGrpSpPr/>
          <p:nvPr/>
        </p:nvGrpSpPr>
        <p:grpSpPr>
          <a:xfrm>
            <a:off x="7132157" y="471886"/>
            <a:ext cx="4233252" cy="3806899"/>
            <a:chOff x="7048500" y="526321"/>
            <a:chExt cx="4233252" cy="3806899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83063CD1-208C-4880-B1A9-DA461A6D84EF}"/>
                </a:ext>
              </a:extLst>
            </p:cNvPr>
            <p:cNvSpPr/>
            <p:nvPr/>
          </p:nvSpPr>
          <p:spPr>
            <a:xfrm>
              <a:off x="8704618" y="1756086"/>
              <a:ext cx="2577134" cy="2577134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62F15AA0-4F23-4E19-B2D5-F2EAB1D59A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49" t="17398" r="11556" b="13184"/>
            <a:stretch/>
          </p:blipFill>
          <p:spPr>
            <a:xfrm>
              <a:off x="7048500" y="526321"/>
              <a:ext cx="4143375" cy="35623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2332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B4E2C38-0032-4290-9E8F-C98F750B83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4"/>
          <a:stretch/>
        </p:blipFill>
        <p:spPr>
          <a:xfrm>
            <a:off x="4371741" y="0"/>
            <a:ext cx="7753583" cy="6093465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B2E98BF-13AB-4250-9895-85C50DBF683E}"/>
              </a:ext>
            </a:extLst>
          </p:cNvPr>
          <p:cNvSpPr txBox="1">
            <a:spLocks/>
          </p:cNvSpPr>
          <p:nvPr/>
        </p:nvSpPr>
        <p:spPr>
          <a:xfrm>
            <a:off x="856327" y="764535"/>
            <a:ext cx="5010161" cy="12260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Регионы присутствия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Текст 6">
            <a:extLst>
              <a:ext uri="{FF2B5EF4-FFF2-40B4-BE49-F238E27FC236}">
                <a16:creationId xmlns:a16="http://schemas.microsoft.com/office/drawing/2014/main" id="{245AC881-4213-4B46-B77C-158D55C3B595}"/>
              </a:ext>
            </a:extLst>
          </p:cNvPr>
          <p:cNvSpPr txBox="1">
            <a:spLocks/>
          </p:cNvSpPr>
          <p:nvPr/>
        </p:nvSpPr>
        <p:spPr>
          <a:xfrm>
            <a:off x="856327" y="2832585"/>
            <a:ext cx="5020598" cy="29909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8500" dirty="0">
                <a:solidFill>
                  <a:schemeClr val="accent1"/>
                </a:solidFill>
              </a:rPr>
              <a:t>18</a:t>
            </a:r>
            <a:br>
              <a:rPr lang="ru-RU" sz="8500" dirty="0">
                <a:solidFill>
                  <a:schemeClr val="accent1"/>
                </a:solidFill>
              </a:rPr>
            </a:br>
            <a:r>
              <a:rPr lang="ru-RU" sz="2100" dirty="0">
                <a:latin typeface="+mj-lt"/>
              </a:rPr>
              <a:t>р</a:t>
            </a:r>
            <a:r>
              <a:rPr lang="ru-RU" sz="2000" i="0" dirty="0">
                <a:effectLst/>
                <a:latin typeface="+mj-lt"/>
              </a:rPr>
              <a:t>егионов в России</a:t>
            </a:r>
          </a:p>
          <a:p>
            <a:pPr marL="447675" indent="-2667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2000" b="0" dirty="0">
                <a:latin typeface="+mj-lt"/>
              </a:rPr>
              <a:t>О</a:t>
            </a:r>
            <a:r>
              <a:rPr lang="ru-RU" sz="2000" b="0" i="0" dirty="0">
                <a:effectLst/>
                <a:latin typeface="+mj-lt"/>
              </a:rPr>
              <a:t>фис в Монголии </a:t>
            </a:r>
            <a:br>
              <a:rPr lang="ru-RU" sz="2000" b="0" i="0" dirty="0">
                <a:effectLst/>
                <a:latin typeface="+mj-lt"/>
              </a:rPr>
            </a:br>
            <a:r>
              <a:rPr lang="ru-RU" sz="2000" b="0" i="0" dirty="0">
                <a:effectLst/>
                <a:latin typeface="+mj-lt"/>
              </a:rPr>
              <a:t>и Узбекистане (г. Ташкент)</a:t>
            </a:r>
          </a:p>
          <a:p>
            <a:pPr marL="447675" indent="-2667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2000" b="0" dirty="0">
                <a:solidFill>
                  <a:schemeClr val="tx1"/>
                </a:solidFill>
              </a:rPr>
              <a:t>Проекты в Индонезии</a:t>
            </a:r>
            <a:endParaRPr lang="ru-RU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026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Заголовок 1">
            <a:extLst>
              <a:ext uri="{FF2B5EF4-FFF2-40B4-BE49-F238E27FC236}">
                <a16:creationId xmlns:a16="http://schemas.microsoft.com/office/drawing/2014/main" id="{37CB4F1A-7BE6-4C15-AE5F-EBAE989A5642}"/>
              </a:ext>
            </a:extLst>
          </p:cNvPr>
          <p:cNvSpPr txBox="1">
            <a:spLocks/>
          </p:cNvSpPr>
          <p:nvPr/>
        </p:nvSpPr>
        <p:spPr>
          <a:xfrm>
            <a:off x="884902" y="441325"/>
            <a:ext cx="10392696" cy="985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latin typeface="Verdana" pitchFamily="34" charset="0"/>
                <a:ea typeface="Verdana" pitchFamily="34" charset="0"/>
                <a:cs typeface="Verdana" pitchFamily="34" charset="0"/>
              </a:rPr>
              <a:t>О группе </a:t>
            </a:r>
            <a:r>
              <a:rPr lang="ru-RU">
                <a:latin typeface="Verdana" pitchFamily="34" charset="0"/>
                <a:ea typeface="Verdana" pitchFamily="34" charset="0"/>
              </a:rPr>
              <a:t>ко</a:t>
            </a:r>
            <a:r>
              <a:rPr lang="ru-RU">
                <a:latin typeface="Verdana" pitchFamily="34" charset="0"/>
                <a:ea typeface="Verdana" pitchFamily="34" charset="0"/>
                <a:cs typeface="Verdana" pitchFamily="34" charset="0"/>
              </a:rPr>
              <a:t>мпаний «Форус»</a:t>
            </a:r>
            <a:endParaRPr lang="ru-RU" dirty="0"/>
          </a:p>
        </p:txBody>
      </p: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1CCA2372-E7F5-4BDC-B40F-0CEC04AA0463}"/>
              </a:ext>
            </a:extLst>
          </p:cNvPr>
          <p:cNvGrpSpPr/>
          <p:nvPr/>
        </p:nvGrpSpPr>
        <p:grpSpPr>
          <a:xfrm>
            <a:off x="1052734" y="1426598"/>
            <a:ext cx="2361527" cy="1293205"/>
            <a:chOff x="1052734" y="1494698"/>
            <a:chExt cx="2361527" cy="1293205"/>
          </a:xfrm>
          <a:solidFill>
            <a:schemeClr val="accent1"/>
          </a:solidFill>
        </p:grpSpPr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32CDD689-8181-4511-968D-8BCF46367B16}"/>
                </a:ext>
              </a:extLst>
            </p:cNvPr>
            <p:cNvSpPr/>
            <p:nvPr/>
          </p:nvSpPr>
          <p:spPr>
            <a:xfrm>
              <a:off x="1055359" y="1494698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/>
                </a:solidFill>
              </a:endParaRPr>
            </a:p>
          </p:txBody>
        </p:sp>
        <p:sp>
          <p:nvSpPr>
            <p:cNvPr id="43" name="object 7">
              <a:extLst>
                <a:ext uri="{FF2B5EF4-FFF2-40B4-BE49-F238E27FC236}">
                  <a16:creationId xmlns:a16="http://schemas.microsoft.com/office/drawing/2014/main" id="{C40167E6-0B78-4DB9-AE9E-15E96AED26F5}"/>
                </a:ext>
              </a:extLst>
            </p:cNvPr>
            <p:cNvSpPr txBox="1"/>
            <p:nvPr/>
          </p:nvSpPr>
          <p:spPr>
            <a:xfrm>
              <a:off x="1052734" y="2065598"/>
              <a:ext cx="2358901" cy="52129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marR="6765" algn="ctr"/>
              <a:r>
                <a:rPr sz="1100" dirty="0" err="1">
                  <a:solidFill>
                    <a:schemeClr val="bg1"/>
                  </a:solidFill>
                </a:rPr>
                <a:t>крупнейших</a:t>
              </a:r>
              <a:r>
                <a:rPr sz="1100" dirty="0">
                  <a:solidFill>
                    <a:schemeClr val="bg1"/>
                  </a:solidFill>
                </a:rPr>
                <a:t> </a:t>
              </a:r>
              <a:br>
                <a:rPr lang="en-US" sz="1100" dirty="0">
                  <a:solidFill>
                    <a:schemeClr val="bg1"/>
                  </a:solidFill>
                </a:rPr>
              </a:br>
              <a:r>
                <a:rPr lang="ru-RU" sz="1100" dirty="0">
                  <a:solidFill>
                    <a:schemeClr val="bg1"/>
                  </a:solidFill>
                </a:rPr>
                <a:t>интеграторов 1С в </a:t>
              </a:r>
              <a:r>
                <a:rPr sz="1100" dirty="0" err="1">
                  <a:solidFill>
                    <a:schemeClr val="bg1"/>
                  </a:solidFill>
                </a:rPr>
                <a:t>России</a:t>
              </a:r>
              <a:r>
                <a:rPr sz="1100" dirty="0">
                  <a:solidFill>
                    <a:schemeClr val="bg1"/>
                  </a:solidFill>
                </a:rPr>
                <a:t>, </a:t>
              </a:r>
              <a:br>
                <a:rPr lang="en-US" sz="1100" dirty="0">
                  <a:solidFill>
                    <a:schemeClr val="bg1"/>
                  </a:solidFill>
                </a:rPr>
              </a:br>
              <a:r>
                <a:rPr lang="ru-RU" sz="1100" dirty="0">
                  <a:solidFill>
                    <a:schemeClr val="bg1"/>
                  </a:solidFill>
                </a:rPr>
                <a:t>№1 в Сибири и ДВ</a:t>
              </a:r>
            </a:p>
          </p:txBody>
        </p:sp>
        <p:sp>
          <p:nvSpPr>
            <p:cNvPr id="44" name="object 8">
              <a:extLst>
                <a:ext uri="{FF2B5EF4-FFF2-40B4-BE49-F238E27FC236}">
                  <a16:creationId xmlns:a16="http://schemas.microsoft.com/office/drawing/2014/main" id="{0BB3CE89-9556-4771-A05F-D3EA2A541060}"/>
                </a:ext>
              </a:extLst>
            </p:cNvPr>
            <p:cNvSpPr txBox="1"/>
            <p:nvPr/>
          </p:nvSpPr>
          <p:spPr>
            <a:xfrm>
              <a:off x="1343028" y="1696266"/>
              <a:ext cx="1754409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sz="2400" b="1" spc="33" dirty="0">
                  <a:solidFill>
                    <a:schemeClr val="bg1"/>
                  </a:solidFill>
                  <a:latin typeface="Verdana"/>
                  <a:cs typeface="Verdana"/>
                </a:rPr>
                <a:t>ТОП</a:t>
              </a:r>
              <a:r>
                <a:rPr sz="2400" b="1" spc="-87" dirty="0">
                  <a:solidFill>
                    <a:schemeClr val="bg1"/>
                  </a:solidFill>
                  <a:latin typeface="Verdana"/>
                  <a:cs typeface="Verdana"/>
                </a:rPr>
                <a:t> </a:t>
              </a:r>
              <a:r>
                <a:rPr lang="ru-RU" sz="2400" b="1" spc="33" dirty="0">
                  <a:solidFill>
                    <a:schemeClr val="bg1"/>
                  </a:solidFill>
                  <a:latin typeface="Verdana"/>
                  <a:cs typeface="Verdana"/>
                </a:rPr>
                <a:t>5</a:t>
              </a:r>
              <a:endParaRPr sz="2400" dirty="0">
                <a:solidFill>
                  <a:schemeClr val="bg1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EBBBDF1-6CD8-467F-8BDF-ED885EA4D336}"/>
              </a:ext>
            </a:extLst>
          </p:cNvPr>
          <p:cNvGrpSpPr/>
          <p:nvPr/>
        </p:nvGrpSpPr>
        <p:grpSpPr>
          <a:xfrm>
            <a:off x="3541384" y="1426598"/>
            <a:ext cx="2358902" cy="1293205"/>
            <a:chOff x="3541384" y="1494698"/>
            <a:chExt cx="2358902" cy="1293205"/>
          </a:xfrm>
          <a:solidFill>
            <a:schemeClr val="bg1"/>
          </a:solidFill>
        </p:grpSpPr>
        <p:sp>
          <p:nvSpPr>
            <p:cNvPr id="46" name="Прямоугольник: скругленные углы 45">
              <a:extLst>
                <a:ext uri="{FF2B5EF4-FFF2-40B4-BE49-F238E27FC236}">
                  <a16:creationId xmlns:a16="http://schemas.microsoft.com/office/drawing/2014/main" id="{CEADEB9C-0E0F-4DF6-A0A1-947ADC418FF6}"/>
                </a:ext>
              </a:extLst>
            </p:cNvPr>
            <p:cNvSpPr/>
            <p:nvPr/>
          </p:nvSpPr>
          <p:spPr>
            <a:xfrm>
              <a:off x="3541384" y="1494698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/>
                </a:solidFill>
              </a:endParaRPr>
            </a:p>
          </p:txBody>
        </p:sp>
        <p:sp>
          <p:nvSpPr>
            <p:cNvPr id="47" name="object 7">
              <a:extLst>
                <a:ext uri="{FF2B5EF4-FFF2-40B4-BE49-F238E27FC236}">
                  <a16:creationId xmlns:a16="http://schemas.microsoft.com/office/drawing/2014/main" id="{8E63CC4B-0CB9-427A-AC1F-B39D1ED679A5}"/>
                </a:ext>
              </a:extLst>
            </p:cNvPr>
            <p:cNvSpPr txBox="1"/>
            <p:nvPr/>
          </p:nvSpPr>
          <p:spPr>
            <a:xfrm>
              <a:off x="3584718" y="2068306"/>
              <a:ext cx="2235180" cy="52129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algn="ctr"/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дистрибьюторов</a:t>
              </a:r>
              <a:r>
                <a:rPr lang="ru-RU" sz="1100" spc="-20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1С,</a:t>
              </a:r>
              <a:r>
                <a:rPr lang="en-US" sz="1100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br>
                <a:rPr lang="en-US" sz="1100" dirty="0">
                  <a:solidFill>
                    <a:schemeClr val="bg2"/>
                  </a:solidFill>
                  <a:latin typeface="Verdana"/>
                  <a:cs typeface="Verdana"/>
                </a:rPr>
              </a:b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более </a:t>
              </a:r>
              <a:r>
                <a:rPr lang="ru-RU" sz="1100" dirty="0">
                  <a:solidFill>
                    <a:schemeClr val="bg2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2000</a:t>
              </a:r>
              <a:r>
                <a:rPr lang="en-US" sz="1100" dirty="0">
                  <a:solidFill>
                    <a:schemeClr val="bg2"/>
                  </a:solidFill>
                  <a:latin typeface="Verdana"/>
                  <a:ea typeface="Verdana" pitchFamily="34" charset="0"/>
                  <a:cs typeface="Verdana" pitchFamily="34" charset="0"/>
                </a:rPr>
                <a:t> </a:t>
              </a: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партнёров</a:t>
              </a:r>
              <a:r>
                <a:rPr lang="en-US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br>
                <a:rPr lang="en-US" sz="1100" spc="-7" dirty="0">
                  <a:solidFill>
                    <a:schemeClr val="bg2"/>
                  </a:solidFill>
                  <a:latin typeface="Verdana"/>
                  <a:cs typeface="Verdana"/>
                </a:rPr>
              </a:b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в 19 </a:t>
              </a: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городах </a:t>
              </a: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России</a:t>
              </a:r>
            </a:p>
          </p:txBody>
        </p:sp>
        <p:sp>
          <p:nvSpPr>
            <p:cNvPr id="48" name="object 8">
              <a:extLst>
                <a:ext uri="{FF2B5EF4-FFF2-40B4-BE49-F238E27FC236}">
                  <a16:creationId xmlns:a16="http://schemas.microsoft.com/office/drawing/2014/main" id="{67122298-67C4-40C2-B5BB-C2B81EF4ACFA}"/>
                </a:ext>
              </a:extLst>
            </p:cNvPr>
            <p:cNvSpPr txBox="1"/>
            <p:nvPr/>
          </p:nvSpPr>
          <p:spPr>
            <a:xfrm>
              <a:off x="3924869" y="1698974"/>
              <a:ext cx="1556379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lang="ru-RU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ТОП</a:t>
              </a:r>
              <a:r>
                <a:rPr lang="ru-RU" sz="2400" b="1" spc="-87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lang="ru-RU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5</a:t>
              </a:r>
              <a:endParaRPr lang="ru-RU"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751F4C8C-5B7F-4120-AF8F-C217FB99C93C}"/>
              </a:ext>
            </a:extLst>
          </p:cNvPr>
          <p:cNvGrpSpPr/>
          <p:nvPr/>
        </p:nvGrpSpPr>
        <p:grpSpPr>
          <a:xfrm>
            <a:off x="6027409" y="1426598"/>
            <a:ext cx="2358902" cy="1293205"/>
            <a:chOff x="6027409" y="1494698"/>
            <a:chExt cx="2358902" cy="1293205"/>
          </a:xfrm>
          <a:solidFill>
            <a:schemeClr val="bg1"/>
          </a:solidFill>
        </p:grpSpPr>
        <p:sp>
          <p:nvSpPr>
            <p:cNvPr id="50" name="Прямоугольник: скругленные углы 49">
              <a:extLst>
                <a:ext uri="{FF2B5EF4-FFF2-40B4-BE49-F238E27FC236}">
                  <a16:creationId xmlns:a16="http://schemas.microsoft.com/office/drawing/2014/main" id="{6548073A-2BDC-45CA-96A5-DF5C8D8E396B}"/>
                </a:ext>
              </a:extLst>
            </p:cNvPr>
            <p:cNvSpPr/>
            <p:nvPr/>
          </p:nvSpPr>
          <p:spPr>
            <a:xfrm>
              <a:off x="6027409" y="1494698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2"/>
                </a:solidFill>
              </a:endParaRPr>
            </a:p>
          </p:txBody>
        </p:sp>
        <p:sp>
          <p:nvSpPr>
            <p:cNvPr id="51" name="object 7">
              <a:extLst>
                <a:ext uri="{FF2B5EF4-FFF2-40B4-BE49-F238E27FC236}">
                  <a16:creationId xmlns:a16="http://schemas.microsoft.com/office/drawing/2014/main" id="{3BFC161A-4405-41DE-8A09-A055A39D6A12}"/>
                </a:ext>
              </a:extLst>
            </p:cNvPr>
            <p:cNvSpPr txBox="1"/>
            <p:nvPr/>
          </p:nvSpPr>
          <p:spPr>
            <a:xfrm>
              <a:off x="6160049" y="2072487"/>
              <a:ext cx="2107928" cy="52129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marL="16914" algn="ctr">
                <a:spcBef>
                  <a:spcPts val="140"/>
                </a:spcBef>
              </a:pP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лет опыта работы, </a:t>
              </a:r>
              <a:br>
                <a:rPr lang="en-US" sz="1100" spc="-7" dirty="0">
                  <a:solidFill>
                    <a:schemeClr val="bg2"/>
                  </a:solidFill>
                  <a:latin typeface="Verdana"/>
                  <a:cs typeface="Verdana"/>
                </a:rPr>
              </a:b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с 201</a:t>
              </a:r>
              <a:r>
                <a:rPr lang="en-US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2</a:t>
              </a: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 работаем </a:t>
              </a:r>
              <a:br>
                <a:rPr lang="en-US" sz="1100" spc="-7" dirty="0">
                  <a:solidFill>
                    <a:schemeClr val="bg2"/>
                  </a:solidFill>
                  <a:latin typeface="Verdana"/>
                  <a:cs typeface="Verdana"/>
                </a:rPr>
              </a:b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за рубежом</a:t>
              </a:r>
              <a:endParaRPr lang="ru-RU" sz="11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  <p:sp>
          <p:nvSpPr>
            <p:cNvPr id="52" name="object 8">
              <a:extLst>
                <a:ext uri="{FF2B5EF4-FFF2-40B4-BE49-F238E27FC236}">
                  <a16:creationId xmlns:a16="http://schemas.microsoft.com/office/drawing/2014/main" id="{BB62050E-1E8B-44CF-A16B-312E348FC115}"/>
                </a:ext>
              </a:extLst>
            </p:cNvPr>
            <p:cNvSpPr txBox="1"/>
            <p:nvPr/>
          </p:nvSpPr>
          <p:spPr>
            <a:xfrm>
              <a:off x="6193630" y="1703155"/>
              <a:ext cx="2107928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lang="ru-RU" sz="2400" b="1" spc="33" dirty="0">
                  <a:solidFill>
                    <a:schemeClr val="bg2"/>
                  </a:solidFill>
                  <a:latin typeface="Verdana"/>
                </a:rPr>
                <a:t>30+</a:t>
              </a:r>
            </a:p>
          </p:txBody>
        </p:sp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6177B793-A392-4841-A3AA-45814BC8AA89}"/>
              </a:ext>
            </a:extLst>
          </p:cNvPr>
          <p:cNvGrpSpPr/>
          <p:nvPr/>
        </p:nvGrpSpPr>
        <p:grpSpPr>
          <a:xfrm>
            <a:off x="8513434" y="1426598"/>
            <a:ext cx="2358902" cy="1293205"/>
            <a:chOff x="8513434" y="1494698"/>
            <a:chExt cx="2358902" cy="1293205"/>
          </a:xfrm>
          <a:solidFill>
            <a:schemeClr val="bg1"/>
          </a:solidFill>
        </p:grpSpPr>
        <p:sp>
          <p:nvSpPr>
            <p:cNvPr id="54" name="Прямоугольник: скругленные углы 53">
              <a:extLst>
                <a:ext uri="{FF2B5EF4-FFF2-40B4-BE49-F238E27FC236}">
                  <a16:creationId xmlns:a16="http://schemas.microsoft.com/office/drawing/2014/main" id="{16DADB68-3696-4F00-9E5F-3041DA800ECD}"/>
                </a:ext>
              </a:extLst>
            </p:cNvPr>
            <p:cNvSpPr/>
            <p:nvPr/>
          </p:nvSpPr>
          <p:spPr>
            <a:xfrm>
              <a:off x="8513434" y="1494698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/>
                </a:solidFill>
              </a:endParaRPr>
            </a:p>
          </p:txBody>
        </p:sp>
        <p:sp>
          <p:nvSpPr>
            <p:cNvPr id="55" name="object 7">
              <a:extLst>
                <a:ext uri="{FF2B5EF4-FFF2-40B4-BE49-F238E27FC236}">
                  <a16:creationId xmlns:a16="http://schemas.microsoft.com/office/drawing/2014/main" id="{8E6E1358-C4E8-4C23-A8C3-CB277E99FF39}"/>
                </a:ext>
              </a:extLst>
            </p:cNvPr>
            <p:cNvSpPr txBox="1"/>
            <p:nvPr/>
          </p:nvSpPr>
          <p:spPr>
            <a:xfrm>
              <a:off x="8551946" y="2072487"/>
              <a:ext cx="2306962" cy="52129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marL="50740" marR="6765" indent="-34672" algn="ctr">
                <a:spcBef>
                  <a:spcPts val="140"/>
                </a:spcBef>
              </a:pP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сотрудников, </a:t>
              </a:r>
              <a:br>
                <a:rPr lang="en-US" sz="1100" spc="-7" dirty="0">
                  <a:solidFill>
                    <a:schemeClr val="bg2"/>
                  </a:solidFill>
                  <a:latin typeface="Verdana"/>
                  <a:cs typeface="Verdana"/>
                </a:rPr>
              </a:b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из них &gt;300</a:t>
              </a: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сертифицированы </a:t>
              </a: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в</a:t>
              </a:r>
              <a:r>
                <a:rPr lang="ru-RU" sz="1100" spc="-27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1С</a:t>
              </a:r>
            </a:p>
          </p:txBody>
        </p:sp>
        <p:sp>
          <p:nvSpPr>
            <p:cNvPr id="56" name="object 8">
              <a:extLst>
                <a:ext uri="{FF2B5EF4-FFF2-40B4-BE49-F238E27FC236}">
                  <a16:creationId xmlns:a16="http://schemas.microsoft.com/office/drawing/2014/main" id="{1C9FBA47-C4EE-4D0F-910B-9A6B52A90D3A}"/>
                </a:ext>
              </a:extLst>
            </p:cNvPr>
            <p:cNvSpPr txBox="1"/>
            <p:nvPr/>
          </p:nvSpPr>
          <p:spPr>
            <a:xfrm>
              <a:off x="8639587" y="1703155"/>
              <a:ext cx="219075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lang="ru-RU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75</a:t>
              </a:r>
              <a:r>
                <a:rPr lang="en-US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0+</a:t>
              </a:r>
              <a:endParaRPr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D269295F-E219-4E15-BCA1-5DDC10DDD071}"/>
              </a:ext>
            </a:extLst>
          </p:cNvPr>
          <p:cNvGrpSpPr/>
          <p:nvPr/>
        </p:nvGrpSpPr>
        <p:grpSpPr>
          <a:xfrm>
            <a:off x="1055359" y="2855945"/>
            <a:ext cx="2358902" cy="1293205"/>
            <a:chOff x="1055359" y="2924045"/>
            <a:chExt cx="2358902" cy="1293205"/>
          </a:xfrm>
          <a:solidFill>
            <a:schemeClr val="bg1"/>
          </a:solidFill>
        </p:grpSpPr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D19DAED9-E997-4DFA-BF8E-A5C599F90E72}"/>
                </a:ext>
              </a:extLst>
            </p:cNvPr>
            <p:cNvSpPr/>
            <p:nvPr/>
          </p:nvSpPr>
          <p:spPr>
            <a:xfrm>
              <a:off x="1055359" y="2924045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2"/>
                </a:solidFill>
              </a:endParaRPr>
            </a:p>
          </p:txBody>
        </p:sp>
        <p:sp>
          <p:nvSpPr>
            <p:cNvPr id="59" name="object 7">
              <a:extLst>
                <a:ext uri="{FF2B5EF4-FFF2-40B4-BE49-F238E27FC236}">
                  <a16:creationId xmlns:a16="http://schemas.microsoft.com/office/drawing/2014/main" id="{21CE71E8-AB34-4548-B572-CFB69021851D}"/>
                </a:ext>
              </a:extLst>
            </p:cNvPr>
            <p:cNvSpPr txBox="1"/>
            <p:nvPr/>
          </p:nvSpPr>
          <p:spPr>
            <a:xfrm>
              <a:off x="1112245" y="3448742"/>
              <a:ext cx="2267858" cy="52129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algn="ctr"/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внедрений в разных отраслях,</a:t>
              </a:r>
              <a:r>
                <a:rPr lang="en-US" sz="1100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первое международное внедрение 1С:ERP</a:t>
              </a:r>
            </a:p>
          </p:txBody>
        </p:sp>
        <p:sp>
          <p:nvSpPr>
            <p:cNvPr id="60" name="object 8">
              <a:extLst>
                <a:ext uri="{FF2B5EF4-FFF2-40B4-BE49-F238E27FC236}">
                  <a16:creationId xmlns:a16="http://schemas.microsoft.com/office/drawing/2014/main" id="{04C5B93A-5834-4B5F-85D0-4B840A53E5EB}"/>
                </a:ext>
              </a:extLst>
            </p:cNvPr>
            <p:cNvSpPr txBox="1"/>
            <p:nvPr/>
          </p:nvSpPr>
          <p:spPr>
            <a:xfrm>
              <a:off x="1493331" y="3079410"/>
              <a:ext cx="1556379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lang="en-US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1000+</a:t>
              </a:r>
              <a:endParaRPr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D144D2E5-154E-4EA4-B965-BFEC3937E491}"/>
              </a:ext>
            </a:extLst>
          </p:cNvPr>
          <p:cNvGrpSpPr/>
          <p:nvPr/>
        </p:nvGrpSpPr>
        <p:grpSpPr>
          <a:xfrm>
            <a:off x="3541384" y="2855945"/>
            <a:ext cx="2358902" cy="1293205"/>
            <a:chOff x="3541384" y="2924045"/>
            <a:chExt cx="2358902" cy="1293205"/>
          </a:xfrm>
          <a:solidFill>
            <a:schemeClr val="bg1"/>
          </a:solidFill>
        </p:grpSpPr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FA468F7C-0F55-4F38-B784-68A2FD2C8AE2}"/>
                </a:ext>
              </a:extLst>
            </p:cNvPr>
            <p:cNvSpPr/>
            <p:nvPr/>
          </p:nvSpPr>
          <p:spPr>
            <a:xfrm>
              <a:off x="3541384" y="2924045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/>
                </a:solidFill>
              </a:endParaRPr>
            </a:p>
          </p:txBody>
        </p:sp>
        <p:sp>
          <p:nvSpPr>
            <p:cNvPr id="63" name="object 7">
              <a:extLst>
                <a:ext uri="{FF2B5EF4-FFF2-40B4-BE49-F238E27FC236}">
                  <a16:creationId xmlns:a16="http://schemas.microsoft.com/office/drawing/2014/main" id="{9A0A7AFB-D6BB-4F86-9E78-862A15A88A2D}"/>
                </a:ext>
              </a:extLst>
            </p:cNvPr>
            <p:cNvSpPr txBox="1"/>
            <p:nvPr/>
          </p:nvSpPr>
          <p:spPr>
            <a:xfrm>
              <a:off x="3541384" y="3460975"/>
              <a:ext cx="2278514" cy="53412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marL="16914" marR="6765" indent="1693" algn="ctr">
                <a:spcBef>
                  <a:spcPts val="140"/>
                </a:spcBef>
              </a:pP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клиентов на сопровождении по 1С в крупнейшем </a:t>
              </a:r>
            </a:p>
            <a:p>
              <a:pPr marL="16914" marR="6765" indent="1693" algn="ctr">
                <a:spcBef>
                  <a:spcPts val="140"/>
                </a:spcBef>
              </a:pP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контакт-центре за Уралом</a:t>
              </a:r>
            </a:p>
          </p:txBody>
        </p:sp>
        <p:sp>
          <p:nvSpPr>
            <p:cNvPr id="64" name="object 8">
              <a:extLst>
                <a:ext uri="{FF2B5EF4-FFF2-40B4-BE49-F238E27FC236}">
                  <a16:creationId xmlns:a16="http://schemas.microsoft.com/office/drawing/2014/main" id="{B197362C-E5C1-4E65-9044-A89584538019}"/>
                </a:ext>
              </a:extLst>
            </p:cNvPr>
            <p:cNvSpPr txBox="1"/>
            <p:nvPr/>
          </p:nvSpPr>
          <p:spPr>
            <a:xfrm>
              <a:off x="3699461" y="3091643"/>
              <a:ext cx="2126978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lang="ru-RU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10 000 +</a:t>
              </a:r>
              <a:endParaRPr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64057863-5436-4977-9370-8E503E940A0B}"/>
              </a:ext>
            </a:extLst>
          </p:cNvPr>
          <p:cNvGrpSpPr/>
          <p:nvPr/>
        </p:nvGrpSpPr>
        <p:grpSpPr>
          <a:xfrm>
            <a:off x="6027409" y="2855945"/>
            <a:ext cx="2358902" cy="1293205"/>
            <a:chOff x="6027409" y="2924045"/>
            <a:chExt cx="2358902" cy="1293205"/>
          </a:xfrm>
          <a:solidFill>
            <a:schemeClr val="bg1"/>
          </a:solidFill>
        </p:grpSpPr>
        <p:sp>
          <p:nvSpPr>
            <p:cNvPr id="66" name="Прямоугольник: скругленные углы 65">
              <a:extLst>
                <a:ext uri="{FF2B5EF4-FFF2-40B4-BE49-F238E27FC236}">
                  <a16:creationId xmlns:a16="http://schemas.microsoft.com/office/drawing/2014/main" id="{0E84022B-C2C0-40AB-A501-AF294AFBD155}"/>
                </a:ext>
              </a:extLst>
            </p:cNvPr>
            <p:cNvSpPr/>
            <p:nvPr/>
          </p:nvSpPr>
          <p:spPr>
            <a:xfrm>
              <a:off x="6027409" y="2924045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2"/>
                </a:solidFill>
              </a:endParaRPr>
            </a:p>
          </p:txBody>
        </p:sp>
        <p:sp>
          <p:nvSpPr>
            <p:cNvPr id="67" name="object 7">
              <a:extLst>
                <a:ext uri="{FF2B5EF4-FFF2-40B4-BE49-F238E27FC236}">
                  <a16:creationId xmlns:a16="http://schemas.microsoft.com/office/drawing/2014/main" id="{1BBEC57B-1967-4983-96B9-972F802AA426}"/>
                </a:ext>
              </a:extLst>
            </p:cNvPr>
            <p:cNvSpPr txBox="1"/>
            <p:nvPr/>
          </p:nvSpPr>
          <p:spPr>
            <a:xfrm>
              <a:off x="6070289" y="3446656"/>
              <a:ext cx="2285999" cy="52129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marR="6765" algn="ctr"/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человек прошли обучение </a:t>
              </a:r>
              <a:b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</a:b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в сертифицированном 1С </a:t>
              </a: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учебном центре с 2003</a:t>
              </a:r>
              <a:r>
                <a:rPr lang="ru-RU" sz="1100" spc="-41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года</a:t>
              </a:r>
              <a:endParaRPr lang="ru-RU" sz="11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  <p:sp>
          <p:nvSpPr>
            <p:cNvPr id="68" name="object 8">
              <a:extLst>
                <a:ext uri="{FF2B5EF4-FFF2-40B4-BE49-F238E27FC236}">
                  <a16:creationId xmlns:a16="http://schemas.microsoft.com/office/drawing/2014/main" id="{A9A20059-BFA9-4697-A5BE-03E4255386B4}"/>
                </a:ext>
              </a:extLst>
            </p:cNvPr>
            <p:cNvSpPr txBox="1"/>
            <p:nvPr/>
          </p:nvSpPr>
          <p:spPr>
            <a:xfrm>
              <a:off x="6165536" y="3077324"/>
              <a:ext cx="216884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lang="ru-RU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25 000 +</a:t>
              </a:r>
              <a:endParaRPr lang="ru-RU"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D40F5BD6-3F76-4B1D-B384-E7C0EE5342EC}"/>
              </a:ext>
            </a:extLst>
          </p:cNvPr>
          <p:cNvGrpSpPr/>
          <p:nvPr/>
        </p:nvGrpSpPr>
        <p:grpSpPr>
          <a:xfrm>
            <a:off x="8513434" y="2855945"/>
            <a:ext cx="2358902" cy="1293205"/>
            <a:chOff x="8513434" y="2924045"/>
            <a:chExt cx="2358902" cy="1293205"/>
          </a:xfrm>
          <a:solidFill>
            <a:schemeClr val="bg1"/>
          </a:solidFill>
        </p:grpSpPr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DD83263A-DD05-434D-B815-620FF08E9B86}"/>
                </a:ext>
              </a:extLst>
            </p:cNvPr>
            <p:cNvSpPr/>
            <p:nvPr/>
          </p:nvSpPr>
          <p:spPr>
            <a:xfrm>
              <a:off x="8513434" y="2924045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/>
                </a:solidFill>
              </a:endParaRPr>
            </a:p>
          </p:txBody>
        </p:sp>
        <p:sp>
          <p:nvSpPr>
            <p:cNvPr id="71" name="object 7">
              <a:extLst>
                <a:ext uri="{FF2B5EF4-FFF2-40B4-BE49-F238E27FC236}">
                  <a16:creationId xmlns:a16="http://schemas.microsoft.com/office/drawing/2014/main" id="{B4BF47B2-68E7-4E3F-B70B-D8F6FBF5D883}"/>
                </a:ext>
              </a:extLst>
            </p:cNvPr>
            <p:cNvSpPr txBox="1"/>
            <p:nvPr/>
          </p:nvSpPr>
          <p:spPr>
            <a:xfrm>
              <a:off x="8551946" y="3446656"/>
              <a:ext cx="2278386" cy="690574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marR="6765" algn="ctr"/>
              <a:r>
                <a:rPr lang="ru-RU" sz="1100" dirty="0">
                  <a:solidFill>
                    <a:schemeClr val="bg2"/>
                  </a:solidFill>
                  <a:cs typeface="Verdana"/>
                </a:rPr>
                <a:t>компетенций, подтверждённых статусом фирмы 1С, в том числе 1С:Центр Разработки</a:t>
              </a:r>
              <a:endParaRPr lang="ru-RU" sz="1100" dirty="0">
                <a:solidFill>
                  <a:schemeClr val="bg2"/>
                </a:solidFill>
              </a:endParaRPr>
            </a:p>
          </p:txBody>
        </p:sp>
        <p:sp>
          <p:nvSpPr>
            <p:cNvPr id="72" name="object 8">
              <a:extLst>
                <a:ext uri="{FF2B5EF4-FFF2-40B4-BE49-F238E27FC236}">
                  <a16:creationId xmlns:a16="http://schemas.microsoft.com/office/drawing/2014/main" id="{97AF2A35-A986-4841-85C5-FE89D3DE0700}"/>
                </a:ext>
              </a:extLst>
            </p:cNvPr>
            <p:cNvSpPr txBox="1"/>
            <p:nvPr/>
          </p:nvSpPr>
          <p:spPr>
            <a:xfrm>
              <a:off x="8639583" y="3077324"/>
              <a:ext cx="2190749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lang="ru-RU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20+</a:t>
              </a:r>
              <a:endParaRPr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EF076DC2-CADE-4413-9457-437AD918A85C}"/>
              </a:ext>
            </a:extLst>
          </p:cNvPr>
          <p:cNvGrpSpPr/>
          <p:nvPr/>
        </p:nvGrpSpPr>
        <p:grpSpPr>
          <a:xfrm>
            <a:off x="1055359" y="4282085"/>
            <a:ext cx="2358902" cy="1293205"/>
            <a:chOff x="1055359" y="4350185"/>
            <a:chExt cx="2358902" cy="1293205"/>
          </a:xfrm>
          <a:solidFill>
            <a:schemeClr val="bg1"/>
          </a:solidFill>
        </p:grpSpPr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DA797C71-E97A-43D1-AECE-00C233D34E8A}"/>
                </a:ext>
              </a:extLst>
            </p:cNvPr>
            <p:cNvSpPr/>
            <p:nvPr/>
          </p:nvSpPr>
          <p:spPr>
            <a:xfrm>
              <a:off x="1055359" y="4350185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/>
                </a:solidFill>
              </a:endParaRPr>
            </a:p>
          </p:txBody>
        </p:sp>
        <p:sp>
          <p:nvSpPr>
            <p:cNvPr id="75" name="object 7">
              <a:extLst>
                <a:ext uri="{FF2B5EF4-FFF2-40B4-BE49-F238E27FC236}">
                  <a16:creationId xmlns:a16="http://schemas.microsoft.com/office/drawing/2014/main" id="{B072BB14-D289-436D-A457-1707E2800F96}"/>
                </a:ext>
              </a:extLst>
            </p:cNvPr>
            <p:cNvSpPr txBox="1"/>
            <p:nvPr/>
          </p:nvSpPr>
          <p:spPr>
            <a:xfrm>
              <a:off x="1091725" y="4869652"/>
              <a:ext cx="2308898" cy="52129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marR="6765" algn="ctr"/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соответствие стандартам  менеджмента </a:t>
              </a: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качества ГОСТ </a:t>
              </a:r>
              <a:b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</a:b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Р ИСО</a:t>
              </a:r>
              <a:r>
                <a:rPr lang="ru-RU" sz="1100" spc="-20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9001 с 2003 года</a:t>
              </a:r>
              <a:endParaRPr lang="ru-RU" sz="1100" dirty="0">
                <a:solidFill>
                  <a:schemeClr val="bg2"/>
                </a:solidFill>
              </a:endParaRPr>
            </a:p>
          </p:txBody>
        </p:sp>
        <p:sp>
          <p:nvSpPr>
            <p:cNvPr id="76" name="object 8">
              <a:extLst>
                <a:ext uri="{FF2B5EF4-FFF2-40B4-BE49-F238E27FC236}">
                  <a16:creationId xmlns:a16="http://schemas.microsoft.com/office/drawing/2014/main" id="{31991B6F-2C1D-4103-9D44-8D77CF26371B}"/>
                </a:ext>
              </a:extLst>
            </p:cNvPr>
            <p:cNvSpPr txBox="1"/>
            <p:nvPr/>
          </p:nvSpPr>
          <p:spPr>
            <a:xfrm>
              <a:off x="1219861" y="4500320"/>
              <a:ext cx="2107927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33"/>
                </a:spcBef>
              </a:pPr>
              <a:r>
                <a:rPr lang="ru-RU" sz="2400" b="1" dirty="0">
                  <a:solidFill>
                    <a:schemeClr val="bg2"/>
                  </a:solidFill>
                  <a:latin typeface="Verdana"/>
                  <a:cs typeface="Verdana"/>
                </a:rPr>
                <a:t>ИСО </a:t>
              </a:r>
              <a:r>
                <a:rPr lang="en-US" sz="2400" b="1" dirty="0">
                  <a:solidFill>
                    <a:schemeClr val="bg2"/>
                  </a:solidFill>
                  <a:latin typeface="Verdana"/>
                  <a:cs typeface="Verdana"/>
                </a:rPr>
                <a:t>9001</a:t>
              </a:r>
              <a:endParaRPr lang="en-US"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E7345088-D692-4E72-9264-0302E5BD3FC7}"/>
              </a:ext>
            </a:extLst>
          </p:cNvPr>
          <p:cNvGrpSpPr/>
          <p:nvPr/>
        </p:nvGrpSpPr>
        <p:grpSpPr>
          <a:xfrm>
            <a:off x="3541384" y="4282085"/>
            <a:ext cx="2358902" cy="1293205"/>
            <a:chOff x="3541384" y="4350185"/>
            <a:chExt cx="2358902" cy="1293205"/>
          </a:xfrm>
          <a:solidFill>
            <a:schemeClr val="bg1"/>
          </a:solidFill>
        </p:grpSpPr>
        <p:sp>
          <p:nvSpPr>
            <p:cNvPr id="78" name="Прямоугольник: скругленные углы 77">
              <a:extLst>
                <a:ext uri="{FF2B5EF4-FFF2-40B4-BE49-F238E27FC236}">
                  <a16:creationId xmlns:a16="http://schemas.microsoft.com/office/drawing/2014/main" id="{0CD6F421-085D-4ADC-9913-AA436A42242C}"/>
                </a:ext>
              </a:extLst>
            </p:cNvPr>
            <p:cNvSpPr/>
            <p:nvPr/>
          </p:nvSpPr>
          <p:spPr>
            <a:xfrm>
              <a:off x="3541384" y="4350185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/>
                </a:solidFill>
              </a:endParaRPr>
            </a:p>
          </p:txBody>
        </p:sp>
        <p:sp>
          <p:nvSpPr>
            <p:cNvPr id="79" name="object 7">
              <a:extLst>
                <a:ext uri="{FF2B5EF4-FFF2-40B4-BE49-F238E27FC236}">
                  <a16:creationId xmlns:a16="http://schemas.microsoft.com/office/drawing/2014/main" id="{BF81D944-E040-4E8C-A16D-714381AB2D6C}"/>
                </a:ext>
              </a:extLst>
            </p:cNvPr>
            <p:cNvSpPr txBox="1"/>
            <p:nvPr/>
          </p:nvSpPr>
          <p:spPr>
            <a:xfrm>
              <a:off x="3561926" y="4893552"/>
              <a:ext cx="2285998" cy="521297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algn="ctr">
                <a:spcBef>
                  <a:spcPts val="186"/>
                </a:spcBef>
              </a:pP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многократный </a:t>
              </a:r>
              <a:r>
                <a:rPr lang="ru-RU" sz="1100" spc="-9" dirty="0">
                  <a:solidFill>
                    <a:schemeClr val="bg2"/>
                  </a:solidFill>
                  <a:latin typeface="Verdana"/>
                  <a:cs typeface="Verdana"/>
                </a:rPr>
                <a:t>победитель</a:t>
              </a:r>
              <a:r>
                <a:rPr lang="ru-RU" sz="1100" spc="-36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lang="ru-RU" sz="1100" dirty="0">
                  <a:solidFill>
                    <a:schemeClr val="bg2"/>
                  </a:solidFill>
                  <a:latin typeface="Verdana"/>
                  <a:cs typeface="Verdana"/>
                </a:rPr>
                <a:t>конкурса «1С:Проект</a:t>
              </a:r>
              <a:r>
                <a:rPr lang="ru-RU" sz="1100" spc="-9" dirty="0">
                  <a:solidFill>
                    <a:schemeClr val="bg2"/>
                  </a:solidFill>
                  <a:latin typeface="Verdana"/>
                  <a:cs typeface="Verdana"/>
                </a:rPr>
                <a:t> года» </a:t>
              </a:r>
              <a:br>
                <a:rPr lang="ru-RU" sz="1100" spc="-9" dirty="0">
                  <a:solidFill>
                    <a:schemeClr val="bg2"/>
                  </a:solidFill>
                  <a:latin typeface="Verdana"/>
                  <a:cs typeface="Verdana"/>
                </a:rPr>
              </a:br>
              <a:r>
                <a:rPr lang="ru-RU" sz="1100" spc="-9" dirty="0">
                  <a:solidFill>
                    <a:schemeClr val="bg2"/>
                  </a:solidFill>
                  <a:latin typeface="Verdana"/>
                  <a:cs typeface="Verdana"/>
                </a:rPr>
                <a:t>с 2017 года</a:t>
              </a:r>
              <a:endParaRPr lang="ru-RU" sz="11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  <p:sp>
          <p:nvSpPr>
            <p:cNvPr id="80" name="object 8">
              <a:extLst>
                <a:ext uri="{FF2B5EF4-FFF2-40B4-BE49-F238E27FC236}">
                  <a16:creationId xmlns:a16="http://schemas.microsoft.com/office/drawing/2014/main" id="{1C661843-4037-46B6-9522-59F3115001C6}"/>
                </a:ext>
              </a:extLst>
            </p:cNvPr>
            <p:cNvSpPr txBox="1"/>
            <p:nvPr/>
          </p:nvSpPr>
          <p:spPr>
            <a:xfrm>
              <a:off x="3671012" y="4524220"/>
              <a:ext cx="2148886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lang="ru-RU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НАГРАДЫ</a:t>
              </a:r>
              <a:endParaRPr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ED38B9AC-EAC1-477C-817D-28A958AFDDD4}"/>
              </a:ext>
            </a:extLst>
          </p:cNvPr>
          <p:cNvGrpSpPr/>
          <p:nvPr/>
        </p:nvGrpSpPr>
        <p:grpSpPr>
          <a:xfrm>
            <a:off x="6027409" y="4282085"/>
            <a:ext cx="2358902" cy="1293205"/>
            <a:chOff x="6027409" y="4350185"/>
            <a:chExt cx="2358902" cy="1293205"/>
          </a:xfrm>
          <a:solidFill>
            <a:schemeClr val="bg1"/>
          </a:solidFill>
        </p:grpSpPr>
        <p:sp>
          <p:nvSpPr>
            <p:cNvPr id="82" name="Прямоугольник: скругленные углы 81">
              <a:extLst>
                <a:ext uri="{FF2B5EF4-FFF2-40B4-BE49-F238E27FC236}">
                  <a16:creationId xmlns:a16="http://schemas.microsoft.com/office/drawing/2014/main" id="{58E5DAD1-33D5-4BFB-81B1-A9064488ACEB}"/>
                </a:ext>
              </a:extLst>
            </p:cNvPr>
            <p:cNvSpPr/>
            <p:nvPr/>
          </p:nvSpPr>
          <p:spPr>
            <a:xfrm>
              <a:off x="6027409" y="4350185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/>
                </a:solidFill>
              </a:endParaRPr>
            </a:p>
          </p:txBody>
        </p:sp>
        <p:sp>
          <p:nvSpPr>
            <p:cNvPr id="83" name="object 7">
              <a:extLst>
                <a:ext uri="{FF2B5EF4-FFF2-40B4-BE49-F238E27FC236}">
                  <a16:creationId xmlns:a16="http://schemas.microsoft.com/office/drawing/2014/main" id="{40BA28E7-543C-4252-AADA-1D0A09A5C44D}"/>
                </a:ext>
              </a:extLst>
            </p:cNvPr>
            <p:cNvSpPr txBox="1"/>
            <p:nvPr/>
          </p:nvSpPr>
          <p:spPr>
            <a:xfrm>
              <a:off x="6080152" y="4907018"/>
              <a:ext cx="2257976" cy="352019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algn="ctr"/>
              <a:r>
                <a:rPr lang="ru-RU" sz="1100" dirty="0">
                  <a:solidFill>
                    <a:schemeClr val="bg2"/>
                  </a:solidFill>
                </a:rPr>
                <a:t>среди партнёров в сети 1С:БухОбслуживание</a:t>
              </a:r>
            </a:p>
          </p:txBody>
        </p:sp>
        <p:sp>
          <p:nvSpPr>
            <p:cNvPr id="84" name="object 8">
              <a:extLst>
                <a:ext uri="{FF2B5EF4-FFF2-40B4-BE49-F238E27FC236}">
                  <a16:creationId xmlns:a16="http://schemas.microsoft.com/office/drawing/2014/main" id="{2A440E4F-1EEF-4DF0-8FB5-C0E0D3B07823}"/>
                </a:ext>
              </a:extLst>
            </p:cNvPr>
            <p:cNvSpPr txBox="1"/>
            <p:nvPr/>
          </p:nvSpPr>
          <p:spPr>
            <a:xfrm>
              <a:off x="6208288" y="4537686"/>
              <a:ext cx="2068927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14" algn="ctr">
                <a:spcBef>
                  <a:spcPts val="180"/>
                </a:spcBef>
              </a:pPr>
              <a:r>
                <a:rPr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ТОП</a:t>
              </a:r>
              <a:r>
                <a:rPr sz="2400" b="1" spc="-87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1</a:t>
              </a:r>
              <a:endParaRPr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FA0FF728-2E11-4380-8223-DDCF9C73A45B}"/>
              </a:ext>
            </a:extLst>
          </p:cNvPr>
          <p:cNvGrpSpPr/>
          <p:nvPr/>
        </p:nvGrpSpPr>
        <p:grpSpPr>
          <a:xfrm>
            <a:off x="8513434" y="4282085"/>
            <a:ext cx="2358902" cy="1293205"/>
            <a:chOff x="8513434" y="4350185"/>
            <a:chExt cx="2358902" cy="1293205"/>
          </a:xfrm>
          <a:solidFill>
            <a:schemeClr val="bg1"/>
          </a:solidFill>
        </p:grpSpPr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A3099D42-C3B6-43DE-AC66-ACF23A0D053B}"/>
                </a:ext>
              </a:extLst>
            </p:cNvPr>
            <p:cNvSpPr/>
            <p:nvPr/>
          </p:nvSpPr>
          <p:spPr>
            <a:xfrm>
              <a:off x="8513434" y="4350185"/>
              <a:ext cx="2358902" cy="1293205"/>
            </a:xfrm>
            <a:prstGeom prst="roundRect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bg2"/>
                </a:solidFill>
              </a:endParaRPr>
            </a:p>
          </p:txBody>
        </p:sp>
        <p:sp>
          <p:nvSpPr>
            <p:cNvPr id="87" name="object 7">
              <a:extLst>
                <a:ext uri="{FF2B5EF4-FFF2-40B4-BE49-F238E27FC236}">
                  <a16:creationId xmlns:a16="http://schemas.microsoft.com/office/drawing/2014/main" id="{02ED65C7-3DCD-4124-B562-1AB8C5AC7E0A}"/>
                </a:ext>
              </a:extLst>
            </p:cNvPr>
            <p:cNvSpPr txBox="1"/>
            <p:nvPr/>
          </p:nvSpPr>
          <p:spPr>
            <a:xfrm>
              <a:off x="8563438" y="4867970"/>
              <a:ext cx="2267939" cy="690574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13335" rIns="0" bIns="0" rtlCol="0">
              <a:spAutoFit/>
            </a:bodyPr>
            <a:lstStyle/>
            <a:p>
              <a:pPr marR="6765" algn="ctr"/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разработка и внедрение</a:t>
              </a:r>
              <a:r>
                <a:rPr lang="en-US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 </a:t>
              </a: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машинного обучения, искусственного интеллекта, наглядной аналитики</a:t>
              </a:r>
              <a:r>
                <a:rPr lang="en-US" sz="1100" spc="-7" dirty="0">
                  <a:solidFill>
                    <a:schemeClr val="bg2"/>
                  </a:solidFill>
                  <a:cs typeface="Verdana"/>
                </a:rPr>
                <a:t> </a:t>
              </a:r>
              <a:r>
                <a:rPr lang="ru-RU" sz="1100" spc="-7" dirty="0">
                  <a:solidFill>
                    <a:schemeClr val="bg2"/>
                  </a:solidFill>
                  <a:latin typeface="Verdana"/>
                  <a:cs typeface="Verdana"/>
                </a:rPr>
                <a:t>и др.</a:t>
              </a:r>
              <a:endParaRPr lang="ru-RU" sz="1100" dirty="0">
                <a:solidFill>
                  <a:schemeClr val="bg2"/>
                </a:solidFill>
              </a:endParaRPr>
            </a:p>
          </p:txBody>
        </p:sp>
        <p:sp>
          <p:nvSpPr>
            <p:cNvPr id="88" name="object 8">
              <a:extLst>
                <a:ext uri="{FF2B5EF4-FFF2-40B4-BE49-F238E27FC236}">
                  <a16:creationId xmlns:a16="http://schemas.microsoft.com/office/drawing/2014/main" id="{E719B1CC-4001-4668-BB5D-EFE9A0D152BD}"/>
                </a:ext>
              </a:extLst>
            </p:cNvPr>
            <p:cNvSpPr txBox="1"/>
            <p:nvPr/>
          </p:nvSpPr>
          <p:spPr>
            <a:xfrm>
              <a:off x="8946835" y="4498638"/>
              <a:ext cx="1556379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6933">
                <a:spcBef>
                  <a:spcPts val="180"/>
                </a:spcBef>
              </a:pPr>
              <a:r>
                <a:rPr lang="en-US" sz="2400" b="1" spc="33" dirty="0">
                  <a:solidFill>
                    <a:schemeClr val="bg2"/>
                  </a:solidFill>
                  <a:latin typeface="Verdana"/>
                  <a:cs typeface="Verdana"/>
                </a:rPr>
                <a:t>Lab R&amp;D </a:t>
              </a:r>
              <a:endParaRPr lang="en-US" sz="2400" dirty="0">
                <a:solidFill>
                  <a:schemeClr val="bg2"/>
                </a:solidFill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53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A1DDAA01-F156-47CE-BDA7-56FA2070A3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0903" y="478202"/>
            <a:ext cx="4208205" cy="2806239"/>
          </a:xfrm>
        </p:spPr>
        <p:txBody>
          <a:bodyPr/>
          <a:lstStyle/>
          <a:p>
            <a:r>
              <a:rPr lang="ru-RU" dirty="0"/>
              <a:t>01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Слайды</a:t>
            </a:r>
            <a:r>
              <a:rPr lang="ru-RU" dirty="0">
                <a:solidFill>
                  <a:srgbClr val="FFCF66"/>
                </a:solidFill>
              </a:rPr>
              <a:t>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>
                <a:solidFill>
                  <a:schemeClr val="accent1"/>
                </a:solidFill>
              </a:rPr>
              <a:t>с текстом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D66D8A-3C8F-4A96-8182-F2AD1E4182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b"/>
          <a:lstStyle/>
          <a:p>
            <a:r>
              <a:rPr lang="ru-RU" dirty="0"/>
              <a:t>Размеры текстов, выделение акцентов, нумерованные списки</a:t>
            </a:r>
          </a:p>
        </p:txBody>
      </p:sp>
    </p:spTree>
    <p:extLst>
      <p:ext uri="{BB962C8B-B14F-4D97-AF65-F5344CB8AC3E}">
        <p14:creationId xmlns:p14="http://schemas.microsoft.com/office/powerpoint/2010/main" val="2925573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Иерархия заголовков</a:t>
            </a:r>
          </a:p>
        </p:txBody>
      </p:sp>
      <p:sp>
        <p:nvSpPr>
          <p:cNvPr id="35" name="Объект 4">
            <a:extLst>
              <a:ext uri="{FF2B5EF4-FFF2-40B4-BE49-F238E27FC236}">
                <a16:creationId xmlns:a16="http://schemas.microsoft.com/office/drawing/2014/main" id="{A91752FB-C0DC-4EB9-A5A5-E9C2763D6752}"/>
              </a:ext>
            </a:extLst>
          </p:cNvPr>
          <p:cNvSpPr txBox="1">
            <a:spLocks/>
          </p:cNvSpPr>
          <p:nvPr/>
        </p:nvSpPr>
        <p:spPr>
          <a:xfrm>
            <a:off x="874713" y="1703445"/>
            <a:ext cx="2309857" cy="336708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60pt,Verdana Bold</a:t>
            </a:r>
          </a:p>
          <a:p>
            <a:pPr algn="r">
              <a:spcBef>
                <a:spcPts val="0"/>
              </a:spcBef>
            </a:pPr>
            <a:r>
              <a:rPr lang="ru-RU" sz="1200" b="0" dirty="0"/>
              <a:t>Название презентации</a:t>
            </a:r>
          </a:p>
        </p:txBody>
      </p:sp>
      <p:sp>
        <p:nvSpPr>
          <p:cNvPr id="36" name="Текст 11">
            <a:extLst>
              <a:ext uri="{FF2B5EF4-FFF2-40B4-BE49-F238E27FC236}">
                <a16:creationId xmlns:a16="http://schemas.microsoft.com/office/drawing/2014/main" id="{422BD76C-EC02-4F2A-9273-7CE29B50BE18}"/>
              </a:ext>
            </a:extLst>
          </p:cNvPr>
          <p:cNvSpPr txBox="1">
            <a:spLocks/>
          </p:cNvSpPr>
          <p:nvPr/>
        </p:nvSpPr>
        <p:spPr>
          <a:xfrm>
            <a:off x="3435394" y="1340576"/>
            <a:ext cx="7521575" cy="6146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Н0 Заголовок</a:t>
            </a:r>
          </a:p>
        </p:txBody>
      </p:sp>
      <p:sp>
        <p:nvSpPr>
          <p:cNvPr id="37" name="Текст 11">
            <a:extLst>
              <a:ext uri="{FF2B5EF4-FFF2-40B4-BE49-F238E27FC236}">
                <a16:creationId xmlns:a16="http://schemas.microsoft.com/office/drawing/2014/main" id="{AA189BA1-E0C1-4A5E-A2D3-93EFC1EC1AF4}"/>
              </a:ext>
            </a:extLst>
          </p:cNvPr>
          <p:cNvSpPr txBox="1">
            <a:spLocks/>
          </p:cNvSpPr>
          <p:nvPr/>
        </p:nvSpPr>
        <p:spPr>
          <a:xfrm>
            <a:off x="3435394" y="2289670"/>
            <a:ext cx="7521575" cy="649432"/>
          </a:xfrm>
          <a:prstGeom prst="rect">
            <a:avLst/>
          </a:prstGeom>
        </p:spPr>
        <p:txBody>
          <a:bodyPr lIns="0" tIns="0" rIns="0" bIns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</a:t>
            </a:r>
            <a:r>
              <a:rPr lang="en-US" dirty="0"/>
              <a:t>1</a:t>
            </a:r>
            <a:r>
              <a:rPr lang="ru-RU" dirty="0"/>
              <a:t> Заглавие раздела</a:t>
            </a:r>
          </a:p>
        </p:txBody>
      </p:sp>
      <p:sp>
        <p:nvSpPr>
          <p:cNvPr id="38" name="Текст 11">
            <a:extLst>
              <a:ext uri="{FF2B5EF4-FFF2-40B4-BE49-F238E27FC236}">
                <a16:creationId xmlns:a16="http://schemas.microsoft.com/office/drawing/2014/main" id="{B9AD6DBB-B767-4BCF-B00E-27CB741EC280}"/>
              </a:ext>
            </a:extLst>
          </p:cNvPr>
          <p:cNvSpPr txBox="1">
            <a:spLocks/>
          </p:cNvSpPr>
          <p:nvPr/>
        </p:nvSpPr>
        <p:spPr>
          <a:xfrm>
            <a:off x="3435394" y="3036996"/>
            <a:ext cx="7521575" cy="50083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Н2 Заглавие подраздела</a:t>
            </a:r>
          </a:p>
        </p:txBody>
      </p:sp>
      <p:sp>
        <p:nvSpPr>
          <p:cNvPr id="39" name="Текст 11">
            <a:extLst>
              <a:ext uri="{FF2B5EF4-FFF2-40B4-BE49-F238E27FC236}">
                <a16:creationId xmlns:a16="http://schemas.microsoft.com/office/drawing/2014/main" id="{654CD586-BE72-48B4-ADBE-7F6753AC31B3}"/>
              </a:ext>
            </a:extLst>
          </p:cNvPr>
          <p:cNvSpPr txBox="1">
            <a:spLocks/>
          </p:cNvSpPr>
          <p:nvPr/>
        </p:nvSpPr>
        <p:spPr>
          <a:xfrm>
            <a:off x="3435394" y="3749827"/>
            <a:ext cx="7521575" cy="321850"/>
          </a:xfrm>
          <a:prstGeom prst="rect">
            <a:avLst/>
          </a:prstGeom>
        </p:spPr>
        <p:txBody>
          <a:bodyPr lIns="0" tIns="0" rIns="0" bIns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Н3 Заголовок для текста размером </a:t>
            </a:r>
            <a:r>
              <a:rPr lang="en-US" dirty="0"/>
              <a:t>18pt</a:t>
            </a:r>
            <a:endParaRPr lang="ru-RU" dirty="0"/>
          </a:p>
        </p:txBody>
      </p:sp>
      <p:sp>
        <p:nvSpPr>
          <p:cNvPr id="40" name="Текст 11">
            <a:extLst>
              <a:ext uri="{FF2B5EF4-FFF2-40B4-BE49-F238E27FC236}">
                <a16:creationId xmlns:a16="http://schemas.microsoft.com/office/drawing/2014/main" id="{344D8FE7-14F9-4605-A98F-8DCA40D8228F}"/>
              </a:ext>
            </a:extLst>
          </p:cNvPr>
          <p:cNvSpPr txBox="1">
            <a:spLocks/>
          </p:cNvSpPr>
          <p:nvPr/>
        </p:nvSpPr>
        <p:spPr>
          <a:xfrm>
            <a:off x="3435394" y="4331187"/>
            <a:ext cx="7521575" cy="25342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</a:t>
            </a:r>
            <a:r>
              <a:rPr lang="en-US" dirty="0"/>
              <a:t>4</a:t>
            </a:r>
            <a:r>
              <a:rPr lang="ru-RU" dirty="0"/>
              <a:t> Заголовок для текста размером </a:t>
            </a:r>
            <a:r>
              <a:rPr lang="en-US" dirty="0"/>
              <a:t>14pt</a:t>
            </a:r>
            <a:endParaRPr lang="ru-RU" dirty="0"/>
          </a:p>
        </p:txBody>
      </p:sp>
      <p:sp>
        <p:nvSpPr>
          <p:cNvPr id="41" name="Текст 11">
            <a:extLst>
              <a:ext uri="{FF2B5EF4-FFF2-40B4-BE49-F238E27FC236}">
                <a16:creationId xmlns:a16="http://schemas.microsoft.com/office/drawing/2014/main" id="{D6B51CFB-78AE-4943-92A5-5EFE5B249C59}"/>
              </a:ext>
            </a:extLst>
          </p:cNvPr>
          <p:cNvSpPr txBox="1">
            <a:spLocks/>
          </p:cNvSpPr>
          <p:nvPr/>
        </p:nvSpPr>
        <p:spPr>
          <a:xfrm>
            <a:off x="3435394" y="4837973"/>
            <a:ext cx="7521575" cy="251504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В1 Текст размером </a:t>
            </a:r>
            <a:r>
              <a:rPr lang="en-US" dirty="0"/>
              <a:t>18pt</a:t>
            </a:r>
            <a:endParaRPr lang="ru-RU" dirty="0"/>
          </a:p>
        </p:txBody>
      </p:sp>
      <p:sp>
        <p:nvSpPr>
          <p:cNvPr id="42" name="Текст 11">
            <a:extLst>
              <a:ext uri="{FF2B5EF4-FFF2-40B4-BE49-F238E27FC236}">
                <a16:creationId xmlns:a16="http://schemas.microsoft.com/office/drawing/2014/main" id="{62FCEBCC-5031-4DA2-AEF0-34B352DAE7B1}"/>
              </a:ext>
            </a:extLst>
          </p:cNvPr>
          <p:cNvSpPr txBox="1">
            <a:spLocks/>
          </p:cNvSpPr>
          <p:nvPr/>
        </p:nvSpPr>
        <p:spPr>
          <a:xfrm>
            <a:off x="3435394" y="5455978"/>
            <a:ext cx="7521575" cy="186258"/>
          </a:xfrm>
          <a:prstGeom prst="rect">
            <a:avLst/>
          </a:prstGeom>
        </p:spPr>
        <p:txBody>
          <a:bodyPr lIns="0" tIns="0" rIns="0" bIns="0" anchor="t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</a:t>
            </a:r>
            <a:r>
              <a:rPr lang="en-US" dirty="0"/>
              <a:t>2</a:t>
            </a:r>
            <a:r>
              <a:rPr lang="ru-RU" dirty="0"/>
              <a:t> Текст размером </a:t>
            </a:r>
            <a:r>
              <a:rPr lang="en-US" dirty="0"/>
              <a:t>14pt</a:t>
            </a:r>
            <a:endParaRPr lang="ru-RU" dirty="0"/>
          </a:p>
        </p:txBody>
      </p:sp>
      <p:sp>
        <p:nvSpPr>
          <p:cNvPr id="43" name="Объект 4">
            <a:extLst>
              <a:ext uri="{FF2B5EF4-FFF2-40B4-BE49-F238E27FC236}">
                <a16:creationId xmlns:a16="http://schemas.microsoft.com/office/drawing/2014/main" id="{D2AAFE69-6817-4BBF-82A0-B593C0FF3676}"/>
              </a:ext>
            </a:extLst>
          </p:cNvPr>
          <p:cNvSpPr txBox="1">
            <a:spLocks/>
          </p:cNvSpPr>
          <p:nvPr/>
        </p:nvSpPr>
        <p:spPr>
          <a:xfrm>
            <a:off x="874714" y="2373718"/>
            <a:ext cx="2276520" cy="4813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48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Bold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Заголовок раздела,</a:t>
            </a:r>
            <a:br>
              <a:rPr lang="en-US" sz="1200" b="0" dirty="0"/>
            </a:br>
            <a:r>
              <a:rPr lang="ru-RU" sz="1200" b="0" dirty="0"/>
              <a:t>разделительная страница</a:t>
            </a:r>
          </a:p>
        </p:txBody>
      </p:sp>
      <p:sp>
        <p:nvSpPr>
          <p:cNvPr id="44" name="Объект 4">
            <a:extLst>
              <a:ext uri="{FF2B5EF4-FFF2-40B4-BE49-F238E27FC236}">
                <a16:creationId xmlns:a16="http://schemas.microsoft.com/office/drawing/2014/main" id="{5E63E9E2-B608-44C5-B370-6D14C931D421}"/>
              </a:ext>
            </a:extLst>
          </p:cNvPr>
          <p:cNvSpPr txBox="1">
            <a:spLocks/>
          </p:cNvSpPr>
          <p:nvPr/>
        </p:nvSpPr>
        <p:spPr>
          <a:xfrm>
            <a:off x="884238" y="3137978"/>
            <a:ext cx="2266995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36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Bold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Заголовок слайда</a:t>
            </a:r>
          </a:p>
        </p:txBody>
      </p:sp>
      <p:sp>
        <p:nvSpPr>
          <p:cNvPr id="45" name="Объект 4">
            <a:extLst>
              <a:ext uri="{FF2B5EF4-FFF2-40B4-BE49-F238E27FC236}">
                <a16:creationId xmlns:a16="http://schemas.microsoft.com/office/drawing/2014/main" id="{4F2AFDD6-E94D-43C7-9A41-330F904109ED}"/>
              </a:ext>
            </a:extLst>
          </p:cNvPr>
          <p:cNvSpPr txBox="1">
            <a:spLocks/>
          </p:cNvSpPr>
          <p:nvPr/>
        </p:nvSpPr>
        <p:spPr>
          <a:xfrm>
            <a:off x="927145" y="3761316"/>
            <a:ext cx="2220913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24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Bold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Заголовок для текста 1</a:t>
            </a:r>
            <a:r>
              <a:rPr lang="en-US" sz="1200" b="0" dirty="0"/>
              <a:t>8</a:t>
            </a:r>
            <a:r>
              <a:rPr lang="ru-RU" sz="1200" b="0" dirty="0" err="1"/>
              <a:t>pt</a:t>
            </a:r>
            <a:endParaRPr lang="ru-RU" sz="1200" b="0" dirty="0"/>
          </a:p>
        </p:txBody>
      </p:sp>
      <p:sp>
        <p:nvSpPr>
          <p:cNvPr id="46" name="Объект 4">
            <a:extLst>
              <a:ext uri="{FF2B5EF4-FFF2-40B4-BE49-F238E27FC236}">
                <a16:creationId xmlns:a16="http://schemas.microsoft.com/office/drawing/2014/main" id="{0DD097E9-AA3F-4632-B198-DBA0C208514B}"/>
              </a:ext>
            </a:extLst>
          </p:cNvPr>
          <p:cNvSpPr txBox="1">
            <a:spLocks/>
          </p:cNvSpPr>
          <p:nvPr/>
        </p:nvSpPr>
        <p:spPr>
          <a:xfrm>
            <a:off x="927145" y="4308461"/>
            <a:ext cx="2220913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ru-RU" sz="1200" b="0" dirty="0"/>
              <a:t>1</a:t>
            </a:r>
            <a:r>
              <a:rPr lang="en-US" sz="1200" b="0" dirty="0"/>
              <a:t>8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Bold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Заголовок для текста 1</a:t>
            </a:r>
            <a:r>
              <a:rPr lang="en-US" sz="1200" b="0" dirty="0"/>
              <a:t>4</a:t>
            </a:r>
            <a:r>
              <a:rPr lang="ru-RU" sz="1200" b="0" dirty="0" err="1"/>
              <a:t>pt</a:t>
            </a:r>
            <a:endParaRPr lang="ru-RU" sz="1200" b="0" dirty="0"/>
          </a:p>
        </p:txBody>
      </p:sp>
      <p:sp>
        <p:nvSpPr>
          <p:cNvPr id="47" name="Объект 4">
            <a:extLst>
              <a:ext uri="{FF2B5EF4-FFF2-40B4-BE49-F238E27FC236}">
                <a16:creationId xmlns:a16="http://schemas.microsoft.com/office/drawing/2014/main" id="{28D5709F-31BC-4414-A529-2DAA60F26461}"/>
              </a:ext>
            </a:extLst>
          </p:cNvPr>
          <p:cNvSpPr txBox="1">
            <a:spLocks/>
          </p:cNvSpPr>
          <p:nvPr/>
        </p:nvSpPr>
        <p:spPr>
          <a:xfrm>
            <a:off x="958101" y="4814289"/>
            <a:ext cx="2220913" cy="2988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US" sz="1200" b="0" dirty="0"/>
              <a:t>18pt, Verdana Regular</a:t>
            </a:r>
          </a:p>
          <a:p>
            <a:pPr algn="r">
              <a:spcBef>
                <a:spcPts val="0"/>
              </a:spcBef>
            </a:pPr>
            <a:r>
              <a:rPr lang="ru-RU" sz="1200" b="0" dirty="0"/>
              <a:t>Текст небольшого объёма</a:t>
            </a:r>
          </a:p>
        </p:txBody>
      </p:sp>
      <p:sp>
        <p:nvSpPr>
          <p:cNvPr id="48" name="Объект 4">
            <a:extLst>
              <a:ext uri="{FF2B5EF4-FFF2-40B4-BE49-F238E27FC236}">
                <a16:creationId xmlns:a16="http://schemas.microsoft.com/office/drawing/2014/main" id="{19E423B0-B11C-4115-85BF-0FFFD058990C}"/>
              </a:ext>
            </a:extLst>
          </p:cNvPr>
          <p:cNvSpPr txBox="1">
            <a:spLocks/>
          </p:cNvSpPr>
          <p:nvPr/>
        </p:nvSpPr>
        <p:spPr>
          <a:xfrm>
            <a:off x="927144" y="5308439"/>
            <a:ext cx="2220913" cy="4813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ru-RU" sz="1200" b="0" dirty="0"/>
              <a:t>1</a:t>
            </a:r>
            <a:r>
              <a:rPr lang="en-US" sz="1200" b="0" dirty="0"/>
              <a:t>4</a:t>
            </a:r>
            <a:r>
              <a:rPr lang="ru-RU" sz="1200" b="0" dirty="0" err="1"/>
              <a:t>pt</a:t>
            </a:r>
            <a:r>
              <a:rPr lang="ru-RU" sz="1200" b="0" dirty="0"/>
              <a:t>, </a:t>
            </a:r>
            <a:r>
              <a:rPr lang="ru-RU" sz="1200" b="0" dirty="0" err="1"/>
              <a:t>Verdana</a:t>
            </a:r>
            <a:r>
              <a:rPr lang="ru-RU" sz="1200" b="0" dirty="0"/>
              <a:t> </a:t>
            </a:r>
            <a:r>
              <a:rPr lang="ru-RU" sz="1200" b="0" dirty="0" err="1"/>
              <a:t>Regular</a:t>
            </a:r>
            <a:endParaRPr lang="ru-RU" sz="1200" b="0" dirty="0"/>
          </a:p>
          <a:p>
            <a:pPr algn="r">
              <a:spcBef>
                <a:spcPts val="0"/>
              </a:spcBef>
            </a:pPr>
            <a:r>
              <a:rPr lang="ru-RU" sz="1200" b="0" dirty="0"/>
              <a:t>Текст большого объема,</a:t>
            </a:r>
          </a:p>
          <a:p>
            <a:pPr algn="r">
              <a:spcBef>
                <a:spcPts val="0"/>
              </a:spcBef>
            </a:pPr>
            <a:r>
              <a:rPr lang="ru-RU" sz="1200" b="0" dirty="0"/>
              <a:t> диаграмм и графиков</a:t>
            </a:r>
          </a:p>
        </p:txBody>
      </p:sp>
    </p:spTree>
    <p:extLst>
      <p:ext uri="{BB962C8B-B14F-4D97-AF65-F5344CB8AC3E}">
        <p14:creationId xmlns:p14="http://schemas.microsoft.com/office/powerpoint/2010/main" val="1533457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1CCBCA1C-30B5-4CB8-A9A6-2140DFB24E40}"/>
              </a:ext>
            </a:extLst>
          </p:cNvPr>
          <p:cNvSpPr/>
          <p:nvPr/>
        </p:nvSpPr>
        <p:spPr>
          <a:xfrm>
            <a:off x="592141" y="1323975"/>
            <a:ext cx="11012484" cy="4629150"/>
          </a:xfrm>
          <a:prstGeom prst="roundRect">
            <a:avLst>
              <a:gd name="adj" fmla="val 308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2FB5A-4DB0-4A71-B414-660443743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4237" y="1825625"/>
            <a:ext cx="6973888" cy="5461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Что такое автоматизация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F495C3-3F3C-4D5B-8DEB-EB7AA76A823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84237" y="2682875"/>
            <a:ext cx="3724275" cy="320675"/>
          </a:xfrm>
        </p:spPr>
        <p:txBody>
          <a:bodyPr>
            <a:noAutofit/>
          </a:bodyPr>
          <a:lstStyle/>
          <a:p>
            <a:r>
              <a:rPr lang="ru-RU" sz="2400" b="1" dirty="0">
                <a:solidFill>
                  <a:schemeClr val="tx1"/>
                </a:solidFill>
              </a:rPr>
              <a:t>Автоматизация</a:t>
            </a:r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26366D6A-4540-4D0B-BE0C-527378083A86}"/>
              </a:ext>
            </a:extLst>
          </p:cNvPr>
          <p:cNvSpPr txBox="1">
            <a:spLocks/>
          </p:cNvSpPr>
          <p:nvPr/>
        </p:nvSpPr>
        <p:spPr>
          <a:xfrm>
            <a:off x="884902" y="1495425"/>
            <a:ext cx="2752723" cy="32097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Вектор 2024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59246119-414F-4090-8AA7-F6D1F4F2E1B2}"/>
              </a:ext>
            </a:extLst>
          </p:cNvPr>
          <p:cNvSpPr txBox="1">
            <a:spLocks/>
          </p:cNvSpPr>
          <p:nvPr/>
        </p:nvSpPr>
        <p:spPr>
          <a:xfrm>
            <a:off x="914402" y="3205572"/>
            <a:ext cx="5619747" cy="15591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— применение технических средств, экономико-математических методов </a:t>
            </a:r>
            <a:br>
              <a:rPr lang="ru-RU" dirty="0"/>
            </a:br>
            <a:r>
              <a:rPr lang="ru-RU" dirty="0"/>
              <a:t>и систем управления, освобождающих человека частично или полностью от непосредственного участия в процессах получения, преобразования, передачи и использования энергии, материалов или информации.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4E4ABACF-6D0C-41B7-A608-9AD94EA6C484}"/>
              </a:ext>
            </a:extLst>
          </p:cNvPr>
          <p:cNvSpPr txBox="1">
            <a:spLocks/>
          </p:cNvSpPr>
          <p:nvPr/>
        </p:nvSpPr>
        <p:spPr>
          <a:xfrm>
            <a:off x="914403" y="5550048"/>
            <a:ext cx="1485898" cy="32097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Это интересно!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65ACDC5-2F8C-41AE-AE40-A26DEBD291E4}"/>
              </a:ext>
            </a:extLst>
          </p:cNvPr>
          <p:cNvCxnSpPr>
            <a:cxnSpLocks/>
          </p:cNvCxnSpPr>
          <p:nvPr/>
        </p:nvCxnSpPr>
        <p:spPr>
          <a:xfrm>
            <a:off x="7858125" y="2103437"/>
            <a:ext cx="1295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83B53086-E008-458D-B734-A08700AB67E9}"/>
              </a:ext>
            </a:extLst>
          </p:cNvPr>
          <p:cNvCxnSpPr>
            <a:cxnSpLocks/>
          </p:cNvCxnSpPr>
          <p:nvPr/>
        </p:nvCxnSpPr>
        <p:spPr>
          <a:xfrm>
            <a:off x="3095625" y="1617662"/>
            <a:ext cx="60579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B3A772F-3CFE-4AAF-9113-B8682DE2491E}"/>
              </a:ext>
            </a:extLst>
          </p:cNvPr>
          <p:cNvCxnSpPr>
            <a:cxnSpLocks/>
          </p:cNvCxnSpPr>
          <p:nvPr/>
        </p:nvCxnSpPr>
        <p:spPr>
          <a:xfrm>
            <a:off x="3848100" y="2865437"/>
            <a:ext cx="53054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D2D3D8D-B8BF-4F7F-AB19-D943784C2DD9}"/>
              </a:ext>
            </a:extLst>
          </p:cNvPr>
          <p:cNvCxnSpPr>
            <a:cxnSpLocks/>
          </p:cNvCxnSpPr>
          <p:nvPr/>
        </p:nvCxnSpPr>
        <p:spPr>
          <a:xfrm>
            <a:off x="6429375" y="3975622"/>
            <a:ext cx="2724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9AB6957-CEBD-4DC8-96EF-8C473C888C90}"/>
              </a:ext>
            </a:extLst>
          </p:cNvPr>
          <p:cNvCxnSpPr>
            <a:cxnSpLocks/>
          </p:cNvCxnSpPr>
          <p:nvPr/>
        </p:nvCxnSpPr>
        <p:spPr>
          <a:xfrm>
            <a:off x="2571750" y="5635773"/>
            <a:ext cx="65817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Текст 2">
            <a:extLst>
              <a:ext uri="{FF2B5EF4-FFF2-40B4-BE49-F238E27FC236}">
                <a16:creationId xmlns:a16="http://schemas.microsoft.com/office/drawing/2014/main" id="{52D1DDDD-B321-4D18-BC81-D59FC866F541}"/>
              </a:ext>
            </a:extLst>
          </p:cNvPr>
          <p:cNvSpPr txBox="1">
            <a:spLocks/>
          </p:cNvSpPr>
          <p:nvPr/>
        </p:nvSpPr>
        <p:spPr>
          <a:xfrm>
            <a:off x="9563098" y="1495425"/>
            <a:ext cx="1108075" cy="3209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20 </a:t>
            </a:r>
            <a:r>
              <a:rPr lang="en-US" sz="2000" dirty="0"/>
              <a:t>px</a:t>
            </a:r>
            <a:endParaRPr lang="ru-RU" sz="2000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B1A57F3F-9FD1-4661-A32E-A41BC0E6CE19}"/>
              </a:ext>
            </a:extLst>
          </p:cNvPr>
          <p:cNvSpPr txBox="1">
            <a:spLocks/>
          </p:cNvSpPr>
          <p:nvPr/>
        </p:nvSpPr>
        <p:spPr>
          <a:xfrm>
            <a:off x="9563098" y="1874247"/>
            <a:ext cx="1595439" cy="4491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dirty="0"/>
              <a:t>36 </a:t>
            </a:r>
            <a:r>
              <a:rPr lang="en-US" sz="3600" dirty="0"/>
              <a:t>px</a:t>
            </a:r>
            <a:endParaRPr lang="ru-RU" sz="3600" dirty="0"/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id="{2CCB212D-DD0A-4A42-871E-C60A1A419832}"/>
              </a:ext>
            </a:extLst>
          </p:cNvPr>
          <p:cNvSpPr txBox="1">
            <a:spLocks/>
          </p:cNvSpPr>
          <p:nvPr/>
        </p:nvSpPr>
        <p:spPr>
          <a:xfrm>
            <a:off x="9563098" y="2683172"/>
            <a:ext cx="1228725" cy="3209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24 </a:t>
            </a:r>
            <a:r>
              <a:rPr lang="en-US" sz="2400" dirty="0"/>
              <a:t>px</a:t>
            </a:r>
            <a:endParaRPr lang="ru-RU" sz="2400" dirty="0"/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E6D14673-D4B3-4B7B-B2C3-8869F6844BDB}"/>
              </a:ext>
            </a:extLst>
          </p:cNvPr>
          <p:cNvSpPr txBox="1">
            <a:spLocks/>
          </p:cNvSpPr>
          <p:nvPr/>
        </p:nvSpPr>
        <p:spPr>
          <a:xfrm>
            <a:off x="9563098" y="3824661"/>
            <a:ext cx="657225" cy="32097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18 </a:t>
            </a:r>
            <a:r>
              <a:rPr lang="en-US" dirty="0"/>
              <a:t>px</a:t>
            </a:r>
            <a:endParaRPr lang="ru-RU" dirty="0"/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id="{8BCEFBD2-303A-4673-9497-75D4F25E8842}"/>
              </a:ext>
            </a:extLst>
          </p:cNvPr>
          <p:cNvSpPr txBox="1">
            <a:spLocks/>
          </p:cNvSpPr>
          <p:nvPr/>
        </p:nvSpPr>
        <p:spPr>
          <a:xfrm>
            <a:off x="9563098" y="5550048"/>
            <a:ext cx="657225" cy="32097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/>
              <a:t>14 </a:t>
            </a:r>
            <a:r>
              <a:rPr lang="en-US" sz="1400" dirty="0"/>
              <a:t>px</a:t>
            </a:r>
            <a:endParaRPr lang="ru-RU" sz="1400" dirty="0"/>
          </a:p>
        </p:txBody>
      </p:sp>
      <p:sp>
        <p:nvSpPr>
          <p:cNvPr id="27" name="Заголовок 3">
            <a:extLst>
              <a:ext uri="{FF2B5EF4-FFF2-40B4-BE49-F238E27FC236}">
                <a16:creationId xmlns:a16="http://schemas.microsoft.com/office/drawing/2014/main" id="{9E97AFE2-B3D3-4FD2-9707-631B2858DDE0}"/>
              </a:ext>
            </a:extLst>
          </p:cNvPr>
          <p:cNvSpPr txBox="1">
            <a:spLocks/>
          </p:cNvSpPr>
          <p:nvPr/>
        </p:nvSpPr>
        <p:spPr>
          <a:xfrm>
            <a:off x="884902" y="447986"/>
            <a:ext cx="10392696" cy="9852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accent1"/>
                </a:solidFill>
              </a:rPr>
              <a:t>Пример</a:t>
            </a:r>
            <a:r>
              <a:rPr lang="ru-RU" dirty="0">
                <a:solidFill>
                  <a:schemeClr val="bg1"/>
                </a:solidFill>
              </a:rPr>
              <a:t> размеров шрифтов</a:t>
            </a:r>
          </a:p>
        </p:txBody>
      </p:sp>
    </p:spTree>
    <p:extLst>
      <p:ext uri="{BB962C8B-B14F-4D97-AF65-F5344CB8AC3E}">
        <p14:creationId xmlns:p14="http://schemas.microsoft.com/office/powerpoint/2010/main" val="3434938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6B9EBF6-BF06-43AB-AD9F-96952E6F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Выделения и акценты в тексте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884238" y="1755775"/>
            <a:ext cx="10393362" cy="4013200"/>
          </a:xfrm>
        </p:spPr>
        <p:txBody>
          <a:bodyPr>
            <a:normAutofit/>
          </a:bodyPr>
          <a:lstStyle/>
          <a:p>
            <a:r>
              <a:rPr lang="ru-RU" dirty="0"/>
              <a:t>Выделение по тексту лучше всего делать </a:t>
            </a:r>
            <a:r>
              <a:rPr lang="ru-RU" b="1" dirty="0"/>
              <a:t>жирным начертанием</a:t>
            </a:r>
            <a:r>
              <a:rPr lang="ru-RU" dirty="0"/>
              <a:t>, </a:t>
            </a:r>
            <a:endParaRPr lang="en-US" dirty="0"/>
          </a:p>
          <a:p>
            <a:r>
              <a:rPr lang="ru-RU" dirty="0"/>
              <a:t>либо добавлять </a:t>
            </a:r>
            <a:r>
              <a:rPr lang="ru-RU" b="1" dirty="0">
                <a:solidFill>
                  <a:schemeClr val="accent1"/>
                </a:solidFill>
              </a:rPr>
              <a:t>цветовой акцент.</a:t>
            </a:r>
            <a:endParaRPr lang="ru-RU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66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Нумерованный список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Первая позиция в списке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Вторая позиция в списке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Третья, но немаловажная позиция в списке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Четвертая позиция в списке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Пятая тоже длинная позиция в списке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Шестая позиция в списке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Седьмая позиция</a:t>
            </a:r>
          </a:p>
        </p:txBody>
      </p:sp>
    </p:spTree>
    <p:extLst>
      <p:ext uri="{BB962C8B-B14F-4D97-AF65-F5344CB8AC3E}">
        <p14:creationId xmlns:p14="http://schemas.microsoft.com/office/powerpoint/2010/main" val="253628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Первая позиция в списке</a:t>
            </a:r>
          </a:p>
          <a:p>
            <a:r>
              <a:rPr lang="ru-RU" dirty="0"/>
              <a:t>Вторая позиция в списке</a:t>
            </a:r>
          </a:p>
          <a:p>
            <a:r>
              <a:rPr lang="ru-RU" dirty="0"/>
              <a:t>Третья, но немаловажная позиция в списке</a:t>
            </a:r>
          </a:p>
          <a:p>
            <a:r>
              <a:rPr lang="ru-RU" dirty="0"/>
              <a:t>Четвертая позиция в списке</a:t>
            </a:r>
          </a:p>
          <a:p>
            <a:r>
              <a:rPr lang="ru-RU" dirty="0"/>
              <a:t>Пятая тоже длинная позиция в списке</a:t>
            </a:r>
          </a:p>
          <a:p>
            <a:r>
              <a:rPr lang="ru-RU" dirty="0"/>
              <a:t>Шестая позиция в списке</a:t>
            </a:r>
          </a:p>
          <a:p>
            <a:r>
              <a:rPr lang="ru-RU" dirty="0"/>
              <a:t>Седьмая позиция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Нумерованный список №2</a:t>
            </a:r>
          </a:p>
        </p:txBody>
      </p:sp>
    </p:spTree>
    <p:extLst>
      <p:ext uri="{BB962C8B-B14F-4D97-AF65-F5344CB8AC3E}">
        <p14:creationId xmlns:p14="http://schemas.microsoft.com/office/powerpoint/2010/main" val="835160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Маркированный список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>
          <a:xfrm>
            <a:off x="884238" y="1562100"/>
            <a:ext cx="10393362" cy="4013200"/>
          </a:xfrm>
        </p:spPr>
        <p:txBody>
          <a:bodyPr/>
          <a:lstStyle/>
          <a:p>
            <a:r>
              <a:rPr lang="ru-RU" dirty="0"/>
              <a:t>Первая позиция в списке</a:t>
            </a:r>
          </a:p>
          <a:p>
            <a:r>
              <a:rPr lang="ru-RU" dirty="0"/>
              <a:t>Вторая позиция в списке</a:t>
            </a:r>
          </a:p>
          <a:p>
            <a:r>
              <a:rPr lang="ru-RU" dirty="0"/>
              <a:t>Третья, но немаловажная позиция в списке</a:t>
            </a:r>
          </a:p>
          <a:p>
            <a:r>
              <a:rPr lang="ru-RU" dirty="0"/>
              <a:t>Четвертая позиция в списке</a:t>
            </a:r>
          </a:p>
          <a:p>
            <a:pPr lvl="1"/>
            <a:r>
              <a:rPr lang="ru-RU" dirty="0"/>
              <a:t> Второй уровень списка</a:t>
            </a:r>
          </a:p>
          <a:p>
            <a:pPr lvl="1"/>
            <a:r>
              <a:rPr lang="ru-RU" dirty="0"/>
              <a:t> Ещё одна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655428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>
            <a:noAutofit/>
          </a:bodyPr>
          <a:lstStyle/>
          <a:p>
            <a:r>
              <a:rPr lang="ru-RU" dirty="0"/>
              <a:t>Маркированный список №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5759450" y="1047750"/>
            <a:ext cx="5518150" cy="4527550"/>
          </a:xfrm>
        </p:spPr>
        <p:txBody>
          <a:bodyPr/>
          <a:lstStyle/>
          <a:p>
            <a:r>
              <a:rPr lang="ru-RU" dirty="0"/>
              <a:t>Первая позиция в списке</a:t>
            </a:r>
          </a:p>
          <a:p>
            <a:r>
              <a:rPr lang="ru-RU" dirty="0"/>
              <a:t>Вторая позиция в списке</a:t>
            </a:r>
          </a:p>
          <a:p>
            <a:r>
              <a:rPr lang="ru-RU" dirty="0"/>
              <a:t>Третья, но немаловажная позиция в списке</a:t>
            </a:r>
          </a:p>
          <a:p>
            <a:r>
              <a:rPr lang="ru-RU" dirty="0"/>
              <a:t>Четвертая позиция в списке</a:t>
            </a:r>
          </a:p>
          <a:p>
            <a:pPr lvl="1"/>
            <a:r>
              <a:rPr lang="ru-RU" dirty="0"/>
              <a:t> Второй уровень списка</a:t>
            </a:r>
          </a:p>
          <a:p>
            <a:pPr lvl="1"/>
            <a:r>
              <a:rPr lang="ru-RU" dirty="0"/>
              <a:t> Ещё одна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4214907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A1DDAA01-F156-47CE-BDA7-56FA2070A3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02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</a:t>
            </a:r>
            <a:br>
              <a:rPr lang="ru-RU" dirty="0"/>
            </a:br>
            <a:r>
              <a:rPr lang="ru-RU" dirty="0">
                <a:solidFill>
                  <a:schemeClr val="accent1"/>
                </a:solidFill>
              </a:rPr>
              <a:t>в колонках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D66D8A-3C8F-4A96-8182-F2AD1E4182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b"/>
          <a:lstStyle/>
          <a:p>
            <a:r>
              <a:rPr lang="ru-RU" dirty="0"/>
              <a:t>Как размещать этапы </a:t>
            </a:r>
            <a:br>
              <a:rPr lang="ru-RU" dirty="0"/>
            </a:br>
            <a:r>
              <a:rPr lang="ru-RU" dirty="0"/>
              <a:t>и другую информацию </a:t>
            </a:r>
            <a:br>
              <a:rPr lang="ru-RU" dirty="0"/>
            </a:br>
            <a:r>
              <a:rPr lang="ru-RU" dirty="0"/>
              <a:t>в блоках и колонках</a:t>
            </a:r>
          </a:p>
        </p:txBody>
      </p:sp>
    </p:spTree>
    <p:extLst>
      <p:ext uri="{BB962C8B-B14F-4D97-AF65-F5344CB8AC3E}">
        <p14:creationId xmlns:p14="http://schemas.microsoft.com/office/powerpoint/2010/main" val="1878180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5297F80-6A6C-438E-911B-21C1B6DA6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6763674" cy="1641475"/>
          </a:xfrm>
        </p:spPr>
        <p:txBody>
          <a:bodyPr>
            <a:normAutofit/>
          </a:bodyPr>
          <a:lstStyle/>
          <a:p>
            <a:r>
              <a:rPr lang="ru-RU" dirty="0"/>
              <a:t>Представление информации в трёх блоках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61BDEF48-5D64-4F72-872F-B382E05A999C}"/>
              </a:ext>
            </a:extLst>
          </p:cNvPr>
          <p:cNvGrpSpPr/>
          <p:nvPr/>
        </p:nvGrpSpPr>
        <p:grpSpPr>
          <a:xfrm>
            <a:off x="884902" y="2914649"/>
            <a:ext cx="2880000" cy="2880000"/>
            <a:chOff x="884902" y="2914649"/>
            <a:chExt cx="2880000" cy="2880000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3209E3E-8DC2-44B4-B454-4C4309418162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9156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Текст 3">
              <a:extLst>
                <a:ext uri="{FF2B5EF4-FFF2-40B4-BE49-F238E27FC236}">
                  <a16:creationId xmlns:a16="http://schemas.microsoft.com/office/drawing/2014/main" id="{41824A65-59C0-4547-9940-BC954FFB9C8C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4068899"/>
              <a:ext cx="2558516" cy="1331776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>
                  <a:solidFill>
                    <a:schemeClr val="bg2"/>
                  </a:solidFill>
                </a:rPr>
                <a:t>Первая позиция в списке. Это может быть этап или непоследовательные блоки с иконками</a:t>
              </a:r>
            </a:p>
          </p:txBody>
        </p:sp>
        <p:sp>
          <p:nvSpPr>
            <p:cNvPr id="11" name="Текст 3">
              <a:extLst>
                <a:ext uri="{FF2B5EF4-FFF2-40B4-BE49-F238E27FC236}">
                  <a16:creationId xmlns:a16="http://schemas.microsoft.com/office/drawing/2014/main" id="{7DCE3978-6088-4D23-9FAA-3B87CDB7DF70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125472"/>
              <a:ext cx="677459" cy="59835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4800" b="0" dirty="0">
                  <a:solidFill>
                    <a:schemeClr val="bg2"/>
                  </a:solidFill>
                  <a:latin typeface="Stolzl" panose="00000500000000000000" pitchFamily="50" charset="-52"/>
                </a:rPr>
                <a:t>1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CDC0EEC-9DF3-4530-A43B-C4960965224B}"/>
              </a:ext>
            </a:extLst>
          </p:cNvPr>
          <p:cNvGrpSpPr/>
          <p:nvPr/>
        </p:nvGrpSpPr>
        <p:grpSpPr>
          <a:xfrm>
            <a:off x="4323658" y="2914649"/>
            <a:ext cx="2880000" cy="2880000"/>
            <a:chOff x="884902" y="2914649"/>
            <a:chExt cx="2880000" cy="2880000"/>
          </a:xfrm>
        </p:grpSpPr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AB42DB86-A382-441D-AB37-8CAA1E4D589B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9156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1" name="Текст 3">
              <a:extLst>
                <a:ext uri="{FF2B5EF4-FFF2-40B4-BE49-F238E27FC236}">
                  <a16:creationId xmlns:a16="http://schemas.microsoft.com/office/drawing/2014/main" id="{FEDFA921-A05B-4518-AD65-13AA2A3E0DAA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4068899"/>
              <a:ext cx="2558516" cy="1331776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>
                  <a:solidFill>
                    <a:schemeClr val="bg2"/>
                  </a:solidFill>
                </a:rPr>
                <a:t>Вторая позиция в списке. Это может быть этап или непоследовательные блоки с иконками</a:t>
              </a:r>
            </a:p>
          </p:txBody>
        </p:sp>
        <p:sp>
          <p:nvSpPr>
            <p:cNvPr id="22" name="Текст 3">
              <a:extLst>
                <a:ext uri="{FF2B5EF4-FFF2-40B4-BE49-F238E27FC236}">
                  <a16:creationId xmlns:a16="http://schemas.microsoft.com/office/drawing/2014/main" id="{615B0976-EC10-4E87-A708-C4B11C791F4A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125472"/>
              <a:ext cx="677459" cy="59835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4800" b="0" dirty="0">
                  <a:solidFill>
                    <a:schemeClr val="bg2"/>
                  </a:solidFill>
                  <a:latin typeface="Stolzl" panose="00000500000000000000" pitchFamily="50" charset="-52"/>
                </a:rPr>
                <a:t>2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206152FA-48C0-44E1-B27F-7245C2108885}"/>
              </a:ext>
            </a:extLst>
          </p:cNvPr>
          <p:cNvGrpSpPr/>
          <p:nvPr/>
        </p:nvGrpSpPr>
        <p:grpSpPr>
          <a:xfrm>
            <a:off x="7762414" y="2914649"/>
            <a:ext cx="2880000" cy="2880000"/>
            <a:chOff x="884902" y="2914649"/>
            <a:chExt cx="2880000" cy="2880000"/>
          </a:xfrm>
        </p:grpSpPr>
        <p:sp>
          <p:nvSpPr>
            <p:cNvPr id="24" name="Прямоугольник: скругленные углы 23">
              <a:extLst>
                <a:ext uri="{FF2B5EF4-FFF2-40B4-BE49-F238E27FC236}">
                  <a16:creationId xmlns:a16="http://schemas.microsoft.com/office/drawing/2014/main" id="{115F4550-B387-422B-9241-D6777245BD77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9156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5" name="Текст 3">
              <a:extLst>
                <a:ext uri="{FF2B5EF4-FFF2-40B4-BE49-F238E27FC236}">
                  <a16:creationId xmlns:a16="http://schemas.microsoft.com/office/drawing/2014/main" id="{E7DB45B0-324B-468B-9D3D-BCFF721B69B0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4068899"/>
              <a:ext cx="2558516" cy="1331776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>
                  <a:solidFill>
                    <a:schemeClr val="bg2"/>
                  </a:solidFill>
                </a:rPr>
                <a:t>Третья позиция в списке. Это может быть этап или непоследовательные блоки с иконками</a:t>
              </a:r>
            </a:p>
          </p:txBody>
        </p:sp>
        <p:sp>
          <p:nvSpPr>
            <p:cNvPr id="26" name="Текст 3">
              <a:extLst>
                <a:ext uri="{FF2B5EF4-FFF2-40B4-BE49-F238E27FC236}">
                  <a16:creationId xmlns:a16="http://schemas.microsoft.com/office/drawing/2014/main" id="{BFD673A9-9E60-4552-9541-2CB68BAC4D4C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125472"/>
              <a:ext cx="677459" cy="59835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4800" b="0" dirty="0">
                  <a:solidFill>
                    <a:schemeClr val="bg2"/>
                  </a:solidFill>
                  <a:latin typeface="Stolzl" panose="00000500000000000000" pitchFamily="50" charset="-52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6900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3">
            <a:extLst>
              <a:ext uri="{FF2B5EF4-FFF2-40B4-BE49-F238E27FC236}">
                <a16:creationId xmlns:a16="http://schemas.microsoft.com/office/drawing/2014/main" id="{C5F723F2-A09A-493C-B889-6C6BC110C52F}"/>
              </a:ext>
            </a:extLst>
          </p:cNvPr>
          <p:cNvSpPr txBox="1">
            <a:spLocks/>
          </p:cNvSpPr>
          <p:nvPr/>
        </p:nvSpPr>
        <p:spPr>
          <a:xfrm>
            <a:off x="884902" y="1642719"/>
            <a:ext cx="4687223" cy="15779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Представление информации </a:t>
            </a:r>
            <a:br>
              <a:rPr lang="ru-RU" dirty="0"/>
            </a:br>
            <a:r>
              <a:rPr lang="ru-RU" dirty="0"/>
              <a:t>в трёх блоках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2B7FA2F-E7AE-45FB-8A6B-FFB98FD41905}"/>
              </a:ext>
            </a:extLst>
          </p:cNvPr>
          <p:cNvGrpSpPr/>
          <p:nvPr/>
        </p:nvGrpSpPr>
        <p:grpSpPr>
          <a:xfrm>
            <a:off x="874712" y="3562349"/>
            <a:ext cx="3249381" cy="2232299"/>
            <a:chOff x="884902" y="2914649"/>
            <a:chExt cx="2880000" cy="2880000"/>
          </a:xfrm>
        </p:grpSpPr>
        <p:sp>
          <p:nvSpPr>
            <p:cNvPr id="21" name="Прямоугольник: скругленные углы 20">
              <a:extLst>
                <a:ext uri="{FF2B5EF4-FFF2-40B4-BE49-F238E27FC236}">
                  <a16:creationId xmlns:a16="http://schemas.microsoft.com/office/drawing/2014/main" id="{4E7D1FCD-72DF-4C03-A041-0A2AD7C091DB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9156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2" name="Текст 3">
              <a:extLst>
                <a:ext uri="{FF2B5EF4-FFF2-40B4-BE49-F238E27FC236}">
                  <a16:creationId xmlns:a16="http://schemas.microsoft.com/office/drawing/2014/main" id="{E07C9FD3-6FFA-4579-B281-60A8CA61BE4B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4068899"/>
              <a:ext cx="2558516" cy="1331776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>
                  <a:solidFill>
                    <a:schemeClr val="bg2"/>
                  </a:solidFill>
                </a:rPr>
                <a:t>Автоматизация всех разделов бухгалтерского и налогового учёта.</a:t>
              </a:r>
            </a:p>
          </p:txBody>
        </p:sp>
        <p:sp>
          <p:nvSpPr>
            <p:cNvPr id="23" name="Текст 3">
              <a:extLst>
                <a:ext uri="{FF2B5EF4-FFF2-40B4-BE49-F238E27FC236}">
                  <a16:creationId xmlns:a16="http://schemas.microsoft.com/office/drawing/2014/main" id="{8CDA2426-AFFB-46E7-8157-C086039FF976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125472"/>
              <a:ext cx="677459" cy="59835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4800" b="0" dirty="0">
                  <a:solidFill>
                    <a:schemeClr val="bg2"/>
                  </a:solidFill>
                  <a:latin typeface="Stolzl" panose="00000500000000000000" pitchFamily="50" charset="-52"/>
                </a:rPr>
                <a:t>1</a:t>
              </a: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B82B8E8F-67EF-4D70-85C4-6F09E7219B4B}"/>
              </a:ext>
            </a:extLst>
          </p:cNvPr>
          <p:cNvGrpSpPr/>
          <p:nvPr/>
        </p:nvGrpSpPr>
        <p:grpSpPr>
          <a:xfrm>
            <a:off x="4472103" y="3562349"/>
            <a:ext cx="3249381" cy="2232299"/>
            <a:chOff x="884902" y="2914649"/>
            <a:chExt cx="2880000" cy="2880000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C94D7BAE-0DB6-43BD-B9C4-1CA59272160C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9156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6" name="Текст 3">
              <a:extLst>
                <a:ext uri="{FF2B5EF4-FFF2-40B4-BE49-F238E27FC236}">
                  <a16:creationId xmlns:a16="http://schemas.microsoft.com/office/drawing/2014/main" id="{9FB3E24B-8C75-4563-B722-E0E963A7490F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4068899"/>
              <a:ext cx="2558516" cy="1331776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>
                  <a:solidFill>
                    <a:schemeClr val="bg2"/>
                  </a:solidFill>
                </a:rPr>
                <a:t>Регулярное обновление форм отчётности и отражение изменений законодательства.</a:t>
              </a:r>
            </a:p>
          </p:txBody>
        </p:sp>
        <p:sp>
          <p:nvSpPr>
            <p:cNvPr id="27" name="Текст 3">
              <a:extLst>
                <a:ext uri="{FF2B5EF4-FFF2-40B4-BE49-F238E27FC236}">
                  <a16:creationId xmlns:a16="http://schemas.microsoft.com/office/drawing/2014/main" id="{FE73B047-FEAA-4047-8B32-E310C90F0550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125472"/>
              <a:ext cx="677459" cy="59835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4800" b="0" dirty="0">
                  <a:solidFill>
                    <a:schemeClr val="bg2"/>
                  </a:solidFill>
                  <a:latin typeface="Stolzl" panose="00000500000000000000" pitchFamily="50" charset="-52"/>
                </a:rPr>
                <a:t>2</a:t>
              </a: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D173611-9C40-45D3-ACAF-528DEE10B76F}"/>
              </a:ext>
            </a:extLst>
          </p:cNvPr>
          <p:cNvGrpSpPr/>
          <p:nvPr/>
        </p:nvGrpSpPr>
        <p:grpSpPr>
          <a:xfrm>
            <a:off x="8031394" y="3562349"/>
            <a:ext cx="3249381" cy="2232299"/>
            <a:chOff x="884902" y="2914649"/>
            <a:chExt cx="2880000" cy="2880000"/>
          </a:xfrm>
          <a:solidFill>
            <a:schemeClr val="accent1"/>
          </a:solidFill>
        </p:grpSpPr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8CBD81E5-C9FF-4468-A47B-A45DF0858AEF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9156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0" name="Текст 3">
              <a:extLst>
                <a:ext uri="{FF2B5EF4-FFF2-40B4-BE49-F238E27FC236}">
                  <a16:creationId xmlns:a16="http://schemas.microsoft.com/office/drawing/2014/main" id="{3D2F336A-01AF-4204-9A2E-BD0384EA9ABD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4068900"/>
              <a:ext cx="2402721" cy="1331776"/>
            </a:xfrm>
            <a:prstGeom prst="rect">
              <a:avLst/>
            </a:prstGeom>
            <a:grpFill/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/>
                <a:t>Различные варианты для бизнеса любых масштабов и настройка под их особенности.</a:t>
              </a:r>
            </a:p>
          </p:txBody>
        </p:sp>
        <p:sp>
          <p:nvSpPr>
            <p:cNvPr id="31" name="Текст 3">
              <a:extLst>
                <a:ext uri="{FF2B5EF4-FFF2-40B4-BE49-F238E27FC236}">
                  <a16:creationId xmlns:a16="http://schemas.microsoft.com/office/drawing/2014/main" id="{62361EC6-4E8A-4AFE-8B00-D15B43A187C0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125472"/>
              <a:ext cx="677459" cy="598351"/>
            </a:xfrm>
            <a:prstGeom prst="rect">
              <a:avLst/>
            </a:prstGeom>
            <a:grpFill/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4800" b="0" dirty="0">
                  <a:latin typeface="Stolzl" panose="00000500000000000000" pitchFamily="50" charset="-52"/>
                </a:rPr>
                <a:t>3</a:t>
              </a:r>
            </a:p>
          </p:txBody>
        </p:sp>
      </p:grpSp>
      <p:sp>
        <p:nvSpPr>
          <p:cNvPr id="32" name="Заголовок 3">
            <a:extLst>
              <a:ext uri="{FF2B5EF4-FFF2-40B4-BE49-F238E27FC236}">
                <a16:creationId xmlns:a16="http://schemas.microsoft.com/office/drawing/2014/main" id="{57711F1C-0ADE-46B0-968D-6A9FC65C4A30}"/>
              </a:ext>
            </a:extLst>
          </p:cNvPr>
          <p:cNvSpPr txBox="1">
            <a:spLocks/>
          </p:cNvSpPr>
          <p:nvPr/>
        </p:nvSpPr>
        <p:spPr>
          <a:xfrm>
            <a:off x="6572511" y="1716904"/>
            <a:ext cx="4180156" cy="15779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0" dirty="0"/>
              <a:t>Еще один вариант, в котором можно сверху выделить раздел или тему, а также показать наиболее важный блок цветом.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E8193CC-A6BE-4559-8A48-5484EA5E03B0}"/>
              </a:ext>
            </a:extLst>
          </p:cNvPr>
          <p:cNvSpPr/>
          <p:nvPr/>
        </p:nvSpPr>
        <p:spPr>
          <a:xfrm>
            <a:off x="884902" y="780499"/>
            <a:ext cx="2316162" cy="48565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Раздел/Тема</a:t>
            </a:r>
          </a:p>
        </p:txBody>
      </p:sp>
    </p:spTree>
    <p:extLst>
      <p:ext uri="{BB962C8B-B14F-4D97-AF65-F5344CB8AC3E}">
        <p14:creationId xmlns:p14="http://schemas.microsoft.com/office/powerpoint/2010/main" val="427995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B82B8E8F-67EF-4D70-85C4-6F09E7219B4B}"/>
              </a:ext>
            </a:extLst>
          </p:cNvPr>
          <p:cNvGrpSpPr/>
          <p:nvPr/>
        </p:nvGrpSpPr>
        <p:grpSpPr>
          <a:xfrm>
            <a:off x="4472103" y="3562349"/>
            <a:ext cx="3249381" cy="2232299"/>
            <a:chOff x="884902" y="2914649"/>
            <a:chExt cx="2880000" cy="2880000"/>
          </a:xfrm>
        </p:grpSpPr>
        <p:sp>
          <p:nvSpPr>
            <p:cNvPr id="25" name="Прямоугольник: скругленные углы 24">
              <a:extLst>
                <a:ext uri="{FF2B5EF4-FFF2-40B4-BE49-F238E27FC236}">
                  <a16:creationId xmlns:a16="http://schemas.microsoft.com/office/drawing/2014/main" id="{C94D7BAE-0DB6-43BD-B9C4-1CA59272160C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6169"/>
              </a:avLst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6" name="Текст 3">
              <a:extLst>
                <a:ext uri="{FF2B5EF4-FFF2-40B4-BE49-F238E27FC236}">
                  <a16:creationId xmlns:a16="http://schemas.microsoft.com/office/drawing/2014/main" id="{9FB3E24B-8C75-4563-B722-E0E963A7490F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4068899"/>
              <a:ext cx="2558516" cy="1331776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>
                  <a:solidFill>
                    <a:schemeClr val="bg2"/>
                  </a:solidFill>
                </a:rPr>
                <a:t>Регулярное обновление форм отчётности и отражение изменений законодательства.</a:t>
              </a:r>
            </a:p>
          </p:txBody>
        </p:sp>
        <p:sp>
          <p:nvSpPr>
            <p:cNvPr id="27" name="Текст 3">
              <a:extLst>
                <a:ext uri="{FF2B5EF4-FFF2-40B4-BE49-F238E27FC236}">
                  <a16:creationId xmlns:a16="http://schemas.microsoft.com/office/drawing/2014/main" id="{FE73B047-FEAA-4047-8B32-E310C90F0550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125472"/>
              <a:ext cx="677459" cy="59835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4800" b="0" dirty="0">
                  <a:solidFill>
                    <a:schemeClr val="bg2"/>
                  </a:solidFill>
                  <a:latin typeface="Stolzl" panose="00000500000000000000" pitchFamily="50" charset="-52"/>
                </a:rPr>
                <a:t>1</a:t>
              </a:r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3D173611-9C40-45D3-ACAF-528DEE10B76F}"/>
              </a:ext>
            </a:extLst>
          </p:cNvPr>
          <p:cNvGrpSpPr/>
          <p:nvPr/>
        </p:nvGrpSpPr>
        <p:grpSpPr>
          <a:xfrm>
            <a:off x="8031394" y="3562349"/>
            <a:ext cx="3249381" cy="2232299"/>
            <a:chOff x="884902" y="2914649"/>
            <a:chExt cx="2880000" cy="2880000"/>
          </a:xfrm>
          <a:solidFill>
            <a:schemeClr val="accent1"/>
          </a:solidFill>
        </p:grpSpPr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8CBD81E5-C9FF-4468-A47B-A45DF0858AEF}"/>
                </a:ext>
              </a:extLst>
            </p:cNvPr>
            <p:cNvSpPr/>
            <p:nvPr/>
          </p:nvSpPr>
          <p:spPr>
            <a:xfrm>
              <a:off x="884902" y="2914649"/>
              <a:ext cx="2880000" cy="2880000"/>
            </a:xfrm>
            <a:prstGeom prst="roundRect">
              <a:avLst>
                <a:gd name="adj" fmla="val 4889"/>
              </a:avLst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0" name="Текст 3">
              <a:extLst>
                <a:ext uri="{FF2B5EF4-FFF2-40B4-BE49-F238E27FC236}">
                  <a16:creationId xmlns:a16="http://schemas.microsoft.com/office/drawing/2014/main" id="{3D2F336A-01AF-4204-9A2E-BD0384EA9ABD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4068900"/>
              <a:ext cx="2385291" cy="1331776"/>
            </a:xfrm>
            <a:prstGeom prst="rect">
              <a:avLst/>
            </a:prstGeom>
            <a:grpFill/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0" dirty="0"/>
                <a:t>Различные варианты для бизнеса любых масштабов и настройка под их особенности.</a:t>
              </a:r>
            </a:p>
          </p:txBody>
        </p:sp>
        <p:sp>
          <p:nvSpPr>
            <p:cNvPr id="31" name="Текст 3">
              <a:extLst>
                <a:ext uri="{FF2B5EF4-FFF2-40B4-BE49-F238E27FC236}">
                  <a16:creationId xmlns:a16="http://schemas.microsoft.com/office/drawing/2014/main" id="{62361EC6-4E8A-4AFE-8B00-D15B43A187C0}"/>
                </a:ext>
              </a:extLst>
            </p:cNvPr>
            <p:cNvSpPr txBox="1">
              <a:spLocks/>
            </p:cNvSpPr>
            <p:nvPr/>
          </p:nvSpPr>
          <p:spPr>
            <a:xfrm>
              <a:off x="1045644" y="3125472"/>
              <a:ext cx="677459" cy="598351"/>
            </a:xfrm>
            <a:prstGeom prst="rect">
              <a:avLst/>
            </a:prstGeom>
            <a:grpFill/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b="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4800" b="0" dirty="0">
                  <a:latin typeface="Stolzl" panose="00000500000000000000" pitchFamily="50" charset="-52"/>
                </a:rPr>
                <a:t>2</a:t>
              </a:r>
            </a:p>
          </p:txBody>
        </p:sp>
      </p:grpSp>
      <p:sp>
        <p:nvSpPr>
          <p:cNvPr id="32" name="Заголовок 3">
            <a:extLst>
              <a:ext uri="{FF2B5EF4-FFF2-40B4-BE49-F238E27FC236}">
                <a16:creationId xmlns:a16="http://schemas.microsoft.com/office/drawing/2014/main" id="{57711F1C-0ADE-46B0-968D-6A9FC65C4A30}"/>
              </a:ext>
            </a:extLst>
          </p:cNvPr>
          <p:cNvSpPr txBox="1">
            <a:spLocks/>
          </p:cNvSpPr>
          <p:nvPr/>
        </p:nvSpPr>
        <p:spPr>
          <a:xfrm>
            <a:off x="6572511" y="1716904"/>
            <a:ext cx="4180156" cy="15779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b="0" dirty="0"/>
              <a:t>Фотография может поддержать тематику слайда. Для единой формы заранее нужно скруглить углы фотографии</a:t>
            </a:r>
          </a:p>
        </p:txBody>
      </p:sp>
      <p:sp>
        <p:nvSpPr>
          <p:cNvPr id="33" name="Заголовок 5">
            <a:extLst>
              <a:ext uri="{FF2B5EF4-FFF2-40B4-BE49-F238E27FC236}">
                <a16:creationId xmlns:a16="http://schemas.microsoft.com/office/drawing/2014/main" id="{934BE808-7DCA-4BC6-B546-E8F6529C0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1573211"/>
            <a:ext cx="5211098" cy="1711325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Слайд с фото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и блоками описания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C86D19A-BFFE-4344-A772-3A60C44144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29" y="3562349"/>
            <a:ext cx="3306715" cy="22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58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BD83C-BA1B-43A6-877F-7D9760DE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Информация с тремя колонками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6256F-18E1-4A28-AF68-5EC03E49EED8}"/>
              </a:ext>
            </a:extLst>
          </p:cNvPr>
          <p:cNvSpPr txBox="1"/>
          <p:nvPr/>
        </p:nvSpPr>
        <p:spPr>
          <a:xfrm>
            <a:off x="1289050" y="2671148"/>
            <a:ext cx="2635250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r>
              <a:rPr lang="ru-RU" b="1" dirty="0"/>
              <a:t>Название раздела.</a:t>
            </a:r>
          </a:p>
          <a:p>
            <a:r>
              <a:rPr lang="ru-RU" b="1" dirty="0"/>
              <a:t>Заголовок</a:t>
            </a:r>
          </a:p>
          <a:p>
            <a:endParaRPr lang="ru-RU" sz="1400" dirty="0"/>
          </a:p>
          <a:p>
            <a:r>
              <a:rPr lang="ru-RU" sz="1400" dirty="0"/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79A4EC-C42B-449A-A8B4-751AA34F5E62}"/>
              </a:ext>
            </a:extLst>
          </p:cNvPr>
          <p:cNvSpPr txBox="1"/>
          <p:nvPr/>
        </p:nvSpPr>
        <p:spPr>
          <a:xfrm>
            <a:off x="7943850" y="2671148"/>
            <a:ext cx="2635250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r>
              <a:rPr lang="ru-RU" b="1" dirty="0"/>
              <a:t>Название раздела.</a:t>
            </a:r>
          </a:p>
          <a:p>
            <a:r>
              <a:rPr lang="ru-RU" b="1" dirty="0"/>
              <a:t>Заголовок</a:t>
            </a:r>
          </a:p>
          <a:p>
            <a:endParaRPr lang="ru-RU" sz="1400" dirty="0"/>
          </a:p>
          <a:p>
            <a:r>
              <a:rPr lang="ru-RU" sz="1400" dirty="0"/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0E4E36-E310-4CA1-A8B1-2A51D2BABF75}"/>
              </a:ext>
            </a:extLst>
          </p:cNvPr>
          <p:cNvSpPr txBox="1"/>
          <p:nvPr/>
        </p:nvSpPr>
        <p:spPr>
          <a:xfrm>
            <a:off x="4616450" y="2671148"/>
            <a:ext cx="2635250" cy="2492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r>
              <a:rPr lang="ru-RU" b="1" dirty="0"/>
              <a:t>Название раздела.</a:t>
            </a:r>
          </a:p>
          <a:p>
            <a:r>
              <a:rPr lang="ru-RU" b="1" dirty="0"/>
              <a:t>Заголовок</a:t>
            </a:r>
          </a:p>
          <a:p>
            <a:endParaRPr lang="ru-RU" sz="1400" dirty="0"/>
          </a:p>
          <a:p>
            <a:r>
              <a:rPr lang="ru-RU" sz="1400" dirty="0"/>
              <a:t>Душа моя озарена неземной радостью, как эти чудесные весенние утра, которыми я наслаждаюсь от всего сердца. Я совсем один и блаженствую в здешнем краю, словно созданном для таких, как я.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05B8ADC-AFF8-4594-BA29-4B4441815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43850" y="1821346"/>
            <a:ext cx="723900" cy="68677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97A0DFA-4FDB-4B41-BC76-FBE879C9D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16450" y="1734523"/>
            <a:ext cx="860425" cy="8604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34A7943-3B54-4E09-A5EE-76B5790CC6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9050" y="1734523"/>
            <a:ext cx="860425" cy="86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89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BD83C-BA1B-43A6-877F-7D9760DE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Информация с четырьмя колонками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107C26-34B0-41F9-9374-F9A07475D033}"/>
              </a:ext>
            </a:extLst>
          </p:cNvPr>
          <p:cNvSpPr txBox="1"/>
          <p:nvPr/>
        </p:nvSpPr>
        <p:spPr>
          <a:xfrm>
            <a:off x="1313016" y="3123853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b="1" dirty="0"/>
              <a:t>Название раздела.</a:t>
            </a:r>
          </a:p>
          <a:p>
            <a:pPr algn="ctr"/>
            <a:r>
              <a:rPr lang="ru-RU" b="1" dirty="0"/>
              <a:t>Заголовок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Душа моя озарена неземной радостью, как эти чудесные весенние утра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4B778D-2E85-4E37-9DCE-C7914F5A7D22}"/>
              </a:ext>
            </a:extLst>
          </p:cNvPr>
          <p:cNvSpPr txBox="1"/>
          <p:nvPr/>
        </p:nvSpPr>
        <p:spPr>
          <a:xfrm>
            <a:off x="3701674" y="3123853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b="1" dirty="0"/>
              <a:t>Название раздела.</a:t>
            </a:r>
          </a:p>
          <a:p>
            <a:pPr algn="ctr"/>
            <a:r>
              <a:rPr lang="ru-RU" b="1" dirty="0"/>
              <a:t>Заголовок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Душа моя озарена неземной радостью, как эти чудесные весенние утра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62564A-D111-4A3E-A80F-FD845F5AC454}"/>
              </a:ext>
            </a:extLst>
          </p:cNvPr>
          <p:cNvSpPr txBox="1"/>
          <p:nvPr/>
        </p:nvSpPr>
        <p:spPr>
          <a:xfrm>
            <a:off x="6090332" y="3123853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b="1" dirty="0"/>
              <a:t>Название раздела.</a:t>
            </a:r>
          </a:p>
          <a:p>
            <a:pPr algn="ctr"/>
            <a:r>
              <a:rPr lang="ru-RU" b="1" dirty="0"/>
              <a:t>Заголовок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Душа моя озарена неземной радостью, как эти чудесные весенние утра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9B296D-DFBD-45F7-9982-9B6D7F5EEC24}"/>
              </a:ext>
            </a:extLst>
          </p:cNvPr>
          <p:cNvSpPr txBox="1"/>
          <p:nvPr/>
        </p:nvSpPr>
        <p:spPr>
          <a:xfrm>
            <a:off x="8478991" y="3123853"/>
            <a:ext cx="2124075" cy="1908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ru-RU" b="1" dirty="0"/>
              <a:t>Название раздела.</a:t>
            </a:r>
          </a:p>
          <a:p>
            <a:pPr algn="ctr"/>
            <a:r>
              <a:rPr lang="ru-RU" b="1" dirty="0"/>
              <a:t>Заголовок</a:t>
            </a:r>
          </a:p>
          <a:p>
            <a:pPr algn="ctr"/>
            <a:endParaRPr lang="ru-RU" sz="1400" dirty="0"/>
          </a:p>
          <a:p>
            <a:pPr algn="ctr"/>
            <a:r>
              <a:rPr lang="ru-RU" sz="1400" dirty="0"/>
              <a:t>Душа моя озарена неземной радостью, как эти чудесные весенние утра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8663BD9-2DE5-4005-BCBF-AC0099E1C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6249" y="1934477"/>
            <a:ext cx="858322" cy="85832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E77BE43-68BD-4E9C-98B7-53D78A309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4626" y="1934477"/>
            <a:ext cx="858322" cy="85832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37FF3A8-B9F8-4184-841B-6E675B1A5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8102" y="1934477"/>
            <a:ext cx="858322" cy="85832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C0C70DE-6623-440C-9509-5E021EEFD1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1867" y="1934477"/>
            <a:ext cx="858322" cy="8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30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54829-A389-435C-B036-F919CDCEF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ещё можно разместить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E46CB81-83B5-4189-B107-28CC9CB7B1CF}"/>
              </a:ext>
            </a:extLst>
          </p:cNvPr>
          <p:cNvSpPr/>
          <p:nvPr/>
        </p:nvSpPr>
        <p:spPr>
          <a:xfrm>
            <a:off x="884902" y="1514806"/>
            <a:ext cx="4005478" cy="48938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bg1"/>
                </a:solidFill>
              </a:rPr>
              <a:t>Автоматизация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02355-1720-4039-8862-29EF2B2037A3}"/>
              </a:ext>
            </a:extLst>
          </p:cNvPr>
          <p:cNvSpPr txBox="1"/>
          <p:nvPr/>
        </p:nvSpPr>
        <p:spPr>
          <a:xfrm>
            <a:off x="884902" y="2087685"/>
            <a:ext cx="400547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ru-RU" altLang="ru-RU" sz="1400" dirty="0"/>
              <a:t>Повышение точности и стабильности процесса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ru-RU" altLang="ru-RU" sz="1400" dirty="0"/>
              <a:t>Минимизация человеческого фактора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ru-RU" altLang="ru-RU" sz="1400" dirty="0"/>
              <a:t>Увеличение производительности </a:t>
            </a:r>
            <a:br>
              <a:rPr lang="ru-RU" altLang="ru-RU" sz="1400" dirty="0"/>
            </a:br>
            <a:r>
              <a:rPr lang="ru-RU" altLang="ru-RU" sz="1400" dirty="0"/>
              <a:t>и снижение издержек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A5E39DF-7416-4BB0-8E11-82588B797480}"/>
              </a:ext>
            </a:extLst>
          </p:cNvPr>
          <p:cNvSpPr/>
          <p:nvPr/>
        </p:nvSpPr>
        <p:spPr>
          <a:xfrm>
            <a:off x="5944279" y="1514806"/>
            <a:ext cx="4005478" cy="48938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bg1"/>
                </a:solidFill>
              </a:rPr>
              <a:t>Развитие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A4B74-9C05-4AC7-8D66-3864B85F91A0}"/>
              </a:ext>
            </a:extLst>
          </p:cNvPr>
          <p:cNvSpPr txBox="1"/>
          <p:nvPr/>
        </p:nvSpPr>
        <p:spPr>
          <a:xfrm>
            <a:off x="5944278" y="2087685"/>
            <a:ext cx="40054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Уменьшение количества ошибок Улучшение качества продукции </a:t>
            </a:r>
            <a:br>
              <a:rPr lang="ru-RU" sz="1400" dirty="0"/>
            </a:br>
            <a:r>
              <a:rPr lang="ru-RU" sz="1400" dirty="0"/>
              <a:t>за счёт точного контроля параметров</a:t>
            </a:r>
          </a:p>
          <a:p>
            <a:pPr marL="285750" indent="-285750" algn="l" fontAlgn="base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Возможность масштабирования производства без увеличения штата сотрудников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A7ADE42-EC28-470B-A8B0-289784BACDC1}"/>
              </a:ext>
            </a:extLst>
          </p:cNvPr>
          <p:cNvSpPr/>
          <p:nvPr/>
        </p:nvSpPr>
        <p:spPr>
          <a:xfrm>
            <a:off x="884902" y="3613167"/>
            <a:ext cx="4005478" cy="48938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bg1"/>
                </a:solidFill>
              </a:rPr>
              <a:t>Производство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9B4A0-B391-49B2-86E8-9352907D0776}"/>
              </a:ext>
            </a:extLst>
          </p:cNvPr>
          <p:cNvSpPr txBox="1"/>
          <p:nvPr/>
        </p:nvSpPr>
        <p:spPr>
          <a:xfrm>
            <a:off x="884902" y="4186046"/>
            <a:ext cx="411261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ru-RU" altLang="ru-RU" sz="1400" dirty="0"/>
              <a:t>Автоматический контроль температуры и влажности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ru-RU" altLang="ru-RU" sz="1400" dirty="0"/>
              <a:t>Полностью автоматизированный процесс упаковки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ru-RU" altLang="ru-RU" sz="1400" dirty="0"/>
              <a:t>Простота интеграции с существующими производственными линиями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92BBC6D-8432-4F65-A873-550A5DF51BF2}"/>
              </a:ext>
            </a:extLst>
          </p:cNvPr>
          <p:cNvSpPr/>
          <p:nvPr/>
        </p:nvSpPr>
        <p:spPr>
          <a:xfrm>
            <a:off x="5944279" y="3613167"/>
            <a:ext cx="4005478" cy="48938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chemeClr val="bg1"/>
                </a:solidFill>
              </a:rPr>
              <a:t>Работоспособность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B5492-DD08-4540-9179-97E0A637D73E}"/>
              </a:ext>
            </a:extLst>
          </p:cNvPr>
          <p:cNvSpPr txBox="1"/>
          <p:nvPr/>
        </p:nvSpPr>
        <p:spPr>
          <a:xfrm>
            <a:off x="5944279" y="4186046"/>
            <a:ext cx="430424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Снижение затрат на производство</a:t>
            </a:r>
          </a:p>
          <a:p>
            <a:pPr marL="285750" indent="-285750" algn="l" fontAlgn="base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Устойчивый рост объёмов выпуска продукции</a:t>
            </a:r>
          </a:p>
          <a:p>
            <a:pPr marL="285750" indent="-285750" algn="l" fontAlgn="base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Обеспечение стабильной работы оборудования</a:t>
            </a:r>
          </a:p>
          <a:p>
            <a:pPr marL="285750" indent="-285750" algn="l" fontAlgn="base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Соответствие всем требованиям безопасности и санитарии</a:t>
            </a:r>
          </a:p>
        </p:txBody>
      </p:sp>
    </p:spTree>
    <p:extLst>
      <p:ext uri="{BB962C8B-B14F-4D97-AF65-F5344CB8AC3E}">
        <p14:creationId xmlns:p14="http://schemas.microsoft.com/office/powerpoint/2010/main" val="162757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5">
            <a:extLst>
              <a:ext uri="{FF2B5EF4-FFF2-40B4-BE49-F238E27FC236}">
                <a16:creationId xmlns:a16="http://schemas.microsoft.com/office/drawing/2014/main" id="{521FFAA4-1138-4388-A8F6-3EC043D2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dirty="0"/>
              <a:t>3 колонки и </a:t>
            </a:r>
            <a:r>
              <a:rPr lang="ru-RU" dirty="0">
                <a:solidFill>
                  <a:schemeClr val="accent1"/>
                </a:solidFill>
              </a:rPr>
              <a:t>главная мысль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FFF01-7403-47B4-89C5-E9698FA2989A}"/>
              </a:ext>
            </a:extLst>
          </p:cNvPr>
          <p:cNvSpPr txBox="1"/>
          <p:nvPr/>
        </p:nvSpPr>
        <p:spPr>
          <a:xfrm>
            <a:off x="954189" y="5083213"/>
            <a:ext cx="1976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  <a:spcAft>
                <a:spcPts val="600"/>
              </a:spcAft>
              <a:buSzPct val="150000"/>
            </a:pPr>
            <a:r>
              <a:rPr lang="ru-RU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Ключевая задача</a:t>
            </a:r>
            <a:r>
              <a:rPr lang="ru-RU" sz="18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D2741A9-1AF4-4EFD-8A03-850DE7991486}"/>
              </a:ext>
            </a:extLst>
          </p:cNvPr>
          <p:cNvSpPr/>
          <p:nvPr/>
        </p:nvSpPr>
        <p:spPr>
          <a:xfrm>
            <a:off x="884902" y="4919347"/>
            <a:ext cx="9211599" cy="100012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2849CDC-84C1-4556-9123-F06A7AB13724}"/>
              </a:ext>
            </a:extLst>
          </p:cNvPr>
          <p:cNvSpPr/>
          <p:nvPr/>
        </p:nvSpPr>
        <p:spPr>
          <a:xfrm>
            <a:off x="884903" y="1277079"/>
            <a:ext cx="2915574" cy="3504472"/>
          </a:xfrm>
          <a:prstGeom prst="roundRect">
            <a:avLst>
              <a:gd name="adj" fmla="val 699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600"/>
              </a:spcBef>
              <a:spcAft>
                <a:spcPts val="600"/>
              </a:spcAft>
              <a:buSzPct val="150000"/>
            </a:pPr>
            <a:br>
              <a:rPr lang="ru-RU" sz="1800" b="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Отсутствие готового решения</a:t>
            </a:r>
            <a:br>
              <a:rPr lang="ru-RU" sz="1800" b="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1800" b="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1600" b="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600" b="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Сейчас на рынке нет</a:t>
            </a:r>
            <a:r>
              <a:rPr lang="en-US" sz="1600" b="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b="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программного продукта, который покроет все задачи ГК ИНК</a:t>
            </a:r>
            <a:endParaRPr lang="ru-RU" sz="1800" b="0" dirty="0">
              <a:solidFill>
                <a:schemeClr val="bg2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B1C3FCA-2AE0-4315-9273-0B8F6012C3E3}"/>
              </a:ext>
            </a:extLst>
          </p:cNvPr>
          <p:cNvGrpSpPr/>
          <p:nvPr/>
        </p:nvGrpSpPr>
        <p:grpSpPr>
          <a:xfrm>
            <a:off x="4032915" y="1277079"/>
            <a:ext cx="2915574" cy="3504472"/>
            <a:chOff x="4442489" y="1219928"/>
            <a:chExt cx="2657475" cy="3576019"/>
          </a:xfrm>
          <a:solidFill>
            <a:schemeClr val="bg1">
              <a:lumMod val="95000"/>
            </a:schemeClr>
          </a:solidFill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D6E20021-AA7C-4CCC-95FF-A5D176B82D59}"/>
                </a:ext>
              </a:extLst>
            </p:cNvPr>
            <p:cNvSpPr/>
            <p:nvPr/>
          </p:nvSpPr>
          <p:spPr>
            <a:xfrm>
              <a:off x="4442489" y="1219928"/>
              <a:ext cx="2657475" cy="3576019"/>
            </a:xfrm>
            <a:prstGeom prst="roundRect">
              <a:avLst>
                <a:gd name="adj" fmla="val 699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1">
                <a:spcBef>
                  <a:spcPts val="600"/>
                </a:spcBef>
                <a:spcAft>
                  <a:spcPts val="600"/>
                </a:spcAft>
                <a:buSzPct val="150000"/>
              </a:pPr>
              <a:br>
                <a:rPr lang="ru-RU" sz="18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ru-RU" sz="1800" b="1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Потребность </a:t>
              </a:r>
              <a:br>
                <a:rPr lang="ru-RU" sz="1800" b="1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ru-RU" sz="1800" b="1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в кастомизации</a:t>
              </a:r>
              <a:br>
                <a:rPr lang="ru-RU" sz="18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ru-RU" sz="18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ru-RU" sz="18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ru-RU" sz="16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Функциональность решений не покроет текущие и будущие потребности, нужна</a:t>
              </a:r>
              <a:r>
                <a:rPr lang="en-US" sz="16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ru-RU" sz="16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кастомизация</a:t>
              </a:r>
              <a:endParaRPr lang="ru-RU" sz="1800" b="0" dirty="0">
                <a:solidFill>
                  <a:srgbClr val="00000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A3F86F9D-3EC8-4018-B143-E6DCE69128AF}"/>
                </a:ext>
              </a:extLst>
            </p:cNvPr>
            <p:cNvCxnSpPr>
              <a:cxnSpLocks/>
            </p:cNvCxnSpPr>
            <p:nvPr/>
          </p:nvCxnSpPr>
          <p:spPr>
            <a:xfrm>
              <a:off x="5099714" y="2009775"/>
              <a:ext cx="1343025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887B28B-6CB9-4C05-972E-0F7AF6583EFF}"/>
              </a:ext>
            </a:extLst>
          </p:cNvPr>
          <p:cNvGrpSpPr/>
          <p:nvPr/>
        </p:nvGrpSpPr>
        <p:grpSpPr>
          <a:xfrm>
            <a:off x="7180927" y="1260930"/>
            <a:ext cx="2915574" cy="3504472"/>
            <a:chOff x="7590501" y="1203779"/>
            <a:chExt cx="2657475" cy="3576019"/>
          </a:xfrm>
          <a:solidFill>
            <a:schemeClr val="bg1">
              <a:lumMod val="95000"/>
            </a:schemeClr>
          </a:solidFill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91D39F81-9013-4833-8EE3-7D5FA3919C86}"/>
                </a:ext>
              </a:extLst>
            </p:cNvPr>
            <p:cNvSpPr/>
            <p:nvPr/>
          </p:nvSpPr>
          <p:spPr>
            <a:xfrm>
              <a:off x="7590501" y="1203779"/>
              <a:ext cx="2657475" cy="3576019"/>
            </a:xfrm>
            <a:prstGeom prst="roundRect">
              <a:avLst>
                <a:gd name="adj" fmla="val 699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lvl="1">
                <a:spcBef>
                  <a:spcPts val="600"/>
                </a:spcBef>
                <a:spcAft>
                  <a:spcPts val="600"/>
                </a:spcAft>
                <a:buSzPct val="150000"/>
              </a:pPr>
              <a:br>
                <a:rPr lang="ru-RU" sz="18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ru-RU" sz="1800" b="1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Высокий уровень </a:t>
              </a:r>
              <a:r>
                <a:rPr lang="en-US" sz="1800" b="1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HR</a:t>
              </a:r>
              <a:r>
                <a:rPr lang="ru-RU" sz="1800" b="1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-процессов</a:t>
              </a:r>
              <a:br>
                <a:rPr lang="ru-RU" sz="18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ru-RU" sz="18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ru-RU" sz="18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ru-RU" sz="16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В компании </a:t>
              </a:r>
              <a:br>
                <a:rPr lang="ru-RU" sz="16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6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HR</a:t>
              </a:r>
              <a:r>
                <a:rPr lang="ru-RU" sz="16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-процессы на высоком уровне, функциональный заказчик знает свои бизнес-процессы </a:t>
              </a:r>
              <a:br>
                <a:rPr lang="ru-RU" sz="16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ru-RU" sz="1600" b="0" dirty="0">
                  <a:solidFill>
                    <a:srgbClr val="00000A"/>
                  </a:solidFill>
                  <a:ea typeface="Calibri" panose="020F0502020204030204" pitchFamily="34" charset="0"/>
                  <a:cs typeface="Times New Roman" panose="02020603050405020304" pitchFamily="18" charset="0"/>
                </a:rPr>
                <a:t>и понимает, что хочет</a:t>
              </a:r>
              <a:endParaRPr lang="ru-RU" sz="1800" b="0" dirty="0">
                <a:solidFill>
                  <a:srgbClr val="00000A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8F70110D-1A34-4236-A94B-0279A8949DE0}"/>
                </a:ext>
              </a:extLst>
            </p:cNvPr>
            <p:cNvCxnSpPr>
              <a:cxnSpLocks/>
            </p:cNvCxnSpPr>
            <p:nvPr/>
          </p:nvCxnSpPr>
          <p:spPr>
            <a:xfrm>
              <a:off x="8247726" y="2009775"/>
              <a:ext cx="1343025" cy="0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5606D94-952B-4930-9CAD-317FADF88114}"/>
              </a:ext>
            </a:extLst>
          </p:cNvPr>
          <p:cNvSpPr txBox="1"/>
          <p:nvPr/>
        </p:nvSpPr>
        <p:spPr>
          <a:xfrm>
            <a:off x="3226284" y="5065400"/>
            <a:ext cx="6578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  <a:spcAft>
                <a:spcPts val="600"/>
              </a:spcAft>
              <a:buSzPct val="150000"/>
            </a:pPr>
            <a:r>
              <a:rPr lang="ru-RU" sz="1800" dirty="0">
                <a:ea typeface="Calibri" panose="020F0502020204030204" pitchFamily="34" charset="0"/>
                <a:cs typeface="Times New Roman" panose="02020603050405020304" pitchFamily="18" charset="0"/>
              </a:rPr>
              <a:t>Сделать систему, которая покроет текущие потребности, и которую можно развивать под новые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8ED69EF-1BB2-4A8A-851A-9918344DB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8691" y="5137204"/>
            <a:ext cx="538347" cy="53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82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AA6EB3A-5361-44A5-94DE-E6313F1456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3240" y="4297116"/>
            <a:ext cx="382860" cy="368547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05BE2108-9D13-4727-A0E5-1C1CEE64D9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66685" y="4297116"/>
            <a:ext cx="382860" cy="368547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CA5711F-D3C7-44B2-B1C5-F9998D939F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2388" y="4282802"/>
            <a:ext cx="382861" cy="382861"/>
          </a:xfrm>
          <a:prstGeom prst="rect">
            <a:avLst/>
          </a:prstGeom>
        </p:spPr>
      </p:pic>
      <p:sp>
        <p:nvSpPr>
          <p:cNvPr id="5" name="Текст 6">
            <a:extLst>
              <a:ext uri="{FF2B5EF4-FFF2-40B4-BE49-F238E27FC236}">
                <a16:creationId xmlns:a16="http://schemas.microsoft.com/office/drawing/2014/main" id="{C7F16E7D-F9FB-4222-8C48-47037B693251}"/>
              </a:ext>
            </a:extLst>
          </p:cNvPr>
          <p:cNvSpPr txBox="1">
            <a:spLocks/>
          </p:cNvSpPr>
          <p:nvPr/>
        </p:nvSpPr>
        <p:spPr>
          <a:xfrm>
            <a:off x="8922581" y="4786515"/>
            <a:ext cx="2341074" cy="7439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Короткий </a:t>
            </a:r>
            <a:b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97DB4D-A2FF-43C0-9405-9C850D7863BF}"/>
              </a:ext>
            </a:extLst>
          </p:cNvPr>
          <p:cNvSpPr txBox="1">
            <a:spLocks/>
          </p:cNvSpPr>
          <p:nvPr/>
        </p:nvSpPr>
        <p:spPr>
          <a:xfrm>
            <a:off x="779217" y="2286876"/>
            <a:ext cx="3321995" cy="1568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0" dirty="0"/>
              <a:t>Когда много</a:t>
            </a:r>
          </a:p>
          <a:p>
            <a:r>
              <a:rPr lang="ru-RU" dirty="0">
                <a:solidFill>
                  <a:schemeClr val="accent1"/>
                </a:solidFill>
              </a:rPr>
              <a:t>коротких</a:t>
            </a:r>
            <a:r>
              <a:rPr lang="ru-RU" b="0" dirty="0"/>
              <a:t> пунктов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8B5E6-B778-43A6-B2E9-F4661980DC22}"/>
              </a:ext>
            </a:extLst>
          </p:cNvPr>
          <p:cNvSpPr txBox="1"/>
          <p:nvPr/>
        </p:nvSpPr>
        <p:spPr>
          <a:xfrm>
            <a:off x="4690390" y="1327562"/>
            <a:ext cx="2155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Короткий </a:t>
            </a:r>
            <a:b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9ADCE-961A-45BB-B5E6-82D73E8D563C}"/>
              </a:ext>
            </a:extLst>
          </p:cNvPr>
          <p:cNvSpPr txBox="1"/>
          <p:nvPr/>
        </p:nvSpPr>
        <p:spPr>
          <a:xfrm>
            <a:off x="6813825" y="1327562"/>
            <a:ext cx="214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Короткий </a:t>
            </a:r>
            <a:b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CC768-9459-4413-98A2-C9FB7B13EC49}"/>
              </a:ext>
            </a:extLst>
          </p:cNvPr>
          <p:cNvSpPr txBox="1"/>
          <p:nvPr/>
        </p:nvSpPr>
        <p:spPr>
          <a:xfrm>
            <a:off x="4690390" y="3025838"/>
            <a:ext cx="1711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Короткий </a:t>
            </a:r>
            <a:b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38B45-18E1-45DC-97D3-FA831DC291BE}"/>
              </a:ext>
            </a:extLst>
          </p:cNvPr>
          <p:cNvSpPr txBox="1"/>
          <p:nvPr/>
        </p:nvSpPr>
        <p:spPr>
          <a:xfrm>
            <a:off x="6813825" y="3025838"/>
            <a:ext cx="1791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Короткий </a:t>
            </a:r>
            <a:b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811C3F-63E8-4553-ACA2-8648DA8C63AE}"/>
              </a:ext>
            </a:extLst>
          </p:cNvPr>
          <p:cNvSpPr txBox="1"/>
          <p:nvPr/>
        </p:nvSpPr>
        <p:spPr>
          <a:xfrm>
            <a:off x="8922581" y="3025838"/>
            <a:ext cx="2443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Короткий </a:t>
            </a:r>
            <a:b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69C94C-ABB4-4917-96D4-FE88194393F6}"/>
              </a:ext>
            </a:extLst>
          </p:cNvPr>
          <p:cNvSpPr txBox="1"/>
          <p:nvPr/>
        </p:nvSpPr>
        <p:spPr>
          <a:xfrm>
            <a:off x="4690390" y="4797308"/>
            <a:ext cx="15788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Короткий </a:t>
            </a:r>
            <a:b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9188CF-FAD0-4715-88D6-F3F016A00975}"/>
              </a:ext>
            </a:extLst>
          </p:cNvPr>
          <p:cNvSpPr txBox="1"/>
          <p:nvPr/>
        </p:nvSpPr>
        <p:spPr>
          <a:xfrm>
            <a:off x="6813825" y="4742990"/>
            <a:ext cx="1986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Короткий </a:t>
            </a:r>
            <a:b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B346B17-0FE1-4C35-BE74-F7DFA0437C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2388" y="795092"/>
            <a:ext cx="382861" cy="38286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6BD7365-E54F-4085-A0CB-7FE124BF7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1308" y="795092"/>
            <a:ext cx="382861" cy="38286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DA26A82-D574-4D53-A8A5-0410128C5C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2388" y="2533686"/>
            <a:ext cx="382861" cy="38286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CDE8159-3363-4FEE-BB6E-AC9C325185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1308" y="2533686"/>
            <a:ext cx="382861" cy="38286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DF50161-49B9-4C06-B76D-9C1E26C3CDA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4"/>
          <a:stretch/>
        </p:blipFill>
        <p:spPr>
          <a:xfrm>
            <a:off x="1392539" y="330919"/>
            <a:ext cx="2681012" cy="548036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063E7AD-D2A2-4628-9B29-D080498775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66684" y="2533686"/>
            <a:ext cx="382861" cy="38286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E49F093-5093-4A51-901E-C36120F0428D}"/>
              </a:ext>
            </a:extLst>
          </p:cNvPr>
          <p:cNvSpPr txBox="1"/>
          <p:nvPr/>
        </p:nvSpPr>
        <p:spPr>
          <a:xfrm>
            <a:off x="8922581" y="1327562"/>
            <a:ext cx="2443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Короткий </a:t>
            </a:r>
            <a:b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sz="1800" b="0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пункт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2F6720B-82C2-4EFB-A921-341D83E946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5193" y="795092"/>
            <a:ext cx="382861" cy="38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88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26898246-52AF-41E8-80C0-A9C6606EFB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03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65238" y="3820562"/>
            <a:ext cx="5948517" cy="2200826"/>
          </a:xfrm>
        </p:spPr>
        <p:txBody>
          <a:bodyPr>
            <a:normAutofit/>
          </a:bodyPr>
          <a:lstStyle/>
          <a:p>
            <a:r>
              <a:rPr lang="ru-RU" dirty="0"/>
              <a:t>Слайды </a:t>
            </a:r>
            <a:br>
              <a:rPr lang="ru-RU" dirty="0"/>
            </a:br>
            <a:r>
              <a:rPr lang="ru-RU" dirty="0">
                <a:solidFill>
                  <a:schemeClr val="accent1"/>
                </a:solidFill>
              </a:rPr>
              <a:t>с фотографиями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1DDAA01-F156-47CE-BDA7-56FA2070A3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/>
          <a:lstStyle/>
          <a:p>
            <a:r>
              <a:rPr lang="ru-RU" dirty="0"/>
              <a:t>Как располагать относительно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02363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/>
          <a:lstStyle/>
          <a:p>
            <a:r>
              <a:rPr lang="ru-RU" dirty="0"/>
              <a:t>Описание фотографии</a:t>
            </a:r>
          </a:p>
        </p:txBody>
      </p:sp>
      <p:pic>
        <p:nvPicPr>
          <p:cNvPr id="6" name="Рисунок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" b="9"/>
          <a:stretch/>
        </p:blipFill>
        <p:spPr>
          <a:xfrm>
            <a:off x="880704" y="1614516"/>
            <a:ext cx="5005388" cy="4060364"/>
          </a:xfr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2CAA5E8A-5C51-44D3-BA27-C5B2538997B8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6096000" y="1614516"/>
            <a:ext cx="5196348" cy="715962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Название</a:t>
            </a: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38F7464-78B3-42E8-AA84-71AB5779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Слайд с фото или скриншотом</a:t>
            </a:r>
          </a:p>
        </p:txBody>
      </p:sp>
    </p:spTree>
    <p:extLst>
      <p:ext uri="{BB962C8B-B14F-4D97-AF65-F5344CB8AC3E}">
        <p14:creationId xmlns:p14="http://schemas.microsoft.com/office/powerpoint/2010/main" val="6297627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/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r>
              <a:rPr lang="ru-RU" dirty="0"/>
              <a:t>Описание фотографии</a:t>
            </a:r>
          </a:p>
        </p:txBody>
      </p:sp>
      <p:pic>
        <p:nvPicPr>
          <p:cNvPr id="17" name="Рисунок 16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77" b="3577"/>
          <a:stretch/>
        </p:blipFill>
        <p:spPr/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69C6200E-375D-4410-ADE6-D1E52D1F4EC7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Название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half" idx="16"/>
          </p:nvPr>
        </p:nvSpPr>
        <p:spPr/>
        <p:txBody>
          <a:bodyPr anchor="ctr"/>
          <a:lstStyle/>
          <a:p>
            <a:r>
              <a:rPr lang="ru-RU"/>
              <a:t>Описание фотографии</a:t>
            </a:r>
            <a:endParaRPr lang="ru-RU" dirty="0"/>
          </a:p>
        </p:txBody>
      </p:sp>
      <p:pic>
        <p:nvPicPr>
          <p:cNvPr id="18" name="Рисунок 17"/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241" b="3241"/>
          <a:stretch/>
        </p:blipFill>
        <p:spPr/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2E998124-4957-4C45-9B27-A4A7D48C2C5A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ru-RU">
                <a:solidFill>
                  <a:schemeClr val="accent1"/>
                </a:solidFill>
              </a:rPr>
              <a:t>Название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3842846-295E-422B-BBB1-C4BD0AE0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Слайд с двумя фото или скриншотами</a:t>
            </a:r>
          </a:p>
        </p:txBody>
      </p:sp>
    </p:spTree>
    <p:extLst>
      <p:ext uri="{BB962C8B-B14F-4D97-AF65-F5344CB8AC3E}">
        <p14:creationId xmlns:p14="http://schemas.microsoft.com/office/powerpoint/2010/main" val="1313482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0">
            <a:extLst>
              <a:ext uri="{FF2B5EF4-FFF2-40B4-BE49-F238E27FC236}">
                <a16:creationId xmlns:a16="http://schemas.microsoft.com/office/drawing/2014/main" id="{A42FBFF4-C440-46A6-A4D7-C89388D6C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8098" y="1573211"/>
            <a:ext cx="4782677" cy="1408114"/>
          </a:xfrm>
        </p:spPr>
        <p:txBody>
          <a:bodyPr anchor="ctr">
            <a:normAutofit/>
          </a:bodyPr>
          <a:lstStyle/>
          <a:p>
            <a:r>
              <a:rPr lang="ru-RU" dirty="0"/>
              <a:t>Рассчитывайте зарплату и формируйте все необходимые отчёты — программа подойдёт, если в компании работает </a:t>
            </a:r>
            <a:br>
              <a:rPr lang="ru-RU" dirty="0"/>
            </a:br>
            <a:r>
              <a:rPr lang="ru-RU" dirty="0"/>
              <a:t>не более 60 человек.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CD07E60-76FF-4948-9661-131BFA45C8C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77" b="3577"/>
          <a:stretch/>
        </p:blipFill>
        <p:spPr>
          <a:xfrm>
            <a:off x="874713" y="3691733"/>
            <a:ext cx="3289874" cy="1988335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61A79DD-DC4C-48EB-A0FE-319EDD71659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241" b="3241"/>
          <a:stretch/>
        </p:blipFill>
        <p:spPr>
          <a:xfrm>
            <a:off x="4395435" y="3691733"/>
            <a:ext cx="3289874" cy="1995205"/>
          </a:xfrm>
        </p:spPr>
      </p:pic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91C3F267-99C5-4AFF-94F6-F5AB1F4BE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1573211"/>
            <a:ext cx="4582448" cy="1711325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accent1"/>
                </a:solidFill>
              </a:rPr>
              <a:t>Слайд с тремя </a:t>
            </a:r>
            <a:r>
              <a:rPr lang="ru-RU" dirty="0"/>
              <a:t>фото или скриншотами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E16675A-3010-40C5-B26C-751026D3846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" b="24778"/>
          <a:stretch/>
        </p:blipFill>
        <p:spPr>
          <a:xfrm>
            <a:off x="7916157" y="3691733"/>
            <a:ext cx="3269546" cy="199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96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A1DDAA01-F156-47CE-BDA7-56FA2070A3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04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Диаграммы, графики </a:t>
            </a:r>
            <a:br>
              <a:rPr lang="ru-RU" dirty="0"/>
            </a:br>
            <a:r>
              <a:rPr lang="ru-RU" dirty="0"/>
              <a:t>и таблицы </a:t>
            </a:r>
            <a:endParaRPr lang="ru-RU" dirty="0">
              <a:solidFill>
                <a:srgbClr val="FFCF6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D66D8A-3C8F-4A96-8182-F2AD1E4182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b"/>
          <a:lstStyle/>
          <a:p>
            <a:r>
              <a:rPr lang="ru-RU" dirty="0"/>
              <a:t>Как будут выглядеть </a:t>
            </a:r>
            <a:br>
              <a:rPr lang="ru-RU" dirty="0"/>
            </a:br>
            <a:r>
              <a:rPr lang="ru-RU" dirty="0"/>
              <a:t>в тёмном шаблоне, цвета и сочетания</a:t>
            </a:r>
          </a:p>
        </p:txBody>
      </p:sp>
    </p:spTree>
    <p:extLst>
      <p:ext uri="{BB962C8B-B14F-4D97-AF65-F5344CB8AC3E}">
        <p14:creationId xmlns:p14="http://schemas.microsoft.com/office/powerpoint/2010/main" val="14962113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ECBF1498-E8FD-41A5-B295-CB22539992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5359074"/>
              </p:ext>
            </p:extLst>
          </p:nvPr>
        </p:nvGraphicFramePr>
        <p:xfrm>
          <a:off x="5391149" y="1023326"/>
          <a:ext cx="6640881" cy="514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Объект 2"/>
          <p:cNvSpPr txBox="1">
            <a:spLocks/>
          </p:cNvSpPr>
          <p:nvPr/>
        </p:nvSpPr>
        <p:spPr>
          <a:xfrm>
            <a:off x="874713" y="3954309"/>
            <a:ext cx="4725987" cy="236061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Описание диаграммы – для чего данные, что дают, пояснение. </a:t>
            </a:r>
          </a:p>
          <a:p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Категорий в диаграмме не более 5. Всё, что совсем «маленькое», можно совместить и указать «другое».</a:t>
            </a:r>
          </a:p>
          <a:p>
            <a:endParaRPr lang="ru-RU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874713" y="2168371"/>
            <a:ext cx="4284663" cy="1538287"/>
          </a:xfrm>
        </p:spPr>
        <p:txBody>
          <a:bodyPr anchor="ctr" anchorCtr="0">
            <a:noAutofit/>
          </a:bodyPr>
          <a:lstStyle/>
          <a:p>
            <a:r>
              <a:rPr lang="ru-RU" dirty="0"/>
              <a:t>Пример круговой диаграммы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3C495F9-3C63-46A6-BA21-471E85EE01C0}"/>
              </a:ext>
            </a:extLst>
          </p:cNvPr>
          <p:cNvSpPr/>
          <p:nvPr/>
        </p:nvSpPr>
        <p:spPr>
          <a:xfrm>
            <a:off x="884902" y="780499"/>
            <a:ext cx="2316162" cy="48565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Раздел/Тема</a:t>
            </a:r>
          </a:p>
        </p:txBody>
      </p:sp>
    </p:spTree>
    <p:extLst>
      <p:ext uri="{BB962C8B-B14F-4D97-AF65-F5344CB8AC3E}">
        <p14:creationId xmlns:p14="http://schemas.microsoft.com/office/powerpoint/2010/main" val="3305213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/>
          <p:nvPr>
            <p:extLst>
              <p:ext uri="{D42A27DB-BD31-4B8C-83A1-F6EECF244321}">
                <p14:modId xmlns:p14="http://schemas.microsoft.com/office/powerpoint/2010/main" val="2343702027"/>
              </p:ext>
            </p:extLst>
          </p:nvPr>
        </p:nvGraphicFramePr>
        <p:xfrm>
          <a:off x="936625" y="1468438"/>
          <a:ext cx="10274300" cy="4427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1B39C997-BBD2-4E86-B565-1B74E5906408}"/>
              </a:ext>
            </a:extLst>
          </p:cNvPr>
          <p:cNvSpPr txBox="1">
            <a:spLocks/>
          </p:cNvSpPr>
          <p:nvPr/>
        </p:nvSpPr>
        <p:spPr>
          <a:xfrm>
            <a:off x="884238" y="441325"/>
            <a:ext cx="10393362" cy="98583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Пример диаграммы</a:t>
            </a:r>
          </a:p>
        </p:txBody>
      </p:sp>
    </p:spTree>
    <p:extLst>
      <p:ext uri="{BB962C8B-B14F-4D97-AF65-F5344CB8AC3E}">
        <p14:creationId xmlns:p14="http://schemas.microsoft.com/office/powerpoint/2010/main" val="1718983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/>
          <p:cNvSpPr txBox="1">
            <a:spLocks/>
          </p:cNvSpPr>
          <p:nvPr/>
        </p:nvSpPr>
        <p:spPr>
          <a:xfrm>
            <a:off x="955675" y="1143000"/>
            <a:ext cx="2881313" cy="45307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ru-RU" sz="3600" dirty="0">
                <a:latin typeface="Verdana" panose="020B0604030504040204" pitchFamily="34" charset="0"/>
                <a:ea typeface="Verdana" panose="020B0604030504040204" pitchFamily="34" charset="0"/>
              </a:rPr>
              <a:t>Название графика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Описание графика – для чего данные, </a:t>
            </a:r>
            <a:endParaRPr lang="en-US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b="0" dirty="0">
                <a:latin typeface="Verdana" panose="020B0604030504040204" pitchFamily="34" charset="0"/>
                <a:ea typeface="Verdana" panose="020B0604030504040204" pitchFamily="34" charset="0"/>
              </a:rPr>
              <a:t>что дают, пояснение</a:t>
            </a:r>
          </a:p>
          <a:p>
            <a:endParaRPr lang="ru-RU" sz="1800" b="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3652219"/>
              </p:ext>
            </p:extLst>
          </p:nvPr>
        </p:nvGraphicFramePr>
        <p:xfrm>
          <a:off x="4229100" y="1143000"/>
          <a:ext cx="6511925" cy="4840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39956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Пример таблицы с выделением ключевой информации</a:t>
            </a:r>
          </a:p>
        </p:txBody>
      </p:sp>
      <p:graphicFrame>
        <p:nvGraphicFramePr>
          <p:cNvPr id="8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3137461"/>
              </p:ext>
            </p:extLst>
          </p:nvPr>
        </p:nvGraphicFramePr>
        <p:xfrm>
          <a:off x="888997" y="1768179"/>
          <a:ext cx="10398127" cy="388321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51137">
                  <a:extLst>
                    <a:ext uri="{9D8B030D-6E8A-4147-A177-3AD203B41FA5}">
                      <a16:colId xmlns:a16="http://schemas.microsoft.com/office/drawing/2014/main" val="2230007474"/>
                    </a:ext>
                  </a:extLst>
                </a:gridCol>
                <a:gridCol w="1937185">
                  <a:extLst>
                    <a:ext uri="{9D8B030D-6E8A-4147-A177-3AD203B41FA5}">
                      <a16:colId xmlns:a16="http://schemas.microsoft.com/office/drawing/2014/main" val="1737370462"/>
                    </a:ext>
                  </a:extLst>
                </a:gridCol>
                <a:gridCol w="1937185">
                  <a:extLst>
                    <a:ext uri="{9D8B030D-6E8A-4147-A177-3AD203B41FA5}">
                      <a16:colId xmlns:a16="http://schemas.microsoft.com/office/drawing/2014/main" val="2753811826"/>
                    </a:ext>
                  </a:extLst>
                </a:gridCol>
                <a:gridCol w="2535435">
                  <a:extLst>
                    <a:ext uri="{9D8B030D-6E8A-4147-A177-3AD203B41FA5}">
                      <a16:colId xmlns:a16="http://schemas.microsoft.com/office/drawing/2014/main" val="435143496"/>
                    </a:ext>
                  </a:extLst>
                </a:gridCol>
                <a:gridCol w="1937185">
                  <a:extLst>
                    <a:ext uri="{9D8B030D-6E8A-4147-A177-3AD203B41FA5}">
                      <a16:colId xmlns:a16="http://schemas.microsoft.com/office/drawing/2014/main" val="831828249"/>
                    </a:ext>
                  </a:extLst>
                </a:gridCol>
              </a:tblGrid>
              <a:tr h="92859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Важные показатели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Цифровые</a:t>
                      </a:r>
                      <a:b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данные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Какие-то</a:t>
                      </a:r>
                      <a:b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проценты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Ещё цифровые</a:t>
                      </a:r>
                      <a:b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данные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Ещё какие-то</a:t>
                      </a:r>
                      <a:b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проценты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740373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2014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407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47%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407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11%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796634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2015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445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36%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445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927372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2016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472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42%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472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13%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845836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2017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511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54%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511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12%</a:t>
                      </a:r>
                      <a:endParaRPr lang="ru-RU" sz="1400" b="1" i="0" u="none" strike="noStrike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243772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2018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509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55%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509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13%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826115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2019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534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53%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534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21%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679715"/>
                  </a:ext>
                </a:extLst>
              </a:tr>
              <a:tr h="422088"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2020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545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57%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545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400" u="none" strike="noStrike" dirty="0">
                          <a:effectLst/>
                        </a:rPr>
                        <a:t>22%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725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5725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1ADDB13-2D66-4949-9107-F5D51BB8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1085558"/>
          </a:xfrm>
        </p:spPr>
        <p:txBody>
          <a:bodyPr>
            <a:normAutofit/>
          </a:bodyPr>
          <a:lstStyle/>
          <a:p>
            <a:r>
              <a:rPr lang="ru-RU" dirty="0"/>
              <a:t>Как ещё можно изобразить таблицу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5352525-76F4-4F29-B66F-90606D76BC74}"/>
              </a:ext>
            </a:extLst>
          </p:cNvPr>
          <p:cNvSpPr/>
          <p:nvPr/>
        </p:nvSpPr>
        <p:spPr>
          <a:xfrm>
            <a:off x="774656" y="1676826"/>
            <a:ext cx="2416219" cy="99244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1С:Бухгалтерия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D2C8C9F-4E3B-4B24-8E0C-1FAC30A5079C}"/>
              </a:ext>
            </a:extLst>
          </p:cNvPr>
          <p:cNvSpPr/>
          <p:nvPr/>
        </p:nvSpPr>
        <p:spPr>
          <a:xfrm>
            <a:off x="774656" y="2804919"/>
            <a:ext cx="2416219" cy="99244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1С:Управление нашей фирмой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98FAE9F-A00A-4C61-9320-8A68B0D4B5D8}"/>
              </a:ext>
            </a:extLst>
          </p:cNvPr>
          <p:cNvSpPr/>
          <p:nvPr/>
        </p:nvSpPr>
        <p:spPr>
          <a:xfrm>
            <a:off x="774656" y="3913968"/>
            <a:ext cx="2416219" cy="99244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1С:Комплексная автоматизация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D56535A-009B-468C-B7A9-5F26C17156D8}"/>
              </a:ext>
            </a:extLst>
          </p:cNvPr>
          <p:cNvSpPr/>
          <p:nvPr/>
        </p:nvSpPr>
        <p:spPr>
          <a:xfrm>
            <a:off x="774656" y="5032807"/>
            <a:ext cx="2416219" cy="99244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chemeClr val="tx1"/>
                </a:solidFill>
              </a:rPr>
              <a:t>1С:</a:t>
            </a:r>
            <a:r>
              <a:rPr lang="en-US" sz="1600" dirty="0">
                <a:solidFill>
                  <a:schemeClr val="tx1"/>
                </a:solidFill>
              </a:rPr>
              <a:t>ERP</a:t>
            </a:r>
            <a:r>
              <a:rPr lang="ru-RU" sz="1600" dirty="0">
                <a:solidFill>
                  <a:schemeClr val="tx1"/>
                </a:solidFill>
              </a:rPr>
              <a:t> Управление предприятием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C63D5A04-BB26-46F5-9FAB-DB6F82EF39D1}"/>
              </a:ext>
            </a:extLst>
          </p:cNvPr>
          <p:cNvGrpSpPr/>
          <p:nvPr/>
        </p:nvGrpSpPr>
        <p:grpSpPr>
          <a:xfrm>
            <a:off x="3516378" y="1676826"/>
            <a:ext cx="2416220" cy="992444"/>
            <a:chOff x="3516378" y="1497325"/>
            <a:chExt cx="2416220" cy="992444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AE20DA42-396D-49D5-AB03-EC974B7CC410}"/>
                </a:ext>
              </a:extLst>
            </p:cNvPr>
            <p:cNvSpPr/>
            <p:nvPr/>
          </p:nvSpPr>
          <p:spPr>
            <a:xfrm>
              <a:off x="3516378" y="1497325"/>
              <a:ext cx="2416220" cy="9924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33AA2DCE-FABE-4E71-ACC2-07F2D613444E}"/>
                </a:ext>
              </a:extLst>
            </p:cNvPr>
            <p:cNvGrpSpPr/>
            <p:nvPr/>
          </p:nvGrpSpPr>
          <p:grpSpPr>
            <a:xfrm>
              <a:off x="3901294" y="1666319"/>
              <a:ext cx="219075" cy="654457"/>
              <a:chOff x="3901294" y="1699321"/>
              <a:chExt cx="219075" cy="654457"/>
            </a:xfrm>
          </p:grpSpPr>
          <p:pic>
            <p:nvPicPr>
              <p:cNvPr id="17" name="Рисунок 16">
                <a:extLst>
                  <a:ext uri="{FF2B5EF4-FFF2-40B4-BE49-F238E27FC236}">
                    <a16:creationId xmlns:a16="http://schemas.microsoft.com/office/drawing/2014/main" id="{71BDB47C-9572-4C1B-BC42-55CA60DC7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1294" y="1699321"/>
                <a:ext cx="219075" cy="219075"/>
              </a:xfrm>
              <a:prstGeom prst="rect">
                <a:avLst/>
              </a:prstGeom>
            </p:spPr>
          </p:pic>
          <p:pic>
            <p:nvPicPr>
              <p:cNvPr id="18" name="Рисунок 17">
                <a:extLst>
                  <a:ext uri="{FF2B5EF4-FFF2-40B4-BE49-F238E27FC236}">
                    <a16:creationId xmlns:a16="http://schemas.microsoft.com/office/drawing/2014/main" id="{CC003CFA-D666-41DA-B576-F288AD889B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01294" y="2134703"/>
                <a:ext cx="219075" cy="219075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79FCB9-56F7-480A-8600-10FE5DEDCC06}"/>
                </a:ext>
              </a:extLst>
            </p:cNvPr>
            <p:cNvSpPr txBox="1"/>
            <p:nvPr/>
          </p:nvSpPr>
          <p:spPr>
            <a:xfrm>
              <a:off x="4163713" y="1602917"/>
              <a:ext cx="12612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5 дней</a:t>
              </a:r>
              <a:endParaRPr lang="ru-RU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7840A4-5368-465A-ADDB-0287AADFD69F}"/>
                </a:ext>
              </a:extLst>
            </p:cNvPr>
            <p:cNvSpPr txBox="1"/>
            <p:nvPr/>
          </p:nvSpPr>
          <p:spPr>
            <a:xfrm>
              <a:off x="4163713" y="2046343"/>
              <a:ext cx="12612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Стоимость</a:t>
              </a:r>
              <a:endParaRPr lang="ru-RU" sz="1400" dirty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D788BE15-8BB8-482A-A3A8-37A0D957D056}"/>
              </a:ext>
            </a:extLst>
          </p:cNvPr>
          <p:cNvGrpSpPr/>
          <p:nvPr/>
        </p:nvGrpSpPr>
        <p:grpSpPr>
          <a:xfrm>
            <a:off x="6054953" y="1676826"/>
            <a:ext cx="2416220" cy="992444"/>
            <a:chOff x="3516378" y="1497325"/>
            <a:chExt cx="2416220" cy="992444"/>
          </a:xfrm>
          <a:solidFill>
            <a:schemeClr val="bg1">
              <a:lumMod val="95000"/>
            </a:schemeClr>
          </a:solidFill>
        </p:grpSpPr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7870CDD9-8BDC-426A-AE3D-64BF3FE1DBA8}"/>
                </a:ext>
              </a:extLst>
            </p:cNvPr>
            <p:cNvSpPr/>
            <p:nvPr/>
          </p:nvSpPr>
          <p:spPr>
            <a:xfrm>
              <a:off x="3516378" y="1497325"/>
              <a:ext cx="2416220" cy="99244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70E36604-355C-4A06-A917-2BB4A52328B2}"/>
                </a:ext>
              </a:extLst>
            </p:cNvPr>
            <p:cNvGrpSpPr/>
            <p:nvPr/>
          </p:nvGrpSpPr>
          <p:grpSpPr>
            <a:xfrm>
              <a:off x="3901294" y="1666319"/>
              <a:ext cx="219075" cy="654457"/>
              <a:chOff x="3901294" y="1699321"/>
              <a:chExt cx="219075" cy="654457"/>
            </a:xfrm>
            <a:grpFill/>
          </p:grpSpPr>
          <p:pic>
            <p:nvPicPr>
              <p:cNvPr id="24" name="Рисунок 23">
                <a:extLst>
                  <a:ext uri="{FF2B5EF4-FFF2-40B4-BE49-F238E27FC236}">
                    <a16:creationId xmlns:a16="http://schemas.microsoft.com/office/drawing/2014/main" id="{4668BAEB-D140-43E6-8DB9-60FAE93A19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1294" y="1699321"/>
                <a:ext cx="219075" cy="219075"/>
              </a:xfrm>
              <a:prstGeom prst="rect">
                <a:avLst/>
              </a:prstGeom>
              <a:grpFill/>
            </p:spPr>
          </p:pic>
          <p:pic>
            <p:nvPicPr>
              <p:cNvPr id="25" name="Рисунок 24">
                <a:extLst>
                  <a:ext uri="{FF2B5EF4-FFF2-40B4-BE49-F238E27FC236}">
                    <a16:creationId xmlns:a16="http://schemas.microsoft.com/office/drawing/2014/main" id="{1FB8C6BB-F865-4142-BDE8-96B37023D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01294" y="2134703"/>
                <a:ext cx="219075" cy="219075"/>
              </a:xfrm>
              <a:prstGeom prst="rect">
                <a:avLst/>
              </a:prstGeom>
              <a:grpFill/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0DBFD66-0FB9-4230-96B9-579BA0D8E088}"/>
                </a:ext>
              </a:extLst>
            </p:cNvPr>
            <p:cNvSpPr txBox="1"/>
            <p:nvPr/>
          </p:nvSpPr>
          <p:spPr>
            <a:xfrm>
              <a:off x="4163713" y="1602917"/>
              <a:ext cx="1261256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14 дней</a:t>
              </a:r>
              <a:endParaRPr lang="ru-RU" sz="1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82057D-7150-4ABF-8CB3-48D11D59777D}"/>
                </a:ext>
              </a:extLst>
            </p:cNvPr>
            <p:cNvSpPr txBox="1"/>
            <p:nvPr/>
          </p:nvSpPr>
          <p:spPr>
            <a:xfrm>
              <a:off x="4163713" y="2046343"/>
              <a:ext cx="1261256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Стоимость</a:t>
              </a:r>
              <a:endParaRPr lang="ru-RU" sz="1400" dirty="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980C6CA8-27C9-481A-97F0-7D776DAE2B85}"/>
              </a:ext>
            </a:extLst>
          </p:cNvPr>
          <p:cNvGrpSpPr/>
          <p:nvPr/>
        </p:nvGrpSpPr>
        <p:grpSpPr>
          <a:xfrm>
            <a:off x="8592473" y="1676826"/>
            <a:ext cx="2416220" cy="992444"/>
            <a:chOff x="3516378" y="1497325"/>
            <a:chExt cx="2416220" cy="992444"/>
          </a:xfrm>
          <a:solidFill>
            <a:schemeClr val="bg1">
              <a:lumMod val="95000"/>
            </a:schemeClr>
          </a:solidFill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DCFCB003-7A13-44E9-956E-35428A12DD42}"/>
                </a:ext>
              </a:extLst>
            </p:cNvPr>
            <p:cNvSpPr/>
            <p:nvPr/>
          </p:nvSpPr>
          <p:spPr>
            <a:xfrm>
              <a:off x="3516378" y="1497325"/>
              <a:ext cx="2416220" cy="99244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9B465A39-50AC-4393-9DBD-7B72D8277212}"/>
                </a:ext>
              </a:extLst>
            </p:cNvPr>
            <p:cNvGrpSpPr/>
            <p:nvPr/>
          </p:nvGrpSpPr>
          <p:grpSpPr>
            <a:xfrm>
              <a:off x="3901294" y="1666319"/>
              <a:ext cx="219075" cy="654457"/>
              <a:chOff x="3901294" y="1699321"/>
              <a:chExt cx="219075" cy="654457"/>
            </a:xfrm>
            <a:grpFill/>
          </p:grpSpPr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4629100C-6C91-4048-936C-284B4FE7AE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1294" y="1699321"/>
                <a:ext cx="219075" cy="219075"/>
              </a:xfrm>
              <a:prstGeom prst="rect">
                <a:avLst/>
              </a:prstGeom>
              <a:grpFill/>
            </p:spPr>
          </p:pic>
          <p:pic>
            <p:nvPicPr>
              <p:cNvPr id="32" name="Рисунок 31">
                <a:extLst>
                  <a:ext uri="{FF2B5EF4-FFF2-40B4-BE49-F238E27FC236}">
                    <a16:creationId xmlns:a16="http://schemas.microsoft.com/office/drawing/2014/main" id="{325F1E1A-482F-40A7-AFFD-A6667240E5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01294" y="2134703"/>
                <a:ext cx="219075" cy="219075"/>
              </a:xfrm>
              <a:prstGeom prst="rect">
                <a:avLst/>
              </a:prstGeom>
              <a:grpFill/>
            </p:spPr>
          </p:pic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AD6014-BB0E-4F01-AB50-B48A566DBF53}"/>
                </a:ext>
              </a:extLst>
            </p:cNvPr>
            <p:cNvSpPr txBox="1"/>
            <p:nvPr/>
          </p:nvSpPr>
          <p:spPr>
            <a:xfrm>
              <a:off x="4163712" y="1602917"/>
              <a:ext cx="1456767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от 1 месяца</a:t>
              </a:r>
              <a:endParaRPr lang="ru-RU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2609D24-6F86-4EE4-9E8A-E9144C37AC91}"/>
                </a:ext>
              </a:extLst>
            </p:cNvPr>
            <p:cNvSpPr txBox="1"/>
            <p:nvPr/>
          </p:nvSpPr>
          <p:spPr>
            <a:xfrm>
              <a:off x="4163713" y="2046343"/>
              <a:ext cx="1261256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Стоимость</a:t>
              </a:r>
              <a:endParaRPr lang="ru-RU" sz="1400" dirty="0"/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F85F307C-663E-48E2-BA3A-45A6DB9C90AB}"/>
              </a:ext>
            </a:extLst>
          </p:cNvPr>
          <p:cNvGrpSpPr/>
          <p:nvPr/>
        </p:nvGrpSpPr>
        <p:grpSpPr>
          <a:xfrm>
            <a:off x="3516378" y="2804919"/>
            <a:ext cx="2416220" cy="992444"/>
            <a:chOff x="3516378" y="1497325"/>
            <a:chExt cx="2416220" cy="992444"/>
          </a:xfrm>
          <a:solidFill>
            <a:schemeClr val="bg1">
              <a:lumMod val="95000"/>
            </a:schemeClr>
          </a:solidFill>
        </p:grpSpPr>
        <p:sp>
          <p:nvSpPr>
            <p:cNvPr id="34" name="Прямоугольник: скругленные углы 33">
              <a:extLst>
                <a:ext uri="{FF2B5EF4-FFF2-40B4-BE49-F238E27FC236}">
                  <a16:creationId xmlns:a16="http://schemas.microsoft.com/office/drawing/2014/main" id="{043CE8EF-E4B2-4F00-B300-C4EF118CF194}"/>
                </a:ext>
              </a:extLst>
            </p:cNvPr>
            <p:cNvSpPr/>
            <p:nvPr/>
          </p:nvSpPr>
          <p:spPr>
            <a:xfrm>
              <a:off x="3516378" y="1497325"/>
              <a:ext cx="2416220" cy="99244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56297C4F-83B6-4BCA-8CC0-7B08A4582365}"/>
                </a:ext>
              </a:extLst>
            </p:cNvPr>
            <p:cNvGrpSpPr/>
            <p:nvPr/>
          </p:nvGrpSpPr>
          <p:grpSpPr>
            <a:xfrm>
              <a:off x="3901294" y="1666319"/>
              <a:ext cx="219075" cy="654457"/>
              <a:chOff x="3901294" y="1699321"/>
              <a:chExt cx="219075" cy="654457"/>
            </a:xfrm>
            <a:grpFill/>
          </p:grpSpPr>
          <p:pic>
            <p:nvPicPr>
              <p:cNvPr id="38" name="Рисунок 37">
                <a:extLst>
                  <a:ext uri="{FF2B5EF4-FFF2-40B4-BE49-F238E27FC236}">
                    <a16:creationId xmlns:a16="http://schemas.microsoft.com/office/drawing/2014/main" id="{3DFF7BB4-30F2-4B5B-8983-0E83FB8D39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1294" y="1699321"/>
                <a:ext cx="219075" cy="219075"/>
              </a:xfrm>
              <a:prstGeom prst="rect">
                <a:avLst/>
              </a:prstGeom>
              <a:grpFill/>
            </p:spPr>
          </p:pic>
          <p:pic>
            <p:nvPicPr>
              <p:cNvPr id="39" name="Рисунок 38">
                <a:extLst>
                  <a:ext uri="{FF2B5EF4-FFF2-40B4-BE49-F238E27FC236}">
                    <a16:creationId xmlns:a16="http://schemas.microsoft.com/office/drawing/2014/main" id="{4A635AAB-592F-4ED7-B34A-EF0695CE70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01294" y="2134703"/>
                <a:ext cx="219075" cy="219075"/>
              </a:xfrm>
              <a:prstGeom prst="rect">
                <a:avLst/>
              </a:prstGeom>
              <a:grpFill/>
            </p:spPr>
          </p:pic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6FD4190-65ED-457E-ABEF-1A16A0A89026}"/>
                </a:ext>
              </a:extLst>
            </p:cNvPr>
            <p:cNvSpPr txBox="1"/>
            <p:nvPr/>
          </p:nvSpPr>
          <p:spPr>
            <a:xfrm>
              <a:off x="4163713" y="1602917"/>
              <a:ext cx="1261256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от 10 дней</a:t>
              </a:r>
              <a:endParaRPr lang="ru-RU" sz="14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11590C9-35A0-45FC-8D56-DB1609E701DA}"/>
                </a:ext>
              </a:extLst>
            </p:cNvPr>
            <p:cNvSpPr txBox="1"/>
            <p:nvPr/>
          </p:nvSpPr>
          <p:spPr>
            <a:xfrm>
              <a:off x="4163713" y="2046343"/>
              <a:ext cx="1261256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Стоимость</a:t>
              </a:r>
              <a:endParaRPr lang="ru-RU" sz="1400" dirty="0"/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54A484F-688A-47F8-9D94-E20F68A9BED6}"/>
              </a:ext>
            </a:extLst>
          </p:cNvPr>
          <p:cNvGrpSpPr/>
          <p:nvPr/>
        </p:nvGrpSpPr>
        <p:grpSpPr>
          <a:xfrm>
            <a:off x="6054953" y="2804919"/>
            <a:ext cx="2416220" cy="992444"/>
            <a:chOff x="3516378" y="1497325"/>
            <a:chExt cx="2416220" cy="992444"/>
          </a:xfrm>
          <a:solidFill>
            <a:schemeClr val="accent1"/>
          </a:solidFill>
        </p:grpSpPr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751A9F13-1BF0-47B7-B1D2-E010E72918DD}"/>
                </a:ext>
              </a:extLst>
            </p:cNvPr>
            <p:cNvSpPr/>
            <p:nvPr/>
          </p:nvSpPr>
          <p:spPr>
            <a:xfrm>
              <a:off x="3516378" y="1497325"/>
              <a:ext cx="2416220" cy="99244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42" name="Группа 41">
              <a:extLst>
                <a:ext uri="{FF2B5EF4-FFF2-40B4-BE49-F238E27FC236}">
                  <a16:creationId xmlns:a16="http://schemas.microsoft.com/office/drawing/2014/main" id="{64E20D11-AB16-4139-873F-ED000A3CEE4A}"/>
                </a:ext>
              </a:extLst>
            </p:cNvPr>
            <p:cNvGrpSpPr/>
            <p:nvPr/>
          </p:nvGrpSpPr>
          <p:grpSpPr>
            <a:xfrm>
              <a:off x="3901294" y="1666319"/>
              <a:ext cx="219075" cy="654457"/>
              <a:chOff x="3901294" y="1699321"/>
              <a:chExt cx="219075" cy="654457"/>
            </a:xfrm>
            <a:grpFill/>
          </p:grpSpPr>
          <p:pic>
            <p:nvPicPr>
              <p:cNvPr id="45" name="Рисунок 44">
                <a:extLst>
                  <a:ext uri="{FF2B5EF4-FFF2-40B4-BE49-F238E27FC236}">
                    <a16:creationId xmlns:a16="http://schemas.microsoft.com/office/drawing/2014/main" id="{DCF738BD-1D51-4A72-A7A3-EB4774A9FA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01294" y="1699321"/>
                <a:ext cx="219075" cy="219075"/>
              </a:xfrm>
              <a:prstGeom prst="rect">
                <a:avLst/>
              </a:prstGeom>
              <a:grpFill/>
            </p:spPr>
          </p:pic>
          <p:pic>
            <p:nvPicPr>
              <p:cNvPr id="46" name="Рисунок 45">
                <a:extLst>
                  <a:ext uri="{FF2B5EF4-FFF2-40B4-BE49-F238E27FC236}">
                    <a16:creationId xmlns:a16="http://schemas.microsoft.com/office/drawing/2014/main" id="{6DAA988A-DA1C-4F32-A139-F27F22EBB4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01294" y="2134703"/>
                <a:ext cx="219075" cy="219075"/>
              </a:xfrm>
              <a:prstGeom prst="rect">
                <a:avLst/>
              </a:prstGeom>
              <a:grpFill/>
            </p:spPr>
          </p:pic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503BCA0-BFE5-4651-A4E4-270A9C012042}"/>
                </a:ext>
              </a:extLst>
            </p:cNvPr>
            <p:cNvSpPr txBox="1"/>
            <p:nvPr/>
          </p:nvSpPr>
          <p:spPr>
            <a:xfrm>
              <a:off x="4163713" y="1602917"/>
              <a:ext cx="1489212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/>
                <a:t>от 1 месяца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CC29CDA-AB45-44AE-9FDF-A56DDAAECF93}"/>
                </a:ext>
              </a:extLst>
            </p:cNvPr>
            <p:cNvSpPr txBox="1"/>
            <p:nvPr/>
          </p:nvSpPr>
          <p:spPr>
            <a:xfrm>
              <a:off x="4163713" y="2046343"/>
              <a:ext cx="1261256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/>
                <a:t>Стоимость</a:t>
              </a:r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46DEB7A4-0B7A-41E3-AAAF-86815D69F725}"/>
              </a:ext>
            </a:extLst>
          </p:cNvPr>
          <p:cNvGrpSpPr/>
          <p:nvPr/>
        </p:nvGrpSpPr>
        <p:grpSpPr>
          <a:xfrm>
            <a:off x="8592473" y="2804919"/>
            <a:ext cx="2416220" cy="992444"/>
            <a:chOff x="3516378" y="1497325"/>
            <a:chExt cx="2416220" cy="992444"/>
          </a:xfrm>
          <a:solidFill>
            <a:schemeClr val="bg1"/>
          </a:solidFill>
        </p:grpSpPr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CF5C130C-EAAE-49C9-8988-9E3ABED853E5}"/>
                </a:ext>
              </a:extLst>
            </p:cNvPr>
            <p:cNvSpPr/>
            <p:nvPr/>
          </p:nvSpPr>
          <p:spPr>
            <a:xfrm>
              <a:off x="3516378" y="1497325"/>
              <a:ext cx="2416220" cy="9924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97F65E-3357-4FDD-9B0A-ACDEED26E8AD}"/>
                </a:ext>
              </a:extLst>
            </p:cNvPr>
            <p:cNvSpPr txBox="1"/>
            <p:nvPr/>
          </p:nvSpPr>
          <p:spPr>
            <a:xfrm>
              <a:off x="3912301" y="1624215"/>
              <a:ext cx="1624374" cy="73866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3"/>
                  </a:solidFill>
                </a:rPr>
                <a:t>рекомендуется применять </a:t>
              </a:r>
            </a:p>
            <a:p>
              <a:pPr algn="ctr"/>
              <a:r>
                <a:rPr lang="en-US" sz="1400" dirty="0">
                  <a:solidFill>
                    <a:schemeClr val="accent3"/>
                  </a:solidFill>
                </a:rPr>
                <a:t>ERP</a:t>
              </a:r>
              <a:r>
                <a:rPr lang="ru-RU" sz="1400" dirty="0">
                  <a:solidFill>
                    <a:schemeClr val="accent3"/>
                  </a:solidFill>
                </a:rPr>
                <a:t>-решения</a:t>
              </a:r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8CAAB119-0626-40AE-B395-3AA54EAD8717}"/>
              </a:ext>
            </a:extLst>
          </p:cNvPr>
          <p:cNvGrpSpPr/>
          <p:nvPr/>
        </p:nvGrpSpPr>
        <p:grpSpPr>
          <a:xfrm>
            <a:off x="6054953" y="3918965"/>
            <a:ext cx="2416220" cy="992444"/>
            <a:chOff x="3516378" y="1497325"/>
            <a:chExt cx="2416220" cy="992444"/>
          </a:xfrm>
          <a:solidFill>
            <a:schemeClr val="bg1">
              <a:lumMod val="95000"/>
            </a:schemeClr>
          </a:solidFill>
        </p:grpSpPr>
        <p:sp>
          <p:nvSpPr>
            <p:cNvPr id="51" name="Прямоугольник: скругленные углы 50">
              <a:extLst>
                <a:ext uri="{FF2B5EF4-FFF2-40B4-BE49-F238E27FC236}">
                  <a16:creationId xmlns:a16="http://schemas.microsoft.com/office/drawing/2014/main" id="{9DB2929F-6989-4589-B347-1F8BF35CE82B}"/>
                </a:ext>
              </a:extLst>
            </p:cNvPr>
            <p:cNvSpPr/>
            <p:nvPr/>
          </p:nvSpPr>
          <p:spPr>
            <a:xfrm>
              <a:off x="3516378" y="1497325"/>
              <a:ext cx="2416220" cy="99244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1CA15BE2-0118-4641-922F-21498DAFAB1D}"/>
                </a:ext>
              </a:extLst>
            </p:cNvPr>
            <p:cNvGrpSpPr/>
            <p:nvPr/>
          </p:nvGrpSpPr>
          <p:grpSpPr>
            <a:xfrm>
              <a:off x="3901294" y="1666319"/>
              <a:ext cx="219075" cy="654457"/>
              <a:chOff x="3901294" y="1699321"/>
              <a:chExt cx="219075" cy="654457"/>
            </a:xfrm>
            <a:grpFill/>
          </p:grpSpPr>
          <p:pic>
            <p:nvPicPr>
              <p:cNvPr id="55" name="Рисунок 54">
                <a:extLst>
                  <a:ext uri="{FF2B5EF4-FFF2-40B4-BE49-F238E27FC236}">
                    <a16:creationId xmlns:a16="http://schemas.microsoft.com/office/drawing/2014/main" id="{72ED3873-2B73-4243-8EEE-A0854CBB25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1294" y="1699321"/>
                <a:ext cx="219075" cy="219075"/>
              </a:xfrm>
              <a:prstGeom prst="rect">
                <a:avLst/>
              </a:prstGeom>
              <a:grpFill/>
            </p:spPr>
          </p:pic>
          <p:pic>
            <p:nvPicPr>
              <p:cNvPr id="56" name="Рисунок 55">
                <a:extLst>
                  <a:ext uri="{FF2B5EF4-FFF2-40B4-BE49-F238E27FC236}">
                    <a16:creationId xmlns:a16="http://schemas.microsoft.com/office/drawing/2014/main" id="{4F99968C-B022-4D39-8658-A459F407E9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01294" y="2134703"/>
                <a:ext cx="219075" cy="219075"/>
              </a:xfrm>
              <a:prstGeom prst="rect">
                <a:avLst/>
              </a:prstGeom>
              <a:grpFill/>
            </p:spPr>
          </p:pic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3A3E50F-C3D1-4711-BAFE-CED1B23D90D0}"/>
                </a:ext>
              </a:extLst>
            </p:cNvPr>
            <p:cNvSpPr txBox="1"/>
            <p:nvPr/>
          </p:nvSpPr>
          <p:spPr>
            <a:xfrm>
              <a:off x="4163713" y="1602917"/>
              <a:ext cx="1382556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от 1 месяца</a:t>
              </a:r>
              <a:endParaRPr lang="ru-RU" sz="14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13518CC-9AE7-4243-8DAC-27785BFA4CA9}"/>
                </a:ext>
              </a:extLst>
            </p:cNvPr>
            <p:cNvSpPr txBox="1"/>
            <p:nvPr/>
          </p:nvSpPr>
          <p:spPr>
            <a:xfrm>
              <a:off x="4163713" y="2046343"/>
              <a:ext cx="1261256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Стоимость</a:t>
              </a:r>
              <a:endParaRPr lang="ru-RU" sz="1400" dirty="0"/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687064BC-1738-4E72-8DCC-DCF1B76963E8}"/>
              </a:ext>
            </a:extLst>
          </p:cNvPr>
          <p:cNvGrpSpPr/>
          <p:nvPr/>
        </p:nvGrpSpPr>
        <p:grpSpPr>
          <a:xfrm>
            <a:off x="8592473" y="3918965"/>
            <a:ext cx="2416220" cy="992444"/>
            <a:chOff x="3516378" y="1497325"/>
            <a:chExt cx="2416220" cy="992444"/>
          </a:xfrm>
          <a:solidFill>
            <a:schemeClr val="bg1"/>
          </a:solidFill>
        </p:grpSpPr>
        <p:sp>
          <p:nvSpPr>
            <p:cNvPr id="58" name="Прямоугольник: скругленные углы 57">
              <a:extLst>
                <a:ext uri="{FF2B5EF4-FFF2-40B4-BE49-F238E27FC236}">
                  <a16:creationId xmlns:a16="http://schemas.microsoft.com/office/drawing/2014/main" id="{BA2B4396-A438-4804-8496-551D26904E5E}"/>
                </a:ext>
              </a:extLst>
            </p:cNvPr>
            <p:cNvSpPr/>
            <p:nvPr/>
          </p:nvSpPr>
          <p:spPr>
            <a:xfrm>
              <a:off x="3516378" y="1497325"/>
              <a:ext cx="2416220" cy="9924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B33D98-0B88-40AB-9E3F-A11475926157}"/>
                </a:ext>
              </a:extLst>
            </p:cNvPr>
            <p:cNvSpPr txBox="1"/>
            <p:nvPr/>
          </p:nvSpPr>
          <p:spPr>
            <a:xfrm>
              <a:off x="3882985" y="1624215"/>
              <a:ext cx="1683007" cy="73866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accent3"/>
                  </a:solidFill>
                </a:rPr>
                <a:t>рекомендуется применять </a:t>
              </a:r>
            </a:p>
            <a:p>
              <a:pPr algn="ctr"/>
              <a:r>
                <a:rPr lang="en-US" sz="1400" dirty="0">
                  <a:solidFill>
                    <a:schemeClr val="accent3"/>
                  </a:solidFill>
                </a:rPr>
                <a:t>ERP</a:t>
              </a:r>
              <a:r>
                <a:rPr lang="ru-RU" sz="1400" dirty="0">
                  <a:solidFill>
                    <a:schemeClr val="accent3"/>
                  </a:solidFill>
                </a:rPr>
                <a:t>-решения</a:t>
              </a:r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8C412C80-9273-4F8A-A090-A0F1FF6F9021}"/>
              </a:ext>
            </a:extLst>
          </p:cNvPr>
          <p:cNvGrpSpPr/>
          <p:nvPr/>
        </p:nvGrpSpPr>
        <p:grpSpPr>
          <a:xfrm>
            <a:off x="3538049" y="5032807"/>
            <a:ext cx="2416220" cy="992444"/>
            <a:chOff x="3538049" y="1497325"/>
            <a:chExt cx="2416220" cy="992444"/>
          </a:xfrm>
          <a:solidFill>
            <a:schemeClr val="bg1"/>
          </a:solidFill>
        </p:grpSpPr>
        <p:sp>
          <p:nvSpPr>
            <p:cNvPr id="61" name="Прямоугольник: скругленные углы 60">
              <a:extLst>
                <a:ext uri="{FF2B5EF4-FFF2-40B4-BE49-F238E27FC236}">
                  <a16:creationId xmlns:a16="http://schemas.microsoft.com/office/drawing/2014/main" id="{1AA3A530-D6ED-49B6-BAE0-9355BD52BD74}"/>
                </a:ext>
              </a:extLst>
            </p:cNvPr>
            <p:cNvSpPr/>
            <p:nvPr/>
          </p:nvSpPr>
          <p:spPr>
            <a:xfrm>
              <a:off x="3538049" y="1497325"/>
              <a:ext cx="2416220" cy="992444"/>
            </a:xfrm>
            <a:prstGeom prst="round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F885ABF-05FA-4B80-8513-CB367C2957B0}"/>
                </a:ext>
              </a:extLst>
            </p:cNvPr>
            <p:cNvSpPr txBox="1"/>
            <p:nvPr/>
          </p:nvSpPr>
          <p:spPr>
            <a:xfrm>
              <a:off x="3840045" y="1624215"/>
              <a:ext cx="1812228" cy="73866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b="0" kern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рекомендуется применять более легкие решения</a:t>
              </a: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9BFC547F-3B87-499A-B5D2-BD6CEEE101BE}"/>
              </a:ext>
            </a:extLst>
          </p:cNvPr>
          <p:cNvGrpSpPr/>
          <p:nvPr/>
        </p:nvGrpSpPr>
        <p:grpSpPr>
          <a:xfrm>
            <a:off x="8592473" y="5032807"/>
            <a:ext cx="2416220" cy="992444"/>
            <a:chOff x="3516378" y="1497325"/>
            <a:chExt cx="2416220" cy="992444"/>
          </a:xfrm>
          <a:solidFill>
            <a:schemeClr val="bg1">
              <a:lumMod val="95000"/>
            </a:schemeClr>
          </a:solidFill>
        </p:grpSpPr>
        <p:sp>
          <p:nvSpPr>
            <p:cNvPr id="64" name="Прямоугольник: скругленные углы 63">
              <a:extLst>
                <a:ext uri="{FF2B5EF4-FFF2-40B4-BE49-F238E27FC236}">
                  <a16:creationId xmlns:a16="http://schemas.microsoft.com/office/drawing/2014/main" id="{5A4DE26A-A72B-4C27-BFC5-3A36B5E8D9D8}"/>
                </a:ext>
              </a:extLst>
            </p:cNvPr>
            <p:cNvSpPr/>
            <p:nvPr/>
          </p:nvSpPr>
          <p:spPr>
            <a:xfrm>
              <a:off x="3516378" y="1497325"/>
              <a:ext cx="2416220" cy="99244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grpSp>
          <p:nvGrpSpPr>
            <p:cNvPr id="65" name="Группа 64">
              <a:extLst>
                <a:ext uri="{FF2B5EF4-FFF2-40B4-BE49-F238E27FC236}">
                  <a16:creationId xmlns:a16="http://schemas.microsoft.com/office/drawing/2014/main" id="{0FF3D99D-7120-4560-AB04-37400C8D52FD}"/>
                </a:ext>
              </a:extLst>
            </p:cNvPr>
            <p:cNvGrpSpPr/>
            <p:nvPr/>
          </p:nvGrpSpPr>
          <p:grpSpPr>
            <a:xfrm>
              <a:off x="3901294" y="1666319"/>
              <a:ext cx="219075" cy="654457"/>
              <a:chOff x="3901294" y="1699321"/>
              <a:chExt cx="219075" cy="654457"/>
            </a:xfrm>
            <a:grpFill/>
          </p:grpSpPr>
          <p:pic>
            <p:nvPicPr>
              <p:cNvPr id="68" name="Рисунок 67">
                <a:extLst>
                  <a:ext uri="{FF2B5EF4-FFF2-40B4-BE49-F238E27FC236}">
                    <a16:creationId xmlns:a16="http://schemas.microsoft.com/office/drawing/2014/main" id="{D030B808-38AC-4512-8F40-2B2A91F2C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1294" y="1699321"/>
                <a:ext cx="219075" cy="219075"/>
              </a:xfrm>
              <a:prstGeom prst="rect">
                <a:avLst/>
              </a:prstGeom>
              <a:grpFill/>
            </p:spPr>
          </p:pic>
          <p:pic>
            <p:nvPicPr>
              <p:cNvPr id="69" name="Рисунок 68">
                <a:extLst>
                  <a:ext uri="{FF2B5EF4-FFF2-40B4-BE49-F238E27FC236}">
                    <a16:creationId xmlns:a16="http://schemas.microsoft.com/office/drawing/2014/main" id="{92DEA0BE-1412-4E26-ACB4-93294ECBE3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901294" y="2134703"/>
                <a:ext cx="219075" cy="219075"/>
              </a:xfrm>
              <a:prstGeom prst="rect">
                <a:avLst/>
              </a:prstGeom>
              <a:grpFill/>
            </p:spPr>
          </p:pic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7C6B69F-C2C6-4931-B2F0-40371E0313D5}"/>
                </a:ext>
              </a:extLst>
            </p:cNvPr>
            <p:cNvSpPr txBox="1"/>
            <p:nvPr/>
          </p:nvSpPr>
          <p:spPr>
            <a:xfrm>
              <a:off x="4163712" y="1602917"/>
              <a:ext cx="1456767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от 3 месяцев</a:t>
              </a:r>
              <a:endParaRPr lang="ru-RU" sz="1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D3E69D-2CA1-43F1-999C-708B4AED26C7}"/>
                </a:ext>
              </a:extLst>
            </p:cNvPr>
            <p:cNvSpPr txBox="1"/>
            <p:nvPr/>
          </p:nvSpPr>
          <p:spPr>
            <a:xfrm>
              <a:off x="4163713" y="2046343"/>
              <a:ext cx="1261256" cy="30777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rgbClr val="212529"/>
                  </a:solidFill>
                </a:rPr>
                <a:t>Стоимость</a:t>
              </a:r>
              <a:endParaRPr lang="ru-RU" sz="1400" dirty="0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235A3BE4-F637-4713-990C-82EEC96AF2DD}"/>
              </a:ext>
            </a:extLst>
          </p:cNvPr>
          <p:cNvGrpSpPr/>
          <p:nvPr/>
        </p:nvGrpSpPr>
        <p:grpSpPr>
          <a:xfrm>
            <a:off x="3516378" y="3918965"/>
            <a:ext cx="2416220" cy="992444"/>
            <a:chOff x="3516378" y="3872010"/>
            <a:chExt cx="2416220" cy="992444"/>
          </a:xfrm>
          <a:solidFill>
            <a:schemeClr val="bg1"/>
          </a:solidFill>
        </p:grpSpPr>
        <p:sp>
          <p:nvSpPr>
            <p:cNvPr id="71" name="Прямоугольник: скругленные углы 70">
              <a:extLst>
                <a:ext uri="{FF2B5EF4-FFF2-40B4-BE49-F238E27FC236}">
                  <a16:creationId xmlns:a16="http://schemas.microsoft.com/office/drawing/2014/main" id="{5BF38B26-2A1E-4A50-B934-64CE0489353A}"/>
                </a:ext>
              </a:extLst>
            </p:cNvPr>
            <p:cNvSpPr/>
            <p:nvPr/>
          </p:nvSpPr>
          <p:spPr>
            <a:xfrm>
              <a:off x="3516378" y="3872010"/>
              <a:ext cx="2416220" cy="9924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8EE2AD4-6B5C-4599-8718-8BE51E4675C9}"/>
                </a:ext>
              </a:extLst>
            </p:cNvPr>
            <p:cNvSpPr txBox="1"/>
            <p:nvPr/>
          </p:nvSpPr>
          <p:spPr>
            <a:xfrm>
              <a:off x="3818374" y="3998900"/>
              <a:ext cx="1812228" cy="73866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b="0" kern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рекомендуется применять более легкие решения</a:t>
              </a:r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EC0EE504-47A8-46C7-83B0-6A0E2F5F3BFE}"/>
              </a:ext>
            </a:extLst>
          </p:cNvPr>
          <p:cNvGrpSpPr/>
          <p:nvPr/>
        </p:nvGrpSpPr>
        <p:grpSpPr>
          <a:xfrm>
            <a:off x="6054953" y="5032807"/>
            <a:ext cx="2416220" cy="992444"/>
            <a:chOff x="6054953" y="5051857"/>
            <a:chExt cx="2416220" cy="992444"/>
          </a:xfrm>
          <a:solidFill>
            <a:schemeClr val="bg1"/>
          </a:solidFill>
        </p:grpSpPr>
        <p:sp>
          <p:nvSpPr>
            <p:cNvPr id="74" name="Прямоугольник: скругленные углы 73">
              <a:extLst>
                <a:ext uri="{FF2B5EF4-FFF2-40B4-BE49-F238E27FC236}">
                  <a16:creationId xmlns:a16="http://schemas.microsoft.com/office/drawing/2014/main" id="{609BD6B6-581A-409D-8155-FF35E3B7E846}"/>
                </a:ext>
              </a:extLst>
            </p:cNvPr>
            <p:cNvSpPr/>
            <p:nvPr/>
          </p:nvSpPr>
          <p:spPr>
            <a:xfrm>
              <a:off x="6054953" y="5051857"/>
              <a:ext cx="2416220" cy="99244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sz="1200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A5E3E14-8A2D-4D59-B7A7-2E714487E8A6}"/>
                </a:ext>
              </a:extLst>
            </p:cNvPr>
            <p:cNvSpPr txBox="1"/>
            <p:nvPr/>
          </p:nvSpPr>
          <p:spPr>
            <a:xfrm>
              <a:off x="6356949" y="5178747"/>
              <a:ext cx="1812228" cy="73866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/>
              <a:r>
                <a:rPr lang="ru-RU" sz="1400" b="0" kern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рекомендуется применять более легкие решения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A68A0394-CE0D-4BE8-9C1F-70CB24F7593D}"/>
              </a:ext>
            </a:extLst>
          </p:cNvPr>
          <p:cNvSpPr txBox="1"/>
          <p:nvPr/>
        </p:nvSpPr>
        <p:spPr>
          <a:xfrm>
            <a:off x="3636551" y="1250634"/>
            <a:ext cx="2164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i="0" dirty="0">
                <a:solidFill>
                  <a:schemeClr val="bg1">
                    <a:lumMod val="95000"/>
                  </a:schemeClr>
                </a:solidFill>
                <a:effectLst/>
                <a:latin typeface="+mn-lt"/>
              </a:rPr>
              <a:t>Малый бизнес</a:t>
            </a:r>
            <a:endParaRPr lang="ru-RU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09A182-9266-4985-AAA7-05E8EB648CC4}"/>
              </a:ext>
            </a:extLst>
          </p:cNvPr>
          <p:cNvSpPr txBox="1"/>
          <p:nvPr/>
        </p:nvSpPr>
        <p:spPr>
          <a:xfrm>
            <a:off x="6096000" y="1253208"/>
            <a:ext cx="2164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i="0" dirty="0">
                <a:solidFill>
                  <a:schemeClr val="bg1">
                    <a:lumMod val="95000"/>
                  </a:schemeClr>
                </a:solidFill>
                <a:effectLst/>
                <a:latin typeface="+mn-lt"/>
              </a:rPr>
              <a:t>Средний бизнес</a:t>
            </a:r>
            <a:endParaRPr lang="ru-RU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AD0AC4-E3A4-4212-BBE6-F0AE187158D2}"/>
              </a:ext>
            </a:extLst>
          </p:cNvPr>
          <p:cNvSpPr txBox="1"/>
          <p:nvPr/>
        </p:nvSpPr>
        <p:spPr>
          <a:xfrm>
            <a:off x="8670561" y="1250634"/>
            <a:ext cx="2164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i="0" dirty="0">
                <a:solidFill>
                  <a:schemeClr val="bg1">
                    <a:lumMod val="95000"/>
                  </a:schemeClr>
                </a:solidFill>
                <a:effectLst/>
                <a:latin typeface="+mn-lt"/>
              </a:rPr>
              <a:t>Крупный бизнес</a:t>
            </a:r>
            <a:endParaRPr lang="ru-RU" sz="14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3082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0DB8C50-AB2E-46E9-BEC9-B3D1929DF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Визуальные элементы</a:t>
            </a:r>
            <a:br>
              <a:rPr lang="ru-RU" dirty="0"/>
            </a:br>
            <a:r>
              <a:rPr lang="ru-RU" sz="4000" b="0" dirty="0"/>
              <a:t>Иконки, росчерки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3343766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1094208-6A55-4E32-BBD7-46BC97AD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Иконки двухцветные</a:t>
            </a: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BCCC819-D227-4505-B1A4-A2EEEDBD7C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13643" y="3855036"/>
            <a:ext cx="304798" cy="293403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0B612B77-A80C-4FE5-862F-FF9E01C9D9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85429" y="4191542"/>
            <a:ext cx="520685" cy="520685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9FBFBBFD-13E9-4DF2-8843-9BA9F863C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88319" y="2333711"/>
            <a:ext cx="514905" cy="51490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1D37972C-E567-45DA-BA8C-BE6121E3BF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88319" y="2952988"/>
            <a:ext cx="514905" cy="514905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A226603-BB22-42EA-B25F-CEF1060046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88319" y="3572265"/>
            <a:ext cx="514905" cy="514905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493B3F96-BC74-426E-B5C0-F456FD7DC1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35315" y="3576527"/>
            <a:ext cx="514905" cy="514905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FF2FBBF9-2EBC-4F2B-8DF3-A7B8FAB2B3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35315" y="4822380"/>
            <a:ext cx="514905" cy="514905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650F89BA-F19E-41EC-9F27-691FB9E1F1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35315" y="2952988"/>
            <a:ext cx="514905" cy="514905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6E76D05B-DE8F-4001-BF2E-85DD760C53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35315" y="4189928"/>
            <a:ext cx="514905" cy="514905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7DE84D1-CB4E-4958-ABD4-9F3463E85E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35315" y="2320536"/>
            <a:ext cx="514905" cy="514905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C65BFC03-5193-4B05-962A-13E50F38E1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2905" y="3146181"/>
            <a:ext cx="591078" cy="598115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EFF6715-E005-4A16-A2CB-16FE157117B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9763" y="2295441"/>
            <a:ext cx="575999" cy="540000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89C9F481-A255-4D8F-ADA3-FDA6CCF701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2781" y="5052851"/>
            <a:ext cx="549965" cy="621388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DA17BA79-3C89-44F2-B99E-04D6E2716DB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6481" y="4074916"/>
            <a:ext cx="592818" cy="62138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6432762-6E5A-4E54-9486-5BFAEC7AE47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56020" y="2352547"/>
            <a:ext cx="520685" cy="520685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FBEDD68C-E9AA-40D0-9D32-52A18C473B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3984" y="1315684"/>
            <a:ext cx="540000" cy="540000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A4082F1F-2BAC-4A95-8403-198124B0F5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07517" y="1314600"/>
            <a:ext cx="569188" cy="539999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59F8E16A-8DE4-45F7-BF86-35A7CA1D758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549" y="4031109"/>
            <a:ext cx="807614" cy="807614"/>
          </a:xfrm>
          <a:prstGeom prst="rect">
            <a:avLst/>
          </a:prstGeom>
        </p:spPr>
      </p:pic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B4D4391D-AD2F-4CBE-9AB8-41270761647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3781" y="2153232"/>
            <a:ext cx="720000" cy="720000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BE383258-1186-419C-BC4A-6EF020561A9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32356" y="5033801"/>
            <a:ext cx="720000" cy="720000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7316C2F8-5EC9-4AE5-A48B-61ADA55DC9F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8549" y="1181877"/>
            <a:ext cx="807614" cy="807614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E6D70F62-749F-4C36-A57E-8AFE6830385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0178" y="4989995"/>
            <a:ext cx="807613" cy="807613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8611EBD-39B3-458D-8737-C92721601E6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32356" y="3146777"/>
            <a:ext cx="720000" cy="720000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7D922DF4-88C9-44F8-A926-B8897CD85B9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9586" y="4074916"/>
            <a:ext cx="720000" cy="720000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4C218C1A-F3A0-4298-A505-697F0E7E295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9248" y="4074916"/>
            <a:ext cx="720000" cy="720000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1AD4760F-E4BA-4AE1-9FEC-17EC4A58AD6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3984" y="2153232"/>
            <a:ext cx="720000" cy="720000"/>
          </a:xfrm>
          <a:prstGeom prst="rect">
            <a:avLst/>
          </a:prstGeom>
        </p:spPr>
      </p:pic>
      <p:pic>
        <p:nvPicPr>
          <p:cNvPr id="92" name="Рисунок 91">
            <a:extLst>
              <a:ext uri="{FF2B5EF4-FFF2-40B4-BE49-F238E27FC236}">
                <a16:creationId xmlns:a16="http://schemas.microsoft.com/office/drawing/2014/main" id="{5E203135-62DE-4DC6-AF7A-71627548D87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7853" y="5033801"/>
            <a:ext cx="720000" cy="720000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64976805-2299-4B90-BC63-EE7827933A0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3781" y="4074916"/>
            <a:ext cx="720000" cy="720000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602942D9-C22B-4285-B506-7293B826A23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8216" y="3146777"/>
            <a:ext cx="720000" cy="720000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6C27F5B0-F48D-48EA-BD2A-7C8BF653537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4655" y="3198534"/>
            <a:ext cx="469185" cy="616487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98225708-759C-405E-976D-3B99658B2E63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9640" y="1282268"/>
            <a:ext cx="619216" cy="606832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3F777FCA-4EA5-41CA-B41E-DF22B324E101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9907" y="1176480"/>
            <a:ext cx="799358" cy="799358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179E1C72-9DA0-4740-A9A9-7FA41370415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9586" y="5033801"/>
            <a:ext cx="720000" cy="720000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6D5CB533-4B00-4CBB-9B15-8CA5EF203490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9248" y="2153232"/>
            <a:ext cx="720000" cy="720000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92D353CA-2191-4255-BFF3-A32E1ED151B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43781" y="1225684"/>
            <a:ext cx="720000" cy="720000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632AEBD8-054C-472E-8C19-8DB3AE2FF938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32356" y="2153232"/>
            <a:ext cx="720000" cy="720000"/>
          </a:xfrm>
          <a:prstGeom prst="rect">
            <a:avLst/>
          </a:prstGeom>
        </p:spPr>
      </p:pic>
      <p:pic>
        <p:nvPicPr>
          <p:cNvPr id="102" name="Рисунок 101">
            <a:extLst>
              <a:ext uri="{FF2B5EF4-FFF2-40B4-BE49-F238E27FC236}">
                <a16:creationId xmlns:a16="http://schemas.microsoft.com/office/drawing/2014/main" id="{71F66D55-B22D-4915-8E4C-14D8FC834EB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9586" y="3146777"/>
            <a:ext cx="720000" cy="720000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0605270A-81B7-49AF-ABAE-6FCF68E53FFF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6848" y="5033801"/>
            <a:ext cx="724799" cy="71999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8A9259-230E-4E0F-9B94-15E7DE65597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0049" y="3204296"/>
            <a:ext cx="555428" cy="54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E0BEDDF-502E-452B-8121-80B0545FED7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31051" y="4080894"/>
            <a:ext cx="663428" cy="53999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D733EA5-F7D3-49AF-B054-77B055C9469D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0456" y="1315684"/>
            <a:ext cx="394615" cy="53999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CCAB070-F24A-405B-BA9B-23429834C37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1043" y="2269094"/>
            <a:ext cx="775492" cy="513988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DC5204F8-C496-4891-9CB6-FA9630756EB4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13070" y="3429000"/>
            <a:ext cx="304798" cy="30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945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1094208-6A55-4E32-BBD7-46BC97AD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Иконки белые</a:t>
            </a:r>
          </a:p>
        </p:txBody>
      </p: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7099F2EC-B4F3-42B7-98B2-F851C1AC2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892" y="2277250"/>
            <a:ext cx="712086" cy="471964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B2973359-9B20-430F-A728-2C8028A97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333" y="1315684"/>
            <a:ext cx="540000" cy="540000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20D7BB01-C319-4013-A849-74CEE21F55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824" y="1349101"/>
            <a:ext cx="569189" cy="540000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CD434B5D-8E64-4BF0-9956-666E39B35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898" y="4031109"/>
            <a:ext cx="807614" cy="807614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BCAFF45C-36F2-4480-B9B6-184783916B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130" y="2153232"/>
            <a:ext cx="720000" cy="720000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F961881E-9295-4C1F-87F9-74CC813436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05" y="5033801"/>
            <a:ext cx="720000" cy="720000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276659AC-DE08-486A-850C-541B24DD3C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898" y="1181877"/>
            <a:ext cx="807614" cy="807614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D96AF062-7FC0-48E9-B904-AEA83D41487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527" y="4989995"/>
            <a:ext cx="807613" cy="807613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A9166C49-25AB-45D5-AA99-871B962E45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05" y="3146777"/>
            <a:ext cx="720000" cy="720000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BB1F5BCB-DA29-4CEA-9165-3838BD90BF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935" y="4074916"/>
            <a:ext cx="720000" cy="720000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D4F1396A-1EC3-4224-914B-6D5B1F74DB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97" y="4074916"/>
            <a:ext cx="720000" cy="720000"/>
          </a:xfrm>
          <a:prstGeom prst="rect">
            <a:avLst/>
          </a:prstGeom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717FC990-6962-463A-AAB8-4090DE6EB8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333" y="2153232"/>
            <a:ext cx="720000" cy="720000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89E7E5F5-A09D-44BC-8E38-5A40F9704D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202" y="5033801"/>
            <a:ext cx="720000" cy="720000"/>
          </a:xfrm>
          <a:prstGeom prst="rect">
            <a:avLst/>
          </a:prstGeom>
        </p:spPr>
      </p:pic>
      <p:pic>
        <p:nvPicPr>
          <p:cNvPr id="122" name="Рисунок 121">
            <a:extLst>
              <a:ext uri="{FF2B5EF4-FFF2-40B4-BE49-F238E27FC236}">
                <a16:creationId xmlns:a16="http://schemas.microsoft.com/office/drawing/2014/main" id="{56718919-E4BD-4FDC-9ED2-A7733C07F1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130" y="4074916"/>
            <a:ext cx="720000" cy="720000"/>
          </a:xfrm>
          <a:prstGeom prst="rect">
            <a:avLst/>
          </a:prstGeom>
        </p:spPr>
      </p:pic>
      <p:pic>
        <p:nvPicPr>
          <p:cNvPr id="126" name="Рисунок 125">
            <a:extLst>
              <a:ext uri="{FF2B5EF4-FFF2-40B4-BE49-F238E27FC236}">
                <a16:creationId xmlns:a16="http://schemas.microsoft.com/office/drawing/2014/main" id="{46578A7B-DCD5-4E93-AA9C-2C4FEBFA691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565" y="3146777"/>
            <a:ext cx="720000" cy="720000"/>
          </a:xfrm>
          <a:prstGeom prst="rect">
            <a:avLst/>
          </a:prstGeom>
        </p:spPr>
      </p:pic>
      <p:pic>
        <p:nvPicPr>
          <p:cNvPr id="128" name="Рисунок 127">
            <a:extLst>
              <a:ext uri="{FF2B5EF4-FFF2-40B4-BE49-F238E27FC236}">
                <a16:creationId xmlns:a16="http://schemas.microsoft.com/office/drawing/2014/main" id="{47032733-4997-4E1B-996E-372BB6EB077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004" y="3198533"/>
            <a:ext cx="469186" cy="616489"/>
          </a:xfrm>
          <a:prstGeom prst="rect">
            <a:avLst/>
          </a:prstGeom>
        </p:spPr>
      </p:pic>
      <p:pic>
        <p:nvPicPr>
          <p:cNvPr id="130" name="Рисунок 129">
            <a:extLst>
              <a:ext uri="{FF2B5EF4-FFF2-40B4-BE49-F238E27FC236}">
                <a16:creationId xmlns:a16="http://schemas.microsoft.com/office/drawing/2014/main" id="{BB4BB24C-8074-4439-B4F4-EED022CEC6B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989" y="1282268"/>
            <a:ext cx="619217" cy="606833"/>
          </a:xfrm>
          <a:prstGeom prst="rect">
            <a:avLst/>
          </a:prstGeom>
        </p:spPr>
      </p:pic>
      <p:pic>
        <p:nvPicPr>
          <p:cNvPr id="132" name="Рисунок 131">
            <a:extLst>
              <a:ext uri="{FF2B5EF4-FFF2-40B4-BE49-F238E27FC236}">
                <a16:creationId xmlns:a16="http://schemas.microsoft.com/office/drawing/2014/main" id="{8C2018D7-E629-4B0C-B9FD-2F012ADC889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256" y="1176480"/>
            <a:ext cx="799358" cy="799358"/>
          </a:xfrm>
          <a:prstGeom prst="rect">
            <a:avLst/>
          </a:prstGeom>
        </p:spPr>
      </p:pic>
      <p:pic>
        <p:nvPicPr>
          <p:cNvPr id="134" name="Рисунок 133">
            <a:extLst>
              <a:ext uri="{FF2B5EF4-FFF2-40B4-BE49-F238E27FC236}">
                <a16:creationId xmlns:a16="http://schemas.microsoft.com/office/drawing/2014/main" id="{5C623F9F-2ACC-4976-913E-5F936EA2B0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935" y="5033801"/>
            <a:ext cx="720000" cy="720000"/>
          </a:xfrm>
          <a:prstGeom prst="rect">
            <a:avLst/>
          </a:prstGeom>
        </p:spPr>
      </p:pic>
      <p:pic>
        <p:nvPicPr>
          <p:cNvPr id="136" name="Рисунок 135">
            <a:extLst>
              <a:ext uri="{FF2B5EF4-FFF2-40B4-BE49-F238E27FC236}">
                <a16:creationId xmlns:a16="http://schemas.microsoft.com/office/drawing/2014/main" id="{BA69E24D-2BF0-4D37-8B5D-1534010C59E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97" y="2153232"/>
            <a:ext cx="720000" cy="720000"/>
          </a:xfrm>
          <a:prstGeom prst="rect">
            <a:avLst/>
          </a:prstGeom>
        </p:spPr>
      </p:pic>
      <p:pic>
        <p:nvPicPr>
          <p:cNvPr id="138" name="Рисунок 137">
            <a:extLst>
              <a:ext uri="{FF2B5EF4-FFF2-40B4-BE49-F238E27FC236}">
                <a16:creationId xmlns:a16="http://schemas.microsoft.com/office/drawing/2014/main" id="{827733A0-795C-4C4D-B018-39CD09BDDEB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130" y="1225684"/>
            <a:ext cx="720000" cy="720000"/>
          </a:xfrm>
          <a:prstGeom prst="rect">
            <a:avLst/>
          </a:prstGeom>
        </p:spPr>
      </p:pic>
      <p:pic>
        <p:nvPicPr>
          <p:cNvPr id="140" name="Рисунок 139">
            <a:extLst>
              <a:ext uri="{FF2B5EF4-FFF2-40B4-BE49-F238E27FC236}">
                <a16:creationId xmlns:a16="http://schemas.microsoft.com/office/drawing/2014/main" id="{979E5189-D022-4FB2-8BAC-24BF00E10F0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05" y="2153232"/>
            <a:ext cx="720000" cy="720000"/>
          </a:xfrm>
          <a:prstGeom prst="rect">
            <a:avLst/>
          </a:prstGeom>
        </p:spPr>
      </p:pic>
      <p:pic>
        <p:nvPicPr>
          <p:cNvPr id="142" name="Рисунок 141">
            <a:extLst>
              <a:ext uri="{FF2B5EF4-FFF2-40B4-BE49-F238E27FC236}">
                <a16:creationId xmlns:a16="http://schemas.microsoft.com/office/drawing/2014/main" id="{62F69C9F-69F1-4CA5-9C2E-93F2C3DC358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935" y="3146777"/>
            <a:ext cx="720000" cy="720000"/>
          </a:xfrm>
          <a:prstGeom prst="rect">
            <a:avLst/>
          </a:prstGeom>
        </p:spPr>
      </p:pic>
      <p:pic>
        <p:nvPicPr>
          <p:cNvPr id="144" name="Рисунок 143">
            <a:extLst>
              <a:ext uri="{FF2B5EF4-FFF2-40B4-BE49-F238E27FC236}">
                <a16:creationId xmlns:a16="http://schemas.microsoft.com/office/drawing/2014/main" id="{1C012CE1-2AF0-4D74-B4DC-91103A8DC50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2197" y="5033801"/>
            <a:ext cx="724800" cy="720000"/>
          </a:xfrm>
          <a:prstGeom prst="rect">
            <a:avLst/>
          </a:prstGeom>
        </p:spPr>
      </p:pic>
      <p:pic>
        <p:nvPicPr>
          <p:cNvPr id="146" name="Рисунок 145">
            <a:extLst>
              <a:ext uri="{FF2B5EF4-FFF2-40B4-BE49-F238E27FC236}">
                <a16:creationId xmlns:a16="http://schemas.microsoft.com/office/drawing/2014/main" id="{B6C73B59-FBD6-4BEE-A669-2EFE32A6B6C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321" y="4091979"/>
            <a:ext cx="600647" cy="622357"/>
          </a:xfrm>
          <a:prstGeom prst="rect">
            <a:avLst/>
          </a:prstGeom>
        </p:spPr>
      </p:pic>
      <p:pic>
        <p:nvPicPr>
          <p:cNvPr id="148" name="Рисунок 147">
            <a:extLst>
              <a:ext uri="{FF2B5EF4-FFF2-40B4-BE49-F238E27FC236}">
                <a16:creationId xmlns:a16="http://schemas.microsoft.com/office/drawing/2014/main" id="{2FE977B2-15E3-44DA-9E79-42AC8649763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656" y="2247784"/>
            <a:ext cx="583783" cy="540000"/>
          </a:xfrm>
          <a:prstGeom prst="rect">
            <a:avLst/>
          </a:prstGeom>
        </p:spPr>
      </p:pic>
      <p:pic>
        <p:nvPicPr>
          <p:cNvPr id="150" name="Рисунок 149">
            <a:extLst>
              <a:ext uri="{FF2B5EF4-FFF2-40B4-BE49-F238E27FC236}">
                <a16:creationId xmlns:a16="http://schemas.microsoft.com/office/drawing/2014/main" id="{34C12C78-D92E-4EA9-BE2B-F0055974E8A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737" y="4133157"/>
            <a:ext cx="663428" cy="540000"/>
          </a:xfrm>
          <a:prstGeom prst="rect">
            <a:avLst/>
          </a:prstGeom>
        </p:spPr>
      </p:pic>
      <p:pic>
        <p:nvPicPr>
          <p:cNvPr id="152" name="Рисунок 151">
            <a:extLst>
              <a:ext uri="{FF2B5EF4-FFF2-40B4-BE49-F238E27FC236}">
                <a16:creationId xmlns:a16="http://schemas.microsoft.com/office/drawing/2014/main" id="{159600E1-745E-47B4-9FBB-CDEE63E148D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41" y="1323057"/>
            <a:ext cx="394615" cy="540000"/>
          </a:xfrm>
          <a:prstGeom prst="rect">
            <a:avLst/>
          </a:prstGeom>
        </p:spPr>
      </p:pic>
      <p:pic>
        <p:nvPicPr>
          <p:cNvPr id="156" name="Рисунок 155">
            <a:extLst>
              <a:ext uri="{FF2B5EF4-FFF2-40B4-BE49-F238E27FC236}">
                <a16:creationId xmlns:a16="http://schemas.microsoft.com/office/drawing/2014/main" id="{B4A475F5-E5C0-4785-B111-CF43A90981A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010" y="3206191"/>
            <a:ext cx="555429" cy="540000"/>
          </a:xfrm>
          <a:prstGeom prst="rect">
            <a:avLst/>
          </a:prstGeom>
        </p:spPr>
      </p:pic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98B99058-9EA2-4B44-B14F-9598A2F4733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255" y="5050386"/>
            <a:ext cx="583783" cy="659599"/>
          </a:xfrm>
          <a:prstGeom prst="rect">
            <a:avLst/>
          </a:prstGeom>
        </p:spPr>
      </p:pic>
      <p:pic>
        <p:nvPicPr>
          <p:cNvPr id="160" name="Рисунок 159">
            <a:extLst>
              <a:ext uri="{FF2B5EF4-FFF2-40B4-BE49-F238E27FC236}">
                <a16:creationId xmlns:a16="http://schemas.microsoft.com/office/drawing/2014/main" id="{98D63C82-6F55-4A48-A871-BA452B9CA931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405" y="3206252"/>
            <a:ext cx="608928" cy="61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482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3E02A-941F-4DCF-B100-1827C26E6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Блоки для схем или важной информации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4071821-7553-4B88-B635-915E145BEB12}"/>
              </a:ext>
            </a:extLst>
          </p:cNvPr>
          <p:cNvSpPr/>
          <p:nvPr/>
        </p:nvSpPr>
        <p:spPr>
          <a:xfrm>
            <a:off x="884902" y="2116169"/>
            <a:ext cx="1987214" cy="935715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0" dirty="0">
                <a:solidFill>
                  <a:schemeClr val="tx1"/>
                </a:solidFill>
              </a:rPr>
              <a:t>Название</a:t>
            </a:r>
            <a:br>
              <a:rPr lang="ru-RU" sz="1600" b="0" dirty="0">
                <a:solidFill>
                  <a:schemeClr val="tx1"/>
                </a:solidFill>
              </a:rPr>
            </a:br>
            <a:r>
              <a:rPr lang="ru-RU" sz="1600" b="0" dirty="0">
                <a:solidFill>
                  <a:schemeClr val="tx1"/>
                </a:solidFill>
              </a:rPr>
              <a:t>блока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2766CA7-0F49-45B4-8C7E-DD2CE1E650A8}"/>
              </a:ext>
            </a:extLst>
          </p:cNvPr>
          <p:cNvSpPr/>
          <p:nvPr/>
        </p:nvSpPr>
        <p:spPr>
          <a:xfrm>
            <a:off x="3470058" y="2116169"/>
            <a:ext cx="1987214" cy="93571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0" dirty="0">
                <a:solidFill>
                  <a:schemeClr val="bg1"/>
                </a:solidFill>
              </a:rPr>
              <a:t>Название </a:t>
            </a:r>
            <a:br>
              <a:rPr lang="ru-RU" sz="1600" b="0" dirty="0">
                <a:solidFill>
                  <a:schemeClr val="bg1"/>
                </a:solidFill>
              </a:rPr>
            </a:br>
            <a:r>
              <a:rPr lang="ru-RU" sz="1600" b="0" dirty="0">
                <a:solidFill>
                  <a:schemeClr val="bg1"/>
                </a:solidFill>
              </a:rPr>
              <a:t>блока</a:t>
            </a:r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4FA81482-D2AD-436B-8B9E-3C2C3D2207EA}"/>
              </a:ext>
            </a:extLst>
          </p:cNvPr>
          <p:cNvSpPr/>
          <p:nvPr/>
        </p:nvSpPr>
        <p:spPr>
          <a:xfrm>
            <a:off x="6055214" y="2116169"/>
            <a:ext cx="1987214" cy="93571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0" dirty="0">
                <a:solidFill>
                  <a:schemeClr val="bg2"/>
                </a:solidFill>
              </a:rPr>
              <a:t>Название</a:t>
            </a:r>
            <a:br>
              <a:rPr lang="ru-RU" sz="1600" b="0" dirty="0">
                <a:solidFill>
                  <a:schemeClr val="bg2"/>
                </a:solidFill>
              </a:rPr>
            </a:br>
            <a:r>
              <a:rPr lang="ru-RU" sz="1600" b="0" dirty="0">
                <a:solidFill>
                  <a:schemeClr val="bg2"/>
                </a:solidFill>
              </a:rPr>
              <a:t>блока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032EDC-37B9-49A5-BF35-A4053EE869B0}"/>
              </a:ext>
            </a:extLst>
          </p:cNvPr>
          <p:cNvSpPr txBox="1"/>
          <p:nvPr/>
        </p:nvSpPr>
        <p:spPr>
          <a:xfrm>
            <a:off x="1265177" y="3762521"/>
            <a:ext cx="4500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0" i="0" dirty="0">
                <a:solidFill>
                  <a:schemeClr val="bg1"/>
                </a:solidFill>
                <a:effectLst/>
              </a:rPr>
              <a:t>Выделение ключевой информации на слайде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8A98FC-F04F-462B-9E6D-71CE3C251EC7}"/>
              </a:ext>
            </a:extLst>
          </p:cNvPr>
          <p:cNvSpPr txBox="1"/>
          <p:nvPr/>
        </p:nvSpPr>
        <p:spPr>
          <a:xfrm>
            <a:off x="1693802" y="4455629"/>
            <a:ext cx="3433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0" i="0" dirty="0">
                <a:solidFill>
                  <a:schemeClr val="bg1"/>
                </a:solidFill>
                <a:effectLst/>
              </a:rPr>
              <a:t>Пункт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83BC93-A3AD-45C2-8DA6-96C19681386A}"/>
              </a:ext>
            </a:extLst>
          </p:cNvPr>
          <p:cNvSpPr txBox="1"/>
          <p:nvPr/>
        </p:nvSpPr>
        <p:spPr>
          <a:xfrm>
            <a:off x="1693803" y="4894412"/>
            <a:ext cx="3433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ru-RU" b="0" i="0" dirty="0">
                <a:solidFill>
                  <a:schemeClr val="bg1"/>
                </a:solidFill>
                <a:effectLst/>
              </a:rPr>
              <a:t>Пункт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7B3DDAF8-6306-417A-B0C6-6A513745CF5E}"/>
              </a:ext>
            </a:extLst>
          </p:cNvPr>
          <p:cNvSpPr/>
          <p:nvPr/>
        </p:nvSpPr>
        <p:spPr>
          <a:xfrm>
            <a:off x="894065" y="3603039"/>
            <a:ext cx="5224134" cy="1959561"/>
          </a:xfrm>
          <a:prstGeom prst="roundRect">
            <a:avLst>
              <a:gd name="adj" fmla="val 8084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E00190D-EEE3-4359-86CD-52FCC3BB6837}"/>
              </a:ext>
            </a:extLst>
          </p:cNvPr>
          <p:cNvSpPr/>
          <p:nvPr/>
        </p:nvSpPr>
        <p:spPr>
          <a:xfrm>
            <a:off x="8640370" y="2116169"/>
            <a:ext cx="1987214" cy="93571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0" dirty="0">
                <a:solidFill>
                  <a:schemeClr val="bg2"/>
                </a:solidFill>
              </a:rPr>
              <a:t>Название</a:t>
            </a:r>
            <a:br>
              <a:rPr lang="ru-RU" sz="1600" b="0" dirty="0">
                <a:solidFill>
                  <a:schemeClr val="bg2"/>
                </a:solidFill>
              </a:rPr>
            </a:br>
            <a:r>
              <a:rPr lang="ru-RU" sz="1600" b="0" dirty="0">
                <a:solidFill>
                  <a:schemeClr val="bg2"/>
                </a:solidFill>
              </a:rPr>
              <a:t>блока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BF7A4E1-2648-4B11-A2DE-F8891D5662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7403" y="4933197"/>
            <a:ext cx="304798" cy="29340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01A628-8E5C-4BAB-8FBC-7AA18DCF55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6830" y="4506946"/>
            <a:ext cx="304798" cy="30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951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16E31-5ACF-464D-BFAB-78AF5B85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</a:t>
            </a:r>
            <a:r>
              <a:rPr lang="en-US" dirty="0"/>
              <a:t>D</a:t>
            </a:r>
            <a:r>
              <a:rPr lang="ru-RU" dirty="0"/>
              <a:t> абстрактные фигуры</a:t>
            </a:r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3C39802E-8DC0-4B17-AE0A-A1534F5D1E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121917"/>
            <a:ext cx="9392573" cy="932328"/>
          </a:xfrm>
        </p:spPr>
        <p:txBody>
          <a:bodyPr/>
          <a:lstStyle/>
          <a:p>
            <a:r>
              <a:rPr lang="ru-RU" dirty="0"/>
              <a:t>Можно использовать на разделительных слайдах, если не хватает </a:t>
            </a:r>
            <a:r>
              <a:rPr lang="ru-RU" dirty="0" err="1"/>
              <a:t>визуала</a:t>
            </a:r>
            <a:r>
              <a:rPr lang="ru-RU" dirty="0"/>
              <a:t>. Ярко смотрится в сочетании с голубым цветом. </a:t>
            </a:r>
            <a:br>
              <a:rPr lang="ru-RU" dirty="0"/>
            </a:br>
            <a:r>
              <a:rPr lang="ru-RU" b="1" dirty="0">
                <a:solidFill>
                  <a:schemeClr val="accent1"/>
                </a:solidFill>
              </a:rPr>
              <a:t>Нужно выбрать или абстракция или объекты со след. слайда.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77B2D8-DD18-418B-863A-5B38B73A8C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763" y="2278544"/>
            <a:ext cx="1345029" cy="134502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4A3011D-1AC9-4221-9569-453B4AEC2F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59" y="4117484"/>
            <a:ext cx="1345029" cy="134502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AD3814E-C0CC-4B7F-806E-2A05D1E183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11" y="2278544"/>
            <a:ext cx="1345029" cy="134502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DCD1C82-BFC3-48F3-A131-93B63D10F6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569" y="2278544"/>
            <a:ext cx="1345029" cy="134502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AC85B57-4D81-4026-9291-671E9334A0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945" y="4117484"/>
            <a:ext cx="1345029" cy="134502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3778C50-1E65-489B-A420-CF8407D0C78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119" y="2278544"/>
            <a:ext cx="1345029" cy="134502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E8FDCDC-1840-484F-AE3D-D196DF67DD1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9" y="4107684"/>
            <a:ext cx="1345029" cy="1345029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1285E89-3BA5-4885-BDA5-B9D6A6D3BA8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501" y="4117484"/>
            <a:ext cx="1345029" cy="134502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7C1B21F-ED49-4464-98F0-A8D14CDC274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980" y="4117484"/>
            <a:ext cx="1345029" cy="1345029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D9E5AAD-8DA6-48F2-B802-163162851532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67" y="2278544"/>
            <a:ext cx="1345029" cy="1345029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E9CDDF7-2649-4DC2-BC4D-34C5AD58A78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215" y="2278544"/>
            <a:ext cx="1345029" cy="134502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05DAC9B-9422-4B32-A331-940CF2B743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53712"/>
            <a:ext cx="1962817" cy="18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065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16E31-5ACF-464D-BFAB-78AF5B85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Изображения-объекты</a:t>
            </a:r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3C39802E-8DC0-4B17-AE0A-A1534F5D1E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121917"/>
            <a:ext cx="10230773" cy="932328"/>
          </a:xfrm>
        </p:spPr>
        <p:txBody>
          <a:bodyPr/>
          <a:lstStyle/>
          <a:p>
            <a:r>
              <a:rPr lang="ru-RU" dirty="0"/>
              <a:t>Можно использовать крупно на разделительных и заглавных слайдах, </a:t>
            </a:r>
            <a:br>
              <a:rPr lang="ru-RU" dirty="0"/>
            </a:br>
            <a:r>
              <a:rPr lang="ru-RU" dirty="0"/>
              <a:t>если не хватает </a:t>
            </a:r>
            <a:r>
              <a:rPr lang="ru-RU" dirty="0" err="1"/>
              <a:t>визуала</a:t>
            </a:r>
            <a:r>
              <a:rPr lang="ru-RU" dirty="0"/>
              <a:t>. </a:t>
            </a:r>
            <a:r>
              <a:rPr lang="ru-RU" b="1" dirty="0">
                <a:solidFill>
                  <a:schemeClr val="accent1"/>
                </a:solidFill>
              </a:rPr>
              <a:t>Нужно выбрать или абстракция или эти объекты.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974F091-DFC3-415A-BBEB-E35C97194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8" y="2044381"/>
            <a:ext cx="2072907" cy="1663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6665103-70BF-49BC-8353-82056EA93B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9" t="17398" r="11556" b="13184"/>
          <a:stretch/>
        </p:blipFill>
        <p:spPr>
          <a:xfrm>
            <a:off x="68087" y="3918285"/>
            <a:ext cx="2783368" cy="239305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0644C78-0981-4AEB-B134-56AE9B00A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456" y="3956025"/>
            <a:ext cx="2582164" cy="246065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CF9C2D7-CD49-4589-BC99-CE7A2AF74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729" y="3994140"/>
            <a:ext cx="2786458" cy="246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760F676-E00B-4498-A2D3-B7B1322C50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243" y="1892703"/>
            <a:ext cx="2233233" cy="2233233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497D4B69-F726-4080-8609-B7D6466BA69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84913">
            <a:off x="5117250" y="1688033"/>
            <a:ext cx="2349942" cy="2349942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B937C6EB-F15F-4BB0-9F6D-BB2B0CE2DD7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139" y="3671763"/>
            <a:ext cx="3030872" cy="3029174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1F5C9112-FC77-4010-806B-0641CF7B8573}"/>
              </a:ext>
            </a:extLst>
          </p:cNvPr>
          <p:cNvGrpSpPr/>
          <p:nvPr/>
        </p:nvGrpSpPr>
        <p:grpSpPr>
          <a:xfrm>
            <a:off x="7447740" y="1844583"/>
            <a:ext cx="1919226" cy="2277065"/>
            <a:chOff x="7915287" y="941788"/>
            <a:chExt cx="4522202" cy="5365366"/>
          </a:xfrm>
        </p:grpSpPr>
        <p:pic>
          <p:nvPicPr>
            <p:cNvPr id="43" name="Picture 2" descr="C:\Users\user\Downloads\61328240299-Photoroom (3).png">
              <a:extLst>
                <a:ext uri="{FF2B5EF4-FFF2-40B4-BE49-F238E27FC236}">
                  <a16:creationId xmlns:a16="http://schemas.microsoft.com/office/drawing/2014/main" id="{FB6A5BF1-C193-4C21-B283-092D7D6F0C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 b="17500"/>
            <a:stretch>
              <a:fillRect/>
            </a:stretch>
          </p:blipFill>
          <p:spPr bwMode="auto">
            <a:xfrm rot="670272">
              <a:off x="7915287" y="941788"/>
              <a:ext cx="4522202" cy="4974423"/>
            </a:xfrm>
            <a:prstGeom prst="rect">
              <a:avLst/>
            </a:prstGeom>
            <a:noFill/>
          </p:spPr>
        </p:pic>
        <p:pic>
          <p:nvPicPr>
            <p:cNvPr id="44" name="Рисунок 43">
              <a:extLst>
                <a:ext uri="{FF2B5EF4-FFF2-40B4-BE49-F238E27FC236}">
                  <a16:creationId xmlns:a16="http://schemas.microsoft.com/office/drawing/2014/main" id="{E3448FDC-C517-4E32-98C4-D6766FCE9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0097" y="5812238"/>
              <a:ext cx="3106642" cy="494916"/>
            </a:xfrm>
            <a:prstGeom prst="rect">
              <a:avLst/>
            </a:prstGeom>
          </p:spPr>
        </p:pic>
      </p:grp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F6A7455F-B99E-4361-B272-F7EA4CF1E7D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188" y="1746469"/>
            <a:ext cx="3292187" cy="227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507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Иван Иванов </a:t>
            </a:r>
          </a:p>
          <a:p>
            <a:r>
              <a:rPr lang="ru-RU" dirty="0"/>
              <a:t>Автор презентации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+7 (3952) 78-00-00</a:t>
            </a:r>
          </a:p>
          <a:p>
            <a:r>
              <a:rPr lang="en-US" dirty="0"/>
              <a:t>sales@forus.ru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1E45A4-D183-428C-91DB-57C1E65AAE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330483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