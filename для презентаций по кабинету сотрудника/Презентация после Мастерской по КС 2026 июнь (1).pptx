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rels" ContentType="application/vnd.openxmlformats-package.relationships+xml"/>
  <Default Extension="jpeg" ContentType="image/jpeg"/>
  <Default Extension="png" ContentType="image/png"/>
  <Default Extension="bin" ContentType="application/vnd.openxmlformats-officedocument.oleObject"/>
  <Default Extension="wmf" ContentType="image/x-wmf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0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8.xml" ContentType="application/vnd.openxmlformats-officedocument.presentationml.slideLayout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3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>
              <a:noFill/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>
              <a:noFill/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1" d="100"/>
          <a:sy n="91" d="100"/>
        </p:scale>
        <p:origin x="350" y="7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68595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981259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0F1DD30-20F5-456A-A91D-5E5E2AE4E96B}" type="datetimeFigureOut">
              <a:rPr lang="ru-RU"/>
              <a:t>20.06.2026</a:t>
            </a:fld>
            <a:endParaRPr lang="ru-RU"/>
          </a:p>
        </p:txBody>
      </p:sp>
      <p:sp>
        <p:nvSpPr>
          <p:cNvPr id="1831761986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43525423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177397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7659891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9AD6420-324F-4B35-AE1D-31198132CD0C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356395-4CED-84A3-3A3A-8A2A0A359C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62A426-7D4B-6C24-D994-7EF754E620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3FB326-F53B-A545-BF8A-4C2E56F34F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C388DD-961A-2376-2F29-25639831CF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F05633-83D7-E4F2-C023-4CC2242F4C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1F810-B362-5C79-A2F4-98FECC41B1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F518BE-A94E-766E-1F44-EAAAD36175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6A32D5-5A24-435E-F200-26A67CE795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53A5D5-AA02-C990-BFF9-D344F19320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239AE8-DFB8-BACE-03FC-9759936FE6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460652-C8E5-77E5-9F5B-8AC5A69961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FBBBC0-48B3-8D3F-6187-A872BF6A70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B7D349-3CEA-69E7-7395-E57C333A3E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FF6AA2-33AF-3F39-781C-13D04B85C2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D77391-AD30-87BF-9E69-9E2A1D82D5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3C774E-F3FC-1264-12AF-A7454C4FF1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F81DD4-8C2A-78D0-48FB-FCA0D12440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427D90-60FD-B649-05DB-8F2427E11C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E99A4A-8157-208C-3AFA-8E8EC2263D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B70E02-E0A2-A78C-A18F-E2FD995935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096954-506A-C7B9-C166-24B53371DE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8DA373-EE7E-9624-C8FE-813DBE83C2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06C28A-6391-3BAC-94F6-8FAD71C58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22F6AB-8A63-8ADE-51DE-4823CF1F94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559DE4-64B4-80DB-DBF3-76E66DE04D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7FABCE-E1AE-CA53-A4F9-D47489DCA1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CA083B-4C68-BC41-305E-274DC9BB75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6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6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6_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4161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95335" y="1238712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1845874249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95336" y="4353117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pic>
        <p:nvPicPr>
          <p:cNvPr id="1684138939" name="Рисунок 4"/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21197469">
            <a:off x="7917346" y="2430225"/>
            <a:ext cx="3192702" cy="2998925"/>
          </a:xfrm>
          <a:prstGeom prst="rect">
            <a:avLst/>
          </a:prstGeom>
        </p:spPr>
      </p:pic>
      <p:pic>
        <p:nvPicPr>
          <p:cNvPr id="1477872246" name="Рисунок 6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8329898" y="5743026"/>
            <a:ext cx="2367599" cy="1675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05218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195335" y="1238712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1814764676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95336" y="4353117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91577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205167" y="1238711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1338809614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205168" y="4353116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47052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61039" y="1120723"/>
            <a:ext cx="9364508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656678441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61040" y="4235128"/>
            <a:ext cx="6070701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59414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6540735" y="983072"/>
            <a:ext cx="4736865" cy="3114405"/>
          </a:xfrm>
        </p:spPr>
        <p:txBody>
          <a:bodyPr anchor="ctr" anchorCtr="0">
            <a:normAutofit/>
          </a:bodyPr>
          <a:lstStyle>
            <a:lvl1pPr algn="r">
              <a:lnSpc>
                <a:spcPct val="100000"/>
              </a:lnSpc>
              <a:defRPr sz="54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1631280894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924194" y="4292125"/>
            <a:ext cx="4353406" cy="776557"/>
          </a:xfrm>
        </p:spPr>
        <p:txBody>
          <a:bodyPr lIns="0" tIns="0" rIns="0" bIns="0">
            <a:normAutofit/>
          </a:bodyPr>
          <a:lstStyle>
            <a:lvl1pPr marL="0" marR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 символ шафран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62974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700714" y="1376363"/>
            <a:ext cx="5040312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926733110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700714" y="4490768"/>
            <a:ext cx="5040312" cy="747982"/>
          </a:xfr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/>
              <a:t>Должность / отдел</a:t>
            </a:r>
            <a:endParaRPr/>
          </a:p>
        </p:txBody>
      </p:sp>
      <p:pic>
        <p:nvPicPr>
          <p:cNvPr id="1156178128" name="Рисунок 2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189386" y="5358580"/>
            <a:ext cx="2617427" cy="1160207"/>
          </a:xfrm>
          <a:prstGeom prst="rect">
            <a:avLst/>
          </a:prstGeom>
        </p:spPr>
      </p:pic>
      <p:sp>
        <p:nvSpPr>
          <p:cNvPr id="1002411233" name="Полилиния 24"/>
          <p:cNvSpPr/>
          <p:nvPr userDrawn="1"/>
        </p:nvSpPr>
        <p:spPr bwMode="auto">
          <a:xfrm>
            <a:off x="0" y="0"/>
            <a:ext cx="4838701" cy="6858000"/>
          </a:xfrm>
          <a:custGeom>
            <a:avLst/>
            <a:gdLst>
              <a:gd name="connsiteX0" fmla="*/ 786539 w 4838701"/>
              <a:gd name="connsiteY0" fmla="*/ 2133598 h 6858000"/>
              <a:gd name="connsiteX1" fmla="*/ 1639821 w 4838701"/>
              <a:gd name="connsiteY1" fmla="*/ 3171823 h 6858000"/>
              <a:gd name="connsiteX2" fmla="*/ 786539 w 4838701"/>
              <a:gd name="connsiteY2" fmla="*/ 4210048 h 6858000"/>
              <a:gd name="connsiteX3" fmla="*/ 57218 w 4838701"/>
              <a:gd name="connsiteY3" fmla="*/ 3751468 h 6858000"/>
              <a:gd name="connsiteX4" fmla="*/ 0 w 4838701"/>
              <a:gd name="connsiteY4" fmla="*/ 3604516 h 6858000"/>
              <a:gd name="connsiteX5" fmla="*/ 0 w 4838701"/>
              <a:gd name="connsiteY5" fmla="*/ 2740664 h 6858000"/>
              <a:gd name="connsiteX6" fmla="*/ 57218 w 4838701"/>
              <a:gd name="connsiteY6" fmla="*/ 2594690 h 6858000"/>
              <a:gd name="connsiteX7" fmla="*/ 786539 w 4838701"/>
              <a:gd name="connsiteY7" fmla="*/ 2133598 h 6858000"/>
              <a:gd name="connsiteX8" fmla="*/ 0 w 4838701"/>
              <a:gd name="connsiteY8" fmla="*/ 0 h 6858000"/>
              <a:gd name="connsiteX9" fmla="*/ 758686 w 4838701"/>
              <a:gd name="connsiteY9" fmla="*/ 0 h 6858000"/>
              <a:gd name="connsiteX10" fmla="*/ 710008 w 4838701"/>
              <a:gd name="connsiteY10" fmla="*/ 64545 h 6858000"/>
              <a:gd name="connsiteX11" fmla="*/ 305440 w 4838701"/>
              <a:gd name="connsiteY11" fmla="*/ 610601 h 6858000"/>
              <a:gd name="connsiteX12" fmla="*/ 311674 w 4838701"/>
              <a:gd name="connsiteY12" fmla="*/ 838097 h 6858000"/>
              <a:gd name="connsiteX13" fmla="*/ 498139 w 4838701"/>
              <a:gd name="connsiteY13" fmla="*/ 1004391 h 6858000"/>
              <a:gd name="connsiteX14" fmla="*/ 758973 w 4838701"/>
              <a:gd name="connsiteY14" fmla="*/ 1014827 h 6858000"/>
              <a:gd name="connsiteX15" fmla="*/ 1953325 w 4838701"/>
              <a:gd name="connsiteY15" fmla="*/ 0 h 6858000"/>
              <a:gd name="connsiteX16" fmla="*/ 3191959 w 4838701"/>
              <a:gd name="connsiteY16" fmla="*/ 0 h 6858000"/>
              <a:gd name="connsiteX17" fmla="*/ 3225359 w 4838701"/>
              <a:gd name="connsiteY17" fmla="*/ 22255 h 6858000"/>
              <a:gd name="connsiteX18" fmla="*/ 4838701 w 4838701"/>
              <a:gd name="connsiteY18" fmla="*/ 3185326 h 6858000"/>
              <a:gd name="connsiteX19" fmla="*/ 2324833 w 4838701"/>
              <a:gd name="connsiteY19" fmla="*/ 6828634 h 6858000"/>
              <a:gd name="connsiteX20" fmla="*/ 2239107 w 4838701"/>
              <a:gd name="connsiteY20" fmla="*/ 6858000 h 6858000"/>
              <a:gd name="connsiteX21" fmla="*/ 0 w 4838701"/>
              <a:gd name="connsiteY21" fmla="*/ 6858000 h 6858000"/>
              <a:gd name="connsiteX22" fmla="*/ 0 w 4838701"/>
              <a:gd name="connsiteY22" fmla="*/ 4907035 h 6858000"/>
              <a:gd name="connsiteX23" fmla="*/ 128075 w 4838701"/>
              <a:gd name="connsiteY23" fmla="*/ 4949125 h 6858000"/>
              <a:gd name="connsiteX24" fmla="*/ 789714 w 4838701"/>
              <a:gd name="connsiteY24" fmla="*/ 5029199 h 6858000"/>
              <a:gd name="connsiteX25" fmla="*/ 2711383 w 4838701"/>
              <a:gd name="connsiteY25" fmla="*/ 3169443 h 6858000"/>
              <a:gd name="connsiteX26" fmla="*/ 789714 w 4838701"/>
              <a:gd name="connsiteY26" fmla="*/ 1309687 h 6858000"/>
              <a:gd name="connsiteX27" fmla="*/ 142223 w 4838701"/>
              <a:gd name="connsiteY27" fmla="*/ 1396835 h 6858000"/>
              <a:gd name="connsiteX28" fmla="*/ 0 w 4838701"/>
              <a:gd name="connsiteY28" fmla="*/ 14447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838701" h="6858000" fill="norm" stroke="1" extrusionOk="0">
                <a:moveTo>
                  <a:pt x="786539" y="2133598"/>
                </a:moveTo>
                <a:cubicBezTo>
                  <a:pt x="1340344" y="2120898"/>
                  <a:pt x="1639821" y="2598427"/>
                  <a:pt x="1639821" y="3171823"/>
                </a:cubicBezTo>
                <a:cubicBezTo>
                  <a:pt x="1639821" y="3745219"/>
                  <a:pt x="1340344" y="4213223"/>
                  <a:pt x="786539" y="4210048"/>
                </a:cubicBezTo>
                <a:cubicBezTo>
                  <a:pt x="440411" y="4208064"/>
                  <a:pt x="193629" y="4026986"/>
                  <a:pt x="57218" y="3751468"/>
                </a:cubicBezTo>
                <a:lnTo>
                  <a:pt x="0" y="3604516"/>
                </a:lnTo>
                <a:lnTo>
                  <a:pt x="0" y="2740664"/>
                </a:lnTo>
                <a:lnTo>
                  <a:pt x="57218" y="2594690"/>
                </a:lnTo>
                <a:cubicBezTo>
                  <a:pt x="193629" y="2321125"/>
                  <a:pt x="440411" y="2141536"/>
                  <a:pt x="786539" y="2133598"/>
                </a:cubicBezTo>
                <a:close/>
                <a:moveTo>
                  <a:pt x="0" y="0"/>
                </a:moveTo>
                <a:lnTo>
                  <a:pt x="758686" y="0"/>
                </a:lnTo>
                <a:lnTo>
                  <a:pt x="710008" y="64545"/>
                </a:lnTo>
                <a:cubicBezTo>
                  <a:pt x="563598" y="260963"/>
                  <a:pt x="423636" y="452191"/>
                  <a:pt x="305440" y="610601"/>
                </a:cubicBezTo>
                <a:cubicBezTo>
                  <a:pt x="254203" y="666596"/>
                  <a:pt x="255679" y="786860"/>
                  <a:pt x="311674" y="838097"/>
                </a:cubicBezTo>
                <a:lnTo>
                  <a:pt x="498139" y="1004391"/>
                </a:lnTo>
                <a:cubicBezTo>
                  <a:pt x="577945" y="1079440"/>
                  <a:pt x="669636" y="1082728"/>
                  <a:pt x="758973" y="1014827"/>
                </a:cubicBezTo>
                <a:lnTo>
                  <a:pt x="1953325" y="0"/>
                </a:lnTo>
                <a:lnTo>
                  <a:pt x="3191959" y="0"/>
                </a:lnTo>
                <a:lnTo>
                  <a:pt x="3225359" y="22255"/>
                </a:lnTo>
                <a:cubicBezTo>
                  <a:pt x="4201760" y="725220"/>
                  <a:pt x="4838701" y="1879968"/>
                  <a:pt x="4838701" y="3185326"/>
                </a:cubicBezTo>
                <a:cubicBezTo>
                  <a:pt x="4838701" y="4858863"/>
                  <a:pt x="3791789" y="6284847"/>
                  <a:pt x="2324833" y="6828634"/>
                </a:cubicBezTo>
                <a:lnTo>
                  <a:pt x="2239107" y="6858000"/>
                </a:lnTo>
                <a:lnTo>
                  <a:pt x="0" y="6858000"/>
                </a:lnTo>
                <a:lnTo>
                  <a:pt x="0" y="4907035"/>
                </a:lnTo>
                <a:lnTo>
                  <a:pt x="128075" y="4949125"/>
                </a:lnTo>
                <a:cubicBezTo>
                  <a:pt x="324783" y="5002829"/>
                  <a:pt x="545177" y="5030985"/>
                  <a:pt x="789714" y="5029199"/>
                </a:cubicBezTo>
                <a:cubicBezTo>
                  <a:pt x="2093910" y="5019674"/>
                  <a:pt x="2711383" y="4196558"/>
                  <a:pt x="2711383" y="3169443"/>
                </a:cubicBezTo>
                <a:cubicBezTo>
                  <a:pt x="2711383" y="2142328"/>
                  <a:pt x="2055809" y="1300162"/>
                  <a:pt x="789714" y="1309687"/>
                </a:cubicBezTo>
                <a:cubicBezTo>
                  <a:pt x="552321" y="1311473"/>
                  <a:pt x="336392" y="1341862"/>
                  <a:pt x="142223" y="1396835"/>
                </a:cubicBezTo>
                <a:lnTo>
                  <a:pt x="0" y="14447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текст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24158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29578433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388806"/>
            <a:ext cx="10392697" cy="4380398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Заголовок и текст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948125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50702646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388806"/>
            <a:ext cx="10392697" cy="4380398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Заголовок и текст с фоном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178148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19229853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388806"/>
            <a:ext cx="10392697" cy="4380398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Заголовок и текст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587007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28943390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388806"/>
            <a:ext cx="10392697" cy="4380398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нумерованный список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224593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2114" y="1376313"/>
            <a:ext cx="10412361" cy="4496586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/>
            </a:lvl1pPr>
          </a:lstStyle>
          <a:p>
            <a:pPr lvl="0">
              <a:defRPr/>
            </a:pPr>
            <a:r>
              <a:rPr lang="ru-RU"/>
              <a:t>Первый пункт</a:t>
            </a:r>
            <a:endParaRPr/>
          </a:p>
          <a:p>
            <a:pPr lvl="0">
              <a:defRPr/>
            </a:pPr>
            <a:r>
              <a:rPr lang="ru-RU"/>
              <a:t>Второй пункт </a:t>
            </a:r>
            <a:endParaRPr/>
          </a:p>
          <a:p>
            <a:pPr lvl="0">
              <a:defRPr/>
            </a:pPr>
            <a:r>
              <a:rPr lang="ru-RU"/>
              <a:t>Третий пункт </a:t>
            </a:r>
            <a:endParaRPr/>
          </a:p>
        </p:txBody>
      </p:sp>
      <p:sp>
        <p:nvSpPr>
          <p:cNvPr id="260155161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Заголовок и нумерованный список в 2 колонки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01587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788057" y="1319753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/>
            </a:lvl1pPr>
          </a:lstStyle>
          <a:p>
            <a:pPr lvl="0">
              <a:defRPr/>
            </a:pPr>
            <a:r>
              <a:rPr lang="ru-RU"/>
              <a:t>Первый пункт</a:t>
            </a:r>
            <a:endParaRPr/>
          </a:p>
          <a:p>
            <a:pPr lvl="0">
              <a:defRPr/>
            </a:pPr>
            <a:r>
              <a:rPr lang="ru-RU"/>
              <a:t>Второй пункт </a:t>
            </a:r>
            <a:endParaRPr/>
          </a:p>
          <a:p>
            <a:pPr lvl="0">
              <a:defRPr/>
            </a:pPr>
            <a:r>
              <a:rPr lang="ru-RU"/>
              <a:t>Третий пункт </a:t>
            </a:r>
            <a:endParaRPr/>
          </a:p>
        </p:txBody>
      </p:sp>
      <p:sp>
        <p:nvSpPr>
          <p:cNvPr id="301545246" name="Заголовок 1"/>
          <p:cNvSpPr>
            <a:spLocks noGrp="1"/>
          </p:cNvSpPr>
          <p:nvPr>
            <p:ph type="title"/>
          </p:nvPr>
        </p:nvSpPr>
        <p:spPr bwMode="auto">
          <a:xfrm>
            <a:off x="988596" y="1153771"/>
            <a:ext cx="4412963" cy="1042674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маркированный список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269482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4902" y="1357461"/>
            <a:ext cx="10392696" cy="4553146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1175761835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Заголовок и маркированный список в 2 колонки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723712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759776" y="1310325"/>
            <a:ext cx="5517821" cy="460028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Первая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Вторая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Третья, но немаловажная позиция в списке</a:t>
            </a:r>
            <a:endParaRPr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/>
              <a:t>Четвертая позиция в списке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400" b="0"/>
              <a:t> </a:t>
            </a:r>
            <a:r>
              <a:rPr lang="ru-RU" sz="1600" b="0"/>
              <a:t>Второй уровень списка</a:t>
            </a:r>
            <a:endParaRPr/>
          </a:p>
          <a:p>
            <a:pPr marL="742950" lvl="1" indent="-285750">
              <a:buClr>
                <a:srgbClr val="FFCF66"/>
              </a:buClr>
              <a:buFont typeface="Verdana"/>
              <a:buChar char="‒"/>
              <a:defRPr/>
            </a:pPr>
            <a:r>
              <a:rPr lang="ru-RU" sz="1600" b="0"/>
              <a:t> Ещё одна строчка</a:t>
            </a:r>
            <a:endParaRPr/>
          </a:p>
        </p:txBody>
      </p:sp>
      <p:sp>
        <p:nvSpPr>
          <p:cNvPr id="990736780" name="Заголовок 1"/>
          <p:cNvSpPr>
            <a:spLocks noGrp="1"/>
          </p:cNvSpPr>
          <p:nvPr>
            <p:ph type="title"/>
          </p:nvPr>
        </p:nvSpPr>
        <p:spPr bwMode="auto">
          <a:xfrm>
            <a:off x="988596" y="1153771"/>
            <a:ext cx="4412963" cy="1042674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 справа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885157" name="Заголовок 1"/>
          <p:cNvSpPr>
            <a:spLocks noGrp="1"/>
          </p:cNvSpPr>
          <p:nvPr>
            <p:ph type="title"/>
          </p:nvPr>
        </p:nvSpPr>
        <p:spPr bwMode="auto">
          <a:xfrm>
            <a:off x="867697" y="762915"/>
            <a:ext cx="4943168" cy="4645025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2749177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азделитель_01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8418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68594" y="1720645"/>
            <a:ext cx="10776153" cy="4300743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01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азделитель_02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75092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88257" y="1730478"/>
            <a:ext cx="5879691" cy="4041058"/>
          </a:xfrm>
        </p:spPr>
        <p:txBody>
          <a:bodyPr anchor="ctr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Страница разделитель 0</a:t>
            </a:r>
            <a:r>
              <a:rPr lang="en-US"/>
              <a:t>2</a:t>
            </a:r>
            <a:endParaRPr lang="ru-RU"/>
          </a:p>
        </p:txBody>
      </p:sp>
      <p:pic>
        <p:nvPicPr>
          <p:cNvPr id="1956513975" name="Рисунок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5914931" y="832620"/>
            <a:ext cx="4718608" cy="4435586"/>
          </a:xfrm>
          <a:prstGeom prst="rect">
            <a:avLst/>
          </a:prstGeom>
        </p:spPr>
      </p:pic>
      <p:pic>
        <p:nvPicPr>
          <p:cNvPr id="2091883277" name="Рисунок 7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6998299" y="5424845"/>
            <a:ext cx="3200800" cy="226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Разделитель_02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26278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17754" y="1681164"/>
            <a:ext cx="5879691" cy="4033046"/>
          </a:xfrm>
        </p:spPr>
        <p:txBody>
          <a:bodyPr anchor="ctr" anchorCtr="0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Страница разделитель 03</a:t>
            </a:r>
            <a:endParaRPr/>
          </a:p>
        </p:txBody>
      </p:sp>
      <p:pic>
        <p:nvPicPr>
          <p:cNvPr id="996942319" name="Рисунок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6228784" y="934114"/>
            <a:ext cx="4812258" cy="4523619"/>
          </a:xfrm>
          <a:prstGeom prst="rect">
            <a:avLst/>
          </a:prstGeom>
        </p:spPr>
      </p:pic>
      <p:pic>
        <p:nvPicPr>
          <p:cNvPr id="921436201" name="Рисунок 7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7629800" y="5248056"/>
            <a:ext cx="2963437" cy="2096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Разделитель_01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95583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17756" y="4109883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04</a:t>
            </a:r>
            <a:endParaRPr/>
          </a:p>
        </p:txBody>
      </p:sp>
      <p:sp>
        <p:nvSpPr>
          <p:cNvPr id="1536647235" name="Прямоугольник 3"/>
          <p:cNvSpPr/>
          <p:nvPr userDrawn="1"/>
        </p:nvSpPr>
        <p:spPr bwMode="auto">
          <a:xfrm>
            <a:off x="904567" y="125363"/>
            <a:ext cx="2143432" cy="2281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894383540" name="Рисунок 2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339938" y="125363"/>
            <a:ext cx="2239721" cy="22810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Разделитель_01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33837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78426" y="4149211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05</a:t>
            </a:r>
            <a:endParaRPr/>
          </a:p>
        </p:txBody>
      </p:sp>
      <p:sp>
        <p:nvSpPr>
          <p:cNvPr id="1379879785" name="Прямоугольник 2"/>
          <p:cNvSpPr/>
          <p:nvPr userDrawn="1"/>
        </p:nvSpPr>
        <p:spPr bwMode="auto">
          <a:xfrm>
            <a:off x="904567" y="125363"/>
            <a:ext cx="2143432" cy="2281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847861269" name="Рисунок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339938" y="125363"/>
            <a:ext cx="2239721" cy="22810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Разделитель_01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52943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07923" y="4149212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06</a:t>
            </a:r>
            <a:endParaRPr/>
          </a:p>
        </p:txBody>
      </p:sp>
      <p:sp>
        <p:nvSpPr>
          <p:cNvPr id="2001725614" name="Прямоугольник 2"/>
          <p:cNvSpPr/>
          <p:nvPr userDrawn="1"/>
        </p:nvSpPr>
        <p:spPr bwMode="auto">
          <a:xfrm>
            <a:off x="904567" y="125363"/>
            <a:ext cx="2143432" cy="2281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580802144" name="Рисунок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339938" y="125363"/>
            <a:ext cx="2239721" cy="22810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диаграмма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378090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904287" y="1263020"/>
            <a:ext cx="2442137" cy="4314869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>
              <a:defRPr/>
            </a:pPr>
            <a:r>
              <a:rPr lang="ru-RU"/>
              <a:t>Описание диаграммы</a:t>
            </a:r>
            <a:endParaRPr/>
          </a:p>
        </p:txBody>
      </p:sp>
      <p:sp>
        <p:nvSpPr>
          <p:cNvPr id="140350953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45575" y="1271565"/>
            <a:ext cx="7771376" cy="431487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40204790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круговая диаграмма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136640" name="Заголовок 1"/>
          <p:cNvSpPr>
            <a:spLocks noGrp="1"/>
          </p:cNvSpPr>
          <p:nvPr>
            <p:ph type="title"/>
          </p:nvPr>
        </p:nvSpPr>
        <p:spPr bwMode="auto">
          <a:xfrm>
            <a:off x="6343436" y="650854"/>
            <a:ext cx="4938367" cy="1552267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53516544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75071" y="650854"/>
            <a:ext cx="4973493" cy="509715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234215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41806" y="2507922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601581" name="Объект 2"/>
          <p:cNvSpPr>
            <a:spLocks noGrp="1"/>
          </p:cNvSpPr>
          <p:nvPr>
            <p:ph sz="half" idx="1"/>
          </p:nvPr>
        </p:nvSpPr>
        <p:spPr bwMode="auto">
          <a:xfrm>
            <a:off x="6351640" y="1472664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965722437" name="Объект 3"/>
          <p:cNvSpPr>
            <a:spLocks noGrp="1"/>
          </p:cNvSpPr>
          <p:nvPr>
            <p:ph sz="half" idx="2"/>
          </p:nvPr>
        </p:nvSpPr>
        <p:spPr bwMode="auto">
          <a:xfrm>
            <a:off x="845575" y="1472664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304373945" name="Заголовок 1"/>
          <p:cNvSpPr txBox="1"/>
          <p:nvPr userDrawn="1"/>
        </p:nvSpPr>
        <p:spPr bwMode="auto">
          <a:xfrm>
            <a:off x="884902" y="635297"/>
            <a:ext cx="10392696" cy="489381"/>
          </a:xfrm>
          <a:prstGeom prst="rect">
            <a:avLst/>
          </a:prstGeom>
        </p:spPr>
        <p:txBody>
          <a:bodyPr vert="horz" lIns="0" tIns="0" rIns="0" bIns="0" rtlCol="0" anchor="b" anchorCtr="0">
            <a:normAutofit lnSpcReduction="10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Рисунок с подписью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648097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00" y="250965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271041196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80704" y="1634586"/>
            <a:ext cx="5005388" cy="4060364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02214561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6096000" y="163458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18298156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Рисунка с подписью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61686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90535" y="4997534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983145941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90535" y="1391733"/>
            <a:ext cx="4782677" cy="3108911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48852247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890535" y="4568908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138705616" name="Текст 3"/>
          <p:cNvSpPr>
            <a:spLocks noGrp="1"/>
          </p:cNvSpPr>
          <p:nvPr>
            <p:ph type="body" sz="half" idx="16"/>
          </p:nvPr>
        </p:nvSpPr>
        <p:spPr bwMode="auto">
          <a:xfrm>
            <a:off x="6518788" y="4997533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56649002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6518788" y="1381747"/>
            <a:ext cx="4782677" cy="3108911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95474856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518788" y="4568907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80576103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бъект с подписью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87451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902825" y="495036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2039774067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902825" y="441696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464660325" name="Объект 3"/>
          <p:cNvSpPr>
            <a:spLocks noGrp="1"/>
          </p:cNvSpPr>
          <p:nvPr>
            <p:ph sz="half" idx="16"/>
          </p:nvPr>
        </p:nvSpPr>
        <p:spPr bwMode="auto">
          <a:xfrm>
            <a:off x="899651" y="1350026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2123383944" name="Текст 3"/>
          <p:cNvSpPr>
            <a:spLocks noGrp="1"/>
          </p:cNvSpPr>
          <p:nvPr>
            <p:ph type="body" sz="half" idx="17"/>
          </p:nvPr>
        </p:nvSpPr>
        <p:spPr bwMode="auto">
          <a:xfrm>
            <a:off x="6360966" y="493863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802829198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360966" y="440523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329209997" name="Объект 3"/>
          <p:cNvSpPr>
            <a:spLocks noGrp="1"/>
          </p:cNvSpPr>
          <p:nvPr>
            <p:ph sz="half" idx="19"/>
          </p:nvPr>
        </p:nvSpPr>
        <p:spPr bwMode="auto">
          <a:xfrm>
            <a:off x="6357759" y="1337373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262711268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Последни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531096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23466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728212974" name="Подзаголовок 2"/>
          <p:cNvSpPr txBox="1"/>
          <p:nvPr userDrawn="1"/>
        </p:nvSpPr>
        <p:spPr bwMode="auto">
          <a:xfrm>
            <a:off x="1234664" y="1494349"/>
            <a:ext cx="5087476" cy="144933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ru-RU" sz="4800" b="1"/>
              <a:t>Благодарю</a:t>
            </a:r>
            <a:br>
              <a:rPr lang="ru-RU" sz="4800" b="1"/>
            </a:br>
            <a:r>
              <a:rPr lang="ru-RU" sz="4800" b="1"/>
              <a:t>за внимание!</a:t>
            </a:r>
            <a:endParaRPr/>
          </a:p>
        </p:txBody>
      </p:sp>
      <p:sp>
        <p:nvSpPr>
          <p:cNvPr id="1128780066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234664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оследни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355331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23466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2059596981" name="Подзаголовок 2"/>
          <p:cNvSpPr txBox="1"/>
          <p:nvPr userDrawn="1"/>
        </p:nvSpPr>
        <p:spPr bwMode="auto">
          <a:xfrm>
            <a:off x="1234663" y="1494349"/>
            <a:ext cx="5087476" cy="144933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ru-RU" sz="4800" b="1"/>
              <a:t>Благодарю</a:t>
            </a:r>
            <a:br>
              <a:rPr lang="ru-RU" sz="4800" b="1"/>
            </a:br>
            <a:r>
              <a:rPr lang="ru-RU" sz="4800" b="1"/>
              <a:t>за внимание!</a:t>
            </a:r>
            <a:endParaRPr/>
          </a:p>
        </p:txBody>
      </p:sp>
      <p:sp>
        <p:nvSpPr>
          <p:cNvPr id="1949808211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234663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111391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0311048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0429381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5489EA-98F3-49E2-B76D-F62AB9E53A59}" type="datetimeFigureOut">
              <a:rPr lang="ru-RU"/>
              <a:t>20.06.2026</a:t>
            </a:fld>
            <a:endParaRPr lang="ru-RU"/>
          </a:p>
        </p:txBody>
      </p:sp>
      <p:sp>
        <p:nvSpPr>
          <p:cNvPr id="26160550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782852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9C168E-7355-4037-B8D7-C9948593E12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12801" name="Заголовок 5"/>
          <p:cNvSpPr>
            <a:spLocks noGrp="1"/>
          </p:cNvSpPr>
          <p:nvPr>
            <p:ph type="title"/>
          </p:nvPr>
        </p:nvSpPr>
        <p:spPr bwMode="auto">
          <a:xfrm>
            <a:off x="860988" y="2"/>
            <a:ext cx="10515600" cy="1145422"/>
          </a:xfrm>
        </p:spPr>
        <p:txBody>
          <a:bodyPr lIns="0" rIns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09112782" name="Объект 9"/>
          <p:cNvSpPr>
            <a:spLocks noGrp="1"/>
          </p:cNvSpPr>
          <p:nvPr>
            <p:ph sz="quarter" idx="10" hasCustomPrompt="1"/>
          </p:nvPr>
        </p:nvSpPr>
        <p:spPr bwMode="auto">
          <a:xfrm>
            <a:off x="860988" y="2243283"/>
            <a:ext cx="4947330" cy="4350161"/>
          </a:xfrm>
        </p:spPr>
        <p:txBody>
          <a:bodyPr lIns="0" rIns="0"/>
          <a:lstStyle>
            <a:lvl2pPr marL="0" indent="0">
              <a:defRPr/>
            </a:lvl2pPr>
          </a:lstStyle>
          <a:p>
            <a:pPr lvl="1">
              <a:defRPr/>
            </a:pPr>
            <a:r>
              <a:rPr lang="ru-RU"/>
              <a:t>Текст колонки</a:t>
            </a:r>
            <a:endParaRPr/>
          </a:p>
        </p:txBody>
      </p:sp>
      <p:sp>
        <p:nvSpPr>
          <p:cNvPr id="1875393025" name="object 3"/>
          <p:cNvSpPr/>
          <p:nvPr userDrawn="1"/>
        </p:nvSpPr>
        <p:spPr bwMode="auto">
          <a:xfrm>
            <a:off x="-1" y="1164962"/>
            <a:ext cx="12192000" cy="60884"/>
          </a:xfrm>
          <a:custGeom>
            <a:avLst/>
            <a:gdLst/>
            <a:ahLst/>
            <a:cxnLst/>
            <a:rect l="l" t="t" r="r" b="b"/>
            <a:pathLst>
              <a:path w="7061200" fill="norm" stroke="1" extrusionOk="0">
                <a:moveTo>
                  <a:pt x="0" y="0"/>
                </a:moveTo>
                <a:lnTo>
                  <a:pt x="7061200" y="0"/>
                </a:lnTo>
              </a:path>
            </a:pathLst>
          </a:custGeom>
          <a:ln w="12700">
            <a:solidFill>
              <a:srgbClr val="FCCE68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2400"/>
          </a:p>
        </p:txBody>
      </p:sp>
      <p:sp>
        <p:nvSpPr>
          <p:cNvPr id="556188899" name="Объект 9"/>
          <p:cNvSpPr>
            <a:spLocks noGrp="1"/>
          </p:cNvSpPr>
          <p:nvPr>
            <p:ph sz="quarter" idx="11" hasCustomPrompt="1"/>
          </p:nvPr>
        </p:nvSpPr>
        <p:spPr bwMode="auto">
          <a:xfrm>
            <a:off x="6436518" y="2243282"/>
            <a:ext cx="4947330" cy="4350161"/>
          </a:xfrm>
        </p:spPr>
        <p:txBody>
          <a:bodyPr lIns="0" rIns="0"/>
          <a:lstStyle>
            <a:lvl2pPr marL="0" indent="0">
              <a:defRPr/>
            </a:lvl2pPr>
          </a:lstStyle>
          <a:p>
            <a:pPr lvl="1">
              <a:defRPr/>
            </a:pPr>
            <a:r>
              <a:rPr lang="ru-RU"/>
              <a:t>Текст колонки</a:t>
            </a:r>
            <a:endParaRPr/>
          </a:p>
        </p:txBody>
      </p:sp>
      <p:sp>
        <p:nvSpPr>
          <p:cNvPr id="1783416517" name="Текст 2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60097" y="1319172"/>
            <a:ext cx="4947330" cy="706095"/>
          </a:xfrm>
        </p:spPr>
        <p:txBody>
          <a:bodyPr lIns="0" rIns="0">
            <a:normAutofit/>
          </a:bodyPr>
          <a:lstStyle>
            <a:lvl1pPr>
              <a:defRPr sz="2400" b="1"/>
            </a:lvl1pPr>
          </a:lstStyle>
          <a:p>
            <a:pPr lvl="0">
              <a:defRPr/>
            </a:pPr>
            <a:r>
              <a:rPr lang="ru-RU"/>
              <a:t>Название колонки</a:t>
            </a:r>
            <a:endParaRPr/>
          </a:p>
        </p:txBody>
      </p:sp>
      <p:sp>
        <p:nvSpPr>
          <p:cNvPr id="942624849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429258" y="1330085"/>
            <a:ext cx="4947330" cy="706095"/>
          </a:xfrm>
        </p:spPr>
        <p:txBody>
          <a:bodyPr lIns="0" rIns="0">
            <a:normAutofit/>
          </a:bodyPr>
          <a:lstStyle>
            <a:lvl1pPr>
              <a:defRPr sz="2400" b="1"/>
            </a:lvl1pPr>
          </a:lstStyle>
          <a:p>
            <a:pPr lvl="0">
              <a:defRPr/>
            </a:pPr>
            <a:r>
              <a:rPr lang="ru-RU"/>
              <a:t>Название колонки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277436" name="Заголовок 1"/>
          <p:cNvSpPr>
            <a:spLocks noGrp="1"/>
          </p:cNvSpPr>
          <p:nvPr>
            <p:ph type="title"/>
          </p:nvPr>
        </p:nvSpPr>
        <p:spPr bwMode="auto"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70757863" name="Текст 2"/>
          <p:cNvSpPr>
            <a:spLocks noGrp="1"/>
          </p:cNvSpPr>
          <p:nvPr>
            <p:ph type="body" idx="1"/>
          </p:nvPr>
        </p:nvSpPr>
        <p:spPr bwMode="auto"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13054476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8927" y="365094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36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>
        <a:lnSpc>
          <a:spcPct val="90000"/>
        </a:lnSpc>
        <a:spcBef>
          <a:spcPts val="1000"/>
        </a:spcBef>
        <a:buFont typeface="Arial"/>
        <a:buNone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>
        <a:lnSpc>
          <a:spcPct val="90000"/>
        </a:lnSpc>
        <a:spcBef>
          <a:spcPts val="500"/>
        </a:spcBef>
        <a:buFont typeface="Arial"/>
        <a:buNone/>
        <a:defRPr sz="1800" b="1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>
        <a:lnSpc>
          <a:spcPct val="90000"/>
        </a:lnSpc>
        <a:spcBef>
          <a:spcPts val="500"/>
        </a:spcBef>
        <a:buFont typeface="Arial"/>
        <a:buNone/>
        <a:defRPr sz="1800" b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>
        <a:lnSpc>
          <a:spcPct val="90000"/>
        </a:lnSpc>
        <a:spcBef>
          <a:spcPts val="500"/>
        </a:spcBef>
        <a:buFont typeface="Arial"/>
        <a:buNone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>
        <a:lnSpc>
          <a:spcPct val="90000"/>
        </a:lnSpc>
        <a:spcBef>
          <a:spcPts val="500"/>
        </a:spcBef>
        <a:buFont typeface="Arial"/>
        <a:buNone/>
        <a:defRPr sz="1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forus.ru/support/1c-service/" TargetMode="External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rutube.ru/video/94aa16a53fd80e665ca5ce3458318cc7/" TargetMode="External"/><Relationship Id="rId4" Type="http://schemas.openxmlformats.org/officeDocument/2006/relationships/hyperlink" Target="https://rutube.ru/video/f2369d40aa5dd9041a21e44763d8fc31/" TargetMode="External"/><Relationship Id="rId5" Type="http://schemas.openxmlformats.org/officeDocument/2006/relationships/hyperlink" Target="https://rutube.ru/video/552e9671bf1716a3f899511b52ccb932/" TargetMode="External"/><Relationship Id="rId6" Type="http://schemas.openxmlformats.org/officeDocument/2006/relationships/hyperlink" Target="https://rutube.ru/video/private/da222926c4c210e6003edee3e47f77b6/?p=KA8oYtC8519vxr8Xy8BW1A" TargetMode="External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173107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Аналитик по ЗУП/ЗКГУ</a:t>
            </a:r>
            <a:endParaRPr/>
          </a:p>
          <a:p>
            <a:pPr>
              <a:defRPr/>
            </a:pPr>
            <a:r>
              <a:rPr lang="ru-RU"/>
              <a:t>Шабанова Татьяна</a:t>
            </a:r>
            <a:endParaRPr/>
          </a:p>
        </p:txBody>
      </p:sp>
      <p:pic>
        <p:nvPicPr>
          <p:cNvPr id="1898468468" name="Рисунок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9974" y="555186"/>
            <a:ext cx="4835212" cy="3243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626574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ПЛАН НА СЕГОДНЯ</a:t>
            </a:r>
            <a:endParaRPr/>
          </a:p>
        </p:txBody>
      </p:sp>
      <p:pic>
        <p:nvPicPr>
          <p:cNvPr id="703268917" name="Рисунок 5"/>
          <p:cNvPicPr/>
          <p:nvPr/>
        </p:nvPicPr>
        <p:blipFill rotWithShape="1">
          <a:blip r:embed="rId3"/>
          <a:stretch/>
        </p:blipFill>
        <p:spPr bwMode="auto">
          <a:xfrm>
            <a:off x="595423" y="1183759"/>
            <a:ext cx="10682175" cy="4423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040197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ЧТО УЖЕ В ЦИФРЕ</a:t>
            </a:r>
            <a:endParaRPr/>
          </a:p>
        </p:txBody>
      </p:sp>
      <p:sp>
        <p:nvSpPr>
          <p:cNvPr id="751325508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365251"/>
            <a:ext cx="10703359" cy="4438650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07000"/>
              </a:lnSpc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 sz="1800">
                <a:latin typeface="Calibri"/>
                <a:ea typeface="Calibri"/>
                <a:cs typeface="Times New Roman"/>
              </a:rPr>
              <a:t>Электронные трудовые книжки (Федеральный закон от 16.12.2019 № </a:t>
            </a:r>
            <a:r>
              <a:rPr lang="ru-RU" sz="1800" b="1">
                <a:latin typeface="Calibri"/>
                <a:ea typeface="Calibri"/>
                <a:cs typeface="Times New Roman"/>
              </a:rPr>
              <a:t>439-ФЗ</a:t>
            </a:r>
            <a:r>
              <a:rPr lang="ru-RU" sz="1800">
                <a:latin typeface="Calibri"/>
                <a:ea typeface="Calibri"/>
                <a:cs typeface="Times New Roman"/>
              </a:rPr>
              <a:t>)</a:t>
            </a:r>
            <a:endParaRPr/>
          </a:p>
          <a:p>
            <a:pPr marL="285750" lvl="0" indent="-285750">
              <a:lnSpc>
                <a:spcPct val="107000"/>
              </a:lnSpc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 sz="1800">
                <a:latin typeface="Calibri"/>
                <a:ea typeface="Calibri"/>
                <a:cs typeface="Times New Roman"/>
              </a:rPr>
              <a:t>Электронные листы временной нетрудоспособности (Федеральный закон от 30.04.2021 № </a:t>
            </a:r>
            <a:r>
              <a:rPr lang="ru-RU" sz="1800" b="1">
                <a:latin typeface="Calibri"/>
                <a:ea typeface="Calibri"/>
                <a:cs typeface="Times New Roman"/>
              </a:rPr>
              <a:t>126-ФЗ</a:t>
            </a:r>
            <a:r>
              <a:rPr lang="ru-RU" sz="1800">
                <a:latin typeface="Calibri"/>
                <a:ea typeface="Calibri"/>
                <a:cs typeface="Times New Roman"/>
              </a:rPr>
              <a:t>)</a:t>
            </a:r>
            <a:endParaRPr/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 sz="1800">
                <a:latin typeface="Calibri"/>
                <a:ea typeface="Calibri"/>
                <a:cs typeface="Times New Roman"/>
              </a:rPr>
              <a:t>Электронный паспорт гражданина РФ (Указ президента от 18.09.2023 № </a:t>
            </a:r>
            <a:r>
              <a:rPr lang="ru-RU" sz="1800" b="1">
                <a:latin typeface="Calibri"/>
                <a:ea typeface="Calibri"/>
                <a:cs typeface="Times New Roman"/>
              </a:rPr>
              <a:t>695</a:t>
            </a:r>
            <a:r>
              <a:rPr lang="ru-RU" sz="1800">
                <a:latin typeface="Calibri"/>
                <a:ea typeface="Calibri"/>
                <a:cs typeface="Times New Roman"/>
              </a:rPr>
              <a:t>)</a:t>
            </a:r>
            <a:endParaRPr/>
          </a:p>
          <a:p>
            <a:pPr lvl="0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1800" b="1">
                <a:latin typeface="Calibri"/>
                <a:ea typeface="Calibri"/>
                <a:cs typeface="Times New Roman"/>
              </a:rPr>
              <a:t>	ЕЖЕДНЕВНО ИСПОЛЬЗУЕМ</a:t>
            </a:r>
            <a:endParaRPr/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>
                <a:latin typeface="Calibri"/>
                <a:ea typeface="Calibri"/>
                <a:cs typeface="Times New Roman"/>
              </a:rPr>
              <a:t>ЭДО с контрагентами</a:t>
            </a:r>
            <a:endParaRPr/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>
                <a:latin typeface="Calibri"/>
                <a:ea typeface="Calibri"/>
                <a:cs typeface="Times New Roman"/>
              </a:rPr>
              <a:t>Отчетность в СФР, ИФНС</a:t>
            </a:r>
            <a:endParaRPr/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>
                <a:latin typeface="Calibri"/>
                <a:ea typeface="Calibri"/>
                <a:cs typeface="Times New Roman"/>
              </a:rPr>
              <a:t>Банковские карты</a:t>
            </a:r>
            <a:endParaRPr/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 sz="1800">
                <a:latin typeface="Calibri"/>
                <a:ea typeface="Calibri"/>
                <a:cs typeface="Times New Roman"/>
              </a:rPr>
              <a:t>Госуслуги</a:t>
            </a:r>
            <a:endParaRPr/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ü"/>
              <a:defRPr/>
            </a:pPr>
            <a:r>
              <a:rPr lang="ru-RU" sz="1800">
                <a:latin typeface="Calibri"/>
                <a:ea typeface="Calibri"/>
                <a:cs typeface="Times New Roman"/>
              </a:rPr>
              <a:t>Мессенджеры</a:t>
            </a:r>
            <a:endParaRPr/>
          </a:p>
        </p:txBody>
      </p:sp>
      <p:sp>
        <p:nvSpPr>
          <p:cNvPr id="801482313" name="TextBox 8"/>
          <p:cNvSpPr txBox="1"/>
          <p:nvPr/>
        </p:nvSpPr>
        <p:spPr bwMode="auto">
          <a:xfrm>
            <a:off x="5181598" y="3749408"/>
            <a:ext cx="6096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b="1">
                <a:latin typeface="Calibri"/>
                <a:ea typeface="Calibri"/>
                <a:cs typeface="Times New Roman"/>
              </a:rPr>
              <a:t>	СЛЕДУЮЩИЙ ШАГ </a:t>
            </a:r>
            <a:endParaRPr/>
          </a:p>
          <a:p>
            <a:pPr>
              <a:defRPr/>
            </a:pPr>
            <a:endParaRPr lang="ru-RU" sz="1800" b="1">
              <a:latin typeface="Calibri"/>
              <a:ea typeface="Calibri"/>
              <a:cs typeface="Times New Roman"/>
            </a:endParaRPr>
          </a:p>
          <a:p>
            <a:pPr marL="285750" indent="-285750">
              <a:buClr>
                <a:srgbClr val="C00000"/>
              </a:buClr>
              <a:buSzPct val="200000"/>
              <a:buFont typeface="Wingdings"/>
              <a:buChar char="ü"/>
              <a:defRPr/>
            </a:pPr>
            <a:r>
              <a:rPr lang="ru-RU" sz="2000"/>
              <a:t>Кадровый электронный документооборот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022525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ЗАКОНОДАТЕЛЬНАЯ БАЗА</a:t>
            </a:r>
            <a:endParaRPr/>
          </a:p>
        </p:txBody>
      </p:sp>
      <p:sp>
        <p:nvSpPr>
          <p:cNvPr id="1414279309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38688" y="1516822"/>
            <a:ext cx="9803423" cy="382435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defRPr/>
            </a:pPr>
            <a:r>
              <a:rPr lang="ru-RU" b="1">
                <a:latin typeface="Calibri"/>
                <a:cs typeface="Times New Roman"/>
              </a:rPr>
              <a:t>Федеральный закон от 06.04.2011 № 63-ФЗ </a:t>
            </a:r>
            <a:r>
              <a:rPr lang="ru-RU">
                <a:latin typeface="Calibri"/>
                <a:cs typeface="Times New Roman"/>
              </a:rPr>
              <a:t>– определяет правила электронного подписания документов</a:t>
            </a:r>
            <a:endParaRPr/>
          </a:p>
          <a:p>
            <a:pPr lvl="0">
              <a:lnSpc>
                <a:spcPct val="107000"/>
              </a:lnSpc>
              <a:defRPr/>
            </a:pPr>
            <a:r>
              <a:rPr lang="ru-RU" b="1">
                <a:latin typeface="Calibri"/>
                <a:cs typeface="Times New Roman"/>
              </a:rPr>
              <a:t>Федеральный закон от 22.11.2021 № 377-ФЗ </a:t>
            </a:r>
            <a:r>
              <a:rPr lang="ru-RU">
                <a:latin typeface="Calibri"/>
                <a:cs typeface="Times New Roman"/>
              </a:rPr>
              <a:t>– устанавливает порядок и правила перехода на КЭДО</a:t>
            </a:r>
            <a:endParaRPr/>
          </a:p>
          <a:p>
            <a:pPr lvl="0">
              <a:lnSpc>
                <a:spcPct val="107000"/>
              </a:lnSpc>
              <a:defRPr/>
            </a:pPr>
            <a:r>
              <a:rPr lang="ru-RU" b="1">
                <a:latin typeface="Calibri"/>
                <a:cs typeface="Times New Roman"/>
              </a:rPr>
              <a:t>Приказ Минтруда России от 20.09.2022 № 578н </a:t>
            </a:r>
            <a:r>
              <a:rPr lang="ru-RU">
                <a:latin typeface="Calibri"/>
                <a:cs typeface="Times New Roman"/>
              </a:rPr>
              <a:t>– устанавливает единые требования к составу и форматам электронных документов</a:t>
            </a:r>
            <a:endParaRPr/>
          </a:p>
          <a:p>
            <a:pPr lvl="0">
              <a:lnSpc>
                <a:spcPct val="107000"/>
              </a:lnSpc>
              <a:defRPr/>
            </a:pPr>
            <a:r>
              <a:rPr lang="ru-RU" b="1" i="0">
                <a:solidFill>
                  <a:srgbClr val="333333"/>
                </a:solidFill>
                <a:latin typeface="system-ui"/>
              </a:rPr>
              <a:t>Приказ </a:t>
            </a:r>
            <a:r>
              <a:rPr lang="ru-RU" b="1" i="0">
                <a:solidFill>
                  <a:srgbClr val="333333"/>
                </a:solidFill>
                <a:latin typeface="system-ui"/>
              </a:rPr>
              <a:t>Росархива</a:t>
            </a:r>
            <a:r>
              <a:rPr lang="ru-RU" b="1" i="0">
                <a:solidFill>
                  <a:srgbClr val="333333"/>
                </a:solidFill>
                <a:latin typeface="system-ui"/>
              </a:rPr>
              <a:t> № 77 от 31.07.2023 - </a:t>
            </a:r>
            <a:r>
              <a:rPr lang="ru-RU" b="0" i="0">
                <a:solidFill>
                  <a:srgbClr val="333333"/>
                </a:solidFill>
                <a:latin typeface="system-ui"/>
              </a:rPr>
              <a:t>устанавливает правила и форматы хранения электронных документов</a:t>
            </a:r>
            <a:endParaRPr lang="ru-RU">
              <a:latin typeface="Calibri"/>
              <a:cs typeface="Times New Roman"/>
            </a:endParaRPr>
          </a:p>
          <a:p>
            <a:pPr lvl="0">
              <a:lnSpc>
                <a:spcPct val="107000"/>
              </a:lnSpc>
              <a:defRPr/>
            </a:pPr>
            <a:r>
              <a:rPr lang="ru-RU" b="1">
                <a:latin typeface="Calibri"/>
                <a:cs typeface="Times New Roman"/>
              </a:rPr>
              <a:t>Федеральный закон от 16.12.2019 № 439-ФЗ </a:t>
            </a:r>
            <a:r>
              <a:rPr lang="ru-RU">
                <a:latin typeface="Calibri"/>
                <a:cs typeface="Times New Roman"/>
              </a:rPr>
              <a:t>- Электронные трудовые книжки </a:t>
            </a:r>
            <a:endParaRPr/>
          </a:p>
          <a:p>
            <a:pPr lvl="0">
              <a:lnSpc>
                <a:spcPct val="107000"/>
              </a:lnSpc>
              <a:defRPr/>
            </a:pPr>
            <a:r>
              <a:rPr lang="ru-RU" b="1">
                <a:latin typeface="Calibri"/>
                <a:cs typeface="Times New Roman"/>
              </a:rPr>
              <a:t>Федеральный закон от 30.04.2021 № 126-ФЗ  </a:t>
            </a:r>
            <a:r>
              <a:rPr lang="ru-RU">
                <a:latin typeface="Calibri"/>
                <a:cs typeface="Times New Roman"/>
              </a:rPr>
              <a:t>- Электронные листы временной нетрудоспособности</a:t>
            </a:r>
            <a:endParaRPr/>
          </a:p>
          <a:p>
            <a:pPr lvl="0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>
                <a:latin typeface="Calibri"/>
                <a:cs typeface="Times New Roman"/>
              </a:rPr>
              <a:t>Указ президента от 18.09.2023 № 695 </a:t>
            </a:r>
            <a:r>
              <a:rPr lang="ru-RU">
                <a:latin typeface="Calibri"/>
                <a:cs typeface="Times New Roman"/>
              </a:rPr>
              <a:t>- Электронный паспорт гражданина РФ </a:t>
            </a:r>
            <a:endParaRPr/>
          </a:p>
          <a:p>
            <a:pPr lvl="0">
              <a:lnSpc>
                <a:spcPct val="107000"/>
              </a:lnSpc>
              <a:defRPr/>
            </a:pPr>
            <a:endParaRPr lang="ru-RU" sz="1800">
              <a:latin typeface="Calibri"/>
              <a:ea typeface="Calibri"/>
              <a:cs typeface="Times New Roman"/>
            </a:endParaRPr>
          </a:p>
          <a:p>
            <a:pPr lvl="0">
              <a:lnSpc>
                <a:spcPct val="107000"/>
              </a:lnSpc>
              <a:defRPr/>
            </a:pPr>
            <a:endParaRPr lang="ru-RU" sz="1800">
              <a:latin typeface="Calibri"/>
              <a:ea typeface="Calibri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581138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ВАРИАНТЫ</a:t>
            </a:r>
            <a:r>
              <a:rPr lang="ru-RU" sz="3600">
                <a:latin typeface="Calibri"/>
                <a:ea typeface="Calibri"/>
                <a:cs typeface="Times New Roman"/>
              </a:rPr>
              <a:t> </a:t>
            </a:r>
            <a:r>
              <a:rPr lang="ru-RU" sz="3600">
                <a:ea typeface="Calibri"/>
                <a:cs typeface="Times New Roman"/>
              </a:rPr>
              <a:t>ПЕРЕХОДА</a:t>
            </a:r>
            <a:endParaRPr lang="ru-RU"/>
          </a:p>
        </p:txBody>
      </p:sp>
      <p:sp>
        <p:nvSpPr>
          <p:cNvPr id="1480723101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1617785" y="1820008"/>
            <a:ext cx="9659814" cy="3949196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Только рассылка расчетных листков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Работа с отпусками и отсутствиями: формирование графика отпусков, заявления на отпуск, контроль остатка отпуска  + калькулятор отпуска. Отсутствия: болезнь, командировка и др.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КЭДО с типовыми печатными формами (всё, что выводится на печать, можно отправить в КС)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КЭДО с переводом всех документов в «цифру»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1058389501" name="Рисунок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1353" y="1480167"/>
            <a:ext cx="1011938" cy="969266"/>
          </a:xfrm>
          <a:prstGeom prst="rect">
            <a:avLst/>
          </a:prstGeom>
        </p:spPr>
      </p:pic>
      <p:pic>
        <p:nvPicPr>
          <p:cNvPr id="389644559" name="Рисунок 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51353" y="2262196"/>
            <a:ext cx="1011938" cy="969266"/>
          </a:xfrm>
          <a:prstGeom prst="rect">
            <a:avLst/>
          </a:prstGeom>
        </p:spPr>
      </p:pic>
      <p:pic>
        <p:nvPicPr>
          <p:cNvPr id="87885069" name="Рисунок 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67515" y="3189017"/>
            <a:ext cx="1011938" cy="969266"/>
          </a:xfrm>
          <a:prstGeom prst="rect">
            <a:avLst/>
          </a:prstGeom>
        </p:spPr>
      </p:pic>
      <p:pic>
        <p:nvPicPr>
          <p:cNvPr id="103725141" name="Рисунок 1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67515" y="4013491"/>
            <a:ext cx="1011938" cy="969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847687" name="Заголовок 5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НАША ПОМОЩЬ</a:t>
            </a:r>
            <a:endParaRPr/>
          </a:p>
        </p:txBody>
      </p:sp>
      <p:sp>
        <p:nvSpPr>
          <p:cNvPr id="2117273906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1767252" y="1387313"/>
            <a:ext cx="9510346" cy="4692474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/>
              <a:t>Видео уроки (на учебной платформе УМЦ) + в открытом доступе для сотрудников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Наличие дополнительных печатных форм </a:t>
            </a:r>
            <a:r>
              <a:rPr lang="ru-RU" sz="1800"/>
              <a:t>(</a:t>
            </a:r>
            <a:r>
              <a:rPr lang="ru-RU" sz="1800" u="sng">
                <a:solidFill>
                  <a:srgbClr val="0563C1"/>
                </a:solidFill>
                <a:latin typeface="Calibri"/>
                <a:ea typeface="Calibri"/>
                <a:hlinkClick r:id="rId3" tooltip=""/>
              </a:rPr>
              <a:t>https://www.forus.ru/support/1c-service/</a:t>
            </a:r>
            <a:r>
              <a:rPr lang="ru-RU" sz="1800" u="sng">
                <a:solidFill>
                  <a:srgbClr val="0563C1"/>
                </a:solidFill>
                <a:latin typeface="Calibri"/>
                <a:ea typeface="Calibri"/>
              </a:rPr>
              <a:t>)</a:t>
            </a:r>
            <a:endParaRPr lang="ru-RU" sz="1400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Разработка / адаптация печатных форм клиента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/>
              <a:t>Шаблоны документов для перехода на КЭДО:</a:t>
            </a:r>
            <a:endParaRPr/>
          </a:p>
          <a:p>
            <a:pPr marL="285750" indent="-285750">
              <a:buClr>
                <a:schemeClr val="accent1"/>
              </a:buClr>
              <a:buFont typeface="Wingdings"/>
              <a:buChar char="q"/>
              <a:defRPr/>
            </a:pPr>
            <a:r>
              <a:rPr lang="ru-RU" sz="1400"/>
              <a:t>Положение о КЭДО</a:t>
            </a:r>
            <a:endParaRPr/>
          </a:p>
          <a:p>
            <a:pPr marL="285750" indent="-285750">
              <a:buClr>
                <a:schemeClr val="accent1"/>
              </a:buClr>
              <a:buFont typeface="Wingdings"/>
              <a:buChar char="q"/>
              <a:defRPr/>
            </a:pPr>
            <a:r>
              <a:rPr lang="ru-RU" sz="1400"/>
              <a:t>Уведомление сотрудников о переходе на КЭДО</a:t>
            </a:r>
            <a:endParaRPr/>
          </a:p>
          <a:p>
            <a:pPr marL="285750" indent="-285750">
              <a:buClr>
                <a:schemeClr val="accent1"/>
              </a:buClr>
              <a:buFont typeface="Wingdings"/>
              <a:buChar char="q"/>
              <a:defRPr/>
            </a:pPr>
            <a:r>
              <a:rPr lang="ru-RU" sz="1400"/>
              <a:t>Согласие или отказ о переходе</a:t>
            </a:r>
            <a:endParaRPr/>
          </a:p>
          <a:p>
            <a:pPr marL="285750" indent="-285750">
              <a:buClr>
                <a:schemeClr val="accent1"/>
              </a:buClr>
              <a:buFont typeface="Wingdings"/>
              <a:buChar char="q"/>
              <a:defRPr/>
            </a:pPr>
            <a:r>
              <a:rPr lang="ru-RU" sz="1400"/>
              <a:t>Заявление на выдачу сертификата УНЭП</a:t>
            </a:r>
            <a:endParaRPr/>
          </a:p>
          <a:p>
            <a:pPr marL="285750" indent="-285750">
              <a:buClr>
                <a:schemeClr val="accent1"/>
              </a:buClr>
              <a:buFont typeface="Wingdings"/>
              <a:buChar char="q"/>
              <a:defRPr/>
            </a:pPr>
            <a:endParaRPr lang="ru-RU" sz="1400"/>
          </a:p>
          <a:p>
            <a:pPr>
              <a:buClr>
                <a:schemeClr val="accent1"/>
              </a:buClr>
              <a:defRPr/>
            </a:pPr>
            <a:r>
              <a:rPr lang="ru-RU"/>
              <a:t>Демонстрация, подключение</a:t>
            </a:r>
            <a:endParaRPr/>
          </a:p>
          <a:p>
            <a:pPr>
              <a:buClr>
                <a:schemeClr val="accent1"/>
              </a:buClr>
              <a:defRPr/>
            </a:pPr>
            <a:endParaRPr lang="ru-RU"/>
          </a:p>
          <a:p>
            <a:pPr>
              <a:buClr>
                <a:schemeClr val="accent1"/>
              </a:buClr>
              <a:defRPr/>
            </a:pPr>
            <a:r>
              <a:rPr lang="ru-RU"/>
              <a:t>Чат со специалистом в МАХ </a:t>
            </a:r>
            <a:endParaRPr/>
          </a:p>
          <a:p>
            <a:pPr>
              <a:buClr>
                <a:schemeClr val="accent1"/>
              </a:buClr>
              <a:defRPr/>
            </a:pPr>
            <a:endParaRPr lang="ru-RU"/>
          </a:p>
          <a:p>
            <a:pPr>
              <a:buClr>
                <a:schemeClr val="accent1"/>
              </a:buClr>
              <a:defRPr/>
            </a:pPr>
            <a:endParaRPr lang="ru-RU" sz="1400"/>
          </a:p>
          <a:p>
            <a:pPr>
              <a:defRPr/>
            </a:pPr>
            <a:endParaRPr lang="ru-RU" sz="1400"/>
          </a:p>
        </p:txBody>
      </p:sp>
      <p:pic>
        <p:nvPicPr>
          <p:cNvPr id="1212372182" name="Рисунок 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14400" y="1228133"/>
            <a:ext cx="514905" cy="514905"/>
          </a:xfrm>
          <a:prstGeom prst="rect">
            <a:avLst/>
          </a:prstGeom>
        </p:spPr>
      </p:pic>
      <p:pic>
        <p:nvPicPr>
          <p:cNvPr id="1244083857" name="Рисунок 1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14400" y="1873272"/>
            <a:ext cx="514905" cy="514905"/>
          </a:xfrm>
          <a:prstGeom prst="rect">
            <a:avLst/>
          </a:prstGeom>
        </p:spPr>
      </p:pic>
      <p:pic>
        <p:nvPicPr>
          <p:cNvPr id="681438637" name="Рисунок 1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14400" y="2523174"/>
            <a:ext cx="514905" cy="514905"/>
          </a:xfrm>
          <a:prstGeom prst="rect">
            <a:avLst/>
          </a:prstGeom>
        </p:spPr>
      </p:pic>
      <p:pic>
        <p:nvPicPr>
          <p:cNvPr id="905013538" name="Рисунок 13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14400" y="3733551"/>
            <a:ext cx="514905" cy="514905"/>
          </a:xfrm>
          <a:prstGeom prst="rect">
            <a:avLst/>
          </a:prstGeom>
        </p:spPr>
      </p:pic>
      <p:pic>
        <p:nvPicPr>
          <p:cNvPr id="197405008" name="Рисунок 14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14400" y="4943928"/>
            <a:ext cx="514905" cy="514905"/>
          </a:xfrm>
          <a:prstGeom prst="rect">
            <a:avLst/>
          </a:prstGeom>
        </p:spPr>
      </p:pic>
      <p:pic>
        <p:nvPicPr>
          <p:cNvPr id="1376499600" name="Рисунок 1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14400" y="5596621"/>
            <a:ext cx="514905" cy="514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1960365" name="Рисунок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688590" y="5164866"/>
            <a:ext cx="6784589" cy="2390775"/>
          </a:xfrm>
          <a:prstGeom prst="rect">
            <a:avLst/>
          </a:prstGeom>
        </p:spPr>
      </p:pic>
      <p:graphicFrame>
        <p:nvGraphicFramePr>
          <p:cNvPr id="1369654288" name="Таблица 5"/>
          <p:cNvGraphicFramePr>
            <a:graphicFrameLocks xmlns:a="http://schemas.openxmlformats.org/drawingml/2006/main" noGrp="1"/>
          </p:cNvGraphicFramePr>
          <p:nvPr/>
        </p:nvGraphicFramePr>
        <p:xfrm rot="0">
          <a:off x="2140336" y="2493100"/>
          <a:ext cx="7911328" cy="2576285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{2D5ABB26-0587-4C30-8999-92F81FD0307C}</a:tableStyleId>
              </a:tblPr>
              <a:tblGrid>
                <a:gridCol w="3953127"/>
                <a:gridCol w="3958201"/>
              </a:tblGrid>
              <a:tr h="515257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Начислим баланс на услуги 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линии консультаций</a:t>
                      </a:r>
                      <a:endParaRPr lang="ru-RU" sz="11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При оплате </a:t>
                      </a:r>
                      <a:br>
                        <a:rPr lang="ru-RU" sz="1600" b="1">
                          <a:latin typeface="Verdana"/>
                          <a:ea typeface="Verdana"/>
                        </a:rPr>
                      </a:br>
                      <a:r>
                        <a:rPr lang="ru-RU" sz="1600" b="1">
                          <a:latin typeface="Verdana"/>
                          <a:ea typeface="Verdana"/>
                        </a:rPr>
                        <a:t>1С:Кабинет сотрудника</a:t>
                      </a:r>
                      <a:endParaRPr lang="ru-RU" sz="11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515257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+1 час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3 660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10 сотрудников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3 360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515257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+1,5 часа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5 490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25 сотрудников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8 400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515257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+3 часа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10 980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50 сотрудников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16 800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515257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+5 часов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18 300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 b="1">
                          <a:latin typeface="Verdana"/>
                          <a:ea typeface="Verdana"/>
                        </a:rPr>
                        <a:t>100 сотрудников</a:t>
                      </a:r>
                      <a:endParaRPr lang="ru-RU" sz="1100" b="1">
                        <a:latin typeface="Verdana"/>
                        <a:ea typeface="Verdana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defRPr/>
                      </a:pPr>
                      <a:r>
                        <a:rPr lang="ru-RU" sz="1600">
                          <a:latin typeface="Verdana"/>
                          <a:ea typeface="Verdana"/>
                        </a:rPr>
                        <a:t>33 600 рублей</a:t>
                      </a:r>
                      <a:endParaRPr lang="ru-RU" sz="1100"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68580" marR="68580" marT="0" marB="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22260096" name="Рисунок 1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2226570" y="2621294"/>
            <a:ext cx="258762" cy="307975"/>
          </a:xfrm>
          <a:prstGeom prst="rect">
            <a:avLst/>
          </a:prstGeom>
          <a:noFill/>
        </p:spPr>
      </p:pic>
      <p:pic>
        <p:nvPicPr>
          <p:cNvPr id="50355104" name="Рисунок 4"/>
          <p:cNvPicPr/>
          <p:nvPr/>
        </p:nvPicPr>
        <p:blipFill rotWithShape="1">
          <a:blip r:embed="rId5"/>
          <a:stretch/>
        </p:blipFill>
        <p:spPr bwMode="auto">
          <a:xfrm>
            <a:off x="6096000" y="-553178"/>
            <a:ext cx="6096000" cy="1867989"/>
          </a:xfrm>
          <a:prstGeom prst="rect">
            <a:avLst/>
          </a:prstGeom>
        </p:spPr>
      </p:pic>
      <p:pic>
        <p:nvPicPr>
          <p:cNvPr id="3740273" name="Рисунок 3"/>
          <p:cNvPicPr/>
          <p:nvPr/>
        </p:nvPicPr>
        <p:blipFill rotWithShape="1">
          <a:blip r:embed="rId6"/>
          <a:stretch/>
        </p:blipFill>
        <p:spPr bwMode="auto">
          <a:xfrm>
            <a:off x="0" y="-97412"/>
            <a:ext cx="2866389" cy="2401570"/>
          </a:xfrm>
          <a:prstGeom prst="rect">
            <a:avLst/>
          </a:prstGeom>
          <a:noFill/>
          <a:ln>
            <a:noFill/>
          </a:ln>
        </p:spPr>
      </p:pic>
      <p:sp>
        <p:nvSpPr>
          <p:cNvPr id="1565145435" name="Заголовок 1"/>
          <p:cNvSpPr txBox="1"/>
          <p:nvPr/>
        </p:nvSpPr>
        <p:spPr bwMode="auto">
          <a:xfrm>
            <a:off x="6356058" y="5694496"/>
            <a:ext cx="5373189" cy="4716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2000" b="1">
                <a:latin typeface="Verdana"/>
                <a:ea typeface="Verdana"/>
              </a:rPr>
              <a:t>	    Продлена до 30.06.2026</a:t>
            </a:r>
            <a:endParaRPr/>
          </a:p>
        </p:txBody>
      </p:sp>
      <p:pic>
        <p:nvPicPr>
          <p:cNvPr id="43909856" name="Рисунок 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504432" y="1"/>
            <a:ext cx="5687568" cy="1694688"/>
          </a:xfrm>
          <a:prstGeom prst="rect">
            <a:avLst/>
          </a:prstGeom>
        </p:spPr>
      </p:pic>
      <p:sp>
        <p:nvSpPr>
          <p:cNvPr id="125508765" name="Заголовок 1"/>
          <p:cNvSpPr txBox="1"/>
          <p:nvPr/>
        </p:nvSpPr>
        <p:spPr bwMode="auto">
          <a:xfrm>
            <a:off x="2788921" y="1314811"/>
            <a:ext cx="6614158" cy="8004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24000" b="1">
                <a:latin typeface="Verdana"/>
                <a:ea typeface="Verdana"/>
              </a:rPr>
              <a:t>АКЦИЯ</a:t>
            </a:r>
            <a:endParaRPr/>
          </a:p>
          <a:p>
            <a:pPr>
              <a:defRPr/>
            </a:pPr>
            <a:endParaRPr lang="ru-RU" b="1">
              <a:latin typeface="Verdana"/>
              <a:ea typeface="Verdana"/>
            </a:endParaRPr>
          </a:p>
          <a:p>
            <a:pPr>
              <a:defRPr/>
            </a:pPr>
            <a:r>
              <a:rPr lang="ru-RU" sz="12800" b="1">
                <a:latin typeface="Verdana"/>
                <a:ea typeface="Verdana"/>
              </a:rPr>
              <a:t>«БОЛЬШЕ, ЧЕМ КЕШБЭК!»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744659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ВАРИАНТЫ</a:t>
            </a:r>
            <a:r>
              <a:rPr lang="ru-RU" sz="3600">
                <a:latin typeface="Calibri"/>
                <a:ea typeface="Calibri"/>
                <a:cs typeface="Times New Roman"/>
              </a:rPr>
              <a:t> </a:t>
            </a:r>
            <a:r>
              <a:rPr lang="ru-RU" sz="3600">
                <a:ea typeface="Calibri"/>
                <a:cs typeface="Times New Roman"/>
              </a:rPr>
              <a:t>ВНЕДРЕНИЯ</a:t>
            </a:r>
            <a:endParaRPr lang="ru-RU"/>
          </a:p>
        </p:txBody>
      </p:sp>
      <p:sp>
        <p:nvSpPr>
          <p:cNvPr id="2066573045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1617785" y="1820008"/>
            <a:ext cx="9659814" cy="3949196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Только рассылка расчетных листков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Работа с отпусками и отсутствиями: формирование графика отпусков, заявления на отпуск, контроль остатка отпуска  + калькулятор отпуска. Отсутствия: болезнь, командировка и др.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КЭДО с типовыми печатными формами (всё, что выводится на печать, можно отправить в КС)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КЭДО с переводом всех документов в «цифру»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1920727274" name="Рисунок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1353" y="1480167"/>
            <a:ext cx="1011938" cy="969266"/>
          </a:xfrm>
          <a:prstGeom prst="rect">
            <a:avLst/>
          </a:prstGeom>
        </p:spPr>
      </p:pic>
      <p:pic>
        <p:nvPicPr>
          <p:cNvPr id="284259753" name="Рисунок 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51353" y="2262196"/>
            <a:ext cx="1011938" cy="969266"/>
          </a:xfrm>
          <a:prstGeom prst="rect">
            <a:avLst/>
          </a:prstGeom>
        </p:spPr>
      </p:pic>
      <p:pic>
        <p:nvPicPr>
          <p:cNvPr id="305710179" name="Рисунок 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67515" y="3189017"/>
            <a:ext cx="1011938" cy="969266"/>
          </a:xfrm>
          <a:prstGeom prst="rect">
            <a:avLst/>
          </a:prstGeom>
        </p:spPr>
      </p:pic>
      <p:pic>
        <p:nvPicPr>
          <p:cNvPr id="94171196" name="Рисунок 1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67515" y="4013491"/>
            <a:ext cx="1011938" cy="969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131226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БЕЗОПАСНОСТЬ</a:t>
            </a:r>
            <a:endParaRPr lang="ru-RU"/>
          </a:p>
        </p:txBody>
      </p:sp>
      <p:sp>
        <p:nvSpPr>
          <p:cNvPr id="1681444824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45265"/>
            <a:ext cx="10392697" cy="4223939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2800" b="0" i="0">
                <a:solidFill>
                  <a:srgbClr val="333333"/>
                </a:solidFill>
                <a:latin typeface="+mj-lt"/>
              </a:rPr>
              <a:t>Дата-центр 1С имеет аттестаты ФСТЭК России</a:t>
            </a:r>
            <a:br>
              <a:rPr lang="ru-RU" sz="2800" b="0" i="0">
                <a:solidFill>
                  <a:srgbClr val="333333"/>
                </a:solidFill>
                <a:latin typeface="+mj-lt"/>
              </a:rPr>
            </a:br>
            <a:r>
              <a:rPr lang="ru-RU" b="0" i="0">
                <a:solidFill>
                  <a:srgbClr val="333333"/>
                </a:solidFill>
                <a:latin typeface="+mj-lt"/>
              </a:rPr>
              <a:t>Этот аттестат подтверждает, что центр обработки данных (ЦОД) соответствует требованиям к защите информации (в том числе персональных данных) от несанкционированного доступа.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2800">
                <a:solidFill>
                  <a:srgbClr val="333333"/>
                </a:solidFill>
                <a:latin typeface="+mj-lt"/>
              </a:rPr>
              <a:t>Документы хранятся в вашей базе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2800">
                <a:solidFill>
                  <a:srgbClr val="333333"/>
                </a:solidFill>
                <a:latin typeface="+mj-lt"/>
              </a:rPr>
              <a:t>Существует локальная версия 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685620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ПОГНАЛИ!</a:t>
            </a:r>
            <a:endParaRPr lang="ru-RU"/>
          </a:p>
        </p:txBody>
      </p:sp>
      <p:sp>
        <p:nvSpPr>
          <p:cNvPr id="770833400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480167"/>
            <a:ext cx="10392697" cy="4289037"/>
          </a:xfrm>
        </p:spPr>
        <p:txBody>
          <a:bodyPr/>
          <a:lstStyle/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Wingdings"/>
              <a:buChar char="v"/>
              <a:defRPr/>
            </a:pPr>
            <a:r>
              <a:rPr lang="ru-RU"/>
              <a:t> ВСЕ ВЫПУСТИЛИ ПОДПИСЬ! УРА!!!</a:t>
            </a:r>
            <a:endParaRPr/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Wingdings"/>
              <a:buChar char="v"/>
              <a:defRPr/>
            </a:pPr>
            <a:r>
              <a:rPr lang="ru-RU"/>
              <a:t> ПОДПИСАНИЕ РАСЧЕТОК</a:t>
            </a:r>
            <a:endParaRPr/>
          </a:p>
          <a:p>
            <a:pPr marL="285750" indent="-28575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Wingdings"/>
              <a:buChar char="v"/>
              <a:defRPr/>
            </a:pPr>
            <a:r>
              <a:rPr lang="ru-RU"/>
              <a:t> ПОДАЧА ЗАЯВЛЕНИЯ НА ОТПУСК, СОГЛАСОВАНИЕ (раздел Руководитель)</a:t>
            </a:r>
            <a:endParaRPr/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Wingdings"/>
              <a:buChar char="v"/>
              <a:defRPr/>
            </a:pPr>
            <a:r>
              <a:rPr lang="ru-RU"/>
              <a:t> ФОРУС в кабинете</a:t>
            </a:r>
            <a:endParaRPr/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Wingdings"/>
              <a:buChar char="v"/>
              <a:defRPr/>
            </a:pPr>
            <a:r>
              <a:rPr lang="ru-RU"/>
              <a:t> Кто нашел как отправить свое фото в СУП?</a:t>
            </a:r>
            <a:endParaRPr/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Wingdings"/>
              <a:buChar char="v"/>
              <a:defRPr/>
            </a:pPr>
            <a:r>
              <a:rPr lang="ru-RU"/>
              <a:t> А КАК ПЕРЕВЫПУСТИТЬ ПОДПИСЬ? МОЖЕТ </a:t>
            </a:r>
            <a:r>
              <a:rPr lang="ru-RU" b="1"/>
              <a:t>ГОСКЛЮЧ</a:t>
            </a:r>
            <a:r>
              <a:rPr lang="ru-RU"/>
              <a:t>?</a:t>
            </a:r>
            <a:endParaRPr/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150000"/>
              <a:buFont typeface="Wingdings"/>
              <a:buChar char="v"/>
              <a:defRPr/>
            </a:pPr>
            <a:r>
              <a:rPr lang="ru-RU"/>
              <a:t> СВОИ ПЕЧАТНЫЕ ФОРМЫ ДОБАВИМ В 1С И ПОДПИСШЕМ В КС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8326952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7199" y="1388806"/>
            <a:ext cx="8210117" cy="438039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22065826" name="Заголовок 1"/>
          <p:cNvSpPr txBox="1"/>
          <p:nvPr/>
        </p:nvSpPr>
        <p:spPr bwMode="auto">
          <a:xfrm>
            <a:off x="884902" y="635297"/>
            <a:ext cx="10557798" cy="48938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/>
              <a:t>ПРИЕМ НА РАБОТУ – </a:t>
            </a:r>
            <a:r>
              <a:rPr lang="ru-RU"/>
              <a:t>9</a:t>
            </a:r>
            <a:r>
              <a:rPr lang="ru-RU" sz="3200"/>
              <a:t> ДОКУМЕНТОВ КЭДО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054827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1714025712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99651" y="1495647"/>
            <a:ext cx="10392697" cy="858545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/>
              <a:t>- Как происходит ознакомление всех сотрудников с «Положением о Добровольном медицинском страховании»? (рассылка от 27.05.2026)</a:t>
            </a:r>
            <a:endParaRPr/>
          </a:p>
        </p:txBody>
      </p:sp>
      <p:pic>
        <p:nvPicPr>
          <p:cNvPr id="1169882809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4902" y="2443529"/>
            <a:ext cx="8613612" cy="30074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9375940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81223" y="182337"/>
            <a:ext cx="7829550" cy="27336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23347607" name="Текст 2"/>
          <p:cNvSpPr txBox="1"/>
          <p:nvPr/>
        </p:nvSpPr>
        <p:spPr bwMode="auto">
          <a:xfrm>
            <a:off x="899650" y="3231105"/>
            <a:ext cx="10392697" cy="127710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/>
              <a:t>А в какое время могут подойти к вам сотрудники?</a:t>
            </a:r>
            <a:endParaRPr/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/>
              <a:t>В РАБОЧЕЕ!</a:t>
            </a:r>
            <a:endParaRPr/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/>
              <a:t>Получается, что рабочее время сотрудники тратят не на свои прямые обязанности, а на доставку документов? </a:t>
            </a:r>
            <a:endParaRPr/>
          </a:p>
        </p:txBody>
      </p:sp>
      <p:sp>
        <p:nvSpPr>
          <p:cNvPr id="1528247136" name="Текст 2"/>
          <p:cNvSpPr txBox="1"/>
          <p:nvPr/>
        </p:nvSpPr>
        <p:spPr bwMode="auto">
          <a:xfrm>
            <a:off x="899651" y="4844137"/>
            <a:ext cx="10392697" cy="109237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 anchorCtr="0">
            <a:normAutofit/>
          </a:bodyPr>
          <a:lstStyle>
            <a:defPPr>
              <a:defRPr lang="ru-RU"/>
            </a:defPPr>
            <a:lvl1pPr marL="285750" indent="-285750">
              <a:lnSpc>
                <a:spcPct val="110000"/>
              </a:lnSpc>
              <a:spcBef>
                <a:spcPts val="0"/>
              </a:spcBef>
              <a:buFontTx/>
              <a:buChar char="-"/>
              <a:defRPr b="0"/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/>
              <a:buNone/>
              <a:defRPr b="1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/>
              <a:buNone/>
              <a:defRPr b="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>
              <a:defRPr/>
            </a:pPr>
            <a:r>
              <a:rPr lang="ru-RU"/>
              <a:t>А если письмо потеряется, не дойдет? </a:t>
            </a:r>
            <a:endParaRPr/>
          </a:p>
          <a:p>
            <a:pPr>
              <a:defRPr/>
            </a:pPr>
            <a:r>
              <a:rPr lang="ru-RU"/>
              <a:t>ПРОСИМ ОТПРАВИТЬ ПОВТОРНО</a:t>
            </a:r>
            <a:endParaRPr/>
          </a:p>
          <a:p>
            <a:pPr>
              <a:defRPr/>
            </a:pPr>
            <a:r>
              <a:rPr lang="ru-RU"/>
              <a:t>Получается, что при проверке могут отсутствовать очень важные документы?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068583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1896840702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99651" y="1495647"/>
            <a:ext cx="10392697" cy="458068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/>
              <a:t>Разобрали на мастерской: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работаете с </a:t>
            </a:r>
            <a:r>
              <a:rPr lang="ru-RU" sz="1800">
                <a:latin typeface="Verdana"/>
                <a:ea typeface="Calibri"/>
                <a:cs typeface="Times New Roman"/>
              </a:rPr>
              <a:t>удаленщиками</a:t>
            </a:r>
            <a:r>
              <a:rPr lang="ru-RU" sz="1800">
                <a:latin typeface="Verdana"/>
                <a:ea typeface="Calibri"/>
                <a:cs typeface="Times New Roman"/>
              </a:rPr>
              <a:t> и </a:t>
            </a:r>
            <a:r>
              <a:rPr lang="ru-RU" sz="1800">
                <a:latin typeface="Verdana"/>
                <a:ea typeface="Calibri"/>
                <a:cs typeface="Times New Roman"/>
              </a:rPr>
              <a:t>дистанционщиками</a:t>
            </a:r>
            <a:r>
              <a:rPr lang="ru-RU" sz="1800">
                <a:latin typeface="Verdana"/>
                <a:ea typeface="Calibri"/>
                <a:cs typeface="Times New Roman"/>
              </a:rPr>
              <a:t>? Как обмениваетесь с ними документами? Прием, увольнения, подписания, отпуск....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сотрудники получают расчетные листы? Сможете за 10 минут найти подтверждение, что Иванов подписал </a:t>
            </a:r>
            <a:r>
              <a:rPr lang="ru-RU" sz="1800">
                <a:latin typeface="Verdana"/>
                <a:ea typeface="Calibri"/>
                <a:cs typeface="Times New Roman"/>
              </a:rPr>
              <a:t>расчетку</a:t>
            </a:r>
            <a:r>
              <a:rPr lang="ru-RU" sz="1800">
                <a:latin typeface="Verdana"/>
                <a:ea typeface="Calibri"/>
                <a:cs typeface="Times New Roman"/>
              </a:rPr>
              <a:t> за апрель 2023? </a:t>
            </a:r>
            <a:endParaRPr lang="ru-RU" sz="1800">
              <a:latin typeface="Calibri"/>
              <a:ea typeface="Calibri"/>
              <a:cs typeface="Times New Roman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вы сейчас храните кадровые документы (заявления, приказы, договоры) — в сейфе, папках или у директора на столе? Что будет с бизнесом, если при проверке ГИТ вы не найдете оригинал заявления на отпуск сотрудника, который уволился год назад?»</a:t>
            </a:r>
            <a:endParaRPr lang="ru-RU" sz="1800">
              <a:latin typeface="Calibri"/>
              <a:ea typeface="Calibri"/>
              <a:cs typeface="Times New Roman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Когда последний раз вы проверяли, все ли сотрудники подписали согласие на обработку персональных данных? Сможете за 10 минут найти подпись конкретного Иванова за апрель 2023? </a:t>
            </a:r>
            <a:endParaRPr lang="ru-RU" sz="1800">
              <a:latin typeface="Calibri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170620" name="Заголовок 1"/>
          <p:cNvSpPr>
            <a:spLocks noGrp="1"/>
          </p:cNvSpPr>
          <p:nvPr>
            <p:ph type="title"/>
          </p:nvPr>
        </p:nvSpPr>
        <p:spPr bwMode="auto">
          <a:xfrm>
            <a:off x="899652" y="546806"/>
            <a:ext cx="10392696" cy="48938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1042077147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270388" y="1485815"/>
            <a:ext cx="3406877" cy="458068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/>
              <a:t>Разобрали на мастерской: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Когда последний раз вы проверяли, все ли сотрудники подписали согласие на обработку персональных данных? Сможете за 10 минут найти подпись конкретного Иванова за апрель 2023? </a:t>
            </a:r>
            <a:endParaRPr lang="ru-RU" sz="1800">
              <a:latin typeface="Calibri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ru-RU" b="1"/>
          </a:p>
        </p:txBody>
      </p:sp>
      <p:pic>
        <p:nvPicPr>
          <p:cNvPr id="99274540" name="Рисунок 4"/>
          <p:cNvPicPr>
            <a:picLocks noChangeAspect="1"/>
          </p:cNvPicPr>
          <p:nvPr/>
        </p:nvPicPr>
        <p:blipFill rotWithShape="1">
          <a:blip r:embed="rId3"/>
          <a:srcRect l="5054" t="14623" r="5161" b="0"/>
          <a:stretch/>
        </p:blipFill>
        <p:spPr bwMode="auto">
          <a:xfrm>
            <a:off x="3982064" y="1002890"/>
            <a:ext cx="8209936" cy="5855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051653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1285638051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214901" y="1449351"/>
            <a:ext cx="4576917" cy="458068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/>
              <a:t>Разобрали на мастерской: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вы сейчас храните кадровые документы (заявления, приказы, договоры) — в сейфе, папках или у директора на столе? Что будет с бизнесом, если при проверке ГИТ вы не найдете оригинал заявления на отпуск сотрудника, который уволился год назад?»</a:t>
            </a:r>
            <a:endParaRPr lang="ru-RU" sz="1800">
              <a:latin typeface="Calibri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ru-RU" b="1"/>
          </a:p>
        </p:txBody>
      </p:sp>
      <p:pic>
        <p:nvPicPr>
          <p:cNvPr id="1394858974" name="Рисунок 4"/>
          <p:cNvPicPr>
            <a:picLocks noChangeAspect="1"/>
          </p:cNvPicPr>
          <p:nvPr/>
        </p:nvPicPr>
        <p:blipFill rotWithShape="1">
          <a:blip r:embed="rId3"/>
          <a:srcRect l="0" t="8853" r="14110" b="0"/>
          <a:stretch/>
        </p:blipFill>
        <p:spPr bwMode="auto">
          <a:xfrm rot="16199999">
            <a:off x="5876892" y="39604"/>
            <a:ext cx="5230034" cy="7400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214250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754102684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275303" y="1495646"/>
            <a:ext cx="2772697" cy="536235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/>
              <a:t>Разобрали на мастерской: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сотрудники получают расчетные листы? Сможете за 10 минут найти подтверждение, что Иванов подписал </a:t>
            </a:r>
            <a:r>
              <a:rPr lang="ru-RU" sz="1800">
                <a:latin typeface="Verdana"/>
                <a:ea typeface="Calibri"/>
                <a:cs typeface="Times New Roman"/>
              </a:rPr>
              <a:t>расчетку</a:t>
            </a:r>
            <a:r>
              <a:rPr lang="ru-RU" sz="1800">
                <a:latin typeface="Verdana"/>
                <a:ea typeface="Calibri"/>
                <a:cs typeface="Times New Roman"/>
              </a:rPr>
              <a:t> за апрель 2023? </a:t>
            </a:r>
            <a:endParaRPr lang="ru-RU" sz="1800">
              <a:latin typeface="Calibri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ru-RU" b="1"/>
          </a:p>
        </p:txBody>
      </p:sp>
      <p:pic>
        <p:nvPicPr>
          <p:cNvPr id="1747587766" name="Рисунок 4"/>
          <p:cNvPicPr>
            <a:picLocks noChangeAspect="1"/>
          </p:cNvPicPr>
          <p:nvPr/>
        </p:nvPicPr>
        <p:blipFill rotWithShape="1">
          <a:blip r:embed="rId3"/>
          <a:srcRect l="0" t="14050" r="861" b="4373"/>
          <a:stretch/>
        </p:blipFill>
        <p:spPr bwMode="auto">
          <a:xfrm>
            <a:off x="2969342" y="1263443"/>
            <a:ext cx="9065342" cy="5594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591357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1451743913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99652" y="1495647"/>
            <a:ext cx="4026310" cy="519028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/>
              <a:t>Разобрали на мастерской: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работаете с </a:t>
            </a:r>
            <a:r>
              <a:rPr lang="ru-RU" sz="1800">
                <a:latin typeface="Verdana"/>
                <a:ea typeface="Calibri"/>
                <a:cs typeface="Times New Roman"/>
              </a:rPr>
              <a:t>удаленщиками</a:t>
            </a:r>
            <a:r>
              <a:rPr lang="ru-RU" sz="1800">
                <a:latin typeface="Verdana"/>
                <a:ea typeface="Calibri"/>
                <a:cs typeface="Times New Roman"/>
              </a:rPr>
              <a:t> и </a:t>
            </a:r>
            <a:r>
              <a:rPr lang="ru-RU" sz="1800">
                <a:latin typeface="Verdana"/>
                <a:ea typeface="Calibri"/>
                <a:cs typeface="Times New Roman"/>
              </a:rPr>
              <a:t>дистанционщиками</a:t>
            </a:r>
            <a:r>
              <a:rPr lang="ru-RU" sz="1800">
                <a:latin typeface="Verdana"/>
                <a:ea typeface="Calibri"/>
                <a:cs typeface="Times New Roman"/>
              </a:rPr>
              <a:t>? Как обмениваетесь с ними документами? Прием, увольнения, подписания, отпуск....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ru-RU" b="1"/>
          </a:p>
        </p:txBody>
      </p:sp>
      <p:pic>
        <p:nvPicPr>
          <p:cNvPr id="383411233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94787" y="1555954"/>
            <a:ext cx="7069394" cy="5302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67544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2058049939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99651" y="1495647"/>
            <a:ext cx="10392697" cy="458068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/>
              <a:t>Еще варианты: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Сколько документов оформляете при трудоустройстве? Много времени занимает подготовка в </a:t>
            </a:r>
            <a:r>
              <a:rPr lang="ru-RU" sz="1800">
                <a:latin typeface="Verdana"/>
                <a:ea typeface="Calibri"/>
                <a:cs typeface="Times New Roman"/>
              </a:rPr>
              <a:t>ворде</a:t>
            </a:r>
            <a:r>
              <a:rPr lang="ru-RU" sz="1800">
                <a:latin typeface="Verdana"/>
                <a:ea typeface="Calibri"/>
                <a:cs typeface="Times New Roman"/>
              </a:rPr>
              <a:t>? 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организовано согласование отпусков? Было ли такое, что сотрудник принес заявление, а руководитель не в курсе?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Много ли времени у вас отнимают вопросы сотрудников «А когда у меня отпуск по графику?» «А сколько дней можно взять»? «А теперь сколько дней можно взять?»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устроено согласование графика отпусков? Много раз приходится переделывать? (можно сократить на 80%)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вы фиксируете, что увольняющийся сотрудник вернул ноутбук и пропуск — актом на бумаге? А если он через месяц скажет, что ничего не подписывал и требует компенсацию? (Инсайт: «Без КЭДО мое доказательство — бумажка, которую он может оспорить. С КЭДО — юридически сильная запись)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Что происходит, кода сотрудник заболел во время отпуска? Как оформляете продление, если человек не может приехать?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Как происходит отзыв из отпуска?</a:t>
            </a:r>
            <a:endParaRPr/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/>
              <a:buChar char="•"/>
              <a:defRPr/>
            </a:pPr>
            <a:r>
              <a:rPr lang="ru-RU" sz="1800">
                <a:latin typeface="Verdana"/>
                <a:ea typeface="Calibri"/>
                <a:cs typeface="Times New Roman"/>
              </a:rPr>
              <a:t>Если случился форс-мажор, нужен срочно отпуск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34069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ОТКРЫТЫЕ ВОПРОСЫ</a:t>
            </a:r>
            <a:endParaRPr lang="ru-RU"/>
          </a:p>
        </p:txBody>
      </p:sp>
      <p:sp>
        <p:nvSpPr>
          <p:cNvPr id="205823308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70152" y="1311350"/>
            <a:ext cx="10407446" cy="1041990"/>
          </a:xfrm>
        </p:spPr>
        <p:txBody>
          <a:bodyPr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2400"/>
              <a:t>2 вопроса</a:t>
            </a:r>
            <a:r>
              <a:rPr lang="en-US" sz="2400"/>
              <a:t> </a:t>
            </a:r>
            <a:r>
              <a:rPr lang="ru-RU" sz="2400"/>
              <a:t>на группу, 3 варианта ответа на каждый</a:t>
            </a:r>
            <a:br>
              <a:rPr lang="ru-RU" sz="2400"/>
            </a:br>
            <a:r>
              <a:rPr lang="ru-RU" sz="2400" b="1"/>
              <a:t>фиксация боли</a:t>
            </a:r>
            <a:endParaRPr/>
          </a:p>
        </p:txBody>
      </p:sp>
      <p:pic>
        <p:nvPicPr>
          <p:cNvPr id="1995648106" name="Рисунок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08408" y="2251887"/>
            <a:ext cx="7896225" cy="316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675170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ru-RU" sz="3600">
                <a:ea typeface="Calibri"/>
                <a:cs typeface="Times New Roman"/>
              </a:rPr>
              <a:t>ВОЗРАЖЕНИЯ</a:t>
            </a:r>
            <a:endParaRPr lang="ru-RU"/>
          </a:p>
        </p:txBody>
      </p:sp>
      <p:sp>
        <p:nvSpPr>
          <p:cNvPr id="1199667727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99651" y="1495647"/>
            <a:ext cx="10392697" cy="451529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1800" b="1">
                <a:latin typeface="Verdana"/>
                <a:ea typeface="Calibri"/>
                <a:cs typeface="Times New Roman"/>
              </a:rPr>
              <a:t>Импровизация в парах: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1">
                <a:latin typeface="Verdana"/>
                <a:ea typeface="Calibri"/>
                <a:cs typeface="Times New Roman"/>
              </a:rPr>
              <a:t>ОДИН НЕ ХОЧЕТ, ВТОРОЙ НАХОДИТ РЕШЕНИЯ</a:t>
            </a:r>
            <a:endParaRPr/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b="0" i="0">
                <a:solidFill>
                  <a:srgbClr val="333333"/>
                </a:solidFill>
                <a:latin typeface="system-ui"/>
              </a:rPr>
              <a:t>1) Пока не будет обязательно, не будем использовать.</a:t>
            </a:r>
            <a:br>
              <a:rPr lang="ru-RU"/>
            </a:br>
            <a:r>
              <a:rPr lang="ru-RU" b="0" i="0">
                <a:solidFill>
                  <a:srgbClr val="333333"/>
                </a:solidFill>
                <a:latin typeface="system-ui"/>
              </a:rPr>
              <a:t>2) Кнопочные телефоны у сотрудников (вахтовики, пожилые и </a:t>
            </a:r>
            <a:r>
              <a:rPr lang="ru-RU" b="0" i="0">
                <a:solidFill>
                  <a:srgbClr val="333333"/>
                </a:solidFill>
                <a:latin typeface="system-ui"/>
              </a:rPr>
              <a:t>тд</a:t>
            </a:r>
            <a:r>
              <a:rPr lang="ru-RU" b="0" i="0">
                <a:solidFill>
                  <a:srgbClr val="333333"/>
                </a:solidFill>
                <a:latin typeface="system-ui"/>
              </a:rPr>
              <a:t>).</a:t>
            </a:r>
            <a:br>
              <a:rPr lang="ru-RU"/>
            </a:br>
            <a:r>
              <a:rPr lang="ru-RU" b="0" i="0">
                <a:solidFill>
                  <a:srgbClr val="333333"/>
                </a:solidFill>
                <a:latin typeface="system-ui"/>
              </a:rPr>
              <a:t>3) Нет денег.</a:t>
            </a:r>
            <a:br>
              <a:rPr lang="ru-RU"/>
            </a:br>
            <a:r>
              <a:rPr lang="ru-RU" b="0" i="0">
                <a:solidFill>
                  <a:srgbClr val="333333"/>
                </a:solidFill>
                <a:latin typeface="system-ui"/>
              </a:rPr>
              <a:t>4) Нет такого кол-ва сотрудников, всего 2-5 человек сидят в одном офисе, напрямую можно подойти к бухгалтеру.</a:t>
            </a:r>
            <a:br>
              <a:rPr lang="ru-RU"/>
            </a:br>
            <a:r>
              <a:rPr lang="ru-RU" b="0" i="0">
                <a:solidFill>
                  <a:srgbClr val="333333"/>
                </a:solidFill>
                <a:latin typeface="system-ui"/>
              </a:rPr>
              <a:t>5) Люди продолжат писать в бухгалтерию напрямую, не будут использовать приложение, не увидят пользы. Тут варианта, что сотрудники не заходят работать в сервисе и что кадровику нравится общение с сотрудниками личное.</a:t>
            </a:r>
            <a:br>
              <a:rPr lang="ru-RU"/>
            </a:br>
            <a:r>
              <a:rPr lang="ru-RU" b="0" i="0">
                <a:solidFill>
                  <a:srgbClr val="333333"/>
                </a:solidFill>
                <a:latin typeface="system-ui"/>
              </a:rPr>
              <a:t>6) Вопрос безопасности.</a:t>
            </a:r>
            <a:br>
              <a:rPr lang="ru-RU"/>
            </a:br>
            <a:r>
              <a:rPr lang="ru-RU" b="0" i="0">
                <a:solidFill>
                  <a:srgbClr val="333333"/>
                </a:solidFill>
                <a:latin typeface="system-ui"/>
              </a:rPr>
              <a:t>7) Выпускать подпись на всех физ. лиц, платное обучение (боязнь процесса внедрения, обучения, отвлечение сотрудников от рутинных дел).</a:t>
            </a:r>
            <a:endParaRPr lang="ru-RU" sz="1800">
              <a:latin typeface="Calibri"/>
              <a:ea typeface="Calibri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063062" name="Заголовок 1"/>
          <p:cNvSpPr>
            <a:spLocks noGrp="1"/>
          </p:cNvSpPr>
          <p:nvPr>
            <p:ph type="title"/>
          </p:nvPr>
        </p:nvSpPr>
        <p:spPr bwMode="auto">
          <a:xfrm>
            <a:off x="336262" y="0"/>
            <a:ext cx="10392696" cy="4893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Аргументы</a:t>
            </a:r>
            <a:endParaRPr/>
          </a:p>
        </p:txBody>
      </p:sp>
      <p:sp>
        <p:nvSpPr>
          <p:cNvPr id="1925877018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873760"/>
            <a:ext cx="10392697" cy="48954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·	Согласование отпусков </a:t>
            </a:r>
            <a:r>
              <a:rPr lang="ru-RU"/>
              <a:t>сотр</a:t>
            </a:r>
            <a:r>
              <a:rPr lang="ru-RU"/>
              <a:t>-рук-кадры в одной системе;</a:t>
            </a:r>
            <a:endParaRPr/>
          </a:p>
          <a:p>
            <a:pPr>
              <a:defRPr/>
            </a:pPr>
            <a:r>
              <a:rPr lang="ru-RU"/>
              <a:t>·	Сотрудник сам может посмотреть остатки отпусков;</a:t>
            </a:r>
            <a:endParaRPr/>
          </a:p>
          <a:p>
            <a:pPr>
              <a:defRPr/>
            </a:pPr>
            <a:r>
              <a:rPr lang="ru-RU"/>
              <a:t>·	Рассылка расчетных листков с подтверждением;</a:t>
            </a:r>
            <a:endParaRPr/>
          </a:p>
          <a:p>
            <a:pPr>
              <a:defRPr/>
            </a:pPr>
            <a:r>
              <a:rPr lang="ru-RU"/>
              <a:t>·	Удобно и быстро юридически значимо сообщить об изменении личной инф (смена фамилии, прописки и </a:t>
            </a:r>
            <a:r>
              <a:rPr lang="ru-RU"/>
              <a:t>тп</a:t>
            </a:r>
            <a:r>
              <a:rPr lang="ru-RU"/>
              <a:t>);</a:t>
            </a:r>
            <a:endParaRPr/>
          </a:p>
          <a:p>
            <a:pPr>
              <a:defRPr/>
            </a:pPr>
            <a:r>
              <a:rPr lang="ru-RU"/>
              <a:t>·	Юридически значимое подписание документов</a:t>
            </a:r>
            <a:endParaRPr/>
          </a:p>
          <a:p>
            <a:pPr>
              <a:defRPr/>
            </a:pPr>
            <a:r>
              <a:rPr lang="ru-RU"/>
              <a:t>·	Поддержка любых печатных форм в 1С с возможностью подписания</a:t>
            </a:r>
            <a:endParaRPr/>
          </a:p>
          <a:p>
            <a:pPr>
              <a:defRPr/>
            </a:pPr>
            <a:r>
              <a:rPr lang="ru-RU"/>
              <a:t>·	Есть раздел руководителя для согласования графиков и отсутствий</a:t>
            </a:r>
            <a:endParaRPr/>
          </a:p>
          <a:p>
            <a:pPr>
              <a:defRPr/>
            </a:pPr>
            <a:r>
              <a:rPr lang="ru-RU"/>
              <a:t>·	1С:КС превращает ЗУП в юридически значимый архив документов</a:t>
            </a:r>
            <a:endParaRPr/>
          </a:p>
          <a:p>
            <a:pPr>
              <a:defRPr/>
            </a:pPr>
            <a:r>
              <a:rPr lang="ru-RU"/>
              <a:t>·	Есть возможность подписывать документы в приложении </a:t>
            </a:r>
            <a:r>
              <a:rPr lang="ru-RU"/>
              <a:t>Госключ</a:t>
            </a:r>
            <a:r>
              <a:rPr lang="ru-RU"/>
              <a:t> (важно для </a:t>
            </a:r>
            <a:r>
              <a:rPr lang="ru-RU"/>
              <a:t>гос</a:t>
            </a:r>
            <a:r>
              <a:rPr lang="ru-RU"/>
              <a:t> учреждений)</a:t>
            </a:r>
            <a:endParaRPr/>
          </a:p>
          <a:p>
            <a:pPr>
              <a:defRPr/>
            </a:pPr>
            <a:r>
              <a:rPr lang="ru-RU"/>
              <a:t>·	Можно обмениваться документами с кандидатом на прием, а не только с сотрудниками. Позволяет оформить полноценный удаленный прием на работу.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382599" name="Заголовок 1"/>
          <p:cNvSpPr>
            <a:spLocks noGrp="1"/>
          </p:cNvSpPr>
          <p:nvPr>
            <p:ph type="title"/>
          </p:nvPr>
        </p:nvSpPr>
        <p:spPr bwMode="auto">
          <a:xfrm>
            <a:off x="336262" y="0"/>
            <a:ext cx="10392696" cy="4893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Аргументы</a:t>
            </a:r>
            <a:endParaRPr/>
          </a:p>
        </p:txBody>
      </p:sp>
      <p:sp>
        <p:nvSpPr>
          <p:cNvPr id="1496889635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873760"/>
            <a:ext cx="10392697" cy="48954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·	За непредставление расчетных листов сотрудникам предусмотрены штрафы от 30 000 до 50 000 рублей (при повторном нарушении — до 70 000 рублей) (ч. 1 ст. 5.27 КоАП РФ)</a:t>
            </a:r>
            <a:endParaRPr/>
          </a:p>
          <a:p>
            <a:pPr>
              <a:defRPr/>
            </a:pPr>
            <a:r>
              <a:rPr lang="ru-RU"/>
              <a:t>·	Потеря кадровых документов классифицируется как нарушение трудового законодательства и правил архивного хранения. Штрафы варьируются от 1 до 50 тысяч рублей для должностных лиц и от 5 до 500 тысяч рублей для организаций. </a:t>
            </a:r>
            <a:endParaRPr/>
          </a:p>
          <a:p>
            <a:pPr>
              <a:defRPr/>
            </a:pPr>
            <a:r>
              <a:rPr lang="ru-RU"/>
              <a:t>·	Отсутствие письменного согласия сотрудника на обработку персональных данных классифицируется как нарушение ст. 13.11 КоАП РФ. Максимальные штрафы по данной статье составляют: до 100 000 руб. на должностных лиц и до 300 000 руб. на организацию.</a:t>
            </a:r>
            <a:endParaRPr/>
          </a:p>
          <a:p>
            <a:pPr>
              <a:defRPr/>
            </a:pPr>
            <a:r>
              <a:rPr lang="ru-RU"/>
              <a:t>·	Персональные данные нельзя отправлять в мессенджерах.</a:t>
            </a:r>
            <a:endParaRPr/>
          </a:p>
          <a:p>
            <a:pPr>
              <a:defRPr/>
            </a:pPr>
            <a:r>
              <a:rPr lang="ru-RU"/>
              <a:t>·	</a:t>
            </a:r>
            <a:r>
              <a:rPr lang="ru-RU" sz="1800" b="0" i="0">
                <a:solidFill>
                  <a:srgbClr val="333333"/>
                </a:solidFill>
                <a:latin typeface="Arial"/>
              </a:rPr>
              <a:t>Электронные кадровые документы хранятся </a:t>
            </a:r>
            <a:br>
              <a:rPr lang="ru-RU" sz="1800" b="0" i="0">
                <a:solidFill>
                  <a:srgbClr val="333333"/>
                </a:solidFill>
                <a:latin typeface="Arial"/>
              </a:rPr>
            </a:br>
            <a:r>
              <a:rPr lang="ru-RU" sz="1800" b="0" i="0">
                <a:solidFill>
                  <a:srgbClr val="333333"/>
                </a:solidFill>
                <a:latin typeface="Arial"/>
              </a:rPr>
              <a:t>в 1С.  У конкурентов в «облаках» или в специальных </a:t>
            </a:r>
            <a:br>
              <a:rPr lang="ru-RU" sz="1800" b="0" i="0">
                <a:solidFill>
                  <a:srgbClr val="333333"/>
                </a:solidFill>
                <a:latin typeface="Arial"/>
              </a:rPr>
            </a:br>
            <a:r>
              <a:rPr lang="ru-RU" sz="1800" b="0" i="0">
                <a:solidFill>
                  <a:srgbClr val="333333"/>
                </a:solidFill>
                <a:latin typeface="Arial"/>
              </a:rPr>
              <a:t>«локальных хранилищах» которые стоят денег. </a:t>
            </a:r>
            <a:endParaRPr/>
          </a:p>
          <a:p>
            <a:pPr>
              <a:defRPr/>
            </a:pPr>
            <a:r>
              <a:rPr lang="ru-RU"/>
              <a:t> </a:t>
            </a:r>
            <a:endParaRPr/>
          </a:p>
        </p:txBody>
      </p:sp>
      <p:pic>
        <p:nvPicPr>
          <p:cNvPr id="771908064" name="Рисунок 9"/>
          <p:cNvPicPr/>
          <p:nvPr/>
        </p:nvPicPr>
        <p:blipFill rotWithShape="1">
          <a:blip r:embed="rId3"/>
          <a:stretch/>
        </p:blipFill>
        <p:spPr bwMode="auto">
          <a:xfrm>
            <a:off x="6840855" y="4019867"/>
            <a:ext cx="4156710" cy="2181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544277" name="Заголовок 5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ДЛЯ РУКОВОДИТЕЛЯ</a:t>
            </a:r>
            <a:endParaRPr/>
          </a:p>
        </p:txBody>
      </p:sp>
      <p:sp>
        <p:nvSpPr>
          <p:cNvPr id="1507646235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1767252" y="1617784"/>
            <a:ext cx="9510346" cy="3903785"/>
          </a:xfrm>
        </p:spPr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Лояльность сотрудников – это уровень цифровизации компани</a:t>
            </a:r>
            <a:r>
              <a:rPr lang="ru-RU" b="1">
                <a:solidFill>
                  <a:srgbClr val="0F1115"/>
                </a:solidFill>
                <a:latin typeface="quote-cjk-patch"/>
              </a:rPr>
              <a:t>и и экономия времени.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Вы перестаете ждать бумажные документы и согласовываете заявления (отпуск, командировка) в пару кликов со смартфона. Время согласования сокращается с дней до часов.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b="1">
                <a:solidFill>
                  <a:srgbClr val="0F1115"/>
                </a:solidFill>
                <a:latin typeface="quote-cjk-patch"/>
              </a:rPr>
              <a:t>Снижение расходов.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 Компания экономит на бумаге, канцелярии и курьерах (до 75% затрат), принтерах, местах хранения документов. Кадровики тратят время на развитие, а не на бумажную волокиту.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b="1">
                <a:solidFill>
                  <a:srgbClr val="0F1115"/>
                </a:solidFill>
                <a:latin typeface="quote-cjk-patch"/>
              </a:rPr>
              <a:t>Экономные тарифы. 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Усиленная неквалифицированная электронная подпись для всех сотрудников бесплатно.</a:t>
            </a:r>
            <a:r>
              <a:rPr lang="ru-RU" sz="1800" b="0" i="0" u="none" strike="noStrike">
                <a:solidFill>
                  <a:srgbClr val="000000"/>
                </a:solidFill>
                <a:latin typeface="Verdana"/>
              </a:rPr>
              <a:t>	</a:t>
            </a:r>
            <a:endParaRPr/>
          </a:p>
          <a:p>
            <a:pPr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Полный контроль.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 Все процессы прозрачны: вы видите статус любого документа и имеете юридически значимое подтверждение, что сотрудник ознакомлен с приказом.</a:t>
            </a:r>
            <a:endParaRPr/>
          </a:p>
          <a:p>
            <a:pPr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Работа без проблем с «удаленкой».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 Юридически легитимный документооборот с сотрудниками в любом городе или на выезде.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b="1">
                <a:solidFill>
                  <a:srgbClr val="0F1115"/>
                </a:solidFill>
                <a:latin typeface="quote-cjk-patch"/>
              </a:rPr>
              <a:t>Нет штрафов 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на компанию из-за некорректных/несвоевременных документов.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b="1">
                <a:solidFill>
                  <a:srgbClr val="0F1115"/>
                </a:solidFill>
                <a:latin typeface="quote-cjk-patch"/>
              </a:rPr>
              <a:t>Снижение угрозы штрафа при работе с персональными данными 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- на 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р.м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. сотрудников не лежат документы</a:t>
            </a:r>
            <a:endParaRPr/>
          </a:p>
          <a:p>
            <a:pPr algn="l">
              <a:buFont typeface="+mj-lt"/>
              <a:buAutoNum type="arabicPeriod"/>
              <a:defRPr/>
            </a:pPr>
            <a:endParaRPr lang="ru-RU" i="0">
              <a:solidFill>
                <a:srgbClr val="0F1115"/>
              </a:solidFill>
              <a:latin typeface="quote-cjk-patch"/>
            </a:endParaRPr>
          </a:p>
          <a:p>
            <a:pPr algn="l">
              <a:defRPr/>
            </a:pPr>
            <a:endParaRPr lang="ru-RU" b="0" i="0">
              <a:solidFill>
                <a:srgbClr val="0F1115"/>
              </a:solidFill>
              <a:latin typeface="quote-cjk-patch"/>
            </a:endParaRPr>
          </a:p>
          <a:p>
            <a:pPr>
              <a:defRPr/>
            </a:pPr>
            <a:endParaRPr lang="ru-RU"/>
          </a:p>
        </p:txBody>
      </p:sp>
      <p:pic>
        <p:nvPicPr>
          <p:cNvPr id="867365851" name="Рисунок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252" y="1388447"/>
            <a:ext cx="1080000" cy="1080000"/>
          </a:xfrm>
          <a:prstGeom prst="rect">
            <a:avLst/>
          </a:prstGeom>
        </p:spPr>
      </p:pic>
      <p:pic>
        <p:nvPicPr>
          <p:cNvPr id="425755356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7252" y="2137656"/>
            <a:ext cx="1080000" cy="1080000"/>
          </a:xfrm>
          <a:prstGeom prst="rect">
            <a:avLst/>
          </a:prstGeom>
        </p:spPr>
      </p:pic>
      <p:pic>
        <p:nvPicPr>
          <p:cNvPr id="868040286" name="Рисунок 1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7252" y="3627883"/>
            <a:ext cx="1080000" cy="1080000"/>
          </a:xfrm>
          <a:prstGeom prst="rect">
            <a:avLst/>
          </a:prstGeom>
        </p:spPr>
      </p:pic>
      <p:pic>
        <p:nvPicPr>
          <p:cNvPr id="1558817634" name="Рисунок 1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23630" y="3018139"/>
            <a:ext cx="807243" cy="809262"/>
          </a:xfrm>
          <a:prstGeom prst="rect">
            <a:avLst/>
          </a:prstGeom>
        </p:spPr>
      </p:pic>
      <p:pic>
        <p:nvPicPr>
          <p:cNvPr id="700134870" name="Рисунок 1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45983" y="4547219"/>
            <a:ext cx="762535" cy="762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023373" name="Заголовок 5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ДЛЯ КАДРОВИКА</a:t>
            </a:r>
            <a:endParaRPr/>
          </a:p>
        </p:txBody>
      </p:sp>
      <p:sp>
        <p:nvSpPr>
          <p:cNvPr id="1219933354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1767252" y="1617784"/>
            <a:ext cx="9510346" cy="3903785"/>
          </a:xfrm>
        </p:spPr>
        <p:txBody>
          <a:bodyPr>
            <a:normAutofit/>
          </a:bodyPr>
          <a:lstStyle/>
          <a:p>
            <a:pPr marL="342900" indent="-342900"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Меньше рутины.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 Сотрудники сами берут справки и смотрят остатки отпусков, не отвлекая вас.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Быстрее работа.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 Заявления сотрудников автоматически создают готовые приказы в 1С. Приём нового работника — 5–10 минут вместо 5 часов.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Нет ошибок.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 Исключён ручной ввод данных и потеря бумаг.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Удалёнка без проблем.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 Документы подписываются онлайн с любого устройства — юридически чисто и без курьеров.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r>
              <a:rPr lang="ru-RU" b="1" i="0">
                <a:solidFill>
                  <a:srgbClr val="0F1115"/>
                </a:solidFill>
                <a:latin typeface="quote-cjk-patch"/>
              </a:rPr>
              <a:t>Спокойствие.</a:t>
            </a:r>
            <a:r>
              <a:rPr lang="ru-RU" b="0" i="0">
                <a:solidFill>
                  <a:srgbClr val="0F1115"/>
                </a:solidFill>
                <a:latin typeface="quote-cjk-patch"/>
              </a:rPr>
              <a:t> Вы видите статус каждого документа и не отвлекаетесь на звонки «где моя справка?».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r>
              <a:rPr lang="ru-RU" b="1">
                <a:solidFill>
                  <a:srgbClr val="0F1115"/>
                </a:solidFill>
                <a:latin typeface="quote-cjk-patch"/>
              </a:rPr>
              <a:t>Нет штрафов </a:t>
            </a:r>
            <a:r>
              <a:rPr lang="ru-RU">
                <a:solidFill>
                  <a:srgbClr val="0F1115"/>
                </a:solidFill>
                <a:latin typeface="quote-cjk-patch"/>
              </a:rPr>
              <a:t>на сотрудника/отдел из-за некорректных/несвоевременных документов, риск увольнения из-за в т.ч. Из-за утечки перс данных.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r>
              <a:rPr lang="ru-RU" b="1">
                <a:solidFill>
                  <a:srgbClr val="0F1115"/>
                </a:solidFill>
                <a:latin typeface="quote-cjk-patch"/>
              </a:rPr>
              <a:t>Ведение архива в электрон и сложности его поддержания в актуальном состоянии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endParaRPr lang="ru-RU" b="0" i="0">
              <a:solidFill>
                <a:srgbClr val="0F1115"/>
              </a:solidFill>
              <a:latin typeface="quote-cjk-patch"/>
            </a:endParaRPr>
          </a:p>
          <a:p>
            <a:pPr>
              <a:defRPr/>
            </a:pPr>
            <a:endParaRPr lang="ru-RU"/>
          </a:p>
        </p:txBody>
      </p:sp>
      <p:pic>
        <p:nvPicPr>
          <p:cNvPr id="1175034611" name="Рисунок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252" y="1388447"/>
            <a:ext cx="1080000" cy="1080000"/>
          </a:xfrm>
          <a:prstGeom prst="rect">
            <a:avLst/>
          </a:prstGeom>
        </p:spPr>
      </p:pic>
      <p:pic>
        <p:nvPicPr>
          <p:cNvPr id="1554225882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7252" y="2137656"/>
            <a:ext cx="1080000" cy="1080000"/>
          </a:xfrm>
          <a:prstGeom prst="rect">
            <a:avLst/>
          </a:prstGeom>
        </p:spPr>
      </p:pic>
      <p:pic>
        <p:nvPicPr>
          <p:cNvPr id="559972363" name="Рисунок 1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7252" y="3627883"/>
            <a:ext cx="1080000" cy="1080000"/>
          </a:xfrm>
          <a:prstGeom prst="rect">
            <a:avLst/>
          </a:prstGeom>
        </p:spPr>
      </p:pic>
      <p:pic>
        <p:nvPicPr>
          <p:cNvPr id="1411630508" name="Рисунок 1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23630" y="3018139"/>
            <a:ext cx="807243" cy="809262"/>
          </a:xfrm>
          <a:prstGeom prst="rect">
            <a:avLst/>
          </a:prstGeom>
        </p:spPr>
      </p:pic>
      <p:pic>
        <p:nvPicPr>
          <p:cNvPr id="1806466863" name="Рисунок 1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45983" y="4547219"/>
            <a:ext cx="762535" cy="762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772016" name="Заголовок 5"/>
          <p:cNvSpPr>
            <a:spLocks noGrp="1"/>
          </p:cNvSpPr>
          <p:nvPr>
            <p:ph type="title"/>
          </p:nvPr>
        </p:nvSpPr>
        <p:spPr bwMode="auto">
          <a:xfrm>
            <a:off x="884902" y="635297"/>
            <a:ext cx="10392696" cy="4893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ДЛЯ РАСЧЕТЧИКА</a:t>
            </a:r>
            <a:endParaRPr/>
          </a:p>
        </p:txBody>
      </p:sp>
      <p:sp>
        <p:nvSpPr>
          <p:cNvPr id="2024781324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1767252" y="1617784"/>
            <a:ext cx="9510346" cy="3903785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1800" b="1"/>
              <a:t>1. Экономия времени </a:t>
            </a:r>
            <a:r>
              <a:rPr lang="ru-RU" sz="1800"/>
              <a:t>при ознакомлении с </a:t>
            </a:r>
            <a:r>
              <a:rPr lang="ru-RU" sz="1800"/>
              <a:t>расчеткой</a:t>
            </a:r>
            <a:r>
              <a:rPr lang="ru-RU" sz="1800"/>
              <a:t> . Нет потерь РЛ даже если расписался (подделка подписи).</a:t>
            </a:r>
            <a:endParaRPr/>
          </a:p>
          <a:p>
            <a:pPr algn="l">
              <a:defRPr/>
            </a:pPr>
            <a:r>
              <a:rPr lang="ru-RU" sz="1800" b="1"/>
              <a:t>2. «Тайна уровня зарплаты»</a:t>
            </a:r>
            <a:endParaRPr/>
          </a:p>
          <a:p>
            <a:pPr algn="l">
              <a:defRPr/>
            </a:pPr>
            <a:r>
              <a:rPr lang="ru-RU" b="1"/>
              <a:t>3. Справки о зарплате (2-НДФЛ) </a:t>
            </a:r>
            <a:endParaRPr/>
          </a:p>
          <a:p>
            <a:pPr algn="l">
              <a:defRPr/>
            </a:pPr>
            <a:r>
              <a:rPr lang="ru-RU" sz="1800" b="1"/>
              <a:t>4. Заявление на вычет из приложения: </a:t>
            </a:r>
            <a:r>
              <a:rPr lang="ru-RU" sz="1800"/>
              <a:t>юридически значимое со сканами документов</a:t>
            </a:r>
            <a:endParaRPr/>
          </a:p>
          <a:p>
            <a:pPr marL="342900" indent="-342900" algn="l">
              <a:buFont typeface="+mj-lt"/>
              <a:buAutoNum type="arabicPeriod"/>
              <a:defRPr/>
            </a:pPr>
            <a:endParaRPr lang="ru-RU" b="0" i="0">
              <a:solidFill>
                <a:srgbClr val="0F1115"/>
              </a:solidFill>
              <a:latin typeface="quote-cjk-patch"/>
            </a:endParaRPr>
          </a:p>
          <a:p>
            <a:pPr>
              <a:defRPr/>
            </a:pPr>
            <a:endParaRPr lang="ru-RU"/>
          </a:p>
        </p:txBody>
      </p:sp>
      <p:pic>
        <p:nvPicPr>
          <p:cNvPr id="676431699" name="Рисунок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7252" y="1388447"/>
            <a:ext cx="1080000" cy="1080000"/>
          </a:xfrm>
          <a:prstGeom prst="rect">
            <a:avLst/>
          </a:prstGeom>
        </p:spPr>
      </p:pic>
      <p:pic>
        <p:nvPicPr>
          <p:cNvPr id="500951192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7252" y="2137656"/>
            <a:ext cx="1080000" cy="1080000"/>
          </a:xfrm>
          <a:prstGeom prst="rect">
            <a:avLst/>
          </a:prstGeom>
        </p:spPr>
      </p:pic>
      <p:pic>
        <p:nvPicPr>
          <p:cNvPr id="151117866" name="Рисунок 1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7252" y="3627883"/>
            <a:ext cx="1080000" cy="1080000"/>
          </a:xfrm>
          <a:prstGeom prst="rect">
            <a:avLst/>
          </a:prstGeom>
        </p:spPr>
      </p:pic>
      <p:pic>
        <p:nvPicPr>
          <p:cNvPr id="1245329260" name="Рисунок 1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23630" y="3018139"/>
            <a:ext cx="807243" cy="809262"/>
          </a:xfrm>
          <a:prstGeom prst="rect">
            <a:avLst/>
          </a:prstGeom>
        </p:spPr>
      </p:pic>
      <p:pic>
        <p:nvPicPr>
          <p:cNvPr id="916078378" name="Рисунок 1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45983" y="4547219"/>
            <a:ext cx="762535" cy="762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58353" name="Заголовок 1"/>
          <p:cNvSpPr>
            <a:spLocks noGrp="1"/>
          </p:cNvSpPr>
          <p:nvPr>
            <p:ph type="title"/>
          </p:nvPr>
        </p:nvSpPr>
        <p:spPr bwMode="auto">
          <a:xfrm>
            <a:off x="0" y="2"/>
            <a:ext cx="12192000" cy="132079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/>
              <a:t>Лайфхаки: как за 1 минуту…</a:t>
            </a:r>
            <a:endParaRPr/>
          </a:p>
        </p:txBody>
      </p:sp>
      <p:sp>
        <p:nvSpPr>
          <p:cNvPr id="1691096394" name="Объект 4"/>
          <p:cNvSpPr txBox="1"/>
          <p:nvPr/>
        </p:nvSpPr>
        <p:spPr bwMode="auto">
          <a:xfrm>
            <a:off x="2170228" y="3283036"/>
            <a:ext cx="412124" cy="50084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3600">
              <a:solidFill>
                <a:srgbClr val="FF0000"/>
              </a:solidFill>
            </a:endParaRPr>
          </a:p>
        </p:txBody>
      </p:sp>
      <p:sp>
        <p:nvSpPr>
          <p:cNvPr id="1259086260" name="Объект 4"/>
          <p:cNvSpPr txBox="1"/>
          <p:nvPr/>
        </p:nvSpPr>
        <p:spPr bwMode="auto">
          <a:xfrm>
            <a:off x="8825415" y="2651950"/>
            <a:ext cx="412124" cy="50084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3600">
              <a:solidFill>
                <a:srgbClr val="FF0000"/>
              </a:solidFill>
            </a:endParaRPr>
          </a:p>
        </p:txBody>
      </p:sp>
      <p:sp>
        <p:nvSpPr>
          <p:cNvPr id="1790266403" name="Подзаголовок 2"/>
          <p:cNvSpPr txBox="1"/>
          <p:nvPr/>
        </p:nvSpPr>
        <p:spPr bwMode="auto">
          <a:xfrm>
            <a:off x="284284" y="1256094"/>
            <a:ext cx="11113477" cy="50555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  <a:defRPr/>
            </a:pPr>
            <a:endParaRPr lang="ru-RU" b="0"/>
          </a:p>
        </p:txBody>
      </p:sp>
      <p:sp>
        <p:nvSpPr>
          <p:cNvPr id="1792663046" name="Подзаголовок 2"/>
          <p:cNvSpPr txBox="1"/>
          <p:nvPr/>
        </p:nvSpPr>
        <p:spPr bwMode="auto">
          <a:xfrm>
            <a:off x="635000" y="1408494"/>
            <a:ext cx="10915161" cy="50555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endParaRPr lang="ru-RU" b="0"/>
          </a:p>
        </p:txBody>
      </p:sp>
      <p:sp>
        <p:nvSpPr>
          <p:cNvPr id="1038626307" name="TextBox 13"/>
          <p:cNvSpPr txBox="1"/>
          <p:nvPr/>
        </p:nvSpPr>
        <p:spPr bwMode="auto">
          <a:xfrm>
            <a:off x="863683" y="1809555"/>
            <a:ext cx="10915161" cy="294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v"/>
              <a:defRPr/>
            </a:pPr>
            <a:r>
              <a:rPr lang="ru-RU" sz="3000"/>
              <a:t> </a:t>
            </a:r>
            <a:r>
              <a:rPr lang="ru-RU" sz="3000" u="sng">
                <a:hlinkClick r:id="rId3" tooltip=""/>
              </a:rPr>
              <a:t>Из 1С отправить расчётку с ознакомлением</a:t>
            </a:r>
            <a:endParaRPr lang="ru-RU" sz="3000"/>
          </a:p>
          <a:p>
            <a:pPr marL="457200" indent="-457200"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v"/>
              <a:defRPr/>
            </a:pPr>
            <a:r>
              <a:rPr lang="ru-RU" sz="3000"/>
              <a:t> </a:t>
            </a:r>
            <a:r>
              <a:rPr lang="ru-RU" sz="3000" u="sng">
                <a:hlinkClick r:id="rId4" tooltip=""/>
              </a:rPr>
              <a:t>Уведомить сотрудника о плановом отпуске из 1С</a:t>
            </a:r>
            <a:endParaRPr lang="ru-RU" sz="3000"/>
          </a:p>
          <a:p>
            <a:pPr marL="457200" indent="-457200"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v"/>
              <a:defRPr/>
            </a:pPr>
            <a:r>
              <a:rPr lang="ru-RU" sz="3000"/>
              <a:t> </a:t>
            </a:r>
            <a:r>
              <a:rPr lang="ru-RU" sz="3000" u="sng">
                <a:hlinkClick r:id="rId5" tooltip=""/>
              </a:rPr>
              <a:t>Получить документы кандидата прямо в 1С </a:t>
            </a:r>
            <a:endParaRPr lang="ru-RU" sz="3000"/>
          </a:p>
          <a:p>
            <a:pPr marL="457200" indent="-457200"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v"/>
              <a:defRPr/>
            </a:pPr>
            <a:r>
              <a:rPr lang="ru-RU" sz="3000"/>
              <a:t> </a:t>
            </a:r>
            <a:r>
              <a:rPr lang="ru-RU" sz="3000" u="sng">
                <a:hlinkClick r:id="rId6" tooltip=""/>
              </a:rPr>
              <a:t>Ознакомить с документом всех сотрудников </a:t>
            </a:r>
            <a:endParaRPr lang="ru-RU" sz="3000"/>
          </a:p>
          <a:p>
            <a:pPr marL="360000" indent="-360000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ct val="150000"/>
              <a:buFont typeface="Wingdings"/>
              <a:buChar char="§"/>
              <a:defRPr/>
            </a:pPr>
            <a:endParaRPr lang="ru-RU"/>
          </a:p>
        </p:txBody>
      </p:sp>
      <p:pic>
        <p:nvPicPr>
          <p:cNvPr id="823086445" name="Рисунок 12"/>
          <p:cNvPicPr/>
          <p:nvPr/>
        </p:nvPicPr>
        <p:blipFill rotWithShape="1">
          <a:blip r:embed="rId7"/>
          <a:stretch/>
        </p:blipFill>
        <p:spPr bwMode="auto">
          <a:xfrm>
            <a:off x="6958763" y="4866258"/>
            <a:ext cx="1391920" cy="1177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283312" name="Рисунок 14"/>
          <p:cNvPicPr/>
          <p:nvPr/>
        </p:nvPicPr>
        <p:blipFill rotWithShape="1">
          <a:blip r:embed="rId8"/>
          <a:stretch/>
        </p:blipFill>
        <p:spPr bwMode="auto">
          <a:xfrm>
            <a:off x="3499425" y="4866258"/>
            <a:ext cx="1128395" cy="1166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Forus2020">
  <a:themeElements>
    <a:clrScheme name="Фору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CF68"/>
      </a:accent1>
      <a:accent2>
        <a:srgbClr val="395F75"/>
      </a:accent2>
      <a:accent3>
        <a:srgbClr val="A5A5A5"/>
      </a:accent3>
      <a:accent4>
        <a:srgbClr val="D74949"/>
      </a:accent4>
      <a:accent5>
        <a:srgbClr val="5B9BD5"/>
      </a:accent5>
      <a:accent6>
        <a:srgbClr val="00715D"/>
      </a:accent6>
      <a:hlink>
        <a:srgbClr val="0563C1"/>
      </a:hlink>
      <a:folHlink>
        <a:srgbClr val="954F72"/>
      </a:folHlink>
    </a:clrScheme>
    <a:fontScheme name="Форус_2020">
      <a:majorFont>
        <a:latin typeface="Verdana"/>
        <a:ea typeface="Arial"/>
        <a:cs typeface="Arial"/>
      </a:majorFont>
      <a:minorFont>
        <a:latin typeface="Verdana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Ремез Оксана Леонидовна</cp:lastModifiedBy>
  <cp:revision>181</cp:revision>
  <dcterms:created xsi:type="dcterms:W3CDTF">2020-01-20T06:19:00Z</dcterms:created>
  <dcterms:modified xsi:type="dcterms:W3CDTF">2026-07-07T03:48:24Z</dcterms:modified>
</cp:coreProperties>
</file>