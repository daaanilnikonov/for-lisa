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4614414-3CAC-4348-9700-D7FD471E328C}">
  <a:tblStyle styleId="{44614414-3CAC-4348-9700-D7FD471E328C}" styleName="Table_0">
    <a:wholeTbl>
      <a:tcTxStyle>
        <a:srgbClr val="000000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39" d="100"/>
          <a:sy n="139" d="100"/>
        </p:scale>
        <p:origin x="804" y="144"/>
      </p:cViewPr>
      <p:guideLst>
        <p:guide pos="162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186614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903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144768" name="Google Shape;51;g2c024994ad9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819053322" name="Google Shape;52;g2c024994ad9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3493" name="Google Shape;63;g2c024994ad9_0_1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70172656" name="Google Shape;64;g2c024994ad9_0_1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992741" name="Google Shape;112;g2c024994ad9_0_9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7298212" name="Google Shape;113;g2c024994ad9_0_9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567545" name="Google Shape;123;g2c024994ad9_0_10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872741" name="Google Shape;124;g2c024994ad9_0_10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2015117565" name="Google Shape;125;g2c024994ad9_0_105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829190" name="Google Shape;140;g2c024994ad9_0_16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4846988" name="Google Shape;141;g2c024994ad9_0_16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753288409" name="Google Shape;142;g2c024994ad9_0_164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742329" name="Google Shape;155;g2c024994ad9_0_17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8898839" name="Google Shape;156;g2c024994ad9_0_17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04466449" name="Google Shape;157;g2c024994ad9_0_178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9718" name="Google Shape;170;g2c024994ad9_0_19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9973427" name="Google Shape;171;g2c024994ad9_0_19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2020186461" name="Google Shape;172;g2c024994ad9_0_192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869584" name="Google Shape;181;g2c024994ad9_0_20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407778" name="Google Shape;182;g2c024994ad9_0_20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5760434" name="Google Shape;183;g2c024994ad9_0_203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92674" name="Google Shape;198;g2c024994ad9_0_31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762163849" name="Google Shape;199;g2c024994ad9_0_3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93904" name="Google Shape;211;g2c57f924a21_0_1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972333193" name="Google Shape;212;g2c57f924a21_0_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153598" name="Google Shape;231;g2c024994ad9_0_33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964557066" name="Google Shape;232;g2c024994ad9_0_33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91171" name="Google Shape;246;g2c024994ad9_0_39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60501" name="Google Shape;247;g2c024994ad9_0_39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761156" name="Google Shape;257;g2c024994ad9_0_40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433494240" name="Google Shape;258;g2c024994ad9_0_40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911980" name="Google Shape;272;g2c024994ad9_0_41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61308165" name="Google Shape;273;g2c024994ad9_0_41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609886" name="Google Shape;284;g2c024994ad9_0_42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458854821" name="Google Shape;285;g2c024994ad9_0_42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91129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2042486765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987018960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082371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10734776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609444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9281791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6014993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546970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5117428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096428351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80914987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939484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5677556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770577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281489216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12498673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803198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39468176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367256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72265530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761201138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383826065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1798058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879303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06362147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44880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85188794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0762805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441941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727310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0564704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84296986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6.png"/><Relationship Id="rId7" Type="http://schemas.openxmlformats.org/officeDocument/2006/relationships/image" Target="../media/image2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3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0.png"/><Relationship Id="rId7" Type="http://schemas.openxmlformats.org/officeDocument/2006/relationships/hyperlink" Target="https://astral.ru/trainer/astraldocs/index.html" TargetMode="External"/><Relationship Id="rId8" Type="http://schemas.openxmlformats.org/officeDocument/2006/relationships/image" Target="../media/image4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2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66489" name="Google Shape;54;p1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0773877" name="Google Shape;55;p13"/>
          <p:cNvSpPr txBox="1"/>
          <p:nvPr/>
        </p:nvSpPr>
        <p:spPr bwMode="auto">
          <a:xfrm>
            <a:off x="365645" y="750294"/>
            <a:ext cx="5078100" cy="1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sz="5700" b="1" i="0" u="none" strike="noStrike" cap="none">
                <a:solidFill>
                  <a:srgbClr val="FFDE08"/>
                </a:solidFill>
                <a:latin typeface="Comfortaa"/>
                <a:ea typeface="Comfortaa"/>
                <a:cs typeface="Comfortaa"/>
              </a:rPr>
              <a:t>Доки</a:t>
            </a:r>
            <a:endParaRPr sz="5700" b="1" i="0" u="none" strike="noStrike" cap="none">
              <a:solidFill>
                <a:srgbClr val="FFDE08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>
              <a:solidFill>
                <a:schemeClr val="lt1"/>
              </a:solidFill>
              <a:latin typeface="Avenir"/>
              <a:ea typeface="Avenir"/>
              <a:cs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>
              <a:solidFill>
                <a:schemeClr val="lt1"/>
              </a:solidFill>
              <a:latin typeface="Avenir"/>
              <a:ea typeface="Avenir"/>
              <a:cs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сервис электронного документооборота</a:t>
            </a:r>
            <a:endParaRPr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 контрагентами</a:t>
            </a:r>
            <a:endParaRPr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455930159" name="Google Shape;56;p1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14573" y="-2095775"/>
            <a:ext cx="5959376" cy="58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77554" name="Google Shape;57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571999" y="-972525"/>
            <a:ext cx="2111626" cy="211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830575" name="Google Shape;58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8003774" y="3212851"/>
            <a:ext cx="1477250" cy="14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439746" name="Google Shape;59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164375" y="3600950"/>
            <a:ext cx="855401" cy="85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362396" name="Google Shape;60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8057700" y="994075"/>
            <a:ext cx="235349" cy="23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531078" name="Google Shape;61;p1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3956575" y="333975"/>
            <a:ext cx="3852050" cy="42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3623530" name="Google Shape;66;p1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007153" name="Google Shape;67;p1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557550" y="-1708401"/>
            <a:ext cx="5449099" cy="54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193038" name="Google Shape;68;p14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2768099" y="1475401"/>
            <a:ext cx="2698950" cy="269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792330" name="Google Shape;69;p14"/>
          <p:cNvSpPr txBox="1"/>
          <p:nvPr/>
        </p:nvSpPr>
        <p:spPr bwMode="auto">
          <a:xfrm>
            <a:off x="616314" y="373847"/>
            <a:ext cx="6018900" cy="1284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Доки позволяет работать 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с электронными документами 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когда, где и как удобно!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grpSp>
        <p:nvGrpSpPr>
          <p:cNvPr id="582290732" name="Google Shape;70;p14"/>
          <p:cNvGrpSpPr/>
          <p:nvPr/>
        </p:nvGrpSpPr>
        <p:grpSpPr bwMode="auto">
          <a:xfrm>
            <a:off x="3239337" y="2476879"/>
            <a:ext cx="2151787" cy="1451057"/>
            <a:chOff x="5359640" y="2571759"/>
            <a:chExt cx="2959003" cy="1995403"/>
          </a:xfrm>
        </p:grpSpPr>
        <p:grpSp>
          <p:nvGrpSpPr>
            <p:cNvPr id="71" name="Google Shape;71;p14"/>
            <p:cNvGrpSpPr/>
            <p:nvPr/>
          </p:nvGrpSpPr>
          <p:grpSpPr bwMode="auto">
            <a:xfrm>
              <a:off x="5359640" y="2571759"/>
              <a:ext cx="2959003" cy="1735588"/>
              <a:chOff x="6400262" y="2311768"/>
              <a:chExt cx="5538092" cy="3342813"/>
            </a:xfrm>
          </p:grpSpPr>
          <p:grpSp>
            <p:nvGrpSpPr>
              <p:cNvPr id="72" name="Google Shape;72;p14"/>
              <p:cNvGrpSpPr/>
              <p:nvPr/>
            </p:nvGrpSpPr>
            <p:grpSpPr bwMode="auto">
              <a:xfrm>
                <a:off x="6400262" y="2311768"/>
                <a:ext cx="5538092" cy="3342813"/>
                <a:chOff x="1055597" y="1950447"/>
                <a:chExt cx="6745545" cy="4071635"/>
              </a:xfrm>
            </p:grpSpPr>
            <p:pic>
              <p:nvPicPr>
                <p:cNvPr id="73" name="Google Shape;73;p14"/>
                <p:cNvPicPr/>
                <p:nvPr/>
              </p:nvPicPr>
              <p:blipFill rotWithShape="1">
                <a:blip r:embed="rId6">
                  <a:alphaModFix/>
                </a:blip>
                <a:stretch/>
              </p:blipFill>
              <p:spPr bwMode="auto">
                <a:xfrm>
                  <a:off x="1055597" y="1950447"/>
                  <a:ext cx="6745545" cy="40716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" name="Google Shape;74;p14"/>
                <p:cNvSpPr/>
                <p:nvPr/>
              </p:nvSpPr>
              <p:spPr bwMode="auto">
                <a:xfrm>
                  <a:off x="1847685" y="2160307"/>
                  <a:ext cx="5184600" cy="32403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100"/>
                    <a:buFont typeface="Arial"/>
                    <a:buNone/>
                    <a:defRPr/>
                  </a:pPr>
                  <a:endParaRPr sz="21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</p:grpSp>
          <p:grpSp>
            <p:nvGrpSpPr>
              <p:cNvPr id="75" name="Google Shape;75;p14"/>
              <p:cNvGrpSpPr/>
              <p:nvPr/>
            </p:nvGrpSpPr>
            <p:grpSpPr bwMode="auto">
              <a:xfrm>
                <a:off x="7068332" y="2438398"/>
                <a:ext cx="4214558" cy="2743545"/>
                <a:chOff x="6498162" y="898823"/>
                <a:chExt cx="4274400" cy="2782500"/>
              </a:xfrm>
            </p:grpSpPr>
            <p:sp>
              <p:nvSpPr>
                <p:cNvPr id="76" name="Google Shape;76;p14"/>
                <p:cNvSpPr/>
                <p:nvPr/>
              </p:nvSpPr>
              <p:spPr bwMode="auto">
                <a:xfrm>
                  <a:off x="6498162" y="898823"/>
                  <a:ext cx="4274400" cy="2782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  <a:defRPr/>
                  </a:pPr>
                  <a:endParaRPr sz="1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  <p:grpSp>
              <p:nvGrpSpPr>
                <p:cNvPr id="77" name="Google Shape;77;p14"/>
                <p:cNvGrpSpPr/>
                <p:nvPr/>
              </p:nvGrpSpPr>
              <p:grpSpPr bwMode="auto">
                <a:xfrm>
                  <a:off x="7509942" y="1375503"/>
                  <a:ext cx="1079893" cy="1243850"/>
                  <a:chOff x="4915096" y="979640"/>
                  <a:chExt cx="2496862" cy="2875954"/>
                </a:xfrm>
              </p:grpSpPr>
              <p:sp>
                <p:nvSpPr>
                  <p:cNvPr id="78" name="Google Shape;78;p14"/>
                  <p:cNvSpPr/>
                  <p:nvPr/>
                </p:nvSpPr>
                <p:spPr bwMode="auto">
                  <a:xfrm rot="-5400000">
                    <a:off x="4466294" y="2149644"/>
                    <a:ext cx="2157600" cy="1254300"/>
                  </a:xfrm>
                  <a:prstGeom prst="parallelogram">
                    <a:avLst>
                      <a:gd name="adj" fmla="val 57913"/>
                    </a:avLst>
                  </a:prstGeom>
                  <a:solidFill>
                    <a:srgbClr val="1B6AA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  <a:defRPr/>
                    </a:pPr>
                    <a:endParaRPr sz="12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endParaRPr>
                  </a:p>
                </p:txBody>
              </p:sp>
              <p:grpSp>
                <p:nvGrpSpPr>
                  <p:cNvPr id="79" name="Google Shape;79;p14"/>
                  <p:cNvGrpSpPr/>
                  <p:nvPr/>
                </p:nvGrpSpPr>
                <p:grpSpPr bwMode="auto">
                  <a:xfrm>
                    <a:off x="4915096" y="979640"/>
                    <a:ext cx="2496862" cy="2871020"/>
                    <a:chOff x="5651806" y="-116780"/>
                    <a:chExt cx="4801657" cy="5521192"/>
                  </a:xfrm>
                </p:grpSpPr>
                <p:grpSp>
                  <p:nvGrpSpPr>
                    <p:cNvPr id="80" name="Google Shape;80;p14"/>
                    <p:cNvGrpSpPr/>
                    <p:nvPr/>
                  </p:nvGrpSpPr>
                  <p:grpSpPr bwMode="auto">
                    <a:xfrm>
                      <a:off x="5651806" y="-116780"/>
                      <a:ext cx="4801657" cy="5521192"/>
                      <a:chOff x="5651806" y="-116780"/>
                      <a:chExt cx="4801657" cy="5521192"/>
                    </a:xfrm>
                  </p:grpSpPr>
                  <p:sp>
                    <p:nvSpPr>
                      <p:cNvPr id="81" name="Google Shape;81;p14"/>
                      <p:cNvSpPr/>
                      <p:nvPr/>
                    </p:nvSpPr>
                    <p:spPr bwMode="auto">
                      <a:xfrm rot="5400000" flipH="1">
                        <a:off x="7182113" y="2133062"/>
                        <a:ext cx="4149000" cy="2393699"/>
                      </a:xfrm>
                      <a:prstGeom prst="parallelogram">
                        <a:avLst>
                          <a:gd name="adj" fmla="val 57913"/>
                        </a:avLst>
                      </a:prstGeom>
                      <a:solidFill>
                        <a:srgbClr val="A5779E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82" name="Google Shape;82;p14"/>
                      <p:cNvSpPr/>
                      <p:nvPr/>
                    </p:nvSpPr>
                    <p:spPr bwMode="auto">
                      <a:xfrm>
                        <a:off x="5651806" y="-116780"/>
                        <a:ext cx="4796399" cy="2768400"/>
                      </a:xfrm>
                      <a:prstGeom prst="diamond">
                        <a:avLst/>
                      </a:prstGeom>
                      <a:gradFill>
                        <a:gsLst>
                          <a:gs pos="0">
                            <a:srgbClr val="48B49C"/>
                          </a:gs>
                          <a:gs pos="100000">
                            <a:srgbClr val="8ED2C3"/>
                          </a:gs>
                        </a:gsLst>
                        <a:lin ang="5400012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grpSp>
                    <p:nvGrpSpPr>
                      <p:cNvPr id="83" name="Google Shape;83;p14"/>
                      <p:cNvGrpSpPr/>
                      <p:nvPr/>
                    </p:nvGrpSpPr>
                    <p:grpSpPr bwMode="auto">
                      <a:xfrm>
                        <a:off x="7260915" y="783530"/>
                        <a:ext cx="1597734" cy="926700"/>
                        <a:chOff x="3254113" y="1153362"/>
                        <a:chExt cx="1597734" cy="926700"/>
                      </a:xfrm>
                    </p:grpSpPr>
                    <p:sp>
                      <p:nvSpPr>
                        <p:cNvPr id="84" name="Google Shape;84;p14"/>
                        <p:cNvSpPr/>
                        <p:nvPr/>
                      </p:nvSpPr>
                      <p:spPr bwMode="auto">
                        <a:xfrm rot="-5400000">
                          <a:off x="3190213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A5779E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  <p:sp>
                      <p:nvSpPr>
                        <p:cNvPr id="85" name="Google Shape;85;p14"/>
                        <p:cNvSpPr/>
                        <p:nvPr/>
                      </p:nvSpPr>
                      <p:spPr bwMode="auto">
                        <a:xfrm rot="5400000" flipH="1">
                          <a:off x="3989047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1B6AA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86" name="Google Shape;86;p14"/>
                      <p:cNvGrpSpPr/>
                      <p:nvPr/>
                    </p:nvGrpSpPr>
                    <p:grpSpPr bwMode="auto">
                      <a:xfrm rot="3599954">
                        <a:off x="6060846" y="2849645"/>
                        <a:ext cx="1597699" cy="926680"/>
                        <a:chOff x="3254113" y="1153362"/>
                        <a:chExt cx="1597734" cy="926700"/>
                      </a:xfrm>
                    </p:grpSpPr>
                    <p:sp>
                      <p:nvSpPr>
                        <p:cNvPr id="87" name="Google Shape;87;p14"/>
                        <p:cNvSpPr/>
                        <p:nvPr/>
                      </p:nvSpPr>
                      <p:spPr bwMode="auto">
                        <a:xfrm rot="-5400000">
                          <a:off x="3190213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A5779E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  <p:sp>
                      <p:nvSpPr>
                        <p:cNvPr id="88" name="Google Shape;88;p14"/>
                        <p:cNvSpPr/>
                        <p:nvPr/>
                      </p:nvSpPr>
                      <p:spPr bwMode="auto">
                        <a:xfrm rot="5400000" flipH="1">
                          <a:off x="3989047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gradFill>
                          <a:gsLst>
                            <a:gs pos="0">
                              <a:srgbClr val="48B49C"/>
                            </a:gs>
                            <a:gs pos="100000">
                              <a:srgbClr val="4CB8A1"/>
                            </a:gs>
                          </a:gsLst>
                          <a:lin ang="5400012" scaled="0"/>
                        </a:gra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89" name="Google Shape;89;p14"/>
                    <p:cNvGrpSpPr/>
                    <p:nvPr/>
                  </p:nvGrpSpPr>
                  <p:grpSpPr bwMode="auto">
                    <a:xfrm rot="7200042">
                      <a:off x="8462398" y="2852108"/>
                      <a:ext cx="1597699" cy="926680"/>
                      <a:chOff x="3254113" y="1153362"/>
                      <a:chExt cx="1597734" cy="926700"/>
                    </a:xfrm>
                  </p:grpSpPr>
                  <p:sp>
                    <p:nvSpPr>
                      <p:cNvPr id="90" name="Google Shape;90;p14"/>
                      <p:cNvSpPr/>
                      <p:nvPr/>
                    </p:nvSpPr>
                    <p:spPr bwMode="auto">
                      <a:xfrm rot="-5400000">
                        <a:off x="3190213" y="1217262"/>
                        <a:ext cx="926700" cy="79890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1B6AA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91" name="Google Shape;91;p14"/>
                      <p:cNvSpPr/>
                      <p:nvPr/>
                    </p:nvSpPr>
                    <p:spPr bwMode="auto">
                      <a:xfrm rot="5400000" flipH="1">
                        <a:off x="3989047" y="1217262"/>
                        <a:ext cx="926700" cy="79890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gradFill>
                        <a:gsLst>
                          <a:gs pos="0">
                            <a:srgbClr val="48B49C"/>
                          </a:gs>
                          <a:gs pos="100000">
                            <a:srgbClr val="4CB8A1"/>
                          </a:gs>
                        </a:gsLst>
                        <a:lin ang="5400012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92" name="Google Shape;92;p14"/>
            <p:cNvSpPr/>
            <p:nvPr/>
          </p:nvSpPr>
          <p:spPr bwMode="auto">
            <a:xfrm>
              <a:off x="5570255" y="4171162"/>
              <a:ext cx="2537699" cy="396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defRPr/>
              </a:pPr>
              <a:r>
                <a:rPr lang="ru" sz="12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Веб-кабинет</a:t>
              </a:r>
              <a:endParaRPr sz="1200" b="0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grpSp>
        <p:nvGrpSpPr>
          <p:cNvPr id="153134086" name="Google Shape;93;p14"/>
          <p:cNvGrpSpPr/>
          <p:nvPr/>
        </p:nvGrpSpPr>
        <p:grpSpPr bwMode="auto">
          <a:xfrm>
            <a:off x="5671231" y="2496042"/>
            <a:ext cx="1423145" cy="1412717"/>
            <a:chOff x="3071731" y="3046354"/>
            <a:chExt cx="1423145" cy="1412717"/>
          </a:xfrm>
        </p:grpSpPr>
        <p:grpSp>
          <p:nvGrpSpPr>
            <p:cNvPr id="94" name="Google Shape;94;p14"/>
            <p:cNvGrpSpPr/>
            <p:nvPr/>
          </p:nvGrpSpPr>
          <p:grpSpPr bwMode="auto">
            <a:xfrm>
              <a:off x="3071731" y="3046354"/>
              <a:ext cx="1423145" cy="1412717"/>
              <a:chOff x="4589293" y="1421050"/>
              <a:chExt cx="1585500" cy="1573883"/>
            </a:xfrm>
          </p:grpSpPr>
          <p:sp>
            <p:nvSpPr>
              <p:cNvPr id="95" name="Google Shape;95;p14"/>
              <p:cNvSpPr/>
              <p:nvPr/>
            </p:nvSpPr>
            <p:spPr bwMode="auto">
              <a:xfrm>
                <a:off x="4804385" y="1421050"/>
                <a:ext cx="1155300" cy="128459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 bwMode="auto">
              <a:xfrm>
                <a:off x="4589293" y="2673932"/>
                <a:ext cx="1585500" cy="321000"/>
              </a:xfrm>
              <a:prstGeom prst="roundRect">
                <a:avLst>
                  <a:gd name="adj" fmla="val 16667"/>
                </a:avLst>
              </a:prstGeom>
              <a:solidFill>
                <a:srgbClr val="745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defRPr/>
                </a:pPr>
                <a:r>
                  <a:rPr lang="ru" sz="1300" b="0" i="0" u="none" strike="noStrike" cap="none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</a:rPr>
                  <a:t>API</a:t>
                </a:r>
                <a:endParaRPr sz="13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endParaRPr>
              </a:p>
            </p:txBody>
          </p:sp>
        </p:grpSp>
        <p:pic>
          <p:nvPicPr>
            <p:cNvPr id="97" name="Google Shape;97;p14"/>
            <p:cNvPicPr/>
            <p:nvPr/>
          </p:nvPicPr>
          <p:blipFill rotWithShape="1">
            <a:blip r:embed="rId7">
              <a:alphaModFix/>
            </a:blip>
            <a:srcRect l="0" t="-4580" r="0" b="4578"/>
            <a:stretch/>
          </p:blipFill>
          <p:spPr bwMode="auto">
            <a:xfrm>
              <a:off x="3379163" y="3166525"/>
              <a:ext cx="808275" cy="82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80066926" name="Google Shape;98;p14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 rot="10800000" flipH="1">
            <a:off x="5171050" y="2422925"/>
            <a:ext cx="502875" cy="5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1276445" name="Google Shape;99;p14"/>
          <p:cNvGrpSpPr/>
          <p:nvPr/>
        </p:nvGrpSpPr>
        <p:grpSpPr bwMode="auto">
          <a:xfrm>
            <a:off x="683876" y="2053380"/>
            <a:ext cx="2084228" cy="1876307"/>
            <a:chOff x="6094324" y="312425"/>
            <a:chExt cx="2322001" cy="2090360"/>
          </a:xfrm>
        </p:grpSpPr>
        <p:pic>
          <p:nvPicPr>
            <p:cNvPr id="100" name="Google Shape;100;p14"/>
            <p:cNvPicPr/>
            <p:nvPr/>
          </p:nvPicPr>
          <p:blipFill rotWithShape="1">
            <a:blip r:embed="rId9">
              <a:alphaModFix/>
            </a:blip>
            <a:stretch/>
          </p:blipFill>
          <p:spPr bwMode="auto">
            <a:xfrm>
              <a:off x="6094324" y="312425"/>
              <a:ext cx="2322001" cy="1850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/>
            <p:nvPr/>
          </p:nvSpPr>
          <p:spPr bwMode="auto">
            <a:xfrm>
              <a:off x="6257672" y="2081785"/>
              <a:ext cx="1995300" cy="321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defRPr/>
              </a:pPr>
              <a:r>
                <a:rPr lang="ru" sz="12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Работает из 1С</a:t>
              </a:r>
              <a:endParaRPr sz="1200" b="0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pic>
        <p:nvPicPr>
          <p:cNvPr id="807170923" name="Google Shape;102;p14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 rot="10800000" flipH="1">
            <a:off x="924726" y="2834000"/>
            <a:ext cx="140350" cy="5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566705" name="Google Shape;103;p14"/>
          <p:cNvGrpSpPr/>
          <p:nvPr/>
        </p:nvGrpSpPr>
        <p:grpSpPr bwMode="auto">
          <a:xfrm>
            <a:off x="7298538" y="1272060"/>
            <a:ext cx="1845458" cy="2636562"/>
            <a:chOff x="6968625" y="2224475"/>
            <a:chExt cx="2208014" cy="3136897"/>
          </a:xfrm>
        </p:grpSpPr>
        <p:pic>
          <p:nvPicPr>
            <p:cNvPr id="104" name="Google Shape;104;p14"/>
            <p:cNvPicPr/>
            <p:nvPr/>
          </p:nvPicPr>
          <p:blipFill rotWithShape="1">
            <a:blip r:embed="rId10">
              <a:alphaModFix/>
            </a:blip>
            <a:stretch/>
          </p:blipFill>
          <p:spPr bwMode="auto">
            <a:xfrm>
              <a:off x="6968625" y="2224475"/>
              <a:ext cx="2152801" cy="29494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/>
            <p:cNvSpPr/>
            <p:nvPr/>
          </p:nvSpPr>
          <p:spPr bwMode="auto">
            <a:xfrm>
              <a:off x="6968639" y="5016372"/>
              <a:ext cx="2208000" cy="345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200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Мобильная версия</a:t>
              </a:r>
              <a:endParaRPr sz="1200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72039586" name="Google Shape;106;p14"/>
          <p:cNvSpPr txBox="1"/>
          <p:nvPr/>
        </p:nvSpPr>
        <p:spPr bwMode="auto">
          <a:xfrm>
            <a:off x="7298550" y="3908750"/>
            <a:ext cx="3000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600" i="1">
                <a:solidFill>
                  <a:schemeClr val="dk1"/>
                </a:solidFill>
              </a:rPr>
              <a:t>Функционал мобильной версии будет </a:t>
            </a:r>
            <a:endParaRPr sz="6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600" i="1">
                <a:solidFill>
                  <a:schemeClr val="dk1"/>
                </a:solidFill>
              </a:rPr>
              <a:t>поэтапно появляться в течение 2026 года</a:t>
            </a:r>
            <a:endParaRPr sz="600" i="1">
              <a:solidFill>
                <a:schemeClr val="dk1"/>
              </a:solidFill>
            </a:endParaRPr>
          </a:p>
        </p:txBody>
      </p:sp>
      <p:pic>
        <p:nvPicPr>
          <p:cNvPr id="799458646" name="Google Shape;107;p14"/>
          <p:cNvPicPr/>
          <p:nvPr/>
        </p:nvPicPr>
        <p:blipFill rotWithShape="1">
          <a:blip r:embed="rId11">
            <a:alphaModFix/>
          </a:blip>
          <a:srcRect l="0" t="3428" r="0" b="35235"/>
          <a:stretch/>
        </p:blipFill>
        <p:spPr bwMode="auto">
          <a:xfrm>
            <a:off x="7552025" y="1326000"/>
            <a:ext cx="1011299" cy="158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135757559" name="Google Shape;108;p14"/>
          <p:cNvPicPr/>
          <p:nvPr/>
        </p:nvPicPr>
        <p:blipFill rotWithShape="1">
          <a:blip r:embed="rId11">
            <a:alphaModFix/>
          </a:blip>
          <a:srcRect l="0" t="68185" r="0" b="0"/>
          <a:stretch/>
        </p:blipFill>
        <p:spPr bwMode="auto">
          <a:xfrm>
            <a:off x="7552025" y="2663950"/>
            <a:ext cx="1011299" cy="82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656992502" name="Google Shape;109;p14"/>
          <p:cNvPicPr/>
          <p:nvPr/>
        </p:nvPicPr>
        <p:blipFill rotWithShape="1">
          <a:blip r:embed="rId12">
            <a:alphaModFix/>
          </a:blip>
          <a:srcRect l="0" t="0" r="6313" b="0"/>
          <a:stretch/>
        </p:blipFill>
        <p:spPr bwMode="auto">
          <a:xfrm>
            <a:off x="747724" y="2142175"/>
            <a:ext cx="1952625" cy="107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267546" name="Google Shape;315;p34"/>
          <p:cNvPicPr/>
          <p:nvPr/>
        </p:nvPicPr>
        <p:blipFill rotWithShape="1">
          <a:blip r:embed="rId13">
            <a:alphaModFix/>
          </a:blip>
          <a:srcRect l="7373" t="0" r="0" b="0"/>
          <a:stretch/>
        </p:blipFill>
        <p:spPr bwMode="auto">
          <a:xfrm>
            <a:off x="3507829" y="2594899"/>
            <a:ext cx="1628618" cy="951455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3406213" name="Google Shape;115;p1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380878" name="Google Shape;116;p15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502435" y="-1499500"/>
            <a:ext cx="5214226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075167" name="Google Shape;117;p15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154625" y="-669826"/>
            <a:ext cx="4568450" cy="4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7512736" name="Google Shape;118;p15"/>
          <p:cNvSpPr txBox="1"/>
          <p:nvPr/>
        </p:nvSpPr>
        <p:spPr bwMode="auto">
          <a:xfrm>
            <a:off x="473888" y="896466"/>
            <a:ext cx="68088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/>
            </a:pPr>
            <a:r>
              <a:rPr lang="ru" sz="7200" b="1" i="0" u="none" strike="noStrike" cap="none">
                <a:solidFill>
                  <a:srgbClr val="FCC609"/>
                </a:solidFill>
                <a:latin typeface="Comfortaa"/>
                <a:ea typeface="Comfortaa"/>
                <a:cs typeface="Comfortaa"/>
              </a:rPr>
              <a:t>5</a:t>
            </a:r>
            <a: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  <a:t> причин</a:t>
            </a:r>
            <a:b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</a:br>
            <a: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  <a:t>выбрать Доки</a:t>
            </a:r>
            <a:endParaRPr sz="2200" b="1" i="0" u="none" strike="noStrike" cap="none">
              <a:solidFill>
                <a:srgbClr val="FDE15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2097368718" name="Google Shape;119;p15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781825" y="701302"/>
            <a:ext cx="2934824" cy="393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41171" name="Google Shape;120;p15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572000" y="3230722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402666" name="Google Shape;121;p15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825500" y="1842925"/>
            <a:ext cx="808250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1966386" name="Google Shape;127;p1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290681" name="Google Shape;128;p1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357100" y="-1034226"/>
            <a:ext cx="4060674" cy="406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3045541" name="Google Shape;129;p16"/>
          <p:cNvSpPr txBox="1"/>
          <p:nvPr/>
        </p:nvSpPr>
        <p:spPr bwMode="auto">
          <a:xfrm>
            <a:off x="480204" y="118595"/>
            <a:ext cx="4862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№1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Удобная работа с ЭДО 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прямо из 1С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1698887019" name="Google Shape;130;p16"/>
          <p:cNvSpPr txBox="1"/>
          <p:nvPr/>
        </p:nvSpPr>
        <p:spPr bwMode="auto">
          <a:xfrm>
            <a:off x="389475" y="1486725"/>
            <a:ext cx="4253400" cy="179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кнопка отправки документов по ЭДО интегрируется непосредственно в документы 1С, обеспечивая возможность отправки документов реализации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один клик — удобно, быстро и без необходимости в дополнительных действиях по выгрузке или загрузке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1000"/>
              <a:buFont typeface="Manrope"/>
              <a:buNone/>
              <a:defRPr/>
            </a:pP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быстрая обработка поступлений — учетные документы 1С формируются на основе входящих электронных документов без расхождений в реквизитах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удобный вход в сервис — прямо из основного меню 1С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просмотр тарифа и остатка документов в тарифе прямо в 1С</a:t>
            </a:r>
            <a:endParaRPr sz="900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327596967" name="Google Shape;131;p16"/>
          <p:cNvPicPr/>
          <p:nvPr/>
        </p:nvPicPr>
        <p:blipFill rotWithShape="1">
          <a:blip r:embed="rId5">
            <a:alphaModFix/>
          </a:blip>
          <a:srcRect l="0" t="0" r="0" b="6278"/>
          <a:stretch/>
        </p:blipFill>
        <p:spPr bwMode="auto">
          <a:xfrm>
            <a:off x="5190500" y="2489731"/>
            <a:ext cx="3552600" cy="1868400"/>
          </a:xfrm>
          <a:prstGeom prst="roundRect">
            <a:avLst>
              <a:gd name="adj" fmla="val 9833"/>
            </a:avLst>
          </a:prstGeom>
          <a:noFill/>
          <a:ln w="158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040589" name="Google Shape;132;p16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5190500" y="250824"/>
            <a:ext cx="3552600" cy="1836900"/>
          </a:xfrm>
          <a:prstGeom prst="roundRect">
            <a:avLst>
              <a:gd name="adj" fmla="val 12663"/>
            </a:avLst>
          </a:prstGeom>
          <a:noFill/>
          <a:ln>
            <a:noFill/>
          </a:ln>
        </p:spPr>
      </p:pic>
      <p:sp>
        <p:nvSpPr>
          <p:cNvPr id="11402110" name="Google Shape;133;p16"/>
          <p:cNvSpPr/>
          <p:nvPr/>
        </p:nvSpPr>
        <p:spPr bwMode="auto">
          <a:xfrm>
            <a:off x="4771075" y="2014625"/>
            <a:ext cx="23070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Быстрый вход в сервис — </a:t>
            </a:r>
            <a:endParaRPr sz="8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прямо из основного меню 1С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828870849" name="Google Shape;134;p16"/>
          <p:cNvSpPr/>
          <p:nvPr/>
        </p:nvSpPr>
        <p:spPr bwMode="auto">
          <a:xfrm>
            <a:off x="4771075" y="4007150"/>
            <a:ext cx="2307000" cy="506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Отправка документов 1С по ЭДО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в один клик по кнопке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«Подписать и отправить»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952048147" name="Google Shape;135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708850" y="6690"/>
            <a:ext cx="692275" cy="6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566765" name="Google Shape;136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923504" y="3643249"/>
            <a:ext cx="155949" cy="15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19046" name="Google Shape;137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550222" y="1378022"/>
            <a:ext cx="239450" cy="2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214201" name="Google Shape;138;p16"/>
          <p:cNvSpPr/>
          <p:nvPr/>
        </p:nvSpPr>
        <p:spPr bwMode="auto">
          <a:xfrm>
            <a:off x="-503950" y="3560149"/>
            <a:ext cx="5212800" cy="638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1044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" sz="1000" i="0" u="none" strike="noStrike" cap="none">
                <a:solidFill>
                  <a:schemeClr val="lt1"/>
                </a:solidFill>
                <a:latin typeface="Montserrat"/>
                <a:ea typeface="Comfortaa Medium"/>
                <a:cs typeface="Comfortaa Medium"/>
              </a:rPr>
              <a:t>И всё это — без оплаты за интеграцию с 1С!</a:t>
            </a:r>
            <a:endParaRPr sz="1000">
              <a:latin typeface="Montserrat"/>
              <a:ea typeface="Comfortaa Medium"/>
              <a:cs typeface="Comfortaa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" sz="1000" i="0" u="none" strike="noStrike" cap="none">
                <a:solidFill>
                  <a:schemeClr val="lt1"/>
                </a:solidFill>
                <a:latin typeface="Montserrat"/>
                <a:ea typeface="Comfortaa Medium"/>
                <a:cs typeface="Comfortaa Medium"/>
              </a:rPr>
              <a:t>Вы платите только за тариф на отправку документов </a:t>
            </a:r>
            <a:endParaRPr sz="1000" i="0" u="none" strike="noStrike" cap="none">
              <a:solidFill>
                <a:schemeClr val="lt1"/>
              </a:solidFill>
              <a:latin typeface="Montserrat"/>
              <a:ea typeface="Comfortaa Medium"/>
              <a:cs typeface="Comfortaa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839643" name="Google Shape;144;p1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315941" name="Google Shape;145;p1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696049" y="-1187401"/>
            <a:ext cx="4568450" cy="4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3279236" name="Google Shape;146;p17"/>
          <p:cNvSpPr txBox="1"/>
          <p:nvPr/>
        </p:nvSpPr>
        <p:spPr bwMode="auto">
          <a:xfrm>
            <a:off x="480204" y="289544"/>
            <a:ext cx="6313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№2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Веб-кабинет</a:t>
            </a:r>
            <a:endParaRPr sz="2000" b="1" i="0" u="none" strike="noStrike" cap="none">
              <a:solidFill>
                <a:srgbClr val="262626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772495670" name="Google Shape;147;p17"/>
          <p:cNvSpPr txBox="1"/>
          <p:nvPr/>
        </p:nvSpPr>
        <p:spPr bwMode="auto">
          <a:xfrm>
            <a:off x="389000" y="1464975"/>
            <a:ext cx="3586500" cy="165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полная синхронизация между интерфейсами сервиса в 1С и веб-кабинете гарантирует моментальное обновление документов и статусов  в обоих интерфейсах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можно подписывать документы, даже не имея доступа к рабочему компьютеру с 1С — например, из дома, отпуска или командировки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можно создавать документы в 1С и передавать их на подписание руководителю: директор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за пару секунд подпишет документы в веб-кабинете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539248763" name="Google Shape;148;p1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944450" y="2365663"/>
            <a:ext cx="3540600" cy="1830900"/>
          </a:xfrm>
          <a:prstGeom prst="roundRect">
            <a:avLst>
              <a:gd name="adj" fmla="val 11251"/>
            </a:avLst>
          </a:prstGeom>
          <a:noFill/>
          <a:ln>
            <a:noFill/>
          </a:ln>
        </p:spPr>
      </p:pic>
      <p:sp>
        <p:nvSpPr>
          <p:cNvPr id="533892367" name="Google Shape;149;p17"/>
          <p:cNvSpPr/>
          <p:nvPr/>
        </p:nvSpPr>
        <p:spPr bwMode="auto">
          <a:xfrm>
            <a:off x="4762700" y="4121200"/>
            <a:ext cx="2315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Руководитель открывает документ в веб-кабинете и подписывает его</a:t>
            </a:r>
            <a:endParaRPr sz="13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896566051" name="Google Shape;150;p17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3058025" y="3290897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237047" name="Google Shape;151;p17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3707300" y="3206500"/>
            <a:ext cx="808250" cy="8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940741" name="Google Shape;152;p17"/>
          <p:cNvPicPr/>
          <p:nvPr/>
        </p:nvPicPr>
        <p:blipFill rotWithShape="1">
          <a:blip r:embed="rId8">
            <a:alphaModFix/>
          </a:blip>
          <a:srcRect l="9661" t="0" r="29186" b="40709"/>
          <a:stretch/>
        </p:blipFill>
        <p:spPr bwMode="auto">
          <a:xfrm>
            <a:off x="4898399" y="152100"/>
            <a:ext cx="3586500" cy="1798200"/>
          </a:xfrm>
          <a:prstGeom prst="roundRect">
            <a:avLst>
              <a:gd name="adj" fmla="val 9585"/>
            </a:avLst>
          </a:prstGeom>
          <a:noFill/>
          <a:ln>
            <a:noFill/>
          </a:ln>
        </p:spPr>
      </p:pic>
      <p:sp>
        <p:nvSpPr>
          <p:cNvPr id="1065720660" name="Google Shape;153;p17"/>
          <p:cNvSpPr/>
          <p:nvPr/>
        </p:nvSpPr>
        <p:spPr bwMode="auto">
          <a:xfrm>
            <a:off x="4762700" y="1874250"/>
            <a:ext cx="2315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 b="0" i="0" u="none" strike="noStrike" cap="none">
                <a:solidFill>
                  <a:schemeClr val="lt1"/>
                </a:solidFill>
                <a:latin typeface="Montserrat"/>
                <a:ea typeface="Manrope Light"/>
                <a:cs typeface="Manrope Light"/>
              </a:rPr>
              <a:t>Б</a:t>
            </a: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ухгалтер создает документ в 1С и передает ссылку руководителю</a:t>
            </a:r>
            <a:endParaRPr sz="13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8938214" name="Google Shape;159;p1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9867903" name="Google Shape;160;p18"/>
          <p:cNvSpPr txBox="1"/>
          <p:nvPr/>
        </p:nvSpPr>
        <p:spPr bwMode="auto">
          <a:xfrm>
            <a:off x="480204" y="1519186"/>
            <a:ext cx="3909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Гарантирует сохранность электронных документов.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Документы Доки надежно хранятся в облаке.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Даже если с компьютером или информационной базой 1С что-то случится, документы в Доки не потеряются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742432592" name="Google Shape;161;p18"/>
          <p:cNvSpPr txBox="1"/>
          <p:nvPr/>
        </p:nvSpPr>
        <p:spPr bwMode="auto">
          <a:xfrm>
            <a:off x="480204" y="289545"/>
            <a:ext cx="6313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№3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Архив документов в облаке</a:t>
            </a:r>
            <a:endParaRPr sz="2000" b="1" i="0" u="none" strike="noStrike" cap="none">
              <a:solidFill>
                <a:srgbClr val="262626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591330929" name="Google Shape;162;p1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54625" y="-669826"/>
            <a:ext cx="4568450" cy="4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0189367" name="Google Shape;163;p18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572000" y="3230722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4853747" name="Google Shape;164;p18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7931900" y="598783"/>
            <a:ext cx="2376276" cy="237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45794" name="Google Shape;165;p18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3858625" y="598763"/>
            <a:ext cx="4256174" cy="425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064621" name="Google Shape;166;p18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10599625" y="-3171725"/>
            <a:ext cx="4059900" cy="40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638094" name="Google Shape;167;p18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12957524" y="-118425"/>
            <a:ext cx="2029230" cy="1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966298" name="Google Shape;168;p18"/>
          <p:cNvPicPr/>
          <p:nvPr/>
        </p:nvPicPr>
        <p:blipFill rotWithShape="1">
          <a:blip r:embed="rId10">
            <a:alphaModFix/>
          </a:blip>
          <a:stretch/>
        </p:blipFill>
        <p:spPr bwMode="auto">
          <a:xfrm>
            <a:off x="5868775" y="933900"/>
            <a:ext cx="2906325" cy="21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401440" name="Google Shape;159;p1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27205" name="Google Shape;175;p19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975075" y="-952751"/>
            <a:ext cx="4568450" cy="4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057514" name="Google Shape;176;p1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309775" y="1895733"/>
            <a:ext cx="2376276" cy="2376276"/>
          </a:xfrm>
          <a:prstGeom prst="rect">
            <a:avLst/>
          </a:prstGeom>
          <a:noFill/>
          <a:ln>
            <a:noFill/>
          </a:ln>
        </p:spPr>
      </p:pic>
      <p:sp>
        <p:nvSpPr>
          <p:cNvPr id="94435276" name="Google Shape;177;p19"/>
          <p:cNvSpPr txBox="1"/>
          <p:nvPr/>
        </p:nvSpPr>
        <p:spPr bwMode="auto">
          <a:xfrm>
            <a:off x="358875" y="1639325"/>
            <a:ext cx="4261200" cy="163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интерфейс сервиса как в 1С, так и в веб-кабинете максимально простой — напоминает привычную электронную почту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при разработке интерфейс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а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проводились юзабилити-тестирования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учитыва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лось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мнение пользователей, что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позволило сделать интерфейс Доки интуитивно понятным и обеспечить возможность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легкого и быстрого старта работы с ЭДО —  без обращений в поддержку и изучения инструкций</a:t>
            </a:r>
            <a:endParaRPr sz="1300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020761078" name="Google Shape;178;p19"/>
          <p:cNvSpPr txBox="1"/>
          <p:nvPr/>
        </p:nvSpPr>
        <p:spPr bwMode="auto">
          <a:xfrm>
            <a:off x="480204" y="289959"/>
            <a:ext cx="63135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№4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Удобный интерфе</a:t>
            </a: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йс – 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проверено пользователями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93486805" name="Google Shape;179;p19"/>
          <p:cNvPicPr/>
          <p:nvPr/>
        </p:nvPicPr>
        <p:blipFill rotWithShape="1">
          <a:blip r:embed="rId6">
            <a:alphaModFix/>
          </a:blip>
          <a:srcRect l="0" t="0" r="37158" b="41034"/>
          <a:stretch/>
        </p:blipFill>
        <p:spPr bwMode="auto">
          <a:xfrm>
            <a:off x="4620075" y="1037200"/>
            <a:ext cx="4516800" cy="2222400"/>
          </a:xfrm>
          <a:prstGeom prst="roundRect">
            <a:avLst>
              <a:gd name="adj" fmla="val 10235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0120883" name="Google Shape;185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592206" name="Google Shape;186;p20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21163" y="-1146351"/>
            <a:ext cx="4914025" cy="49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5641146" name="Google Shape;187;p20"/>
          <p:cNvSpPr txBox="1"/>
          <p:nvPr/>
        </p:nvSpPr>
        <p:spPr bwMode="auto">
          <a:xfrm>
            <a:off x="305425" y="1447350"/>
            <a:ext cx="4785900" cy="206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Многопользовательский режим с настройками прав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Работа </a:t>
            </a:r>
            <a:r>
              <a:rPr lang="ru-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нескольких базах 1С с одним </a:t>
            </a:r>
            <a:r>
              <a:rPr lang="en-GB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ID </a:t>
            </a:r>
            <a:r>
              <a:rPr lang="ru-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</a:t>
            </a:r>
            <a:endParaRPr/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Маршруты согласования документов (на исходящие документы,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маршрутизация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входящи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х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)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Пакетная отправка, включая массовую отправку пакетами и возможность настроить, чтобы при отправке документа с ним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пакет автоматически добавлялись связанные документы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 с физлицами</a:t>
            </a:r>
            <a:endParaRPr/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 для маркировки и прослеживаемости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Удобная работа с доп. полями XML для маркетплейсов</a:t>
            </a:r>
            <a:b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</a:b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 крупных контрагентов  и многое другое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379441845" name="Google Shape;188;p20"/>
          <p:cNvSpPr txBox="1"/>
          <p:nvPr/>
        </p:nvSpPr>
        <p:spPr bwMode="auto">
          <a:xfrm>
            <a:off x="404004" y="293224"/>
            <a:ext cx="6313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№5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Широкая функциональность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как в 1С, так и в веб-кабинете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968318359" name="Google Shape;189;p20"/>
          <p:cNvPicPr/>
          <p:nvPr/>
        </p:nvPicPr>
        <p:blipFill rotWithShape="1">
          <a:blip r:embed="rId5">
            <a:alphaModFix/>
          </a:blip>
          <a:srcRect l="0" t="0" r="25819" b="39246"/>
          <a:stretch/>
        </p:blipFill>
        <p:spPr bwMode="auto">
          <a:xfrm>
            <a:off x="5091325" y="509920"/>
            <a:ext cx="3538500" cy="1498500"/>
          </a:xfrm>
          <a:prstGeom prst="roundRect">
            <a:avLst>
              <a:gd name="adj" fmla="val 9097"/>
            </a:avLst>
          </a:prstGeom>
          <a:noFill/>
          <a:ln>
            <a:noFill/>
          </a:ln>
        </p:spPr>
      </p:pic>
      <p:sp>
        <p:nvSpPr>
          <p:cNvPr id="1538667573" name="Google Shape;190;p20"/>
          <p:cNvSpPr/>
          <p:nvPr/>
        </p:nvSpPr>
        <p:spPr bwMode="auto">
          <a:xfrm>
            <a:off x="5053325" y="1923799"/>
            <a:ext cx="2462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Можно добавлять сотрудников и устанавливать для них права доступа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773903753" name="Google Shape;194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8311800" y="3125475"/>
            <a:ext cx="871151" cy="87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288665" name="Google Shape;195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303338" y="2941925"/>
            <a:ext cx="537324" cy="53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79922655" name="Google Shape;138;p16"/>
          <p:cNvSpPr/>
          <p:nvPr/>
        </p:nvSpPr>
        <p:spPr bwMode="auto">
          <a:xfrm>
            <a:off x="-503950" y="3560149"/>
            <a:ext cx="5212800" cy="638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1044000" tIns="45700" rIns="91425" bIns="45700" anchor="ctr" anchorCtr="0">
            <a:noAutofit/>
          </a:bodyPr>
          <a:lstStyle/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Всё это делает Доки идеальным решением </a:t>
            </a:r>
            <a:endParaRPr/>
          </a:p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для компаний любого размера: </a:t>
            </a:r>
            <a:endParaRPr/>
          </a:p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от малого бизнеса до крупных корпораций</a:t>
            </a:r>
            <a:endParaRPr/>
          </a:p>
        </p:txBody>
      </p:sp>
      <p:pic>
        <p:nvPicPr>
          <p:cNvPr id="80185927" name="Google Shape;244;p51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5091325" y="2437621"/>
            <a:ext cx="3538500" cy="1680457"/>
          </a:xfrm>
          <a:prstGeom prst="roundRect">
            <a:avLst>
              <a:gd name="adj" fmla="val 8491"/>
            </a:avLst>
          </a:prstGeom>
          <a:noFill/>
          <a:ln>
            <a:noFill/>
          </a:ln>
        </p:spPr>
      </p:pic>
      <p:sp>
        <p:nvSpPr>
          <p:cNvPr id="1528528094" name="Google Shape;193;p20"/>
          <p:cNvSpPr/>
          <p:nvPr/>
        </p:nvSpPr>
        <p:spPr bwMode="auto">
          <a:xfrm>
            <a:off x="5053325" y="4034575"/>
            <a:ext cx="2462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Работа с маршрутами согласования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4156647" name="Google Shape;201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641137" name="Google Shape;202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40600" y="-2383500"/>
            <a:ext cx="4348800" cy="4348707"/>
          </a:xfrm>
          <a:prstGeom prst="rect">
            <a:avLst/>
          </a:prstGeom>
          <a:noFill/>
          <a:ln>
            <a:noFill/>
          </a:ln>
        </p:spPr>
      </p:pic>
      <p:sp>
        <p:nvSpPr>
          <p:cNvPr id="1926479799" name="Google Shape;203;p21"/>
          <p:cNvSpPr txBox="1"/>
          <p:nvPr/>
        </p:nvSpPr>
        <p:spPr bwMode="auto">
          <a:xfrm>
            <a:off x="599521" y="416875"/>
            <a:ext cx="6068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Поддержка конфигураций 1С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904664559" name="Google Shape;204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72000" y="4088976"/>
            <a:ext cx="488963" cy="4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864414" name="Google Shape;205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392525" y="123825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5280211" name="Google Shape;206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8262879" y="2321386"/>
            <a:ext cx="251176" cy="2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4414992" name="Google Shape;207;p21"/>
          <p:cNvSpPr txBox="1"/>
          <p:nvPr/>
        </p:nvSpPr>
        <p:spPr bwMode="auto">
          <a:xfrm>
            <a:off x="629945" y="992377"/>
            <a:ext cx="8250584" cy="268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На данный момент работа с расширением Доки возможна  в программах 1С, использующих технологическую платформу 1С:Предприятие с версией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не ниже 8.3.24 и конфигурацией: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предприятия 3.0 версии не ниже 3.0.141.39 (Базовая/Проф/Корп);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Торговлей 11 версии не ниже 11.5.14.59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торговлей алкогольной продукцией 11 версии не ниже 11.5.22.60 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1С:Комплексная автоматизация 2.5 версии не ниже 2.5.14.59;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</a:t>
            </a:r>
            <a:r>
              <a:rPr lang="en-GB" sz="1000" b="0" i="0">
                <a:solidFill>
                  <a:srgbClr val="444444"/>
                </a:solidFill>
                <a:latin typeface="Montserrat"/>
              </a:rPr>
              <a:t>ERP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Управление предприятием 2.5 версии не ниже 2.5.14.59;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нашей фирмой 3.0 версии не ниже 3.0.4.45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1С:Розница 3.0 версии не ниже 3.0.4.45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холдингом 3.2 версии не ниже 3.2.5.10;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государственного учреждения 2.0 версии не ниже 2.0.92.35 (Проф/Корп);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строительной организации версии не ниже 3.1.146.31;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1С:Трактиръ версии не ниже 3.0.141.39;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1С-Рарус:Бухгалтерия для некоммерческой организации версии не ниже 3.0.141.39;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с размещением в сервисах 1С:Фреш (1С:Бухгалтерия предприятия, 1С:Комплексная автоматизация, 1С:</a:t>
            </a:r>
            <a:r>
              <a:rPr lang="en-GB" sz="1000" b="0" i="0">
                <a:solidFill>
                  <a:srgbClr val="444444"/>
                </a:solidFill>
                <a:latin typeface="Montserrat"/>
              </a:rPr>
              <a:t>ERP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Управление предприятием, 1С:Управление нашей фирмой, 1С:Розница 3.0, 1С:Бухгалтерия государственного учреждения)</a:t>
            </a:r>
            <a:endParaRPr/>
          </a:p>
        </p:txBody>
      </p:sp>
      <p:sp>
        <p:nvSpPr>
          <p:cNvPr id="277505530" name="Google Shape;208;p21"/>
          <p:cNvSpPr/>
          <p:nvPr/>
        </p:nvSpPr>
        <p:spPr bwMode="auto">
          <a:xfrm>
            <a:off x="-348975" y="3840715"/>
            <a:ext cx="6038700" cy="595705"/>
          </a:xfrm>
          <a:prstGeom prst="roundRect">
            <a:avLst>
              <a:gd name="adj" fmla="val 50000"/>
            </a:avLst>
          </a:prstGeom>
          <a:solidFill>
            <a:srgbClr val="EAE5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200">
              <a:solidFill>
                <a:srgbClr val="072D57"/>
              </a:solidFill>
            </a:endParaRPr>
          </a:p>
        </p:txBody>
      </p:sp>
      <p:sp>
        <p:nvSpPr>
          <p:cNvPr id="1015498465" name="Google Shape;209;p21"/>
          <p:cNvSpPr txBox="1"/>
          <p:nvPr/>
        </p:nvSpPr>
        <p:spPr bwMode="auto">
          <a:xfrm>
            <a:off x="599521" y="3869185"/>
            <a:ext cx="45393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Список поддерживаемых конфигураций будет расширяться. Следите за обновлениями!</a:t>
            </a:r>
            <a:endParaRPr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643398" name="Google Shape;214;p2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704097" name="Google Shape;215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40600" y="-2383500"/>
            <a:ext cx="4348800" cy="4348707"/>
          </a:xfrm>
          <a:prstGeom prst="rect">
            <a:avLst/>
          </a:prstGeom>
          <a:noFill/>
          <a:ln>
            <a:noFill/>
          </a:ln>
        </p:spPr>
      </p:pic>
      <p:sp>
        <p:nvSpPr>
          <p:cNvPr id="2002003042" name="Google Shape;216;p22"/>
          <p:cNvSpPr txBox="1"/>
          <p:nvPr/>
        </p:nvSpPr>
        <p:spPr bwMode="auto">
          <a:xfrm>
            <a:off x="599535" y="2582608"/>
            <a:ext cx="2356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Подключение и доступ</a:t>
            </a:r>
            <a:br>
              <a:rPr lang="ru" sz="1000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</a:b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к сервису из 1С</a:t>
            </a:r>
            <a:br>
              <a:rPr lang="ru" sz="1000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</a:b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и веб-кабинета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н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е нужно оплачивать интеграционные модули,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чтобы работать с ЭДО в 1С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491358617" name="Google Shape;217;p22"/>
          <p:cNvSpPr txBox="1"/>
          <p:nvPr/>
        </p:nvSpPr>
        <p:spPr bwMode="auto">
          <a:xfrm>
            <a:off x="3226232" y="2582607"/>
            <a:ext cx="2356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Входящие 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документы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>
              <a:solidFill>
                <a:srgbClr val="7954F7"/>
              </a:solidFill>
              <a:latin typeface="Montserrat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п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олучайте и подписывайте входящие документы </a:t>
            </a:r>
            <a:b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</a:b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от контрагентов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893469729" name="Google Shape;218;p22"/>
          <p:cNvSpPr txBox="1"/>
          <p:nvPr/>
        </p:nvSpPr>
        <p:spPr bwMode="auto">
          <a:xfrm>
            <a:off x="5252293" y="2582607"/>
            <a:ext cx="32523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Промотариф: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безлимитные отправки 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на 3 месяца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ля новых клиентов *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сервиса 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Доки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60412519" name="Google Shape;219;p22"/>
          <p:cNvSpPr txBox="1"/>
          <p:nvPr/>
        </p:nvSpPr>
        <p:spPr bwMode="auto">
          <a:xfrm>
            <a:off x="599535" y="416882"/>
            <a:ext cx="4468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В Доки вы получаете </a:t>
            </a:r>
            <a:r>
              <a:rPr lang="ru" sz="2300" b="1" i="0" u="none" strike="noStrike" cap="none">
                <a:solidFill>
                  <a:srgbClr val="7954F7"/>
                </a:solidFill>
                <a:latin typeface="Comfortaa"/>
                <a:ea typeface="Comfortaa"/>
                <a:cs typeface="Comfortaa"/>
              </a:rPr>
              <a:t>БЕСПЛАТНО</a:t>
            </a:r>
            <a:endParaRPr sz="2300" b="1" i="0" u="none" strike="noStrike" cap="none">
              <a:solidFill>
                <a:srgbClr val="7954F7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962619557" name="Google Shape;220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1254397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375367" name="Google Shape;221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881106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312059" name="Google Shape;222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6354904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7101332" name="Google Shape;223;p22"/>
          <p:cNvSpPr txBox="1"/>
          <p:nvPr/>
        </p:nvSpPr>
        <p:spPr bwMode="auto">
          <a:xfrm>
            <a:off x="5979886" y="4004975"/>
            <a:ext cx="264911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 b="0" i="1" u="none" strike="noStrike" cap="none">
                <a:solidFill>
                  <a:srgbClr val="BFBFBF"/>
                </a:solidFill>
                <a:latin typeface="Montserrat"/>
                <a:ea typeface="Comfortaa"/>
                <a:cs typeface="Comfortaa"/>
              </a:rPr>
              <a:t>* Клиентам с учетной записью </a:t>
            </a:r>
            <a:endParaRPr sz="800" b="0" i="1" u="none" strike="noStrike" cap="none">
              <a:solidFill>
                <a:srgbClr val="BFBFBF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 b="0" i="1" u="none" strike="noStrike" cap="none">
                <a:solidFill>
                  <a:srgbClr val="BFBFBF"/>
                </a:solidFill>
                <a:latin typeface="Montserrat"/>
                <a:ea typeface="Comfortaa"/>
                <a:cs typeface="Comfortaa"/>
              </a:rPr>
              <a:t>в сервисе Астрал.ЭДО  подключение промотарифа недоступно</a:t>
            </a:r>
            <a:endParaRPr sz="800" b="0" i="1" u="none" strike="noStrike" cap="none">
              <a:solidFill>
                <a:srgbClr val="BFBFBF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975612620" name="Google Shape;224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918575" y="3896926"/>
            <a:ext cx="488963" cy="4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048441" name="Google Shape;225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067725" y="890025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887807" name="Google Shape;226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8253425" y="3230350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679821" name="Google Shape;227;p22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637590" y="1786887"/>
            <a:ext cx="481676" cy="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477239" name="Google Shape;228;p22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212824" y="1833063"/>
            <a:ext cx="435375" cy="43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802458" name="Google Shape;229;p22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1567251" y="1833075"/>
            <a:ext cx="421350" cy="4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833685" name="Google Shape;234;p2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199438" name="Google Shape;235;p2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-1292675" y="3415000"/>
            <a:ext cx="5169276" cy="7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1113170" name="Google Shape;237;p23"/>
          <p:cNvSpPr txBox="1"/>
          <p:nvPr/>
        </p:nvSpPr>
        <p:spPr bwMode="auto">
          <a:xfrm>
            <a:off x="496600" y="230400"/>
            <a:ext cx="67725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Тарифы на исходящие документы</a:t>
            </a:r>
            <a:endParaRPr sz="23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899825033" name="Google Shape;238;p23"/>
          <p:cNvSpPr txBox="1"/>
          <p:nvPr/>
        </p:nvSpPr>
        <p:spPr bwMode="auto">
          <a:xfrm>
            <a:off x="496600" y="2661801"/>
            <a:ext cx="4659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сравнения</a:t>
            </a:r>
            <a:endParaRPr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стоимость отправки 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u="none" strike="noStrike" cap="none">
                <a:solidFill>
                  <a:schemeClr val="dk1"/>
                </a:solidFill>
                <a:latin typeface="Montserrat Medium"/>
                <a:ea typeface="Comfortaa"/>
                <a:cs typeface="Comfortaa"/>
              </a:rPr>
              <a:t>1 бумажного документа ≈ 50 ₽</a:t>
            </a:r>
            <a:endParaRPr>
              <a:solidFill>
                <a:schemeClr val="dk1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i="0" u="none" strike="noStrike" cap="none">
              <a:solidFill>
                <a:schemeClr val="dk1"/>
              </a:solidFill>
              <a:latin typeface="Montserrat"/>
              <a:ea typeface="Manrope"/>
              <a:cs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Отправка документов в Доки </a:t>
            </a:r>
            <a:endParaRPr u="none" strike="noStrike" cap="none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до 15 раз дешевле!</a:t>
            </a:r>
            <a:endParaRPr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</p:txBody>
      </p:sp>
      <p:sp>
        <p:nvSpPr>
          <p:cNvPr id="1705846934" name="Google Shape;239;p23"/>
          <p:cNvSpPr txBox="1"/>
          <p:nvPr/>
        </p:nvSpPr>
        <p:spPr bwMode="auto">
          <a:xfrm>
            <a:off x="496600" y="969725"/>
            <a:ext cx="47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Выбирайте подходящий тариф. Чем больше количество документов, 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тем выгоднее стоимость отправки одного документа</a:t>
            </a:r>
            <a:endParaRPr sz="9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1681895665" name="Google Shape;240;p2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482177" y="2563828"/>
            <a:ext cx="2883622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445724" name="Google Shape;241;p2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878681" y="2631107"/>
            <a:ext cx="1919194" cy="149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996638" name="Google Shape;242;p23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265051" y="3493664"/>
            <a:ext cx="1651590" cy="11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362035" name="Google Shape;243;p23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910569" y="-1017175"/>
            <a:ext cx="1855405" cy="185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099426" name="Google Shape;244;p23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7126975" y="119300"/>
            <a:ext cx="668550" cy="668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2307895" name="Google Shape;359;p37"/>
          <p:cNvGraphicFramePr>
            <a:graphicFrameLocks xmlns:a="http://schemas.openxmlformats.org/drawingml/2006/main"/>
          </p:cNvGraphicFramePr>
          <p:nvPr/>
        </p:nvGraphicFramePr>
        <p:xfrm rot="0">
          <a:off x="574824" y="1412562"/>
          <a:ext cx="8136550" cy="872640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749200"/>
                <a:gridCol w="480275"/>
                <a:gridCol w="595300"/>
                <a:gridCol w="580825"/>
                <a:gridCol w="580825"/>
                <a:gridCol w="580825"/>
                <a:gridCol w="580825"/>
                <a:gridCol w="580825"/>
                <a:gridCol w="580825"/>
                <a:gridCol w="580825"/>
                <a:gridCol w="623000"/>
                <a:gridCol w="623000"/>
              </a:tblGrid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Кол-во документов на год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Стоимость тарифа, ₽ / год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1 800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4 200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9 200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11 400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17 100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24 500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39 000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73 000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105 000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170 000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320 000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Стоимость 1 док-та, ₽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(справочно)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9,00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8,40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7,67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7,60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5,70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4,90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3,90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3,65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3,50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3,40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3,20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3010482" name="Google Shape;249;p2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6876637" name="Google Shape;250;p24"/>
          <p:cNvGraphicFramePr>
            <a:graphicFrameLocks xmlns:a="http://schemas.openxmlformats.org/drawingml/2006/main"/>
          </p:cNvGraphicFramePr>
          <p:nvPr/>
        </p:nvGraphicFramePr>
        <p:xfrm rot="0">
          <a:off x="1191490" y="1417155"/>
          <a:ext cx="7411275" cy="213009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{44614414-3CAC-4348-9700-D7FD471E328C}</a:tableStyleId>
                <a:noFill/>
              </a:tblPr>
              <a:tblGrid>
                <a:gridCol w="3380500"/>
                <a:gridCol w="4030775"/>
              </a:tblGrid>
              <a:tr h="122585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Экономьте деньги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Сократите расходы на бумагу, печать,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курьерские и почтовые услуги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35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Экономьте время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Подписание и отправка документа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в Доки займет всего несколько секунд</a:t>
                      </a: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120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Ускорьте получение оплаты 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Мгновенная доставка документов ускоряет оплату и учет НДС благодаря оперативному обмену закрывающими документами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35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 i="0" u="none" strike="noStrike" cap="none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Сделайте документооборот прозрачным</a:t>
                      </a:r>
                      <a:br>
                        <a:rPr lang="ru" sz="1000" i="0" u="none" strike="noStrike" cap="none">
                          <a:solidFill>
                            <a:srgbClr val="7954F7"/>
                          </a:solidFill>
                          <a:latin typeface="Montserrat"/>
                          <a:ea typeface="Comfortaa"/>
                          <a:cs typeface="Comfortaa"/>
                        </a:rPr>
                      </a:br>
                      <a:endParaRPr sz="1000" i="0" u="none" strike="noStrike" cap="none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Можно 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в любой момент 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посмотреть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статус электронн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ого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документ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а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и узнать, 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на каком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он этапе 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— получен или уже подписан</a:t>
                      </a: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120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019361" name="Google Shape;251;p24"/>
          <p:cNvSpPr txBox="1"/>
          <p:nvPr/>
        </p:nvSpPr>
        <p:spPr bwMode="auto">
          <a:xfrm>
            <a:off x="496600" y="230400"/>
            <a:ext cx="830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Подключите Доки и оцените преимущества перехода на ЭДО</a:t>
            </a:r>
            <a:endParaRPr sz="23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956042592" name="Google Shape;252;p2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03034" y="1303455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232782" name="Google Shape;253;p24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487757" y="2541409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15279" name="Google Shape;254;p24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487758" y="1303454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633282" name="Google Shape;255;p24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603033" y="2541410"/>
            <a:ext cx="512257" cy="512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4202264" name="Google Shape;260;p2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0682424" name="Google Shape;261;p25"/>
          <p:cNvSpPr txBox="1"/>
          <p:nvPr/>
        </p:nvSpPr>
        <p:spPr bwMode="auto">
          <a:xfrm>
            <a:off x="572800" y="230399"/>
            <a:ext cx="83073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Доки — это надежно</a:t>
            </a:r>
            <a:br>
              <a:rPr lang="ru" sz="2400" b="1" i="0" u="none" strike="noStrike" cap="non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</a:rPr>
            </a:b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Разработчик Доки — группа компаний Астрал, 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надежный поставщик решений для бизнеса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2029834321" name="Google Shape;262;p25"/>
          <p:cNvSpPr txBox="1"/>
          <p:nvPr/>
        </p:nvSpPr>
        <p:spPr bwMode="auto">
          <a:xfrm>
            <a:off x="3644138" y="3096400"/>
            <a:ext cx="1682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создаем и развиваем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экосистему сервисов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бизнеса</a:t>
            </a:r>
            <a:endParaRPr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67668177" name="Google Shape;263;p25"/>
          <p:cNvSpPr txBox="1"/>
          <p:nvPr/>
        </p:nvSpPr>
        <p:spPr bwMode="auto">
          <a:xfrm>
            <a:off x="5820275" y="3095025"/>
            <a:ext cx="24396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бизнеса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(ЭДО, Отчетность,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ОФД, подписи и др.)</a:t>
            </a:r>
            <a:endParaRPr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1045757047" name="Google Shape;264;p25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7094483" y="-856924"/>
            <a:ext cx="3848643" cy="384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4490174" name="Google Shape;265;p25"/>
          <p:cNvSpPr txBox="1"/>
          <p:nvPr/>
        </p:nvSpPr>
        <p:spPr bwMode="auto">
          <a:xfrm>
            <a:off x="572800" y="3096400"/>
            <a:ext cx="241522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а также электронной отчетности, ЭПД, МЧД, аккредитованный удостоверяющий центр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1526547091" name="Google Shape;266;p25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820275" y="486686"/>
            <a:ext cx="1973129" cy="197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786408" name="Google Shape;267;p25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613709" y="387829"/>
            <a:ext cx="1682180" cy="2170829"/>
          </a:xfrm>
          <a:prstGeom prst="rect">
            <a:avLst/>
          </a:prstGeom>
          <a:noFill/>
          <a:ln>
            <a:noFill/>
          </a:ln>
        </p:spPr>
      </p:pic>
      <p:sp>
        <p:nvSpPr>
          <p:cNvPr id="1109670309" name="Google Shape;268;p25"/>
          <p:cNvSpPr/>
          <p:nvPr/>
        </p:nvSpPr>
        <p:spPr bwMode="auto">
          <a:xfrm>
            <a:off x="587725" y="2741324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Надежный оператор ЭДО</a:t>
            </a:r>
            <a:endParaRPr sz="13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03140450" name="Google Shape;269;p25"/>
          <p:cNvSpPr/>
          <p:nvPr/>
        </p:nvSpPr>
        <p:spPr bwMode="auto">
          <a:xfrm>
            <a:off x="3206513" y="2758300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Более 20 лет</a:t>
            </a:r>
            <a:endParaRPr sz="13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25026294" name="Google Shape;270;p25"/>
          <p:cNvSpPr/>
          <p:nvPr/>
        </p:nvSpPr>
        <p:spPr bwMode="auto">
          <a:xfrm>
            <a:off x="5825300" y="2758300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50+ продуктов и услуг</a:t>
            </a:r>
            <a:endParaRPr sz="1100">
              <a:solidFill>
                <a:srgbClr val="FFFFFF"/>
              </a:solidFill>
              <a:latin typeface="Montserrat"/>
              <a:ea typeface="Comfortaa SemiBold"/>
              <a:cs typeface="Comfortaa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9603580" name="Google Shape;275;p2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754098" name="Google Shape;276;p2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623145" y="-946724"/>
            <a:ext cx="3848643" cy="384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806565" name="Google Shape;277;p26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863350" y="61513"/>
            <a:ext cx="4689926" cy="46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42055" name="Google Shape;278;p26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516950" y="649437"/>
            <a:ext cx="3688826" cy="38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101664" name="Google Shape;279;p26"/>
          <p:cNvSpPr txBox="1"/>
          <p:nvPr/>
        </p:nvSpPr>
        <p:spPr bwMode="auto">
          <a:xfrm>
            <a:off x="420400" y="458101"/>
            <a:ext cx="83073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500" b="0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Хотите познакомиться </a:t>
            </a:r>
            <a:endParaRPr sz="2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500" b="0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 Доки поближе?</a:t>
            </a:r>
            <a:endParaRPr sz="2500" b="1" i="0" u="none" strike="noStrike" cap="none">
              <a:solidFill>
                <a:schemeClr val="lt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500" b="1" i="0" u="none" strike="noStrike" cap="none">
              <a:solidFill>
                <a:schemeClr val="lt1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1309976572" name="Google Shape;280;p26"/>
          <p:cNvSpPr/>
          <p:nvPr/>
        </p:nvSpPr>
        <p:spPr bwMode="auto">
          <a:xfrm>
            <a:off x="476450" y="2571360"/>
            <a:ext cx="1402200" cy="340200"/>
          </a:xfrm>
          <a:prstGeom prst="roundRect">
            <a:avLst>
              <a:gd name="adj" fmla="val 44902"/>
            </a:avLst>
          </a:prstGeom>
          <a:solidFill>
            <a:srgbClr val="FC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ru" sz="1100" i="0" u="sng" strike="noStrike" cap="none">
                <a:solidFill>
                  <a:srgbClr val="7954F7"/>
                </a:solidFill>
                <a:latin typeface="Montserrat"/>
                <a:ea typeface="Comfortaa Medium"/>
                <a:cs typeface="Comfortaa Medium"/>
                <a:hlinkClick r:id="rId7" tooltip=""/>
              </a:rPr>
              <a:t>Открыть</a:t>
            </a:r>
            <a:endParaRPr sz="1100" i="0" u="none" strike="noStrike" cap="none">
              <a:solidFill>
                <a:srgbClr val="7954F7"/>
              </a:solidFill>
              <a:latin typeface="Montserrat"/>
              <a:ea typeface="Comfortaa Medium"/>
              <a:cs typeface="Comfortaa Medium"/>
            </a:endParaRPr>
          </a:p>
        </p:txBody>
      </p:sp>
      <p:sp>
        <p:nvSpPr>
          <p:cNvPr id="1783224639" name="Google Shape;281;p26"/>
          <p:cNvSpPr txBox="1"/>
          <p:nvPr/>
        </p:nvSpPr>
        <p:spPr bwMode="auto">
          <a:xfrm>
            <a:off x="420400" y="1655275"/>
            <a:ext cx="4614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Попробуйте наши интерактивные тренажеры:</a:t>
            </a:r>
            <a:br>
              <a:rPr lang="ru" sz="1200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</a:b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это кликабельные прототипы с подсказками </a:t>
            </a:r>
            <a:endParaRPr sz="1200"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для знакомства с интерфейсом и ключевыми функциями Доки до его установки</a:t>
            </a:r>
            <a:endParaRPr sz="1200">
              <a:latin typeface="Montserrat"/>
              <a:ea typeface="Comfortaa"/>
              <a:cs typeface="Comfortaa"/>
            </a:endParaRPr>
          </a:p>
        </p:txBody>
      </p:sp>
      <p:pic>
        <p:nvPicPr>
          <p:cNvPr id="486094273" name="Google Shape;282;p26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476451" y="2996650"/>
            <a:ext cx="1402200" cy="137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5711069" name="Google Shape;287;p2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737089" name="Google Shape;288;p2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684808" y="-380598"/>
            <a:ext cx="3848643" cy="384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424779" name="Google Shape;289;p2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-2785625" y="2425199"/>
            <a:ext cx="7071689" cy="189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994584" name="Google Shape;290;p27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331977" y="404750"/>
            <a:ext cx="4287676" cy="4229499"/>
          </a:xfrm>
          <a:prstGeom prst="rect">
            <a:avLst/>
          </a:prstGeom>
          <a:noFill/>
          <a:ln>
            <a:noFill/>
          </a:ln>
        </p:spPr>
      </p:pic>
      <p:sp>
        <p:nvSpPr>
          <p:cNvPr id="774502129" name="Google Shape;291;p27"/>
          <p:cNvSpPr txBox="1"/>
          <p:nvPr/>
        </p:nvSpPr>
        <p:spPr bwMode="auto">
          <a:xfrm>
            <a:off x="542976" y="1090675"/>
            <a:ext cx="38487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Переходите на </a:t>
            </a:r>
            <a:r>
              <a:rPr lang="ru" sz="2300" b="1" i="0" u="none" strike="noStrike" cap="none">
                <a:solidFill>
                  <a:srgbClr val="FCC609"/>
                </a:solidFill>
                <a:latin typeface="Comfortaa"/>
                <a:ea typeface="Comfortaa"/>
                <a:cs typeface="Comfortaa"/>
              </a:rPr>
              <a:t>Доки</a:t>
            </a:r>
            <a:endParaRPr b="1">
              <a:solidFill>
                <a:srgbClr val="FCC609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прямо сейчас</a:t>
            </a:r>
            <a:r>
              <a:rPr lang="ru" sz="2300" b="1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!</a:t>
            </a:r>
            <a:endParaRPr sz="2300" b="1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1003797765" name="Google Shape;292;p27"/>
          <p:cNvSpPr txBox="1"/>
          <p:nvPr/>
        </p:nvSpPr>
        <p:spPr bwMode="auto">
          <a:xfrm>
            <a:off x="542976" y="2641074"/>
            <a:ext cx="3848700" cy="148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300">
                <a:solidFill>
                  <a:schemeClr val="dk1"/>
                </a:solidFill>
                <a:latin typeface="Montserrat"/>
                <a:ea typeface="Comfortaa Medium"/>
                <a:cs typeface="Comfortaa Medium"/>
              </a:rPr>
              <a:t>Для подключения сервиса обратитесь </a:t>
            </a:r>
            <a:endParaRPr sz="1300">
              <a:solidFill>
                <a:schemeClr val="dk1"/>
              </a:solidFill>
              <a:latin typeface="Montserrat"/>
              <a:ea typeface="Comfortaa Medium"/>
              <a:cs typeface="Comfortaa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/>
            </a:pPr>
            <a:r>
              <a:rPr lang="ru" sz="1300">
                <a:solidFill>
                  <a:schemeClr val="dk1"/>
                </a:solidFill>
                <a:latin typeface="Montserrat"/>
                <a:ea typeface="Comfortaa Medium"/>
                <a:cs typeface="Comfortaa Medium"/>
              </a:rPr>
              <a:t>в вашу обслуживающую организацию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/>
            </a:pPr>
            <a:endParaRPr lang="ru" sz="13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Ваш менеджер: </a:t>
            </a:r>
            <a:r>
              <a:rPr lang="ru-RU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Юнусова Юлиана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Email:</a:t>
            </a: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 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yuyunusova@forus.ru</a:t>
            </a:r>
            <a:endParaRPr lang="en-GB" sz="1300" b="1">
              <a:solidFill>
                <a:schemeClr val="dk1"/>
              </a:solidFill>
              <a:latin typeface="Montserrat"/>
              <a:ea typeface="Montserrat Medium"/>
              <a:cs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Телефон: 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+7 3952 78-00-00 </a:t>
            </a:r>
            <a:r>
              <a:rPr lang="ru-RU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доб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 8200</a:t>
            </a:r>
            <a:endParaRPr lang="ru-RU" sz="1300" b="1">
              <a:solidFill>
                <a:schemeClr val="dk1"/>
              </a:solidFill>
              <a:latin typeface="Montserrat"/>
              <a:ea typeface="Montserrat Medium"/>
              <a:cs typeface="Montserrat Medium"/>
            </a:endParaRPr>
          </a:p>
        </p:txBody>
      </p:sp>
      <p:pic>
        <p:nvPicPr>
          <p:cNvPr id="1387500900" name="Google Shape;294;p27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5106090" y="3500350"/>
            <a:ext cx="3467650" cy="92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onlyoffice/9.2.1.1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Юнусова Юлиана</dc:creator>
  <cp:lastModifiedBy>Блохина Елизавета Евгеньевна</cp:lastModifiedBy>
  <cp:revision>11</cp:revision>
  <dcterms:modified xsi:type="dcterms:W3CDTF">2026-08-20T05:42:13Z</dcterms:modified>
</cp:coreProperties>
</file>