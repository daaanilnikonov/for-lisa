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277" r:id="rId2"/>
    <p:sldId id="278" r:id="rId3"/>
    <p:sldId id="259" r:id="rId4"/>
    <p:sldId id="260" r:id="rId5"/>
    <p:sldId id="372" r:id="rId6"/>
    <p:sldId id="262" r:id="rId7"/>
    <p:sldId id="373" r:id="rId8"/>
    <p:sldId id="364" r:id="rId9"/>
    <p:sldId id="298" r:id="rId10"/>
    <p:sldId id="299" r:id="rId11"/>
    <p:sldId id="371" r:id="rId12"/>
    <p:sldId id="358" r:id="rId13"/>
    <p:sldId id="361" r:id="rId14"/>
    <p:sldId id="269" r:id="rId15"/>
    <p:sldId id="270" r:id="rId16"/>
    <p:sldId id="300" r:id="rId17"/>
    <p:sldId id="307" r:id="rId18"/>
    <p:sldId id="303" r:id="rId19"/>
    <p:sldId id="280" r:id="rId20"/>
    <p:sldId id="304" r:id="rId21"/>
    <p:sldId id="359" r:id="rId22"/>
    <p:sldId id="282" r:id="rId23"/>
    <p:sldId id="308" r:id="rId24"/>
    <p:sldId id="374" r:id="rId25"/>
    <p:sldId id="375" r:id="rId26"/>
    <p:sldId id="376" r:id="rId27"/>
    <p:sldId id="309" r:id="rId28"/>
    <p:sldId id="310" r:id="rId29"/>
    <p:sldId id="311" r:id="rId30"/>
    <p:sldId id="331" r:id="rId31"/>
    <p:sldId id="315" r:id="rId32"/>
    <p:sldId id="317" r:id="rId33"/>
    <p:sldId id="332" r:id="rId34"/>
    <p:sldId id="318" r:id="rId35"/>
    <p:sldId id="319" r:id="rId36"/>
    <p:sldId id="321" r:id="rId37"/>
    <p:sldId id="336" r:id="rId38"/>
    <p:sldId id="333" r:id="rId39"/>
    <p:sldId id="322" r:id="rId40"/>
    <p:sldId id="323" r:id="rId41"/>
    <p:sldId id="324" r:id="rId42"/>
    <p:sldId id="325" r:id="rId43"/>
    <p:sldId id="326" r:id="rId44"/>
    <p:sldId id="327" r:id="rId45"/>
    <p:sldId id="328" r:id="rId46"/>
    <p:sldId id="329" r:id="rId47"/>
    <p:sldId id="330" r:id="rId48"/>
    <p:sldId id="334" r:id="rId49"/>
    <p:sldId id="343" r:id="rId50"/>
    <p:sldId id="387" r:id="rId51"/>
    <p:sldId id="302" r:id="rId52"/>
    <p:sldId id="339" r:id="rId53"/>
    <p:sldId id="340" r:id="rId54"/>
    <p:sldId id="368" r:id="rId55"/>
    <p:sldId id="369" r:id="rId56"/>
    <p:sldId id="295" r:id="rId57"/>
    <p:sldId id="297" r:id="rId58"/>
    <p:sldId id="390" r:id="rId59"/>
    <p:sldId id="366" r:id="rId60"/>
    <p:sldId id="370" r:id="rId61"/>
    <p:sldId id="378" r:id="rId62"/>
    <p:sldId id="379" r:id="rId63"/>
    <p:sldId id="380" r:id="rId64"/>
    <p:sldId id="386" r:id="rId65"/>
    <p:sldId id="381" r:id="rId66"/>
    <p:sldId id="382" r:id="rId67"/>
    <p:sldId id="383" r:id="rId68"/>
    <p:sldId id="385" r:id="rId69"/>
    <p:sldId id="384" r:id="rId70"/>
    <p:sldId id="392" r:id="rId71"/>
    <p:sldId id="389" r:id="rId72"/>
    <p:sldId id="391" r:id="rId73"/>
    <p:sldId id="393" r:id="rId74"/>
    <p:sldId id="394" r:id="rId75"/>
    <p:sldId id="395" r:id="rId76"/>
    <p:sldId id="354" r:id="rId77"/>
    <p:sldId id="283" r:id="rId7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77"/>
            <p14:sldId id="278"/>
            <p14:sldId id="259"/>
            <p14:sldId id="260"/>
            <p14:sldId id="372"/>
            <p14:sldId id="262"/>
            <p14:sldId id="373"/>
            <p14:sldId id="364"/>
            <p14:sldId id="298"/>
            <p14:sldId id="299"/>
            <p14:sldId id="371"/>
            <p14:sldId id="358"/>
            <p14:sldId id="361"/>
            <p14:sldId id="269"/>
            <p14:sldId id="270"/>
            <p14:sldId id="300"/>
            <p14:sldId id="307"/>
            <p14:sldId id="303"/>
            <p14:sldId id="280"/>
            <p14:sldId id="304"/>
            <p14:sldId id="359"/>
            <p14:sldId id="282"/>
            <p14:sldId id="308"/>
            <p14:sldId id="374"/>
            <p14:sldId id="375"/>
            <p14:sldId id="376"/>
            <p14:sldId id="309"/>
            <p14:sldId id="310"/>
            <p14:sldId id="311"/>
            <p14:sldId id="331"/>
            <p14:sldId id="315"/>
            <p14:sldId id="317"/>
            <p14:sldId id="332"/>
            <p14:sldId id="318"/>
            <p14:sldId id="319"/>
            <p14:sldId id="321"/>
            <p14:sldId id="336"/>
            <p14:sldId id="333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4"/>
            <p14:sldId id="343"/>
            <p14:sldId id="387"/>
            <p14:sldId id="302"/>
            <p14:sldId id="339"/>
            <p14:sldId id="340"/>
            <p14:sldId id="368"/>
            <p14:sldId id="369"/>
            <p14:sldId id="295"/>
            <p14:sldId id="297"/>
            <p14:sldId id="390"/>
            <p14:sldId id="366"/>
            <p14:sldId id="370"/>
            <p14:sldId id="378"/>
            <p14:sldId id="379"/>
            <p14:sldId id="380"/>
            <p14:sldId id="386"/>
            <p14:sldId id="381"/>
            <p14:sldId id="382"/>
            <p14:sldId id="383"/>
            <p14:sldId id="385"/>
            <p14:sldId id="384"/>
            <p14:sldId id="392"/>
            <p14:sldId id="389"/>
            <p14:sldId id="391"/>
            <p14:sldId id="393"/>
            <p14:sldId id="394"/>
            <p14:sldId id="395"/>
            <p14:sldId id="354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остюкова Ольга" initials="КО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5E75"/>
    <a:srgbClr val="8C76FF"/>
    <a:srgbClr val="D64A4A"/>
    <a:srgbClr val="FFCF66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6395" autoAdjust="0"/>
  </p:normalViewPr>
  <p:slideViewPr>
    <p:cSldViewPr snapToGrid="0">
      <p:cViewPr varScale="1">
        <p:scale>
          <a:sx n="78" d="100"/>
          <a:sy n="78" d="100"/>
        </p:scale>
        <p:origin x="88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890" y="-124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12.08.2026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12.08.2026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D6420-324F-4B35-AE1D-31198132CD0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721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D6420-324F-4B35-AE1D-31198132CD0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1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Добавить ещё про перевозчиков, которые по расписке работают</a:t>
            </a: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EC4FF7B-61A6-4C2D-B15B-642061AAB1FB}" type="slidenum">
              <a:rPr lang="ru-RU"/>
              <a:t>14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D6420-324F-4B35-AE1D-31198132CD0C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836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D6420-324F-4B35-AE1D-31198132CD0C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451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D6420-324F-4B35-AE1D-31198132CD0C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852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D6420-324F-4B35-AE1D-31198132CD0C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482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AD6420-324F-4B35-AE1D-31198132CD0C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398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6175" y="1405860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6176" y="4520265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86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6175" y="1405860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6176" y="4520265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08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1386195"/>
            <a:ext cx="9364508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4500600"/>
            <a:ext cx="6070701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64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символ шафра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5700714" y="1376363"/>
            <a:ext cx="5040312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5700714" y="4490768"/>
            <a:ext cx="5040312" cy="747982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dirty="0"/>
              <a:t>Должность / отдел</a:t>
            </a:r>
          </a:p>
        </p:txBody>
      </p:sp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0712" y="5633342"/>
            <a:ext cx="1387475" cy="491923"/>
          </a:xfrm>
          <a:prstGeom prst="rect">
            <a:avLst/>
          </a:prstGeom>
        </p:spPr>
      </p:pic>
      <p:sp>
        <p:nvSpPr>
          <p:cNvPr id="25" name="Полилиния 24"/>
          <p:cNvSpPr/>
          <p:nvPr userDrawn="1"/>
        </p:nvSpPr>
        <p:spPr>
          <a:xfrm>
            <a:off x="0" y="0"/>
            <a:ext cx="4838701" cy="6858000"/>
          </a:xfrm>
          <a:custGeom>
            <a:avLst/>
            <a:gdLst>
              <a:gd name="connsiteX0" fmla="*/ 786539 w 4838701"/>
              <a:gd name="connsiteY0" fmla="*/ 2133598 h 6858000"/>
              <a:gd name="connsiteX1" fmla="*/ 1639821 w 4838701"/>
              <a:gd name="connsiteY1" fmla="*/ 3171823 h 6858000"/>
              <a:gd name="connsiteX2" fmla="*/ 786539 w 4838701"/>
              <a:gd name="connsiteY2" fmla="*/ 4210048 h 6858000"/>
              <a:gd name="connsiteX3" fmla="*/ 57218 w 4838701"/>
              <a:gd name="connsiteY3" fmla="*/ 3751468 h 6858000"/>
              <a:gd name="connsiteX4" fmla="*/ 0 w 4838701"/>
              <a:gd name="connsiteY4" fmla="*/ 3604516 h 6858000"/>
              <a:gd name="connsiteX5" fmla="*/ 0 w 4838701"/>
              <a:gd name="connsiteY5" fmla="*/ 2740664 h 6858000"/>
              <a:gd name="connsiteX6" fmla="*/ 57218 w 4838701"/>
              <a:gd name="connsiteY6" fmla="*/ 2594690 h 6858000"/>
              <a:gd name="connsiteX7" fmla="*/ 786539 w 4838701"/>
              <a:gd name="connsiteY7" fmla="*/ 2133598 h 6858000"/>
              <a:gd name="connsiteX8" fmla="*/ 0 w 4838701"/>
              <a:gd name="connsiteY8" fmla="*/ 0 h 6858000"/>
              <a:gd name="connsiteX9" fmla="*/ 758686 w 4838701"/>
              <a:gd name="connsiteY9" fmla="*/ 0 h 6858000"/>
              <a:gd name="connsiteX10" fmla="*/ 710008 w 4838701"/>
              <a:gd name="connsiteY10" fmla="*/ 64545 h 6858000"/>
              <a:gd name="connsiteX11" fmla="*/ 305440 w 4838701"/>
              <a:gd name="connsiteY11" fmla="*/ 610601 h 6858000"/>
              <a:gd name="connsiteX12" fmla="*/ 311674 w 4838701"/>
              <a:gd name="connsiteY12" fmla="*/ 838097 h 6858000"/>
              <a:gd name="connsiteX13" fmla="*/ 498139 w 4838701"/>
              <a:gd name="connsiteY13" fmla="*/ 1004391 h 6858000"/>
              <a:gd name="connsiteX14" fmla="*/ 758973 w 4838701"/>
              <a:gd name="connsiteY14" fmla="*/ 1014827 h 6858000"/>
              <a:gd name="connsiteX15" fmla="*/ 1953325 w 4838701"/>
              <a:gd name="connsiteY15" fmla="*/ 0 h 6858000"/>
              <a:gd name="connsiteX16" fmla="*/ 3191959 w 4838701"/>
              <a:gd name="connsiteY16" fmla="*/ 0 h 6858000"/>
              <a:gd name="connsiteX17" fmla="*/ 3225359 w 4838701"/>
              <a:gd name="connsiteY17" fmla="*/ 22255 h 6858000"/>
              <a:gd name="connsiteX18" fmla="*/ 4838701 w 4838701"/>
              <a:gd name="connsiteY18" fmla="*/ 3185326 h 6858000"/>
              <a:gd name="connsiteX19" fmla="*/ 2324833 w 4838701"/>
              <a:gd name="connsiteY19" fmla="*/ 6828634 h 6858000"/>
              <a:gd name="connsiteX20" fmla="*/ 2239107 w 4838701"/>
              <a:gd name="connsiteY20" fmla="*/ 6858000 h 6858000"/>
              <a:gd name="connsiteX21" fmla="*/ 0 w 4838701"/>
              <a:gd name="connsiteY21" fmla="*/ 6858000 h 6858000"/>
              <a:gd name="connsiteX22" fmla="*/ 0 w 4838701"/>
              <a:gd name="connsiteY22" fmla="*/ 4907035 h 6858000"/>
              <a:gd name="connsiteX23" fmla="*/ 128075 w 4838701"/>
              <a:gd name="connsiteY23" fmla="*/ 4949125 h 6858000"/>
              <a:gd name="connsiteX24" fmla="*/ 789714 w 4838701"/>
              <a:gd name="connsiteY24" fmla="*/ 5029199 h 6858000"/>
              <a:gd name="connsiteX25" fmla="*/ 2711383 w 4838701"/>
              <a:gd name="connsiteY25" fmla="*/ 3169443 h 6858000"/>
              <a:gd name="connsiteX26" fmla="*/ 789714 w 4838701"/>
              <a:gd name="connsiteY26" fmla="*/ 1309687 h 6858000"/>
              <a:gd name="connsiteX27" fmla="*/ 142223 w 4838701"/>
              <a:gd name="connsiteY27" fmla="*/ 1396835 h 6858000"/>
              <a:gd name="connsiteX28" fmla="*/ 0 w 4838701"/>
              <a:gd name="connsiteY28" fmla="*/ 14447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838701" h="6858000">
                <a:moveTo>
                  <a:pt x="786539" y="2133598"/>
                </a:moveTo>
                <a:cubicBezTo>
                  <a:pt x="1340344" y="2120898"/>
                  <a:pt x="1639821" y="2598427"/>
                  <a:pt x="1639821" y="3171823"/>
                </a:cubicBezTo>
                <a:cubicBezTo>
                  <a:pt x="1639821" y="3745219"/>
                  <a:pt x="1340344" y="4213223"/>
                  <a:pt x="786539" y="4210048"/>
                </a:cubicBezTo>
                <a:cubicBezTo>
                  <a:pt x="440411" y="4208064"/>
                  <a:pt x="193629" y="4026986"/>
                  <a:pt x="57218" y="3751468"/>
                </a:cubicBezTo>
                <a:lnTo>
                  <a:pt x="0" y="3604516"/>
                </a:lnTo>
                <a:lnTo>
                  <a:pt x="0" y="2740664"/>
                </a:lnTo>
                <a:lnTo>
                  <a:pt x="57218" y="2594690"/>
                </a:lnTo>
                <a:cubicBezTo>
                  <a:pt x="193629" y="2321125"/>
                  <a:pt x="440411" y="2141536"/>
                  <a:pt x="786539" y="2133598"/>
                </a:cubicBezTo>
                <a:close/>
                <a:moveTo>
                  <a:pt x="0" y="0"/>
                </a:moveTo>
                <a:lnTo>
                  <a:pt x="758686" y="0"/>
                </a:lnTo>
                <a:lnTo>
                  <a:pt x="710008" y="64545"/>
                </a:lnTo>
                <a:cubicBezTo>
                  <a:pt x="563598" y="260963"/>
                  <a:pt x="423636" y="452191"/>
                  <a:pt x="305440" y="610601"/>
                </a:cubicBezTo>
                <a:cubicBezTo>
                  <a:pt x="254203" y="666596"/>
                  <a:pt x="255679" y="786860"/>
                  <a:pt x="311674" y="838097"/>
                </a:cubicBezTo>
                <a:lnTo>
                  <a:pt x="498139" y="1004391"/>
                </a:lnTo>
                <a:cubicBezTo>
                  <a:pt x="577945" y="1079440"/>
                  <a:pt x="669636" y="1082728"/>
                  <a:pt x="758973" y="1014827"/>
                </a:cubicBezTo>
                <a:lnTo>
                  <a:pt x="1953325" y="0"/>
                </a:lnTo>
                <a:lnTo>
                  <a:pt x="3191959" y="0"/>
                </a:lnTo>
                <a:lnTo>
                  <a:pt x="3225359" y="22255"/>
                </a:lnTo>
                <a:cubicBezTo>
                  <a:pt x="4201760" y="725220"/>
                  <a:pt x="4838701" y="1879968"/>
                  <a:pt x="4838701" y="3185326"/>
                </a:cubicBezTo>
                <a:cubicBezTo>
                  <a:pt x="4838701" y="4858863"/>
                  <a:pt x="3791789" y="6284847"/>
                  <a:pt x="2324833" y="6828634"/>
                </a:cubicBezTo>
                <a:lnTo>
                  <a:pt x="2239107" y="6858000"/>
                </a:lnTo>
                <a:lnTo>
                  <a:pt x="0" y="6858000"/>
                </a:lnTo>
                <a:lnTo>
                  <a:pt x="0" y="4907035"/>
                </a:lnTo>
                <a:lnTo>
                  <a:pt x="128075" y="4949125"/>
                </a:lnTo>
                <a:cubicBezTo>
                  <a:pt x="324783" y="5002829"/>
                  <a:pt x="545177" y="5030985"/>
                  <a:pt x="789714" y="5029199"/>
                </a:cubicBezTo>
                <a:cubicBezTo>
                  <a:pt x="2093910" y="5019674"/>
                  <a:pt x="2711383" y="4196558"/>
                  <a:pt x="2711383" y="3169443"/>
                </a:cubicBezTo>
                <a:cubicBezTo>
                  <a:pt x="2711383" y="2142328"/>
                  <a:pt x="2055809" y="1300162"/>
                  <a:pt x="789714" y="1309687"/>
                </a:cubicBezTo>
                <a:cubicBezTo>
                  <a:pt x="552321" y="1311473"/>
                  <a:pt x="336392" y="1341862"/>
                  <a:pt x="142223" y="1396835"/>
                </a:cubicBezTo>
                <a:lnTo>
                  <a:pt x="0" y="144478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00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3BC5D02F-6A7F-488D-8863-2E7D5E916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970EFF6-2A86-47BF-957F-C7B6C538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82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519A18-1BF8-4938-AEC3-A77314E5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D8AD4F86-5FE3-446D-8780-CDA879DFF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93BBA2-AC45-42A4-9428-FC5859BB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76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FBC993-7CB7-4F97-9604-69040108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CA5DEB-4E80-4943-910F-68B80795D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6E871B4-AA94-4D4E-9BBB-98632F8F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28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0A5662A-3631-4B64-9763-487A6E3A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CED77CCE-A060-47D9-A7C0-7E698FE03F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4624F-C505-4ADC-B9EB-36ABDDDDD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32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текст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62CA261-17B6-4B12-BB4D-2A27E1BE7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E4734F9-4292-4CF6-9753-0EE2B8001E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7A67EA1-1104-4E3C-A446-F91348444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3148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нуме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882114" y="1598615"/>
            <a:ext cx="10412361" cy="4080312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6A866A-C7E4-46BE-B9A8-81C9769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EE71620-56CC-413D-BC0A-00E91094C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2865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нуме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865430" y="1129630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E474C4-81A0-46FC-BFAC-275D8A4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3CAE1B9-25FF-48B5-A049-B9DC3BEF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768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марки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884902" y="1550100"/>
            <a:ext cx="10392696" cy="4172342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 typeface="+mj-lt"/>
              <a:buNone/>
              <a:defRPr sz="1800" b="0" baseline="0"/>
            </a:lvl1pPr>
          </a:lstStyle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Первая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Вторая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Третья, но немаловажная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Четвертая позиция в списке</a:t>
            </a:r>
          </a:p>
          <a:p>
            <a:pPr marL="742950" lvl="1" indent="-285750">
              <a:buClr>
                <a:srgbClr val="FFCF66"/>
              </a:buClr>
              <a:buFont typeface="Verdana" panose="020B0604030504040204" pitchFamily="34" charset="0"/>
              <a:buChar char="‒"/>
            </a:pPr>
            <a:r>
              <a:rPr lang="ru-RU" sz="1400" b="0" dirty="0"/>
              <a:t> </a:t>
            </a:r>
            <a:r>
              <a:rPr lang="ru-RU" sz="1600" b="0" dirty="0"/>
              <a:t>Второй уровень списка</a:t>
            </a:r>
          </a:p>
          <a:p>
            <a:pPr marL="742950" lvl="1" indent="-285750">
              <a:buClr>
                <a:srgbClr val="FFCF66"/>
              </a:buClr>
              <a:buFont typeface="Verdana" panose="020B0604030504040204" pitchFamily="34" charset="0"/>
              <a:buChar char="‒"/>
            </a:pPr>
            <a:r>
              <a:rPr lang="ru-RU" sz="1600" b="0" dirty="0"/>
              <a:t> Ещё одна строчка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2A7D44-323D-47D5-A9F0-01D4A9E8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477ECF-E540-4493-B86E-B873B16E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8259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марки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759776" y="1047774"/>
            <a:ext cx="5517821" cy="460028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 typeface="+mj-lt"/>
              <a:buNone/>
              <a:defRPr sz="1800" b="0" baseline="0"/>
            </a:lvl1pPr>
          </a:lstStyle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Первая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Вторая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Третья, но немаловажная позиция в списке</a:t>
            </a:r>
          </a:p>
          <a:p>
            <a:pPr marL="285750" indent="-285750">
              <a:buClr>
                <a:srgbClr val="FFCF66"/>
              </a:buClr>
              <a:buFont typeface="Arial" panose="020B0604020202020204" pitchFamily="34" charset="0"/>
              <a:buChar char="•"/>
            </a:pPr>
            <a:r>
              <a:rPr lang="ru-RU" dirty="0"/>
              <a:t>Четвертая позиция в списке</a:t>
            </a:r>
          </a:p>
          <a:p>
            <a:pPr marL="742950" lvl="1" indent="-285750">
              <a:buClr>
                <a:srgbClr val="FFCF66"/>
              </a:buClr>
              <a:buFont typeface="Verdana" panose="020B0604030504040204" pitchFamily="34" charset="0"/>
              <a:buChar char="‒"/>
            </a:pPr>
            <a:r>
              <a:rPr lang="ru-RU" sz="1400" b="0" dirty="0"/>
              <a:t> </a:t>
            </a:r>
            <a:r>
              <a:rPr lang="ru-RU" sz="1600" b="0" dirty="0"/>
              <a:t>Второй уровень списка</a:t>
            </a:r>
          </a:p>
          <a:p>
            <a:pPr marL="742950" lvl="1" indent="-285750">
              <a:buClr>
                <a:srgbClr val="FFCF66"/>
              </a:buClr>
              <a:buFont typeface="Verdana" panose="020B0604030504040204" pitchFamily="34" charset="0"/>
              <a:buChar char="‒"/>
            </a:pPr>
            <a:r>
              <a:rPr lang="ru-RU" sz="1600" b="0" dirty="0"/>
              <a:t> Ещё одна строчка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6FE66-88BE-40AA-AAA9-8DDD1F2A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17602DF-5256-4FDD-94C1-5B638A446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0566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762915"/>
            <a:ext cx="4943168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523A1-EB68-423D-8F90-63E750B7F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566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1376363"/>
            <a:ext cx="10579509" cy="4645025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01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7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1376363"/>
            <a:ext cx="5879691" cy="4645025"/>
          </a:xfrm>
        </p:spPr>
        <p:txBody>
          <a:bodyPr anchor="ctr" anchorCtr="0">
            <a:normAutofit/>
          </a:bodyPr>
          <a:lstStyle>
            <a:lvl1pPr algn="l">
              <a:defRPr sz="4800" baseline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Страница разделитель 0</a:t>
            </a:r>
            <a:r>
              <a:rPr lang="en-US" dirty="0"/>
              <a:t>2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737050-4917-4D01-9FBF-4294D36866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14931" y="832620"/>
            <a:ext cx="4718608" cy="443558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CCDFEB-FC43-4DB0-8417-BCF617BDA5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8299" y="5424845"/>
            <a:ext cx="3200800" cy="226472"/>
          </a:xfrm>
          <a:prstGeom prst="rect">
            <a:avLst/>
          </a:prstGeom>
        </p:spPr>
      </p:pic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DB3D072C-6E13-4402-9C19-33106D7A3B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85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1376363"/>
            <a:ext cx="5879691" cy="4645025"/>
          </a:xfrm>
        </p:spPr>
        <p:txBody>
          <a:bodyPr anchor="ctr" anchorCtr="0">
            <a:normAutofit/>
          </a:bodyPr>
          <a:lstStyle>
            <a:lvl1pPr algn="l">
              <a:defRPr sz="4800" baseline="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Страница разделитель 03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737050-4917-4D01-9FBF-4294D36866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28784" y="934114"/>
            <a:ext cx="4812258" cy="452361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CCDFEB-FC43-4DB0-8417-BCF617BDA5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9800" y="5248056"/>
            <a:ext cx="2963438" cy="209677"/>
          </a:xfrm>
          <a:prstGeom prst="rect">
            <a:avLst/>
          </a:prstGeom>
        </p:spPr>
      </p:pic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66F56F0-9A02-4015-84BB-C461865CD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7699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924233" y="4119715"/>
            <a:ext cx="6312310" cy="21966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04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F1FE032-F8BE-4394-AF02-BD6F391F8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12186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924233" y="4119715"/>
            <a:ext cx="6312310" cy="21966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05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C76778CB-826E-4E4C-A16B-DF31D8789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7763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924233" y="4119715"/>
            <a:ext cx="6312310" cy="21966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06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85039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84902" y="1543169"/>
            <a:ext cx="7771376" cy="417927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821131-241D-4D09-AE09-799B29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63282"/>
            <a:ext cx="10392696" cy="954310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F46BE731-9096-4039-BF9A-727DEA4B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07668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руговая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6343436" y="441325"/>
            <a:ext cx="4938367" cy="155226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75071" y="441325"/>
            <a:ext cx="4973493" cy="5097156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1FE05CB-6EF4-4FF8-B36B-867271E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1220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90967" y="1595563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84902" y="1595564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11C23E-56A6-4164-B8FF-F10658F2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2573-AD9D-448A-A476-45D5ECB21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80704" y="1614516"/>
            <a:ext cx="5005388" cy="4060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5CD4B1-F30F-4145-BA27-A319BB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5CEB1CE-04E3-42BD-8823-F5452F1C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4414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ка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90535" y="1514633"/>
            <a:ext cx="4782677" cy="2890556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6518788" y="1504646"/>
            <a:ext cx="4782677" cy="290054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81AEDAF-55A9-4E1C-8323-359C0D9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FFC0EE2-1895-4B1F-A00C-1F2A313B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65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31546B-EEAC-45C2-AD58-2686120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4BC83B1-EA69-458C-93CC-D83700FA6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5075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53E90FC-F950-4C4B-B0F4-B43F9D7D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07819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56007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1156007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ED1720-7802-4704-90FA-E302964951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6006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37432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56006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1156006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A4524E-AC81-4F4C-AAE2-A4D98451D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6006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26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DD18E-EC18-44A1-8713-A3D5410D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4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60" r:id="rId4"/>
    <p:sldLayoutId id="2147483650" r:id="rId5"/>
    <p:sldLayoutId id="2147483694" r:id="rId6"/>
    <p:sldLayoutId id="2147483695" r:id="rId7"/>
    <p:sldLayoutId id="2147483706" r:id="rId8"/>
    <p:sldLayoutId id="2147483693" r:id="rId9"/>
    <p:sldLayoutId id="2147483686" r:id="rId10"/>
    <p:sldLayoutId id="2147483704" r:id="rId11"/>
    <p:sldLayoutId id="2147483688" r:id="rId12"/>
    <p:sldLayoutId id="2147483705" r:id="rId13"/>
    <p:sldLayoutId id="2147483665" r:id="rId14"/>
    <p:sldLayoutId id="2147483677" r:id="rId15"/>
    <p:sldLayoutId id="2147483679" r:id="rId16"/>
    <p:sldLayoutId id="2147483699" r:id="rId17"/>
    <p:sldLayoutId id="2147483696" r:id="rId18"/>
    <p:sldLayoutId id="2147483697" r:id="rId19"/>
    <p:sldLayoutId id="2147483698" r:id="rId20"/>
    <p:sldLayoutId id="2147483672" r:id="rId21"/>
    <p:sldLayoutId id="2147483671" r:id="rId22"/>
    <p:sldLayoutId id="2147483652" r:id="rId23"/>
    <p:sldLayoutId id="2147483703" r:id="rId24"/>
    <p:sldLayoutId id="2147483675" r:id="rId25"/>
    <p:sldLayoutId id="2147483676" r:id="rId26"/>
    <p:sldLayoutId id="2147483666" r:id="rId27"/>
    <p:sldLayoutId id="2147483701" r:id="rId28"/>
    <p:sldLayoutId id="2147483684" r:id="rId2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10" userDrawn="1">
          <p15:clr>
            <a:srgbClr val="F26B43"/>
          </p15:clr>
        </p15:guide>
        <p15:guide id="17" pos="370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278" userDrawn="1">
          <p15:clr>
            <a:srgbClr val="F26B43"/>
          </p15:clr>
        </p15:guide>
        <p15:guide id="22" pos="551" userDrawn="1">
          <p15:clr>
            <a:srgbClr val="F26B43"/>
          </p15:clr>
        </p15:guide>
        <p15:guide id="23" pos="71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publication.pravo.gov.ru/document/0001202605290045" TargetMode="External"/><Relationship Id="rId3" Type="http://schemas.openxmlformats.org/officeDocument/2006/relationships/hyperlink" Target="http://publication.pravo.gov.ru/document/0001202302280034" TargetMode="External"/><Relationship Id="rId7" Type="http://schemas.openxmlformats.org/officeDocument/2006/relationships/hyperlink" Target="http://publication.pravo.gov.ru/document/0001202605300011" TargetMode="External"/><Relationship Id="rId2" Type="http://schemas.openxmlformats.org/officeDocument/2006/relationships/hyperlink" Target="https://mintrans.gov.ru/storage/app/media/files/Postanovlenie_Pravitelstva_Rossijskoj_Federacii_21052022_931.pdf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publication.pravo.gov.ru/document/0001202605290005?index=1" TargetMode="External"/><Relationship Id="rId5" Type="http://schemas.openxmlformats.org/officeDocument/2006/relationships/hyperlink" Target="https://www.nalog.gov.ru/rn77/about_fts/docs/13197022/" TargetMode="External"/><Relationship Id="rId10" Type="http://schemas.openxmlformats.org/officeDocument/2006/relationships/image" Target="../media/image19.png"/><Relationship Id="rId4" Type="http://schemas.openxmlformats.org/officeDocument/2006/relationships/hyperlink" Target="https://www.nalog.gov.ru/rn77/about_fts/docs/11766120/" TargetMode="External"/><Relationship Id="rId9" Type="http://schemas.openxmlformats.org/officeDocument/2006/relationships/hyperlink" Target="http://publication.pravo.gov.ru/document/0001202506070016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zd.duma.gov.ru/bill/1147252-8" TargetMode="External"/><Relationship Id="rId2" Type="http://schemas.openxmlformats.org/officeDocument/2006/relationships/hyperlink" Target="http://publication.pravo.gov.ru/document/0001202606020029?index=1" TargetMode="Externa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hyperlink" Target="http://publication.pravo.gov.ru/document/0001202508290068?ysclid=mmmofhuh1w58077193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hyperlink" Target="https://mintrans.gov.ru/activities/297/367/433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publication.pravo.gov.ru/document/0001202508290068?index=2))" TargetMode="External"/><Relationship Id="rId2" Type="http://schemas.openxmlformats.org/officeDocument/2006/relationships/hyperlink" Target="http://www.fsb.ru/fsb/regions.htm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publication.pravo.gov.ru/document/0001202508290068?index=4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publication.pravo.gov.ru/document/0001202512290008" TargetMode="Externa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com.e1c.ETD" TargetMode="External"/><Relationship Id="rId2" Type="http://schemas.openxmlformats.org/officeDocument/2006/relationships/hyperlink" Target="http://1c-edo.ru/handbook/28/2563/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apps.apple.com/ru/app/1%D1%81-%D1%8D%D0%BF%D0%B4/id6467879931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stral.ru/trainer/epd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astral.ru/trainer/astraldocs/epd.html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2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64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6174" y="1405860"/>
            <a:ext cx="10121593" cy="311440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Сервис 1С-ЭПД:</a:t>
            </a:r>
            <a:br>
              <a:rPr lang="ru-RU" dirty="0"/>
            </a:br>
            <a:r>
              <a:rPr lang="ru-RU" sz="4400" dirty="0"/>
              <a:t>Мастерская для менеджеров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4932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404;p81">
            <a:extLst>
              <a:ext uri="{FF2B5EF4-FFF2-40B4-BE49-F238E27FC236}">
                <a16:creationId xmlns:a16="http://schemas.microsoft.com/office/drawing/2014/main" id="{522C0CBE-F176-213A-B5D2-8C2A82669B74}"/>
              </a:ext>
            </a:extLst>
          </p:cNvPr>
          <p:cNvGrpSpPr/>
          <p:nvPr/>
        </p:nvGrpSpPr>
        <p:grpSpPr>
          <a:xfrm>
            <a:off x="2226230" y="3987006"/>
            <a:ext cx="9965769" cy="627525"/>
            <a:chOff x="-1" y="4251299"/>
            <a:chExt cx="13367899" cy="836700"/>
          </a:xfrm>
        </p:grpSpPr>
        <p:sp>
          <p:nvSpPr>
            <p:cNvPr id="25" name="Google Shape;405;p81">
              <a:extLst>
                <a:ext uri="{FF2B5EF4-FFF2-40B4-BE49-F238E27FC236}">
                  <a16:creationId xmlns:a16="http://schemas.microsoft.com/office/drawing/2014/main" id="{D6D9D425-1017-76F6-7976-F88B3D96A545}"/>
                </a:ext>
              </a:extLst>
            </p:cNvPr>
            <p:cNvSpPr/>
            <p:nvPr/>
          </p:nvSpPr>
          <p:spPr>
            <a:xfrm>
              <a:off x="-1" y="4251299"/>
              <a:ext cx="13367899" cy="836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" name="Google Shape;406;p81">
              <a:extLst>
                <a:ext uri="{FF2B5EF4-FFF2-40B4-BE49-F238E27FC236}">
                  <a16:creationId xmlns:a16="http://schemas.microsoft.com/office/drawing/2014/main" id="{49D1C5CA-88FB-DEA3-C964-67DFDFD16109}"/>
                </a:ext>
              </a:extLst>
            </p:cNvPr>
            <p:cNvCxnSpPr>
              <a:cxnSpLocks/>
              <a:stCxn id="25" idx="1"/>
              <a:endCxn id="25" idx="3"/>
            </p:cNvCxnSpPr>
            <p:nvPr/>
          </p:nvCxnSpPr>
          <p:spPr>
            <a:xfrm>
              <a:off x="-1" y="4669650"/>
              <a:ext cx="13367899" cy="0"/>
            </a:xfrm>
            <a:prstGeom prst="straightConnector1">
              <a:avLst/>
            </a:prstGeom>
            <a:noFill/>
            <a:ln w="4287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r>
              <a:rPr lang="ru-RU" dirty="0"/>
              <a:t>Транспортная стратегия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6943785" cy="401283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ru-RU" dirty="0"/>
              <a:t>Распоряжение Правительства Российской Федерации</a:t>
            </a:r>
            <a:br>
              <a:rPr lang="ru-RU" dirty="0"/>
            </a:br>
            <a:r>
              <a:rPr lang="ru-RU" dirty="0"/>
              <a:t>от 27 ноября 2021 года №3363-р «Об утверждении Транспортной стратегии Российской Федерации </a:t>
            </a:r>
            <a:br>
              <a:rPr lang="ru-RU" dirty="0"/>
            </a:br>
            <a:r>
              <a:rPr lang="ru-RU" dirty="0"/>
              <a:t>до 2030 года с прогнозом на период до 2035 года»</a:t>
            </a:r>
          </a:p>
        </p:txBody>
      </p:sp>
      <p:sp>
        <p:nvSpPr>
          <p:cNvPr id="2" name="Google Shape;417;p81">
            <a:extLst>
              <a:ext uri="{FF2B5EF4-FFF2-40B4-BE49-F238E27FC236}">
                <a16:creationId xmlns:a16="http://schemas.microsoft.com/office/drawing/2014/main" id="{BB284B28-F95F-3683-84F8-D6F09C74E524}"/>
              </a:ext>
            </a:extLst>
          </p:cNvPr>
          <p:cNvSpPr/>
          <p:nvPr/>
        </p:nvSpPr>
        <p:spPr>
          <a:xfrm>
            <a:off x="8031643" y="2029596"/>
            <a:ext cx="3220922" cy="3824447"/>
          </a:xfrm>
          <a:prstGeom prst="roundRect">
            <a:avLst>
              <a:gd name="adj" fmla="val 9041"/>
            </a:avLst>
          </a:prstGeom>
          <a:solidFill>
            <a:schemeClr val="accent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420;p81">
            <a:extLst>
              <a:ext uri="{FF2B5EF4-FFF2-40B4-BE49-F238E27FC236}">
                <a16:creationId xmlns:a16="http://schemas.microsoft.com/office/drawing/2014/main" id="{0380D37D-8269-0EE4-349A-6E06B78E0CE3}"/>
              </a:ext>
            </a:extLst>
          </p:cNvPr>
          <p:cNvSpPr/>
          <p:nvPr/>
        </p:nvSpPr>
        <p:spPr>
          <a:xfrm>
            <a:off x="8252553" y="2205175"/>
            <a:ext cx="2312196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889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0" strike="noStrike" cap="none" dirty="0">
                <a:ea typeface="Montserrat"/>
                <a:cs typeface="Montserrat"/>
                <a:sym typeface="Montserrat"/>
              </a:rPr>
              <a:t>Цифровизация грузовых перевозок</a:t>
            </a:r>
            <a:endParaRPr sz="1200" dirty="0"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423;p81">
            <a:extLst>
              <a:ext uri="{FF2B5EF4-FFF2-40B4-BE49-F238E27FC236}">
                <a16:creationId xmlns:a16="http://schemas.microsoft.com/office/drawing/2014/main" id="{B642275F-E51C-D5D8-E56F-A486F42AC571}"/>
              </a:ext>
            </a:extLst>
          </p:cNvPr>
          <p:cNvSpPr/>
          <p:nvPr/>
        </p:nvSpPr>
        <p:spPr>
          <a:xfrm>
            <a:off x="8252553" y="2682028"/>
            <a:ext cx="26250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8890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dirty="0">
                <a:ea typeface="Montserrat"/>
                <a:cs typeface="Montserrat"/>
                <a:sym typeface="Montserrat"/>
              </a:rPr>
              <a:t>Мультимодальные международные перевозки</a:t>
            </a:r>
            <a:endParaRPr sz="1200" dirty="0"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3D502-989B-0A8A-F05A-BA94C6CA1218}"/>
              </a:ext>
            </a:extLst>
          </p:cNvPr>
          <p:cNvSpPr txBox="1"/>
          <p:nvPr/>
        </p:nvSpPr>
        <p:spPr bwMode="auto">
          <a:xfrm>
            <a:off x="8243126" y="3158881"/>
            <a:ext cx="24471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ea typeface="Montserrat"/>
                <a:cs typeface="Montserrat"/>
                <a:sym typeface="Montserrat"/>
              </a:rPr>
              <a:t>Цифровизация пассажирских перевозок</a:t>
            </a:r>
          </a:p>
        </p:txBody>
      </p:sp>
      <p:sp>
        <p:nvSpPr>
          <p:cNvPr id="8" name="Google Shape;422;p81">
            <a:extLst>
              <a:ext uri="{FF2B5EF4-FFF2-40B4-BE49-F238E27FC236}">
                <a16:creationId xmlns:a16="http://schemas.microsoft.com/office/drawing/2014/main" id="{B23399A8-E15F-A16C-A075-202E77CA08B8}"/>
              </a:ext>
            </a:extLst>
          </p:cNvPr>
          <p:cNvSpPr/>
          <p:nvPr/>
        </p:nvSpPr>
        <p:spPr>
          <a:xfrm>
            <a:off x="8271407" y="3674220"/>
            <a:ext cx="2538439" cy="530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889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0" u="none" strike="noStrike" cap="none" dirty="0">
                <a:ea typeface="Montserrat"/>
                <a:cs typeface="Montserrat"/>
                <a:sym typeface="Montserrat"/>
              </a:rPr>
              <a:t>Цифровизация жизненного цикла инфраструктуры </a:t>
            </a:r>
            <a:br>
              <a:rPr lang="ru" sz="1200" i="0" u="none" strike="noStrike" cap="none" dirty="0">
                <a:ea typeface="Montserrat"/>
                <a:cs typeface="Montserrat"/>
                <a:sym typeface="Montserrat"/>
              </a:rPr>
            </a:br>
            <a:r>
              <a:rPr lang="ru" sz="1200" i="0" u="none" strike="noStrike" cap="none" dirty="0">
                <a:ea typeface="Montserrat"/>
                <a:cs typeface="Montserrat"/>
                <a:sym typeface="Montserrat"/>
              </a:rPr>
              <a:t>и транспортных средств</a:t>
            </a:r>
            <a:endParaRPr sz="1200" dirty="0">
              <a:ea typeface="Montserrat"/>
              <a:cs typeface="Montserrat"/>
              <a:sym typeface="Montserrat"/>
            </a:endParaRPr>
          </a:p>
        </p:txBody>
      </p:sp>
      <p:sp>
        <p:nvSpPr>
          <p:cNvPr id="9" name="Google Shape;419;p81">
            <a:extLst>
              <a:ext uri="{FF2B5EF4-FFF2-40B4-BE49-F238E27FC236}">
                <a16:creationId xmlns:a16="http://schemas.microsoft.com/office/drawing/2014/main" id="{9D57B75B-AA3C-E5FD-AA16-8401D2A52CEC}"/>
              </a:ext>
            </a:extLst>
          </p:cNvPr>
          <p:cNvSpPr/>
          <p:nvPr/>
        </p:nvSpPr>
        <p:spPr>
          <a:xfrm>
            <a:off x="8261980" y="4386325"/>
            <a:ext cx="3039600" cy="276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889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0" strike="noStrike" cap="none" dirty="0">
                <a:ea typeface="Montserrat"/>
                <a:cs typeface="Montserrat"/>
                <a:sym typeface="Montserrat"/>
              </a:rPr>
              <a:t>Логистический аутсорсинг</a:t>
            </a:r>
            <a:endParaRPr sz="1200" dirty="0"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69EF69-E7CD-73F9-AC06-148FE6951448}"/>
              </a:ext>
            </a:extLst>
          </p:cNvPr>
          <p:cNvSpPr txBox="1"/>
          <p:nvPr/>
        </p:nvSpPr>
        <p:spPr bwMode="auto">
          <a:xfrm>
            <a:off x="8252553" y="4717838"/>
            <a:ext cx="24486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i="0" strike="noStrike" cap="none" dirty="0">
                <a:ea typeface="Montserrat"/>
                <a:cs typeface="Montserrat"/>
                <a:sym typeface="Montserrat"/>
              </a:rPr>
              <a:t>Евразийская экономическая интеграция</a:t>
            </a:r>
            <a:endParaRPr lang="ru-RU" sz="1200" dirty="0"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421;p81">
            <a:extLst>
              <a:ext uri="{FF2B5EF4-FFF2-40B4-BE49-F238E27FC236}">
                <a16:creationId xmlns:a16="http://schemas.microsoft.com/office/drawing/2014/main" id="{4ADB76A7-BF3E-0B84-E852-A4F68C23FBEC}"/>
              </a:ext>
            </a:extLst>
          </p:cNvPr>
          <p:cNvSpPr/>
          <p:nvPr/>
        </p:nvSpPr>
        <p:spPr>
          <a:xfrm>
            <a:off x="8271406" y="5213418"/>
            <a:ext cx="2679841" cy="497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8890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0" strike="noStrike" cap="none" dirty="0">
                <a:ea typeface="Montserrat"/>
                <a:cs typeface="Montserrat"/>
                <a:sym typeface="Montserrat"/>
              </a:rPr>
              <a:t>Цифровизация управления транспортным комплексом</a:t>
            </a:r>
            <a:endParaRPr sz="1200" dirty="0"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418;p81">
            <a:extLst>
              <a:ext uri="{FF2B5EF4-FFF2-40B4-BE49-F238E27FC236}">
                <a16:creationId xmlns:a16="http://schemas.microsoft.com/office/drawing/2014/main" id="{CC72A612-CE6A-48F7-8382-E76744581CE2}"/>
              </a:ext>
            </a:extLst>
          </p:cNvPr>
          <p:cNvSpPr txBox="1"/>
          <p:nvPr/>
        </p:nvSpPr>
        <p:spPr>
          <a:xfrm>
            <a:off x="8323443" y="1646656"/>
            <a:ext cx="2554109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600" b="1" i="0" u="none" strike="noStrike" cap="none" dirty="0">
                <a:ea typeface="Montserrat"/>
                <a:cs typeface="Montserrat"/>
                <a:sym typeface="Montserrat"/>
              </a:rPr>
              <a:t>Основные </a:t>
            </a:r>
            <a:r>
              <a:rPr lang="ru" sz="1600" b="1" dirty="0">
                <a:ea typeface="Montserrat"/>
                <a:cs typeface="Montserrat"/>
                <a:sym typeface="Montserrat"/>
              </a:rPr>
              <a:t>тренды</a:t>
            </a:r>
            <a:endParaRPr sz="1600" b="1" i="0" u="none" strike="noStrike" cap="none" dirty="0"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408;p81">
            <a:extLst>
              <a:ext uri="{FF2B5EF4-FFF2-40B4-BE49-F238E27FC236}">
                <a16:creationId xmlns:a16="http://schemas.microsoft.com/office/drawing/2014/main" id="{FCC11C7B-1E66-88F8-322B-BA973AB57EF5}"/>
              </a:ext>
            </a:extLst>
          </p:cNvPr>
          <p:cNvSpPr txBox="1"/>
          <p:nvPr/>
        </p:nvSpPr>
        <p:spPr>
          <a:xfrm>
            <a:off x="2337155" y="3518331"/>
            <a:ext cx="10893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600" b="1" i="0" u="none" strike="noStrike" cap="none" dirty="0">
                <a:solidFill>
                  <a:schemeClr val="accent2"/>
                </a:solidFill>
                <a:ea typeface="Montserrat ExtraBold"/>
                <a:cs typeface="Montserrat ExtraBold"/>
                <a:sym typeface="Montserrat ExtraBold"/>
              </a:rPr>
              <a:t>Этап 1</a:t>
            </a:r>
            <a:endParaRPr sz="1600" b="1" i="0" u="none" strike="noStrike" cap="none" dirty="0">
              <a:solidFill>
                <a:schemeClr val="accent2"/>
              </a:solidFill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" name="Google Shape;409;p81">
            <a:extLst>
              <a:ext uri="{FF2B5EF4-FFF2-40B4-BE49-F238E27FC236}">
                <a16:creationId xmlns:a16="http://schemas.microsoft.com/office/drawing/2014/main" id="{F719AEEE-A269-05AC-598E-7C15A71728E0}"/>
              </a:ext>
            </a:extLst>
          </p:cNvPr>
          <p:cNvSpPr txBox="1"/>
          <p:nvPr/>
        </p:nvSpPr>
        <p:spPr>
          <a:xfrm>
            <a:off x="2220197" y="4776527"/>
            <a:ext cx="1376233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 b="1" i="0" u="none" strike="noStrike" cap="none" dirty="0">
                <a:solidFill>
                  <a:schemeClr val="bg1">
                    <a:lumMod val="50000"/>
                  </a:schemeClr>
                </a:solidFill>
                <a:ea typeface="Montserrat ExtraBold"/>
                <a:cs typeface="Montserrat ExtraBold"/>
                <a:sym typeface="Montserrat ExtraBold"/>
              </a:rPr>
              <a:t>2021 </a:t>
            </a:r>
            <a:r>
              <a:rPr lang="ru" sz="1200" b="1" dirty="0">
                <a:solidFill>
                  <a:schemeClr val="bg1">
                    <a:lumMod val="50000"/>
                  </a:schemeClr>
                </a:solidFill>
                <a:ea typeface="Montserrat ExtraBold"/>
                <a:cs typeface="Montserrat ExtraBold"/>
                <a:sym typeface="Montserrat ExtraBold"/>
              </a:rPr>
              <a:t>–</a:t>
            </a:r>
            <a:r>
              <a:rPr lang="ru" sz="1200" b="1" i="0" u="none" strike="noStrike" cap="none" dirty="0">
                <a:solidFill>
                  <a:schemeClr val="bg1">
                    <a:lumMod val="50000"/>
                  </a:schemeClr>
                </a:solidFill>
                <a:ea typeface="Montserrat ExtraBold"/>
                <a:cs typeface="Montserrat ExtraBold"/>
                <a:sym typeface="Montserrat ExtraBold"/>
              </a:rPr>
              <a:t> 2024 </a:t>
            </a:r>
            <a:endParaRPr sz="1050" b="1" i="0" u="none" strike="noStrike" cap="none" dirty="0">
              <a:solidFill>
                <a:schemeClr val="bg1">
                  <a:lumMod val="50000"/>
                </a:schemeClr>
              </a:solidFill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5" name="Google Shape;410;p81">
            <a:extLst>
              <a:ext uri="{FF2B5EF4-FFF2-40B4-BE49-F238E27FC236}">
                <a16:creationId xmlns:a16="http://schemas.microsoft.com/office/drawing/2014/main" id="{A7A0F51E-0FCB-7361-EA91-D2195EC64632}"/>
              </a:ext>
            </a:extLst>
          </p:cNvPr>
          <p:cNvSpPr txBox="1"/>
          <p:nvPr/>
        </p:nvSpPr>
        <p:spPr>
          <a:xfrm>
            <a:off x="3542722" y="4776527"/>
            <a:ext cx="1376231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 b="1" i="0" u="none" strike="noStrike" cap="none" dirty="0">
                <a:solidFill>
                  <a:schemeClr val="bg1">
                    <a:lumMod val="50000"/>
                  </a:schemeClr>
                </a:solidFill>
                <a:ea typeface="Montserrat ExtraBold"/>
                <a:cs typeface="Montserrat ExtraBold"/>
                <a:sym typeface="Montserrat ExtraBold"/>
              </a:rPr>
              <a:t>2025 </a:t>
            </a:r>
            <a:r>
              <a:rPr lang="ru" sz="1200" b="1" dirty="0">
                <a:solidFill>
                  <a:schemeClr val="bg1">
                    <a:lumMod val="50000"/>
                  </a:schemeClr>
                </a:solidFill>
                <a:ea typeface="Montserrat ExtraBold"/>
                <a:cs typeface="Montserrat ExtraBold"/>
                <a:sym typeface="Montserrat ExtraBold"/>
              </a:rPr>
              <a:t>–</a:t>
            </a:r>
            <a:r>
              <a:rPr lang="ru" sz="1200" b="1" i="0" u="none" strike="noStrike" cap="none" dirty="0">
                <a:solidFill>
                  <a:schemeClr val="bg1">
                    <a:lumMod val="50000"/>
                  </a:schemeClr>
                </a:solidFill>
                <a:ea typeface="Montserrat ExtraBold"/>
                <a:cs typeface="Montserrat ExtraBold"/>
                <a:sym typeface="Montserrat ExtraBold"/>
              </a:rPr>
              <a:t> 2030 </a:t>
            </a:r>
            <a:endParaRPr sz="1050" b="1" i="0" u="none" strike="noStrike" cap="none" dirty="0">
              <a:solidFill>
                <a:schemeClr val="bg1">
                  <a:lumMod val="50000"/>
                </a:schemeClr>
              </a:solidFill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" name="Google Shape;411;p81">
            <a:extLst>
              <a:ext uri="{FF2B5EF4-FFF2-40B4-BE49-F238E27FC236}">
                <a16:creationId xmlns:a16="http://schemas.microsoft.com/office/drawing/2014/main" id="{01C39A3A-34BA-04BB-8836-1059D40AD37C}"/>
              </a:ext>
            </a:extLst>
          </p:cNvPr>
          <p:cNvSpPr txBox="1"/>
          <p:nvPr/>
        </p:nvSpPr>
        <p:spPr>
          <a:xfrm>
            <a:off x="6055070" y="4776527"/>
            <a:ext cx="1468994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 b="1" i="0" u="none" strike="noStrike" cap="none" dirty="0">
                <a:solidFill>
                  <a:schemeClr val="bg1">
                    <a:lumMod val="50000"/>
                  </a:schemeClr>
                </a:solidFill>
                <a:ea typeface="Montserrat ExtraBold"/>
                <a:cs typeface="Montserrat ExtraBold"/>
                <a:sym typeface="Montserrat ExtraBold"/>
              </a:rPr>
              <a:t>2031 </a:t>
            </a:r>
            <a:r>
              <a:rPr lang="ru" sz="1200" b="1" dirty="0">
                <a:solidFill>
                  <a:schemeClr val="bg1">
                    <a:lumMod val="50000"/>
                  </a:schemeClr>
                </a:solidFill>
                <a:ea typeface="Montserrat ExtraBold"/>
                <a:cs typeface="Montserrat ExtraBold"/>
                <a:sym typeface="Montserrat ExtraBold"/>
              </a:rPr>
              <a:t>–</a:t>
            </a:r>
            <a:r>
              <a:rPr lang="ru" sz="1200" b="1" i="0" u="none" strike="noStrike" cap="none" dirty="0">
                <a:solidFill>
                  <a:schemeClr val="bg1">
                    <a:lumMod val="50000"/>
                  </a:schemeClr>
                </a:solidFill>
                <a:ea typeface="Montserrat ExtraBold"/>
                <a:cs typeface="Montserrat ExtraBold"/>
                <a:sym typeface="Montserrat ExtraBold"/>
              </a:rPr>
              <a:t> 2035 </a:t>
            </a:r>
            <a:endParaRPr sz="1050" b="1" i="0" u="none" strike="noStrike" cap="none" dirty="0">
              <a:solidFill>
                <a:schemeClr val="bg1">
                  <a:lumMod val="50000"/>
                </a:schemeClr>
              </a:solidFill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7" name="Google Shape;412;p81">
            <a:extLst>
              <a:ext uri="{FF2B5EF4-FFF2-40B4-BE49-F238E27FC236}">
                <a16:creationId xmlns:a16="http://schemas.microsoft.com/office/drawing/2014/main" id="{ADA25B25-5BDD-F3B7-2325-12EA094B88B7}"/>
              </a:ext>
            </a:extLst>
          </p:cNvPr>
          <p:cNvSpPr txBox="1"/>
          <p:nvPr/>
        </p:nvSpPr>
        <p:spPr>
          <a:xfrm>
            <a:off x="3888457" y="3518331"/>
            <a:ext cx="18717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600" b="1" i="0" u="none" strike="noStrike" cap="none" dirty="0">
                <a:solidFill>
                  <a:schemeClr val="accent2"/>
                </a:solidFill>
                <a:ea typeface="Montserrat ExtraBold"/>
                <a:cs typeface="Montserrat ExtraBold"/>
                <a:sym typeface="Montserrat ExtraBold"/>
              </a:rPr>
              <a:t>Этап 2</a:t>
            </a:r>
            <a:endParaRPr sz="1600" b="1" i="0" u="none" strike="noStrike" cap="none" dirty="0">
              <a:solidFill>
                <a:schemeClr val="accent2"/>
              </a:solidFill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8" name="Google Shape;413;p81">
            <a:extLst>
              <a:ext uri="{FF2B5EF4-FFF2-40B4-BE49-F238E27FC236}">
                <a16:creationId xmlns:a16="http://schemas.microsoft.com/office/drawing/2014/main" id="{75F0DF00-AB58-CA5C-A077-12B1CCE8F629}"/>
              </a:ext>
            </a:extLst>
          </p:cNvPr>
          <p:cNvSpPr txBox="1"/>
          <p:nvPr/>
        </p:nvSpPr>
        <p:spPr>
          <a:xfrm>
            <a:off x="6289746" y="3518331"/>
            <a:ext cx="105222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600" b="1" i="0" u="none" strike="noStrike" cap="none" dirty="0">
                <a:solidFill>
                  <a:schemeClr val="accent2"/>
                </a:solidFill>
                <a:ea typeface="Montserrat ExtraBold"/>
                <a:cs typeface="Montserrat ExtraBold"/>
                <a:sym typeface="Montserrat ExtraBold"/>
              </a:rPr>
              <a:t>Этап 3</a:t>
            </a:r>
            <a:endParaRPr sz="1600" b="1" i="0" u="none" strike="noStrike" cap="none" dirty="0">
              <a:solidFill>
                <a:schemeClr val="accent2"/>
              </a:solidFill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9" name="Google Shape;414;p81">
            <a:extLst>
              <a:ext uri="{FF2B5EF4-FFF2-40B4-BE49-F238E27FC236}">
                <a16:creationId xmlns:a16="http://schemas.microsoft.com/office/drawing/2014/main" id="{5C7C117A-0B28-67BC-4A1C-9236D054C24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9935619">
            <a:off x="3740455" y="3924899"/>
            <a:ext cx="767972" cy="7679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415;p81">
            <a:extLst>
              <a:ext uri="{FF2B5EF4-FFF2-40B4-BE49-F238E27FC236}">
                <a16:creationId xmlns:a16="http://schemas.microsoft.com/office/drawing/2014/main" id="{6E5E135A-46CE-DAE5-2737-02181D339E7F}"/>
              </a:ext>
            </a:extLst>
          </p:cNvPr>
          <p:cNvCxnSpPr>
            <a:cxnSpLocks/>
          </p:cNvCxnSpPr>
          <p:nvPr/>
        </p:nvCxnSpPr>
        <p:spPr>
          <a:xfrm>
            <a:off x="3586792" y="3575483"/>
            <a:ext cx="0" cy="1429800"/>
          </a:xfrm>
          <a:prstGeom prst="straightConnector1">
            <a:avLst/>
          </a:prstGeom>
          <a:noFill/>
          <a:ln w="7150" cap="flat" cmpd="sng">
            <a:solidFill>
              <a:schemeClr val="accent2"/>
            </a:solidFill>
            <a:prstDash val="lgDash"/>
            <a:round/>
            <a:headEnd type="none" w="sm" len="sm"/>
            <a:tailEnd type="none" w="sm" len="sm"/>
          </a:ln>
        </p:spPr>
      </p:cxnSp>
      <p:cxnSp>
        <p:nvCxnSpPr>
          <p:cNvPr id="21" name="Google Shape;416;p81">
            <a:extLst>
              <a:ext uri="{FF2B5EF4-FFF2-40B4-BE49-F238E27FC236}">
                <a16:creationId xmlns:a16="http://schemas.microsoft.com/office/drawing/2014/main" id="{02C6A011-7F31-04B5-1C6D-5760DBDF8355}"/>
              </a:ext>
            </a:extLst>
          </p:cNvPr>
          <p:cNvCxnSpPr>
            <a:cxnSpLocks/>
          </p:cNvCxnSpPr>
          <p:nvPr/>
        </p:nvCxnSpPr>
        <p:spPr>
          <a:xfrm>
            <a:off x="6071657" y="3593376"/>
            <a:ext cx="0" cy="1429800"/>
          </a:xfrm>
          <a:prstGeom prst="straightConnector1">
            <a:avLst/>
          </a:prstGeom>
          <a:noFill/>
          <a:ln w="7150" cap="flat" cmpd="sng">
            <a:solidFill>
              <a:schemeClr val="accent2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22" name="Google Shape;425;p81">
            <a:extLst>
              <a:ext uri="{FF2B5EF4-FFF2-40B4-BE49-F238E27FC236}">
                <a16:creationId xmlns:a16="http://schemas.microsoft.com/office/drawing/2014/main" id="{AC6A9C52-7C99-9B0F-5AC0-719F0BFDC581}"/>
              </a:ext>
            </a:extLst>
          </p:cNvPr>
          <p:cNvSpPr txBox="1"/>
          <p:nvPr/>
        </p:nvSpPr>
        <p:spPr>
          <a:xfrm>
            <a:off x="4793924" y="4776527"/>
            <a:ext cx="1311185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200" b="1" dirty="0">
                <a:solidFill>
                  <a:schemeClr val="dk1"/>
                </a:solidFill>
                <a:ea typeface="Montserrat ExtraBold"/>
                <a:cs typeface="Montserrat ExtraBold"/>
                <a:sym typeface="Montserrat ExtraBold"/>
              </a:rPr>
              <a:t>01.09.2026</a:t>
            </a:r>
            <a:endParaRPr sz="1050" b="1" i="0" u="none" strike="noStrike" cap="none" dirty="0">
              <a:solidFill>
                <a:schemeClr val="dk1"/>
              </a:solidFill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3" name="Google Shape;426;p81" title="Безымянный-1-01.png">
            <a:extLst>
              <a:ext uri="{FF2B5EF4-FFF2-40B4-BE49-F238E27FC236}">
                <a16:creationId xmlns:a16="http://schemas.microsoft.com/office/drawing/2014/main" id="{CB71B9EC-9557-D1C2-1359-08880199F9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190" y="3593359"/>
            <a:ext cx="489956" cy="1027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2878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1533447" y="2701170"/>
            <a:ext cx="10270148" cy="3066068"/>
          </a:xfrm>
        </p:spPr>
        <p:txBody>
          <a:bodyPr>
            <a:normAutofit/>
          </a:bodyPr>
          <a:lstStyle/>
          <a:p>
            <a:pPr marL="342900" lvl="0" indent="-2413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Font typeface="Montserrat"/>
              <a:buChar char="●"/>
              <a:defRPr/>
            </a:pPr>
            <a:r>
              <a:rPr lang="ru-RU" sz="1600" dirty="0">
                <a:ea typeface="Montserrat"/>
                <a:cs typeface="Montserrat"/>
              </a:rPr>
              <a:t>Правила обмена ЭПД и направление сведений в ГИС ЭПД </a:t>
            </a:r>
            <a:br>
              <a:rPr lang="ru-RU" sz="1600" dirty="0">
                <a:ea typeface="Montserrat"/>
                <a:cs typeface="Montserrat"/>
              </a:rPr>
            </a:br>
            <a:r>
              <a:rPr lang="ru-RU" sz="1600" dirty="0">
                <a:ea typeface="Montserrat"/>
                <a:cs typeface="Montserrat"/>
              </a:rPr>
              <a:t>(</a:t>
            </a:r>
            <a:r>
              <a:rPr lang="ru-RU" sz="1600" u="sng" dirty="0">
                <a:solidFill>
                  <a:schemeClr val="accent2"/>
                </a:solidFill>
                <a:ea typeface="Montserrat"/>
                <a:cs typeface="Montserrat"/>
                <a:hlinkClick r:id="rId2" tooltip="https://mintrans.gov.ru/storage/app/media/files/Postanovlenie_Pravitelstva_Rossijskoj_Federacii_21052022_931.pdf"/>
              </a:rPr>
              <a:t>Постановление Правительства РФ от 21.05.2022 № 931</a:t>
            </a:r>
            <a:r>
              <a:rPr lang="ru-RU" sz="1600" dirty="0">
                <a:ea typeface="Montserrat"/>
                <a:cs typeface="Montserrat"/>
              </a:rPr>
              <a:t>)</a:t>
            </a:r>
            <a:endParaRPr dirty="0"/>
          </a:p>
          <a:p>
            <a:pPr marL="342900" indent="-2413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Font typeface="Montserrat"/>
              <a:buChar char="●"/>
              <a:defRPr/>
            </a:pPr>
            <a:r>
              <a:rPr lang="ru-RU" sz="1600" dirty="0">
                <a:ea typeface="Montserrat"/>
                <a:cs typeface="Montserrat"/>
              </a:rPr>
              <a:t>Формат ЭЗЗ (</a:t>
            </a:r>
            <a:r>
              <a:rPr lang="ru-RU" sz="1600" u="sng" dirty="0">
                <a:ea typeface="Montserrat"/>
                <a:cs typeface="Montserrat"/>
                <a:hlinkClick r:id="rId3" tooltip="http://publication.pravo.gov.ru/document/0001202302280034"/>
              </a:rPr>
              <a:t>Приказ ФНС России от 13.02.2023 № ЕД-7-26/108@</a:t>
            </a:r>
            <a:r>
              <a:rPr lang="ru-RU" sz="1600" dirty="0">
                <a:ea typeface="Montserrat"/>
                <a:cs typeface="Montserrat"/>
              </a:rPr>
              <a:t>)</a:t>
            </a:r>
            <a:endParaRPr sz="1600" dirty="0"/>
          </a:p>
          <a:p>
            <a:pPr marL="342900" lvl="0" indent="-2413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Font typeface="Montserrat"/>
              <a:buChar char="●"/>
              <a:defRPr/>
            </a:pPr>
            <a:r>
              <a:rPr lang="ru-RU" sz="1600" dirty="0">
                <a:ea typeface="Montserrat"/>
                <a:cs typeface="Montserrat"/>
              </a:rPr>
              <a:t>Формат </a:t>
            </a:r>
            <a:r>
              <a:rPr lang="ru-RU" sz="1600" dirty="0" err="1">
                <a:ea typeface="Montserrat"/>
                <a:cs typeface="Montserrat"/>
              </a:rPr>
              <a:t>ЭТрН</a:t>
            </a:r>
            <a:r>
              <a:rPr lang="ru-RU" sz="1600" dirty="0">
                <a:ea typeface="Montserrat"/>
                <a:cs typeface="Montserrat"/>
              </a:rPr>
              <a:t> (</a:t>
            </a:r>
            <a:r>
              <a:rPr lang="ru-RU" sz="1600" u="sng" dirty="0">
                <a:solidFill>
                  <a:schemeClr val="accent2"/>
                </a:solidFill>
                <a:ea typeface="Montserrat"/>
                <a:cs typeface="Montserrat"/>
                <a:hlinkClick r:id="rId4" tooltip="https://www.nalog.gov.ru/rn77/about_fts/docs/11766120/"/>
              </a:rPr>
              <a:t>Приказ ФНС России от 09.12.2021 № ЕД-7-26/1065@</a:t>
            </a:r>
            <a:r>
              <a:rPr lang="ru-RU" sz="1600" dirty="0">
                <a:solidFill>
                  <a:schemeClr val="accent2"/>
                </a:solidFill>
                <a:ea typeface="Montserrat"/>
                <a:cs typeface="Montserrat"/>
              </a:rPr>
              <a:t>)</a:t>
            </a:r>
            <a:endParaRPr dirty="0"/>
          </a:p>
          <a:p>
            <a:pPr marL="342900" lvl="0" indent="-2413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Font typeface="Montserrat"/>
              <a:buChar char="●"/>
              <a:defRPr/>
            </a:pPr>
            <a:r>
              <a:rPr lang="ru-RU" sz="1600" dirty="0">
                <a:ea typeface="Montserrat"/>
                <a:cs typeface="Montserrat"/>
              </a:rPr>
              <a:t>Формат ЭПЛ (</a:t>
            </a:r>
            <a:r>
              <a:rPr lang="ru-RU" sz="1600" u="sng" dirty="0">
                <a:solidFill>
                  <a:schemeClr val="accent2"/>
                </a:solidFill>
                <a:ea typeface="Montserrat"/>
                <a:cs typeface="Montserrat"/>
                <a:hlinkClick r:id="rId5" tooltip="https://www.nalog.gov.ru/rn77/about_fts/docs/13197022/"/>
              </a:rPr>
              <a:t>Приказ ФНС России от 17.02.2023 № ЕД-7-26/116@</a:t>
            </a:r>
            <a:r>
              <a:rPr lang="ru-RU" sz="1600" dirty="0">
                <a:solidFill>
                  <a:schemeClr val="accent2"/>
                </a:solidFill>
                <a:ea typeface="Montserrat"/>
                <a:cs typeface="Montserrat"/>
              </a:rPr>
              <a:t>)</a:t>
            </a:r>
            <a:endParaRPr dirty="0"/>
          </a:p>
          <a:p>
            <a:pPr marL="342900" lvl="0" indent="-2413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Font typeface="Montserrat"/>
              <a:buChar char="●"/>
              <a:defRPr/>
            </a:pPr>
            <a:r>
              <a:rPr lang="ru-RU" sz="1600" dirty="0">
                <a:ea typeface="Montserrat"/>
                <a:cs typeface="Montserrat"/>
              </a:rPr>
              <a:t>Формат экспедиторских документов (</a:t>
            </a:r>
            <a:r>
              <a:rPr lang="ru-RU" sz="1600" u="sng" dirty="0">
                <a:ea typeface="Montserrat"/>
                <a:cs typeface="Montserrat"/>
                <a:hlinkClick r:id="rId6" tooltip="http://publication.pravo.gov.ru/document/0001202605290005?index=1"/>
              </a:rPr>
              <a:t>Приказ ФНС России от 28.04.2026 N ЕД-1-26/277@</a:t>
            </a:r>
            <a:r>
              <a:rPr lang="ru-RU" sz="1600" dirty="0">
                <a:ea typeface="Montserrat"/>
                <a:cs typeface="Montserrat"/>
              </a:rPr>
              <a:t>)</a:t>
            </a:r>
            <a:endParaRPr lang="ru-RU" dirty="0"/>
          </a:p>
          <a:p>
            <a:pPr marL="342900" lvl="0" indent="-2413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Font typeface="Montserrat"/>
              <a:buChar char="●"/>
              <a:defRPr/>
            </a:pPr>
            <a:r>
              <a:rPr lang="ru-RU" sz="1600" dirty="0">
                <a:ea typeface="Montserrat"/>
                <a:cs typeface="Montserrat"/>
              </a:rPr>
              <a:t>Формат ЭТЖН (</a:t>
            </a:r>
            <a:r>
              <a:rPr lang="ru-RU" sz="1600" b="0" i="0" u="sng" dirty="0">
                <a:solidFill>
                  <a:srgbClr val="0563C1"/>
                </a:solidFill>
                <a:hlinkClick r:id="rId7" tooltip="http://publication.pravo.gov.ru/document/0001202605300011"/>
              </a:rPr>
              <a:t>Приказ ФНС России от 07.05.2026 № КЧ-1-26/297@</a:t>
            </a:r>
            <a:r>
              <a:rPr lang="ru-RU" sz="1600" b="0" i="0" dirty="0"/>
              <a:t>)</a:t>
            </a:r>
            <a:endParaRPr lang="ru-RU" sz="1600" dirty="0">
              <a:ea typeface="Montserrat"/>
              <a:cs typeface="Montserrat"/>
            </a:endParaRPr>
          </a:p>
          <a:p>
            <a:pPr marL="342900" lvl="0" indent="-2413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Font typeface="Montserrat"/>
              <a:buChar char="●"/>
              <a:defRPr/>
            </a:pPr>
            <a:r>
              <a:rPr lang="ru-RU" sz="1600" dirty="0">
                <a:ea typeface="Montserrat"/>
                <a:cs typeface="Montserrat"/>
              </a:rPr>
              <a:t>Формат ЭГН (</a:t>
            </a:r>
            <a:r>
              <a:rPr lang="ru-RU" sz="1600" u="sng" dirty="0">
                <a:ea typeface="Montserrat"/>
                <a:cs typeface="Montserrat"/>
                <a:hlinkClick r:id="rId8" tooltip="http://publication.pravo.gov.ru/document/0001202605290045"/>
              </a:rPr>
              <a:t>Приказ ФНС России </a:t>
            </a:r>
            <a:r>
              <a:rPr lang="ru-RU" sz="1600" i="0" u="sng" dirty="0">
                <a:solidFill>
                  <a:srgbClr val="333333"/>
                </a:solidFill>
                <a:hlinkClick r:id="rId8" tooltip="http://publication.pravo.gov.ru/document/0001202605290045"/>
              </a:rPr>
              <a:t>от 27.04.2026 № ЕД-1-26/276@</a:t>
            </a:r>
            <a:r>
              <a:rPr lang="ru-RU" sz="1600" i="0" dirty="0">
                <a:solidFill>
                  <a:srgbClr val="333333"/>
                </a:solidFill>
              </a:rPr>
              <a:t>)</a:t>
            </a:r>
            <a:endParaRPr sz="1600" dirty="0"/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ru-RU" sz="1600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0DA9B23C-541C-7623-5C48-2850785D2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r>
              <a:rPr lang="ru-RU" dirty="0"/>
              <a:t>Законодательные изменения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F278C14-8999-02EE-4BAB-83E798C5188D}"/>
              </a:ext>
            </a:extLst>
          </p:cNvPr>
          <p:cNvSpPr/>
          <p:nvPr/>
        </p:nvSpPr>
        <p:spPr bwMode="auto">
          <a:xfrm>
            <a:off x="598516" y="1187622"/>
            <a:ext cx="10708582" cy="1329179"/>
          </a:xfrm>
          <a:prstGeom prst="roundRect">
            <a:avLst>
              <a:gd name="adj" fmla="val 1099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>
              <a:defRPr/>
            </a:pPr>
            <a:r>
              <a:rPr lang="ru-RU" sz="1800" dirty="0">
                <a:solidFill>
                  <a:schemeClr val="tx1"/>
                </a:solidFill>
              </a:rPr>
              <a:t>Президент РФ подписал </a:t>
            </a:r>
            <a:r>
              <a:rPr lang="ru-RU" sz="1800" u="sng" dirty="0">
                <a:solidFill>
                  <a:schemeClr val="accent2"/>
                </a:solidFill>
                <a:hlinkClick r:id="rId9" tooltip="http://publication.pravo.gov.ru/document/0001202506070016"/>
              </a:rPr>
              <a:t>Федеральный закон от 07.06.2025 №140-ФЗ </a:t>
            </a:r>
            <a:r>
              <a:rPr lang="ru-RU" sz="1800" dirty="0">
                <a:solidFill>
                  <a:schemeClr val="tx1"/>
                </a:solidFill>
              </a:rPr>
              <a:t>о внесении изменений в Федеральный закон №87-ФЗ «О транспортно-экспедиторской деятельности» и отдельные законодательные акты Российской Федерации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12" name="Рисунок 11" descr="Изображение выглядит как круг, снимок экрана, Шрифт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2439FC0-A478-6483-F5B2-DE5275B2D1B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1593547" y="2716144"/>
            <a:ext cx="276331" cy="293920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круг, снимок экрана, Шрифт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B062A42-8D02-4604-E83B-8CD7BEF50F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1593547" y="4564008"/>
            <a:ext cx="276331" cy="293920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круг, снимок экрана, Шрифт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5DFBFAE-ED1B-7C8C-02AB-2EE54E2A9F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1593547" y="3364318"/>
            <a:ext cx="276331" cy="293920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круг, снимок экрана, Шрифт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AF3883E-0E62-82F2-F6EB-411CD640AC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1593547" y="3764745"/>
            <a:ext cx="276331" cy="293920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круг, снимок экрана, Шрифт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72D14B2-BEB9-3377-72CC-06C41C353E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1593547" y="4151211"/>
            <a:ext cx="276331" cy="293920"/>
          </a:xfrm>
          <a:prstGeom prst="rect">
            <a:avLst/>
          </a:prstGeom>
        </p:spPr>
      </p:pic>
      <p:pic>
        <p:nvPicPr>
          <p:cNvPr id="19" name="Рисунок 18" descr="Изображение выглядит как круг, снимок экрана, Шрифт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58ED661-AAD3-9FD2-2B57-DCEFEB2200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1593547" y="5351189"/>
            <a:ext cx="276331" cy="293920"/>
          </a:xfrm>
          <a:prstGeom prst="rect">
            <a:avLst/>
          </a:prstGeom>
        </p:spPr>
      </p:pic>
      <p:pic>
        <p:nvPicPr>
          <p:cNvPr id="20" name="Рисунок 19" descr="Изображение выглядит как круг, снимок экрана, Шрифт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C930573-3F54-153F-0073-957E522423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1593547" y="4938392"/>
            <a:ext cx="276331" cy="293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dirty="0"/>
              <a:t>Переход на электронный документооборот</a:t>
            </a:r>
            <a:endParaRPr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73158" y="1659352"/>
            <a:ext cx="2936665" cy="443137"/>
          </a:xfrm>
          <a:prstGeom prst="rect">
            <a:avLst/>
          </a:prstGeom>
        </p:spPr>
      </p:pic>
      <p:sp>
        <p:nvSpPr>
          <p:cNvPr id="4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912813" y="1794854"/>
            <a:ext cx="10393362" cy="816730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ru-RU" dirty="0"/>
              <a:t>С 1 сентября 2026 года </a:t>
            </a:r>
            <a:r>
              <a:rPr lang="ru-RU" dirty="0">
                <a:ea typeface="Arial"/>
                <a:cs typeface="Arial"/>
              </a:rPr>
              <a:t>для всех участников грузоперевозок (отправитель, перевозчик, получатель, экспедитор) станет обязательным использование документов в электронном виде:</a:t>
            </a:r>
            <a:endParaRPr lang="ru-RU" dirty="0">
              <a:latin typeface="Times New Roman"/>
              <a:cs typeface="Times New Roman"/>
            </a:endParaRPr>
          </a:p>
          <a:p>
            <a:pPr marL="261850" indent="-261850" algn="just">
              <a:buFont typeface="Arial"/>
              <a:buChar char="•"/>
              <a:defRPr/>
            </a:pPr>
            <a:endParaRPr lang="ru-RU" b="1" dirty="0">
              <a:ea typeface="Arial"/>
              <a:cs typeface="Arial"/>
            </a:endParaRPr>
          </a:p>
          <a:p>
            <a:pPr marL="261850" indent="-261850" algn="just">
              <a:buFont typeface="Arial"/>
              <a:buChar char="•"/>
              <a:defRPr/>
            </a:pPr>
            <a:endParaRPr lang="ru-RU" b="1" dirty="0">
              <a:ea typeface="Arial"/>
              <a:cs typeface="Arial"/>
            </a:endParaRPr>
          </a:p>
          <a:p>
            <a:pPr marL="261850" indent="-261850" algn="just">
              <a:buFont typeface="Arial"/>
              <a:buChar char="•"/>
              <a:defRPr/>
            </a:pPr>
            <a:endParaRPr lang="ru-RU" b="1" dirty="0">
              <a:ea typeface="Arial"/>
              <a:cs typeface="Arial"/>
            </a:endParaRPr>
          </a:p>
          <a:p>
            <a:pPr algn="just">
              <a:defRPr/>
            </a:pPr>
            <a:endParaRPr lang="ru-RU" dirty="0">
              <a:ea typeface="Arial"/>
              <a:cs typeface="Arial"/>
            </a:endParaRPr>
          </a:p>
          <a:p>
            <a:pPr marL="261850" indent="-261850" algn="just">
              <a:buFont typeface="Arial"/>
              <a:buChar char="•"/>
              <a:defRPr/>
            </a:pPr>
            <a:endParaRPr lang="ru-RU" dirty="0">
              <a:latin typeface="Times New Roman"/>
              <a:cs typeface="Arial"/>
            </a:endParaRPr>
          </a:p>
          <a:p>
            <a:pPr>
              <a:defRPr/>
            </a:pPr>
            <a:endParaRPr lang="ru-RU" dirty="0"/>
          </a:p>
        </p:txBody>
      </p:sp>
      <p:sp>
        <p:nvSpPr>
          <p:cNvPr id="6" name="Прямоугольник: скругленные углы 5"/>
          <p:cNvSpPr/>
          <p:nvPr/>
        </p:nvSpPr>
        <p:spPr bwMode="auto">
          <a:xfrm>
            <a:off x="1834067" y="2741937"/>
            <a:ext cx="8715375" cy="2842786"/>
          </a:xfrm>
          <a:prstGeom prst="roundRect">
            <a:avLst>
              <a:gd name="adj" fmla="val 8084"/>
            </a:avLst>
          </a:prstGeom>
          <a:noFill/>
          <a:ln w="19050"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ru-RU"/>
          </a:p>
        </p:txBody>
      </p:sp>
      <p:sp>
        <p:nvSpPr>
          <p:cNvPr id="7" name="TextBox 6"/>
          <p:cNvSpPr txBox="1"/>
          <p:nvPr/>
        </p:nvSpPr>
        <p:spPr bwMode="auto">
          <a:xfrm>
            <a:off x="2245261" y="2987866"/>
            <a:ext cx="8326517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1850" indent="-261850" algn="just">
              <a:spcBef>
                <a:spcPts val="600"/>
              </a:spcBef>
              <a:buClr>
                <a:srgbClr val="FECE68"/>
              </a:buClr>
              <a:buFont typeface="Arial"/>
              <a:buChar char="•"/>
              <a:defRPr/>
            </a:pPr>
            <a:r>
              <a:rPr lang="ru-RU" b="1" dirty="0">
                <a:ea typeface="Arial"/>
                <a:cs typeface="Arial"/>
              </a:rPr>
              <a:t>заказ (заявка)</a:t>
            </a:r>
            <a:endParaRPr lang="ru-RU" dirty="0"/>
          </a:p>
          <a:p>
            <a:pPr marL="261850" indent="-261850" algn="just">
              <a:spcBef>
                <a:spcPts val="600"/>
              </a:spcBef>
              <a:buClr>
                <a:srgbClr val="FECE68"/>
              </a:buClr>
              <a:buFont typeface="Arial"/>
              <a:buChar char="•"/>
              <a:defRPr/>
            </a:pPr>
            <a:r>
              <a:rPr lang="ru-RU" b="1" dirty="0">
                <a:ea typeface="Arial"/>
                <a:cs typeface="Arial"/>
              </a:rPr>
              <a:t>транспортная накладная (</a:t>
            </a:r>
            <a:r>
              <a:rPr lang="ru-RU" b="1" dirty="0" err="1">
                <a:ea typeface="Arial"/>
                <a:cs typeface="Arial"/>
              </a:rPr>
              <a:t>ЭТрН</a:t>
            </a:r>
            <a:r>
              <a:rPr lang="ru-RU" b="1" dirty="0">
                <a:ea typeface="Arial"/>
                <a:cs typeface="Arial"/>
              </a:rPr>
              <a:t>)</a:t>
            </a:r>
            <a:endParaRPr dirty="0"/>
          </a:p>
          <a:p>
            <a:pPr marL="261850" indent="-261850">
              <a:spcBef>
                <a:spcPts val="600"/>
              </a:spcBef>
              <a:buClr>
                <a:srgbClr val="FECE68"/>
              </a:buClr>
              <a:buFont typeface="Arial"/>
              <a:buChar char="•"/>
              <a:defRPr/>
            </a:pPr>
            <a:r>
              <a:rPr lang="ru-RU" b="1" dirty="0">
                <a:ea typeface="Arial"/>
                <a:cs typeface="Arial"/>
              </a:rPr>
              <a:t>экспедиторские документы </a:t>
            </a:r>
            <a:br>
              <a:rPr lang="ru-RU" b="1" dirty="0">
                <a:ea typeface="Arial"/>
                <a:cs typeface="Arial"/>
              </a:rPr>
            </a:br>
            <a:r>
              <a:rPr lang="ru-RU" dirty="0">
                <a:ea typeface="Arial"/>
                <a:cs typeface="Arial"/>
              </a:rPr>
              <a:t>(</a:t>
            </a:r>
            <a:r>
              <a:rPr lang="ru-RU" dirty="0"/>
              <a:t>поручение экспедитору</a:t>
            </a:r>
            <a:r>
              <a:rPr lang="ru-RU" dirty="0">
                <a:ea typeface="Arial"/>
                <a:cs typeface="Arial"/>
              </a:rPr>
              <a:t>, </a:t>
            </a:r>
            <a:r>
              <a:rPr lang="ru-RU" dirty="0"/>
              <a:t>экспедиторские и складские расписки)</a:t>
            </a:r>
          </a:p>
          <a:p>
            <a:pPr marL="261850" indent="-261850">
              <a:spcBef>
                <a:spcPts val="600"/>
              </a:spcBef>
              <a:buClr>
                <a:srgbClr val="FECE68"/>
              </a:buClr>
              <a:buFont typeface="Arial"/>
              <a:buChar char="•"/>
              <a:defRPr/>
            </a:pPr>
            <a:endParaRPr dirty="0"/>
          </a:p>
          <a:p>
            <a:pPr marL="261850" indent="-261850">
              <a:spcBef>
                <a:spcPts val="600"/>
              </a:spcBef>
              <a:buClr>
                <a:srgbClr val="FECE68"/>
              </a:buClr>
              <a:buFont typeface="Arial"/>
              <a:buChar char="•"/>
              <a:defRPr/>
            </a:pPr>
            <a:r>
              <a:rPr lang="ru-RU" b="1" dirty="0"/>
              <a:t>железнодорожная накладная (ЭТЖН)</a:t>
            </a:r>
            <a:endParaRPr lang="ru-RU" dirty="0"/>
          </a:p>
          <a:p>
            <a:pPr marL="261850" indent="-261850">
              <a:spcBef>
                <a:spcPts val="600"/>
              </a:spcBef>
              <a:buClr>
                <a:srgbClr val="FECE68"/>
              </a:buClr>
              <a:buFont typeface="Arial"/>
              <a:buChar char="•"/>
              <a:defRPr/>
            </a:pPr>
            <a:r>
              <a:rPr lang="ru-RU" b="1" dirty="0"/>
              <a:t>грузовая авианакладная (ЭГН)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13039FB-33EE-51F2-A31D-AB9DB640C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96195" y="1605202"/>
            <a:ext cx="2787510" cy="37067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A3742CEE-9D64-3FD3-8C7B-3ACCE020917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dirty="0"/>
              <a:t>Перевозка пива, пивных напитков</a:t>
            </a:r>
            <a:br>
              <a:rPr lang="ru-RU" dirty="0"/>
            </a:br>
            <a:r>
              <a:rPr lang="ru-RU" dirty="0"/>
              <a:t>и другое</a:t>
            </a:r>
            <a:endParaRPr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0AED167E-5946-468D-C105-5B4BA67B0A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914401" y="1612900"/>
            <a:ext cx="10715624" cy="513541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defRPr/>
            </a:pPr>
            <a:r>
              <a:rPr lang="ru-RU" dirty="0"/>
              <a:t>С 1 сентября 2026 года </a:t>
            </a:r>
            <a:r>
              <a:rPr lang="ru-RU" dirty="0">
                <a:ea typeface="Arial"/>
                <a:cs typeface="Arial"/>
              </a:rPr>
              <a:t>для перевозок пива и пивных напитков, сидра, </a:t>
            </a:r>
            <a:r>
              <a:rPr lang="ru-RU" dirty="0" err="1">
                <a:ea typeface="Arial"/>
                <a:cs typeface="Arial"/>
              </a:rPr>
              <a:t>пуаре</a:t>
            </a:r>
            <a:r>
              <a:rPr lang="ru-RU" dirty="0">
                <a:ea typeface="Arial"/>
                <a:cs typeface="Arial"/>
              </a:rPr>
              <a:t>, медовухи, спиртосодержащей непищевой продукции, подлежащей обязательной маркировке, </a:t>
            </a:r>
            <a:r>
              <a:rPr lang="ru-RU" b="1" dirty="0">
                <a:ea typeface="Arial"/>
                <a:cs typeface="Arial"/>
              </a:rPr>
              <a:t>обязательно</a:t>
            </a:r>
            <a:r>
              <a:rPr lang="ru-RU" dirty="0">
                <a:ea typeface="Arial"/>
                <a:cs typeface="Arial"/>
              </a:rPr>
              <a:t> оформление документов </a:t>
            </a:r>
            <a:r>
              <a:rPr lang="ru-RU" b="1" dirty="0">
                <a:ea typeface="Arial"/>
                <a:cs typeface="Arial"/>
              </a:rPr>
              <a:t>в электронном виде:</a:t>
            </a:r>
            <a:endParaRPr lang="ru-RU" b="1" dirty="0">
              <a:cs typeface="Arial"/>
            </a:endParaRPr>
          </a:p>
          <a:p>
            <a:pPr algn="just">
              <a:lnSpc>
                <a:spcPct val="100000"/>
              </a:lnSpc>
              <a:defRPr/>
            </a:pPr>
            <a:endParaRPr lang="ru-RU" b="1" dirty="0">
              <a:cs typeface="Arial"/>
            </a:endParaRPr>
          </a:p>
          <a:p>
            <a:pPr algn="just">
              <a:lnSpc>
                <a:spcPct val="100000"/>
              </a:lnSpc>
              <a:defRPr/>
            </a:pPr>
            <a:endParaRPr lang="en-US" b="1" dirty="0">
              <a:cs typeface="Arial"/>
            </a:endParaRPr>
          </a:p>
          <a:p>
            <a:pPr algn="just">
              <a:lnSpc>
                <a:spcPct val="100000"/>
              </a:lnSpc>
              <a:defRPr/>
            </a:pPr>
            <a:r>
              <a:rPr lang="en-US" sz="800" b="1" dirty="0">
                <a:cs typeface="Arial"/>
              </a:rPr>
              <a:t> </a:t>
            </a:r>
            <a:endParaRPr lang="ru-RU" sz="800" b="1" dirty="0">
              <a:cs typeface="Arial"/>
            </a:endParaRPr>
          </a:p>
          <a:p>
            <a:pPr algn="just">
              <a:lnSpc>
                <a:spcPct val="100000"/>
              </a:lnSpc>
              <a:defRPr/>
            </a:pPr>
            <a:endParaRPr lang="ru-RU" b="1" dirty="0">
              <a:cs typeface="Arial"/>
            </a:endParaRPr>
          </a:p>
          <a:p>
            <a:pPr marL="285750" indent="-285750" algn="just">
              <a:lnSpc>
                <a:spcPct val="100000"/>
              </a:lnSpc>
              <a:buFont typeface="Arial"/>
              <a:buChar char="•"/>
              <a:defRPr/>
            </a:pPr>
            <a:endParaRPr lang="ru-RU" dirty="0">
              <a:cs typeface="Arial"/>
            </a:endParaRPr>
          </a:p>
          <a:p>
            <a:pPr>
              <a:lnSpc>
                <a:spcPct val="100000"/>
              </a:lnSpc>
              <a:defRPr/>
            </a:pPr>
            <a:r>
              <a:rPr lang="ru-RU" dirty="0">
                <a:cs typeface="Arial"/>
              </a:rPr>
              <a:t>   </a:t>
            </a:r>
            <a:r>
              <a:rPr lang="en-US" dirty="0">
                <a:cs typeface="Arial"/>
              </a:rPr>
              <a:t> </a:t>
            </a:r>
            <a:r>
              <a:rPr lang="ru-RU" dirty="0">
                <a:cs typeface="Arial"/>
              </a:rPr>
              <a:t>парфюмерно-косметическая продукция со спиртом</a:t>
            </a:r>
            <a:br>
              <a:rPr lang="ru-RU" dirty="0">
                <a:cs typeface="Arial"/>
              </a:rPr>
            </a:br>
            <a:r>
              <a:rPr lang="ru-RU" dirty="0">
                <a:cs typeface="Arial"/>
              </a:rPr>
              <a:t>   </a:t>
            </a:r>
            <a:r>
              <a:rPr lang="en-US" dirty="0">
                <a:cs typeface="Arial"/>
              </a:rPr>
              <a:t> </a:t>
            </a:r>
            <a:r>
              <a:rPr lang="ru-RU" dirty="0">
                <a:cs typeface="Arial"/>
              </a:rPr>
              <a:t>бытовая химия и дезинфицирующие средства, антисептики</a:t>
            </a:r>
            <a:br>
              <a:rPr lang="ru-RU" dirty="0"/>
            </a:br>
            <a:r>
              <a:rPr lang="ru-RU" dirty="0"/>
              <a:t>   </a:t>
            </a:r>
            <a:r>
              <a:rPr lang="en-US" dirty="0"/>
              <a:t> </a:t>
            </a:r>
            <a:r>
              <a:rPr lang="ru-RU" dirty="0">
                <a:cs typeface="Arial"/>
              </a:rPr>
              <a:t>некоторые медицинские и ветеринарные препараты</a:t>
            </a:r>
            <a:br>
              <a:rPr lang="ru-RU" dirty="0"/>
            </a:br>
            <a:r>
              <a:rPr lang="ru-RU" dirty="0"/>
              <a:t>   </a:t>
            </a:r>
            <a:r>
              <a:rPr lang="en-US" dirty="0"/>
              <a:t> </a:t>
            </a:r>
            <a:r>
              <a:rPr lang="ru-RU" dirty="0">
                <a:cs typeface="Arial"/>
              </a:rPr>
              <a:t>стеклоомывающие жидкости и автохимия и другие</a:t>
            </a:r>
            <a:endParaRPr dirty="0"/>
          </a:p>
          <a:p>
            <a:pPr>
              <a:lnSpc>
                <a:spcPct val="100000"/>
              </a:lnSpc>
              <a:defRPr/>
            </a:pPr>
            <a:r>
              <a:rPr lang="ru-RU" sz="1700" u="sng" dirty="0">
                <a:solidFill>
                  <a:srgbClr val="0563C1"/>
                </a:solidFill>
              </a:rPr>
              <a:t>Постановление Правительства Российской Федерации от 28.11.2025 № 1944</a:t>
            </a:r>
            <a:br>
              <a:rPr lang="ru-RU" sz="1700" dirty="0"/>
            </a:br>
            <a:endParaRPr lang="ru-RU" sz="1700" b="1" dirty="0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5D4AE9E-189C-773A-6B8B-D7E7FFF3345E}"/>
              </a:ext>
            </a:extLst>
          </p:cNvPr>
          <p:cNvSpPr/>
          <p:nvPr/>
        </p:nvSpPr>
        <p:spPr bwMode="auto">
          <a:xfrm>
            <a:off x="2873920" y="2879140"/>
            <a:ext cx="4960086" cy="1295093"/>
          </a:xfrm>
          <a:prstGeom prst="roundRect">
            <a:avLst>
              <a:gd name="adj" fmla="val 8084"/>
            </a:avLst>
          </a:prstGeom>
          <a:noFill/>
          <a:ln w="19050"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Clr>
                <a:srgbClr val="FFCF66"/>
              </a:buClr>
              <a:buFont typeface="Arial"/>
              <a:buChar char="•"/>
              <a:defRPr/>
            </a:pPr>
            <a:r>
              <a:rPr lang="ru-RU" b="1" dirty="0">
                <a:solidFill>
                  <a:schemeClr val="tx1"/>
                </a:solidFill>
              </a:rPr>
              <a:t>заказ (заявка)</a:t>
            </a:r>
            <a:endParaRPr dirty="0"/>
          </a:p>
          <a:p>
            <a:pPr marL="285750" indent="-285750">
              <a:lnSpc>
                <a:spcPct val="100000"/>
              </a:lnSpc>
              <a:buClr>
                <a:srgbClr val="FFCF66"/>
              </a:buClr>
              <a:buFont typeface="Arial"/>
              <a:buChar char="•"/>
              <a:defRPr/>
            </a:pPr>
            <a:r>
              <a:rPr lang="ru-RU" b="1" dirty="0">
                <a:solidFill>
                  <a:schemeClr val="tx1"/>
                </a:solidFill>
              </a:rPr>
              <a:t>транспортная накладная (</a:t>
            </a:r>
            <a:r>
              <a:rPr lang="ru-RU" b="1" dirty="0" err="1">
                <a:solidFill>
                  <a:schemeClr val="tx1"/>
                </a:solidFill>
              </a:rPr>
              <a:t>ЭТрН</a:t>
            </a:r>
            <a:r>
              <a:rPr lang="ru-RU" b="1" dirty="0">
                <a:solidFill>
                  <a:schemeClr val="tx1"/>
                </a:solidFill>
              </a:rPr>
              <a:t>)</a:t>
            </a:r>
            <a:endParaRPr dirty="0"/>
          </a:p>
          <a:p>
            <a:pPr marL="285750" indent="-285750">
              <a:lnSpc>
                <a:spcPct val="100000"/>
              </a:lnSpc>
              <a:buClr>
                <a:srgbClr val="FFCF66"/>
              </a:buClr>
              <a:buFont typeface="Arial"/>
              <a:buChar char="•"/>
              <a:defRPr/>
            </a:pPr>
            <a:r>
              <a:rPr lang="ru-RU" b="1" dirty="0">
                <a:solidFill>
                  <a:schemeClr val="tx1"/>
                </a:solidFill>
              </a:rPr>
              <a:t>путевой лист (ЭПЛ)</a:t>
            </a:r>
            <a:endParaRPr dirty="0"/>
          </a:p>
        </p:txBody>
      </p:sp>
      <p:cxnSp>
        <p:nvCxnSpPr>
          <p:cNvPr id="21" name="Соединитель: изогнутый 20">
            <a:extLst>
              <a:ext uri="{FF2B5EF4-FFF2-40B4-BE49-F238E27FC236}">
                <a16:creationId xmlns:a16="http://schemas.microsoft.com/office/drawing/2014/main" id="{7D2BB79B-90C3-2ABA-30AA-A5230BB8F46C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940938" y="2686438"/>
            <a:ext cx="1965964" cy="1597767"/>
          </a:xfrm>
          <a:prstGeom prst="curvedConnector3">
            <a:avLst>
              <a:gd name="adj1" fmla="val 50000"/>
            </a:avLst>
          </a:prstGeom>
          <a:ln w="57150"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ED5456D9-562A-7B60-9C8A-4004CD793B60}"/>
              </a:ext>
            </a:extLst>
          </p:cNvPr>
          <p:cNvCxnSpPr>
            <a:cxnSpLocks/>
            <a:endCxn id="24" idx="1"/>
          </p:cNvCxnSpPr>
          <p:nvPr/>
        </p:nvCxnSpPr>
        <p:spPr bwMode="auto">
          <a:xfrm flipV="1">
            <a:off x="7648575" y="3008215"/>
            <a:ext cx="1446800" cy="385407"/>
          </a:xfrm>
          <a:prstGeom prst="straightConnector1">
            <a:avLst/>
          </a:prstGeom>
          <a:ln w="57150"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6566EA20-15D7-F2A8-9545-DDD7BEB2C5F0}"/>
              </a:ext>
            </a:extLst>
          </p:cNvPr>
          <p:cNvCxnSpPr>
            <a:cxnSpLocks/>
            <a:endCxn id="25" idx="1"/>
          </p:cNvCxnSpPr>
          <p:nvPr/>
        </p:nvCxnSpPr>
        <p:spPr bwMode="auto">
          <a:xfrm>
            <a:off x="6005692" y="3821163"/>
            <a:ext cx="3089683" cy="240669"/>
          </a:xfrm>
          <a:prstGeom prst="straightConnector1">
            <a:avLst/>
          </a:prstGeom>
          <a:ln w="57150"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63444845-9AC9-5275-5B50-44078D38DD5E}"/>
              </a:ext>
            </a:extLst>
          </p:cNvPr>
          <p:cNvSpPr/>
          <p:nvPr/>
        </p:nvSpPr>
        <p:spPr bwMode="auto">
          <a:xfrm>
            <a:off x="9095375" y="2601742"/>
            <a:ext cx="2287282" cy="812945"/>
          </a:xfrm>
          <a:prstGeom prst="roundRect">
            <a:avLst>
              <a:gd name="adj" fmla="val 8084"/>
            </a:avLst>
          </a:prstGeom>
          <a:noFill/>
          <a:ln w="19050"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rgbClr val="FFCF66"/>
              </a:buClr>
              <a:defRPr/>
            </a:pPr>
            <a:r>
              <a:rPr lang="ru-RU">
                <a:solidFill>
                  <a:schemeClr val="tx1"/>
                </a:solidFill>
              </a:rPr>
              <a:t>Если нанимается перевозчик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066DF0F3-8D52-8A66-048D-0D5C0D5C90C6}"/>
              </a:ext>
            </a:extLst>
          </p:cNvPr>
          <p:cNvSpPr/>
          <p:nvPr/>
        </p:nvSpPr>
        <p:spPr bwMode="auto">
          <a:xfrm>
            <a:off x="9095375" y="3655359"/>
            <a:ext cx="2287282" cy="812945"/>
          </a:xfrm>
          <a:prstGeom prst="roundRect">
            <a:avLst>
              <a:gd name="adj" fmla="val 8084"/>
            </a:avLst>
          </a:prstGeom>
          <a:noFill/>
          <a:ln w="19050"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rgbClr val="FFCF66"/>
              </a:buClr>
              <a:defRPr/>
            </a:pPr>
            <a:r>
              <a:rPr lang="ru-RU">
                <a:solidFill>
                  <a:schemeClr val="tx1"/>
                </a:solidFill>
              </a:rPr>
              <a:t>Если перевозка своими ТС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26" name="Рисунок 25" descr="Изображение выглядит как круг, снимок экрана, Шрифт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322AF18-F668-18BD-7794-903F342AD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60264" y="4550375"/>
            <a:ext cx="129544" cy="137790"/>
          </a:xfrm>
          <a:prstGeom prst="rect">
            <a:avLst/>
          </a:prstGeom>
        </p:spPr>
      </p:pic>
      <p:pic>
        <p:nvPicPr>
          <p:cNvPr id="27" name="Рисунок 26" descr="Изображение выглядит как круг, снимок экрана, Шрифт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F8D4BC2-426D-D39D-752C-3B641FE91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60264" y="4829775"/>
            <a:ext cx="129544" cy="137790"/>
          </a:xfrm>
          <a:prstGeom prst="rect">
            <a:avLst/>
          </a:prstGeom>
        </p:spPr>
      </p:pic>
      <p:pic>
        <p:nvPicPr>
          <p:cNvPr id="28" name="Рисунок 27" descr="Изображение выглядит как круг, снимок экрана, Шрифт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1069C14-5228-4238-2185-D6A24AD4C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60264" y="5115525"/>
            <a:ext cx="129544" cy="137790"/>
          </a:xfrm>
          <a:prstGeom prst="rect">
            <a:avLst/>
          </a:prstGeom>
        </p:spPr>
      </p:pic>
      <p:pic>
        <p:nvPicPr>
          <p:cNvPr id="29" name="Рисунок 28" descr="Изображение выглядит как круг, снимок экрана, Шрифт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CEA5F8B-6653-DF64-3F56-858362A62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60264" y="5375358"/>
            <a:ext cx="129544" cy="13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34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23656" y="2320089"/>
            <a:ext cx="1877551" cy="35624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359467" y="2032192"/>
            <a:ext cx="1473065" cy="302411"/>
          </a:xfrm>
          <a:prstGeom prst="rect">
            <a:avLst/>
          </a:prstGeom>
        </p:spPr>
      </p:pic>
      <p:sp>
        <p:nvSpPr>
          <p:cNvPr id="5" name="Текст 2"/>
          <p:cNvSpPr txBox="1"/>
          <p:nvPr/>
        </p:nvSpPr>
        <p:spPr bwMode="auto">
          <a:xfrm>
            <a:off x="884902" y="2011006"/>
            <a:ext cx="10229941" cy="2725446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defRPr/>
            </a:pPr>
            <a:r>
              <a:rPr lang="ru-RU" b="1" dirty="0"/>
              <a:t>Формат</a:t>
            </a:r>
            <a:r>
              <a:rPr lang="ru-RU" dirty="0"/>
              <a:t> электронных документов уже готов – обязательное </a:t>
            </a:r>
            <a:r>
              <a:rPr lang="ru-RU" b="1" dirty="0"/>
              <a:t>использование будет позже:</a:t>
            </a:r>
            <a:endParaRPr dirty="0"/>
          </a:p>
          <a:p>
            <a:pPr marL="1358900" lvl="2" indent="-342900">
              <a:lnSpc>
                <a:spcPct val="150000"/>
              </a:lnSpc>
              <a:spcBef>
                <a:spcPts val="600"/>
              </a:spcBef>
              <a:buSzPct val="100000"/>
              <a:buFont typeface="Arial"/>
              <a:buChar char="•"/>
              <a:defRPr/>
            </a:pPr>
            <a:r>
              <a:rPr lang="ru-RU" b="1" dirty="0"/>
              <a:t>сопроводительная ведомость</a:t>
            </a:r>
            <a:endParaRPr dirty="0"/>
          </a:p>
          <a:p>
            <a:pPr marL="1358900" lvl="2" indent="-342900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Char char="•"/>
              <a:defRPr/>
            </a:pPr>
            <a:r>
              <a:rPr lang="ru-RU" b="1" dirty="0"/>
              <a:t>заказ-наряд</a:t>
            </a:r>
            <a:endParaRPr dirty="0"/>
          </a:p>
          <a:p>
            <a:pPr marL="1358900" lvl="2" indent="-342900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Char char="•"/>
              <a:defRPr/>
            </a:pPr>
            <a:r>
              <a:rPr lang="ru-RU" b="1" dirty="0"/>
              <a:t>договор фрахтования</a:t>
            </a:r>
            <a:endParaRPr dirty="0"/>
          </a:p>
          <a:p>
            <a:pPr marL="1358900" lvl="2" indent="-342900">
              <a:lnSpc>
                <a:spcPct val="150000"/>
              </a:lnSpc>
              <a:spcBef>
                <a:spcPts val="0"/>
              </a:spcBef>
              <a:buSzPct val="100000"/>
              <a:buFont typeface="Arial"/>
              <a:buChar char="•"/>
              <a:defRPr/>
            </a:pPr>
            <a:r>
              <a:rPr lang="ru-RU" b="1" dirty="0"/>
              <a:t>путевой лист (за исключением ПП РФ </a:t>
            </a:r>
            <a:r>
              <a:rPr lang="ru-RU" u="sng" dirty="0">
                <a:solidFill>
                  <a:srgbClr val="0563C1"/>
                </a:solidFill>
              </a:rPr>
              <a:t>от 28.11.2025 № 1944</a:t>
            </a:r>
            <a:r>
              <a:rPr lang="ru-RU" b="1" dirty="0"/>
              <a:t>)</a:t>
            </a:r>
            <a:endParaRPr dirty="0"/>
          </a:p>
          <a:p>
            <a:pPr>
              <a:lnSpc>
                <a:spcPct val="100000"/>
              </a:lnSpc>
              <a:defRPr/>
            </a:pP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7087246" cy="11749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Переход на электронный документооборот</a:t>
            </a:r>
            <a:endParaRPr dirty="0"/>
          </a:p>
        </p:txBody>
      </p:sp>
      <p:pic>
        <p:nvPicPr>
          <p:cNvPr id="6" name="Рисунок 5" descr="Изображение выглядит как круг, символ, дизайн&#10;&#10;Контент, сгенерированный ИИ, может содержать ошибки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811741" y="4042102"/>
            <a:ext cx="245610" cy="245610"/>
          </a:xfrm>
          <a:prstGeom prst="rect">
            <a:avLst/>
          </a:prstGeom>
        </p:spPr>
      </p:pic>
      <p:pic>
        <p:nvPicPr>
          <p:cNvPr id="7" name="Рисунок 6" descr="Изображение выглядит как круг, символ, дизайн&#10;&#10;Контент, сгенерированный ИИ, может содержать ошибки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805973" y="2788480"/>
            <a:ext cx="245610" cy="245610"/>
          </a:xfrm>
          <a:prstGeom prst="rect">
            <a:avLst/>
          </a:prstGeom>
        </p:spPr>
      </p:pic>
      <p:pic>
        <p:nvPicPr>
          <p:cNvPr id="8" name="Рисунок 7" descr="Изображение выглядит как круг, символ, дизайн&#10;&#10;Контент, сгенерированный ИИ, может содержать ошибки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811741" y="3186764"/>
            <a:ext cx="245610" cy="245610"/>
          </a:xfrm>
          <a:prstGeom prst="rect">
            <a:avLst/>
          </a:prstGeom>
        </p:spPr>
      </p:pic>
      <p:pic>
        <p:nvPicPr>
          <p:cNvPr id="9" name="Рисунок 8" descr="Изображение выглядит как круг, символ, дизайн&#10;&#10;Контент, сгенерированный ИИ, может содержать ошибки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811741" y="3585048"/>
            <a:ext cx="245610" cy="2456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9BC8C0-6AE2-7907-5801-A062CCAA0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Роли участников грузоперевозки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61BBD5-F25B-133E-5261-805F48971B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1" y="1336258"/>
            <a:ext cx="10392697" cy="4336955"/>
          </a:xfrm>
        </p:spPr>
        <p:txBody>
          <a:bodyPr>
            <a:normAutofit/>
          </a:bodyPr>
          <a:lstStyle/>
          <a:p>
            <a:pPr algn="just"/>
            <a:r>
              <a:rPr lang="ru-RU" b="1" dirty="0"/>
              <a:t>Грузоотправитель</a:t>
            </a:r>
            <a:r>
              <a:rPr lang="ru-RU" dirty="0"/>
              <a:t> – организация, которая владеет грузом и нанимает перевозчика.</a:t>
            </a:r>
          </a:p>
          <a:p>
            <a:pPr algn="just"/>
            <a:r>
              <a:rPr lang="ru-RU" b="1" dirty="0"/>
              <a:t>Грузоперевозчик </a:t>
            </a:r>
            <a:r>
              <a:rPr lang="ru-RU" dirty="0"/>
              <a:t>– организация, которая на своём (арендованном) ТС перевозит груз за определенную плату.</a:t>
            </a:r>
          </a:p>
          <a:p>
            <a:pPr algn="just"/>
            <a:r>
              <a:rPr lang="ru-RU" b="1" dirty="0"/>
              <a:t>Грузополучатель</a:t>
            </a:r>
            <a:r>
              <a:rPr lang="ru-RU" dirty="0"/>
              <a:t> – организация, которая получает груз и осуществляет приёмку.</a:t>
            </a:r>
          </a:p>
          <a:p>
            <a:pPr algn="just"/>
            <a:endParaRPr lang="ru-RU" dirty="0"/>
          </a:p>
          <a:p>
            <a:pPr algn="just"/>
            <a:r>
              <a:rPr lang="ru-RU" b="1" dirty="0"/>
              <a:t>Экспедитор</a:t>
            </a:r>
            <a:r>
              <a:rPr lang="ru-RU" dirty="0"/>
              <a:t> – организация, которая предоставляет услуги по организации перевозки. </a:t>
            </a:r>
            <a:r>
              <a:rPr lang="ru-RU" b="1" dirty="0"/>
              <a:t>Экспедитор может выступать в роли грузоотправителя.</a:t>
            </a:r>
          </a:p>
          <a:p>
            <a:pPr algn="just"/>
            <a:r>
              <a:rPr lang="ru-RU" i="1" dirty="0"/>
              <a:t>Пример: </a:t>
            </a:r>
            <a:r>
              <a:rPr lang="ru-RU" dirty="0"/>
              <a:t>заказчик (поставщик) обратился к экспедитору, чтобы он организовал перевозку товара из Москвы во Владивосток. Экспедитор обязуется:</a:t>
            </a:r>
          </a:p>
          <a:p>
            <a:pPr marL="342900" indent="-342900" algn="just">
              <a:buAutoNum type="arabicPeriod"/>
            </a:pPr>
            <a:r>
              <a:rPr lang="ru-RU" dirty="0"/>
              <a:t>Проверить груз, принять его во владение (т.е. экспедитор несёт ответственность за груз).</a:t>
            </a:r>
          </a:p>
          <a:p>
            <a:pPr marL="342900" indent="-342900" algn="just">
              <a:buAutoNum type="arabicPeriod"/>
            </a:pPr>
            <a:r>
              <a:rPr lang="ru-RU" dirty="0"/>
              <a:t>Найти перевозчика(-</a:t>
            </a:r>
            <a:r>
              <a:rPr lang="ru-RU" dirty="0" err="1"/>
              <a:t>ов</a:t>
            </a:r>
            <a:r>
              <a:rPr lang="ru-RU" dirty="0"/>
              <a:t>) или перевезти груз своим транспортом (при наличии).</a:t>
            </a:r>
          </a:p>
          <a:p>
            <a:pPr marL="342900" indent="-342900" algn="just">
              <a:buAutoNum type="arabicPeriod"/>
            </a:pPr>
            <a:r>
              <a:rPr lang="ru-RU" dirty="0"/>
              <a:t>Доставить товар до грузополучателя.</a:t>
            </a:r>
          </a:p>
        </p:txBody>
      </p:sp>
    </p:spTree>
    <p:extLst>
      <p:ext uri="{BB962C8B-B14F-4D97-AF65-F5344CB8AC3E}">
        <p14:creationId xmlns:p14="http://schemas.microsoft.com/office/powerpoint/2010/main" val="1653080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dirty="0"/>
              <a:t>Экспедитор или агент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207968E-1879-2BC4-C6EF-6C8CA465A9A1}"/>
              </a:ext>
            </a:extLst>
          </p:cNvPr>
          <p:cNvSpPr/>
          <p:nvPr/>
        </p:nvSpPr>
        <p:spPr bwMode="auto">
          <a:xfrm>
            <a:off x="884903" y="1651727"/>
            <a:ext cx="4826350" cy="3402054"/>
          </a:xfrm>
          <a:prstGeom prst="roundRect">
            <a:avLst>
              <a:gd name="adj" fmla="val 7464"/>
            </a:avLst>
          </a:prstGeom>
          <a:solidFill>
            <a:srgbClr val="FECF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endParaRPr lang="ru-RU" sz="2000" dirty="0"/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AB159646-F32A-5013-8DA4-7DC6E9DAB4BF}"/>
              </a:ext>
            </a:extLst>
          </p:cNvPr>
          <p:cNvSpPr txBox="1"/>
          <p:nvPr/>
        </p:nvSpPr>
        <p:spPr bwMode="auto">
          <a:xfrm>
            <a:off x="1079292" y="1881888"/>
            <a:ext cx="4415283" cy="2995224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400" b="1" dirty="0"/>
              <a:t>Экспедитор:</a:t>
            </a:r>
            <a:endParaRPr lang="en-US" sz="2400" b="1" dirty="0"/>
          </a:p>
          <a:p>
            <a:pPr>
              <a:defRPr/>
            </a:pPr>
            <a:r>
              <a:rPr lang="en-US" sz="400" dirty="0"/>
              <a:t> </a:t>
            </a:r>
            <a:endParaRPr sz="400" dirty="0"/>
          </a:p>
          <a:p>
            <a:pPr marL="179388" lvl="1" indent="180975">
              <a:buFont typeface="Arial"/>
              <a:buChar char="•"/>
              <a:defRPr/>
            </a:pPr>
            <a:r>
              <a:rPr lang="ru-RU" b="0" dirty="0"/>
              <a:t>Договор ТЭУ с заказчиком</a:t>
            </a:r>
          </a:p>
          <a:p>
            <a:pPr marL="179388" lvl="1" indent="180975">
              <a:buFont typeface="Arial"/>
              <a:buChar char="•"/>
              <a:defRPr/>
            </a:pPr>
            <a:r>
              <a:rPr lang="ru-RU" b="0" dirty="0"/>
              <a:t>Нанимает перевозчика или везет </a:t>
            </a:r>
          </a:p>
          <a:p>
            <a:pPr marL="179388" lvl="1">
              <a:defRPr/>
            </a:pPr>
            <a:r>
              <a:rPr lang="ru-RU" b="0" dirty="0"/>
              <a:t>собственным ТС</a:t>
            </a:r>
          </a:p>
          <a:p>
            <a:pPr marL="179388" lvl="1" indent="180975">
              <a:buFont typeface="Arial"/>
              <a:buChar char="•"/>
              <a:defRPr/>
            </a:pPr>
            <a:r>
              <a:rPr lang="ru-RU" b="0" dirty="0"/>
              <a:t>Подписывает экспедиторскую расписку</a:t>
            </a:r>
          </a:p>
          <a:p>
            <a:pPr marL="179388" lvl="1" indent="180975">
              <a:buFont typeface="Arial"/>
              <a:buChar char="•"/>
              <a:defRPr/>
            </a:pPr>
            <a:r>
              <a:rPr lang="ru-RU" b="0" dirty="0"/>
              <a:t>Принимает груз во владение</a:t>
            </a:r>
          </a:p>
          <a:p>
            <a:pPr marL="179388" lvl="1" indent="180975">
              <a:buFont typeface="Arial"/>
              <a:buChar char="•"/>
              <a:defRPr/>
            </a:pPr>
            <a:r>
              <a:rPr lang="ru-RU" dirty="0"/>
              <a:t>Фигурирует </a:t>
            </a:r>
            <a:r>
              <a:rPr lang="ru-RU" b="0" dirty="0"/>
              <a:t>в </a:t>
            </a:r>
            <a:r>
              <a:rPr lang="ru-RU" b="0" dirty="0" err="1"/>
              <a:t>ЭТрН</a:t>
            </a:r>
            <a:r>
              <a:rPr lang="ru-RU" b="0" dirty="0"/>
              <a:t> в п.1 как Грузоотправитель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2DF2764-277B-CBB1-3CBF-ECDFB51E39D1}"/>
              </a:ext>
            </a:extLst>
          </p:cNvPr>
          <p:cNvSpPr/>
          <p:nvPr/>
        </p:nvSpPr>
        <p:spPr bwMode="auto">
          <a:xfrm>
            <a:off x="6096000" y="1651726"/>
            <a:ext cx="4826350" cy="3402054"/>
          </a:xfrm>
          <a:prstGeom prst="roundRect">
            <a:avLst>
              <a:gd name="adj" fmla="val 7464"/>
            </a:avLst>
          </a:prstGeom>
          <a:solidFill>
            <a:srgbClr val="FECF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/>
              <a:buChar char="•"/>
              <a:defRPr/>
            </a:pPr>
            <a:endParaRPr lang="ru-RU" sz="2000" dirty="0"/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id="{E41DA51D-0D94-3E5F-806C-07B34EAA6BF5}"/>
              </a:ext>
            </a:extLst>
          </p:cNvPr>
          <p:cNvSpPr txBox="1"/>
          <p:nvPr/>
        </p:nvSpPr>
        <p:spPr bwMode="auto">
          <a:xfrm>
            <a:off x="6290389" y="1881887"/>
            <a:ext cx="4415283" cy="3324386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400" b="1" dirty="0"/>
              <a:t>Агент:</a:t>
            </a:r>
            <a:endParaRPr lang="en-US" sz="2400" b="1" dirty="0"/>
          </a:p>
          <a:p>
            <a:pPr>
              <a:defRPr/>
            </a:pPr>
            <a:r>
              <a:rPr lang="en-US" sz="400" dirty="0"/>
              <a:t> </a:t>
            </a:r>
            <a:endParaRPr sz="400" dirty="0"/>
          </a:p>
          <a:p>
            <a:pPr marL="179388" lvl="1" indent="180975">
              <a:buFont typeface="Arial"/>
              <a:buChar char="•"/>
              <a:defRPr/>
            </a:pPr>
            <a:r>
              <a:rPr lang="ru-RU" b="0" dirty="0"/>
              <a:t>Договор агентский</a:t>
            </a:r>
          </a:p>
          <a:p>
            <a:pPr marL="179388" lvl="1" indent="180975">
              <a:buFont typeface="Arial"/>
              <a:buChar char="•"/>
              <a:defRPr/>
            </a:pPr>
            <a:r>
              <a:rPr lang="ru-RU" b="0" dirty="0"/>
              <a:t>Принимает роль посредника между заказчиком и перевозчиком</a:t>
            </a:r>
          </a:p>
          <a:p>
            <a:pPr marL="179388" lvl="1" indent="180975">
              <a:buFont typeface="Arial"/>
              <a:buChar char="•"/>
              <a:defRPr/>
            </a:pPr>
            <a:r>
              <a:rPr lang="ru-RU" b="0" dirty="0"/>
              <a:t>НЕ подписывает экспедиторскую расписку</a:t>
            </a:r>
          </a:p>
          <a:p>
            <a:pPr marL="179388" lvl="1" indent="180975">
              <a:buFont typeface="Arial"/>
              <a:buChar char="•"/>
              <a:defRPr/>
            </a:pPr>
            <a:r>
              <a:rPr lang="ru-RU" b="0" dirty="0"/>
              <a:t>НЕ принимает груз во владение</a:t>
            </a:r>
          </a:p>
          <a:p>
            <a:pPr marL="179388" lvl="1" indent="180975">
              <a:buFont typeface="Arial"/>
              <a:buChar char="•"/>
              <a:defRPr/>
            </a:pPr>
            <a:r>
              <a:rPr lang="ru-RU" dirty="0"/>
              <a:t>НЕ фигурирует </a:t>
            </a:r>
            <a:r>
              <a:rPr lang="ru-RU" b="0" dirty="0"/>
              <a:t>в </a:t>
            </a:r>
            <a:r>
              <a:rPr lang="ru-RU" b="0" dirty="0" err="1"/>
              <a:t>ЭТрН</a:t>
            </a:r>
            <a:r>
              <a:rPr lang="ru-RU" b="0" dirty="0"/>
              <a:t> вообще, может быть в роли наблюдателя</a:t>
            </a:r>
          </a:p>
        </p:txBody>
      </p:sp>
    </p:spTree>
    <p:extLst>
      <p:ext uri="{BB962C8B-B14F-4D97-AF65-F5344CB8AC3E}">
        <p14:creationId xmlns:p14="http://schemas.microsoft.com/office/powerpoint/2010/main" val="3968334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C87345-C769-36C6-9D8F-00285837B0B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800"/>
              <a:t>В каких сценариях без ЭЗЗ/ЭТрН не обойтись?</a:t>
            </a:r>
            <a:endParaRPr/>
          </a:p>
        </p:txBody>
      </p:sp>
      <p:sp>
        <p:nvSpPr>
          <p:cNvPr id="11" name="Объект 5">
            <a:extLst>
              <a:ext uri="{FF2B5EF4-FFF2-40B4-BE49-F238E27FC236}">
                <a16:creationId xmlns:a16="http://schemas.microsoft.com/office/drawing/2014/main" id="{79BE0EA7-A4D9-07F8-B5FE-60EA94F08C51}"/>
              </a:ext>
            </a:extLst>
          </p:cNvPr>
          <p:cNvSpPr txBox="1">
            <a:spLocks/>
          </p:cNvSpPr>
          <p:nvPr/>
        </p:nvSpPr>
        <p:spPr bwMode="auto">
          <a:xfrm>
            <a:off x="285750" y="1268413"/>
            <a:ext cx="5657850" cy="4440408"/>
          </a:xfrm>
          <a:prstGeom prst="roundRect">
            <a:avLst>
              <a:gd name="adj" fmla="val 4312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ru-RU" sz="2200">
                <a:solidFill>
                  <a:srgbClr val="000000"/>
                </a:solidFill>
              </a:rPr>
              <a:t>Грузоперевозку осуществляет </a:t>
            </a:r>
            <a:br>
              <a:rPr lang="ru-RU" sz="2200">
                <a:solidFill>
                  <a:srgbClr val="000000"/>
                </a:solidFill>
              </a:rPr>
            </a:br>
            <a:r>
              <a:rPr lang="ru-RU" sz="2200">
                <a:solidFill>
                  <a:srgbClr val="000000"/>
                </a:solidFill>
              </a:rPr>
              <a:t>ТК или ИП:</a:t>
            </a:r>
          </a:p>
          <a:p>
            <a:pPr marL="465138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/>
            </a:pPr>
            <a:r>
              <a:rPr lang="ru-RU" sz="1800">
                <a:solidFill>
                  <a:srgbClr val="000000"/>
                </a:solidFill>
              </a:rPr>
              <a:t>Грузоотправитель нанимает перевозчика </a:t>
            </a:r>
            <a:br>
              <a:rPr lang="ru-RU" sz="1800">
                <a:solidFill>
                  <a:srgbClr val="000000"/>
                </a:solidFill>
              </a:rPr>
            </a:br>
            <a:r>
              <a:rPr lang="ru-RU" sz="1800">
                <a:solidFill>
                  <a:srgbClr val="000000"/>
                </a:solidFill>
              </a:rPr>
              <a:t>для осуществления услуги по перевозке </a:t>
            </a:r>
            <a:br>
              <a:rPr lang="ru-RU" sz="1800">
                <a:solidFill>
                  <a:srgbClr val="000000"/>
                </a:solidFill>
              </a:rPr>
            </a:br>
            <a:r>
              <a:rPr lang="ru-RU" sz="1800">
                <a:solidFill>
                  <a:srgbClr val="000000"/>
                </a:solidFill>
              </a:rPr>
              <a:t>за определенную плату</a:t>
            </a:r>
          </a:p>
          <a:p>
            <a:pPr marL="465138" indent="-28575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/>
            </a:pPr>
            <a:r>
              <a:rPr lang="ru-RU" sz="1800">
                <a:solidFill>
                  <a:srgbClr val="000000"/>
                </a:solidFill>
              </a:rPr>
              <a:t>Груз перевозится собственным </a:t>
            </a:r>
            <a:br>
              <a:rPr lang="ru-RU" sz="1800">
                <a:solidFill>
                  <a:srgbClr val="000000"/>
                </a:solidFill>
              </a:rPr>
            </a:br>
            <a:r>
              <a:rPr lang="ru-RU" sz="1800">
                <a:solidFill>
                  <a:srgbClr val="000000"/>
                </a:solidFill>
              </a:rPr>
              <a:t>или арендованным транспортом перевозчика</a:t>
            </a:r>
            <a:endParaRPr lang="ru-RU" sz="1800" dirty="0">
              <a:solidFill>
                <a:srgbClr val="000000"/>
              </a:solidFill>
            </a:endParaRPr>
          </a:p>
        </p:txBody>
      </p:sp>
      <p:sp>
        <p:nvSpPr>
          <p:cNvPr id="12" name="Объект 6">
            <a:extLst>
              <a:ext uri="{FF2B5EF4-FFF2-40B4-BE49-F238E27FC236}">
                <a16:creationId xmlns:a16="http://schemas.microsoft.com/office/drawing/2014/main" id="{51176C09-2049-D65C-EAE6-A29BD23F1BE4}"/>
              </a:ext>
            </a:extLst>
          </p:cNvPr>
          <p:cNvSpPr txBox="1">
            <a:spLocks/>
          </p:cNvSpPr>
          <p:nvPr/>
        </p:nvSpPr>
        <p:spPr bwMode="auto">
          <a:xfrm>
            <a:off x="6146800" y="1268412"/>
            <a:ext cx="5659438" cy="4440409"/>
          </a:xfrm>
          <a:prstGeom prst="roundRect">
            <a:avLst>
              <a:gd name="adj" fmla="val 4312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ru-RU" sz="2200" dirty="0">
                <a:solidFill>
                  <a:srgbClr val="000000"/>
                </a:solidFill>
              </a:rPr>
              <a:t>Грузоперевозка организована </a:t>
            </a:r>
            <a:br>
              <a:rPr lang="ru-RU" sz="2200" dirty="0">
                <a:solidFill>
                  <a:srgbClr val="000000"/>
                </a:solidFill>
              </a:rPr>
            </a:br>
            <a:r>
              <a:rPr lang="ru-RU" sz="2200" dirty="0">
                <a:solidFill>
                  <a:srgbClr val="000000"/>
                </a:solidFill>
              </a:rPr>
              <a:t>через экспедитора:</a:t>
            </a:r>
          </a:p>
          <a:p>
            <a:pPr marL="466725" indent="-285750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§"/>
              <a:defRPr/>
            </a:pPr>
            <a:r>
              <a:rPr lang="ru-RU" sz="1800" dirty="0">
                <a:solidFill>
                  <a:srgbClr val="000000"/>
                </a:solidFill>
              </a:rPr>
              <a:t>Заключен договор ТЭУ между заказчиком и экспедитором</a:t>
            </a:r>
          </a:p>
          <a:p>
            <a:pPr marL="466725" indent="-28575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/>
            </a:pPr>
            <a:r>
              <a:rPr lang="ru-RU" sz="1800" dirty="0">
                <a:solidFill>
                  <a:srgbClr val="000000"/>
                </a:solidFill>
              </a:rPr>
              <a:t>Экспедитор принимает груз во владение </a:t>
            </a:r>
            <a:br>
              <a:rPr lang="ru-RU" sz="1800" dirty="0">
                <a:solidFill>
                  <a:srgbClr val="000000"/>
                </a:solidFill>
              </a:rPr>
            </a:br>
            <a:r>
              <a:rPr lang="ru-RU" sz="1800" dirty="0">
                <a:solidFill>
                  <a:srgbClr val="000000"/>
                </a:solidFill>
              </a:rPr>
              <a:t>по экспедиторской расписке</a:t>
            </a:r>
          </a:p>
          <a:p>
            <a:pPr marL="466725" indent="-28575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/>
            </a:pPr>
            <a:r>
              <a:rPr lang="ru-RU" sz="1800" dirty="0">
                <a:solidFill>
                  <a:srgbClr val="000000"/>
                </a:solidFill>
              </a:rPr>
              <a:t>Экспедитор нанимает перевозчика, заключает с ним договор перевозки</a:t>
            </a:r>
          </a:p>
        </p:txBody>
      </p:sp>
      <p:pic>
        <p:nvPicPr>
          <p:cNvPr id="13" name="Рисунок 12" descr="Изображение выглядит как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AEA86C1-8816-B841-5455-40F0BD3CE0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67" r="43099" b="15138"/>
          <a:stretch/>
        </p:blipFill>
        <p:spPr bwMode="auto">
          <a:xfrm>
            <a:off x="4478294" y="4688947"/>
            <a:ext cx="1179319" cy="941893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A09DEE-AF35-E5B9-BCD7-7DF6828BCDA4}"/>
              </a:ext>
            </a:extLst>
          </p:cNvPr>
          <p:cNvSpPr/>
          <p:nvPr/>
        </p:nvSpPr>
        <p:spPr bwMode="auto">
          <a:xfrm>
            <a:off x="162123" y="5708821"/>
            <a:ext cx="49058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65138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pitchFamily="2" charset="2"/>
              <a:buChar char="§"/>
              <a:defRPr/>
            </a:pPr>
            <a:r>
              <a:rPr lang="ru-RU" dirty="0">
                <a:solidFill>
                  <a:srgbClr val="000000"/>
                </a:solidFill>
              </a:rPr>
              <a:t>Все участники перевозки – ЮЛ или ИП</a:t>
            </a: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15" name="Рисунок 14" descr="Изображение выглядит как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112DFE9-E9F1-F7B1-79B3-D8859E6416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67" r="43099" b="15138"/>
          <a:stretch/>
        </p:blipFill>
        <p:spPr bwMode="auto">
          <a:xfrm>
            <a:off x="10830119" y="4688946"/>
            <a:ext cx="1179319" cy="94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067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E408F2E-EA5B-3E96-7675-94FCFA108D10}"/>
              </a:ext>
            </a:extLst>
          </p:cNvPr>
          <p:cNvSpPr/>
          <p:nvPr/>
        </p:nvSpPr>
        <p:spPr bwMode="auto">
          <a:xfrm>
            <a:off x="6324601" y="1219200"/>
            <a:ext cx="4838700" cy="3048000"/>
          </a:xfrm>
          <a:prstGeom prst="roundRect">
            <a:avLst>
              <a:gd name="adj" fmla="val 431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endParaRPr lang="ru-RU" sz="20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B435D8-04D5-41C0-B432-1B7ACBB72D0B}"/>
              </a:ext>
            </a:extLst>
          </p:cNvPr>
          <p:cNvSpPr txBox="1"/>
          <p:nvPr/>
        </p:nvSpPr>
        <p:spPr bwMode="auto">
          <a:xfrm>
            <a:off x="6627712" y="2721114"/>
            <a:ext cx="44039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000" b="1" dirty="0" err="1"/>
              <a:t>ЭТрН</a:t>
            </a:r>
            <a:r>
              <a:rPr lang="ru-RU" sz="2000" b="1" dirty="0"/>
              <a:t> не требуется, </a:t>
            </a:r>
            <a:br>
              <a:rPr lang="ru-RU" sz="2000" b="1" dirty="0"/>
            </a:br>
            <a:r>
              <a:rPr lang="ru-RU" sz="2000" b="1" dirty="0"/>
              <a:t>но можно оформить электронный путевой лист </a:t>
            </a:r>
            <a:endParaRPr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EEEC1A7-4B6F-7D9B-15D7-E5384D6FC3A2}"/>
              </a:ext>
            </a:extLst>
          </p:cNvPr>
          <p:cNvSpPr/>
          <p:nvPr/>
        </p:nvSpPr>
        <p:spPr bwMode="auto">
          <a:xfrm>
            <a:off x="838200" y="1219200"/>
            <a:ext cx="5381625" cy="3048000"/>
          </a:xfrm>
          <a:prstGeom prst="roundRect">
            <a:avLst>
              <a:gd name="adj" fmla="val 431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Самовывоз: </a:t>
            </a:r>
            <a:r>
              <a:rPr lang="ru-RU" dirty="0">
                <a:solidFill>
                  <a:schemeClr val="tx1"/>
                </a:solidFill>
              </a:rPr>
              <a:t>грузополучатель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своим ТС забирает груз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Доставка: </a:t>
            </a:r>
            <a:r>
              <a:rPr lang="ru-RU" dirty="0">
                <a:solidFill>
                  <a:schemeClr val="tx1"/>
                </a:solidFill>
              </a:rPr>
              <a:t>грузоотправитель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своим ТС перевозит груз 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до грузополучателя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Используется ТС организации </a:t>
            </a:r>
            <a:br>
              <a:rPr lang="ru-RU" b="1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для собственных нужд</a:t>
            </a:r>
            <a:endParaRPr lang="ru-RU" dirty="0"/>
          </a:p>
        </p:txBody>
      </p:sp>
      <p:pic>
        <p:nvPicPr>
          <p:cNvPr id="5" name="Рисунок 4" descr="Изображение выглядит как символ, логотип, Шрифт,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F54CDE2-9028-5F03-14F6-31B870AE02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258" t="9584" r="5463" b="14305"/>
          <a:stretch/>
        </p:blipFill>
        <p:spPr bwMode="auto">
          <a:xfrm rot="21181183">
            <a:off x="8196262" y="903633"/>
            <a:ext cx="1266825" cy="18221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66E2C74-B90A-268B-2972-B098114D7AE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В каких сценариях </a:t>
            </a:r>
            <a:r>
              <a:rPr lang="ru-RU" dirty="0" err="1"/>
              <a:t>ЭТрН</a:t>
            </a:r>
            <a:r>
              <a:rPr lang="ru-RU" dirty="0"/>
              <a:t> не нужна</a:t>
            </a:r>
            <a:endParaRPr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2A3D5E0-2D7D-4187-8BAF-C0840275FB8A}"/>
              </a:ext>
            </a:extLst>
          </p:cNvPr>
          <p:cNvSpPr/>
          <p:nvPr/>
        </p:nvSpPr>
        <p:spPr bwMode="auto">
          <a:xfrm>
            <a:off x="838198" y="4419600"/>
            <a:ext cx="5381625" cy="1485273"/>
          </a:xfrm>
          <a:prstGeom prst="roundRect">
            <a:avLst>
              <a:gd name="adj" fmla="val 773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ru-RU" b="1" dirty="0">
                <a:solidFill>
                  <a:schemeClr val="tx1"/>
                </a:solidFill>
              </a:rPr>
              <a:t>Хотя бы один </a:t>
            </a:r>
            <a:r>
              <a:rPr lang="ru-RU" dirty="0">
                <a:solidFill>
                  <a:schemeClr val="tx1"/>
                </a:solidFill>
              </a:rPr>
              <a:t>из участников грузоперевозки </a:t>
            </a:r>
            <a:r>
              <a:rPr lang="ru-RU" b="1" dirty="0">
                <a:solidFill>
                  <a:schemeClr val="tx1"/>
                </a:solidFill>
              </a:rPr>
              <a:t>– физлицо или самозанятый</a:t>
            </a:r>
            <a:endParaRPr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7B0742D5-F9E9-D63E-C25C-9EA488CC00DA}"/>
              </a:ext>
            </a:extLst>
          </p:cNvPr>
          <p:cNvSpPr/>
          <p:nvPr/>
        </p:nvSpPr>
        <p:spPr bwMode="auto">
          <a:xfrm>
            <a:off x="6324601" y="4420114"/>
            <a:ext cx="4838700" cy="1484750"/>
          </a:xfrm>
          <a:prstGeom prst="roundRect">
            <a:avLst>
              <a:gd name="adj" fmla="val 705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endParaRPr lang="ru-RU" sz="200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F16EA-6243-6E41-D14B-DD2E42FF2939}"/>
              </a:ext>
            </a:extLst>
          </p:cNvPr>
          <p:cNvSpPr txBox="1"/>
          <p:nvPr/>
        </p:nvSpPr>
        <p:spPr bwMode="auto">
          <a:xfrm>
            <a:off x="6819900" y="4500516"/>
            <a:ext cx="40195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000" b="1" dirty="0" err="1"/>
              <a:t>ЭТрН</a:t>
            </a:r>
            <a:r>
              <a:rPr lang="ru-RU" sz="2000" b="1" dirty="0"/>
              <a:t> не требуется,  </a:t>
            </a:r>
            <a:br>
              <a:rPr lang="ru-RU" sz="2000" b="1" dirty="0"/>
            </a:br>
            <a:r>
              <a:rPr lang="ru-RU" sz="2000" dirty="0"/>
              <a:t>обмен с физлицами </a:t>
            </a:r>
            <a:br>
              <a:rPr lang="ru-RU" sz="2000" dirty="0"/>
            </a:br>
            <a:r>
              <a:rPr lang="ru-RU" sz="2000" dirty="0"/>
              <a:t>и самозанятыми </a:t>
            </a:r>
            <a:r>
              <a:rPr lang="ru-RU" sz="2000" u="sng" dirty="0"/>
              <a:t>пока не регламентирован</a:t>
            </a:r>
            <a:endParaRPr u="sng" dirty="0"/>
          </a:p>
        </p:txBody>
      </p:sp>
    </p:spTree>
    <p:extLst>
      <p:ext uri="{BB962C8B-B14F-4D97-AF65-F5344CB8AC3E}">
        <p14:creationId xmlns:p14="http://schemas.microsoft.com/office/powerpoint/2010/main" val="3969816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CEA626-E30E-75A9-81C2-9A145222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кейсы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466F486C-A9F8-093F-B79A-C42C736CF462}"/>
              </a:ext>
            </a:extLst>
          </p:cNvPr>
          <p:cNvSpPr/>
          <p:nvPr/>
        </p:nvSpPr>
        <p:spPr bwMode="auto">
          <a:xfrm>
            <a:off x="6324601" y="4277741"/>
            <a:ext cx="4838700" cy="1562470"/>
          </a:xfrm>
          <a:prstGeom prst="roundRect">
            <a:avLst>
              <a:gd name="adj" fmla="val 431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endParaRPr lang="ru-RU" sz="200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D27B7-731C-E870-83C8-889ED7BAAAD4}"/>
              </a:ext>
            </a:extLst>
          </p:cNvPr>
          <p:cNvSpPr txBox="1"/>
          <p:nvPr/>
        </p:nvSpPr>
        <p:spPr bwMode="auto">
          <a:xfrm>
            <a:off x="6324601" y="4858920"/>
            <a:ext cx="483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000" b="1" dirty="0" err="1">
                <a:solidFill>
                  <a:srgbClr val="000000"/>
                </a:solidFill>
              </a:rPr>
              <a:t>ЭТрН</a:t>
            </a:r>
            <a:r>
              <a:rPr lang="ru-RU" sz="2000" b="1" dirty="0">
                <a:solidFill>
                  <a:srgbClr val="000000"/>
                </a:solidFill>
              </a:rPr>
              <a:t> не требуется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4775465-1DE0-6162-F126-497E522FB658}"/>
              </a:ext>
            </a:extLst>
          </p:cNvPr>
          <p:cNvSpPr/>
          <p:nvPr/>
        </p:nvSpPr>
        <p:spPr bwMode="auto">
          <a:xfrm>
            <a:off x="884902" y="4277741"/>
            <a:ext cx="5296822" cy="1562469"/>
          </a:xfrm>
          <a:prstGeom prst="roundRect">
            <a:avLst>
              <a:gd name="adj" fmla="val 431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4625">
              <a:spcBef>
                <a:spcPts val="600"/>
              </a:spcBef>
              <a:spcAft>
                <a:spcPts val="600"/>
              </a:spcAft>
              <a:defRPr/>
            </a:pPr>
            <a:r>
              <a:rPr lang="ru-RU" sz="2000" b="1" dirty="0">
                <a:solidFill>
                  <a:srgbClr val="000000"/>
                </a:solidFill>
              </a:rPr>
              <a:t>Договор на оказание курьерских или почтовых услуг</a:t>
            </a:r>
            <a:endParaRPr lang="ru-RU" sz="2000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5FA901-9F43-9C0B-5E07-0FEE3E0A1D7D}"/>
              </a:ext>
            </a:extLst>
          </p:cNvPr>
          <p:cNvSpPr txBox="1"/>
          <p:nvPr/>
        </p:nvSpPr>
        <p:spPr bwMode="auto">
          <a:xfrm>
            <a:off x="654082" y="1288602"/>
            <a:ext cx="110336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>
              <a:spcBef>
                <a:spcPts val="600"/>
              </a:spcBef>
              <a:spcAft>
                <a:spcPts val="600"/>
              </a:spcAft>
              <a:defRPr/>
            </a:pPr>
            <a:r>
              <a:rPr lang="ru-RU" sz="2000" dirty="0">
                <a:solidFill>
                  <a:srgbClr val="000000"/>
                </a:solidFill>
              </a:rPr>
              <a:t>Если вы взаимодействуете с крупными ТК (СДЭК, Деловые линии, DPD, </a:t>
            </a:r>
            <a:r>
              <a:rPr lang="ru-RU" sz="2000" dirty="0" err="1">
                <a:solidFill>
                  <a:srgbClr val="000000"/>
                </a:solidFill>
              </a:rPr>
              <a:t>Яндекс.Доставка</a:t>
            </a:r>
            <a:r>
              <a:rPr lang="ru-RU" sz="2000" dirty="0">
                <a:solidFill>
                  <a:srgbClr val="000000"/>
                </a:solidFill>
              </a:rPr>
              <a:t> и т.д.), то обязательно проверить договор.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DCBD3AC-10A3-8020-13BF-AE462C13BC0B}"/>
              </a:ext>
            </a:extLst>
          </p:cNvPr>
          <p:cNvSpPr/>
          <p:nvPr/>
        </p:nvSpPr>
        <p:spPr bwMode="auto">
          <a:xfrm>
            <a:off x="6324601" y="2436336"/>
            <a:ext cx="4838700" cy="1562470"/>
          </a:xfrm>
          <a:prstGeom prst="roundRect">
            <a:avLst>
              <a:gd name="adj" fmla="val 431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endParaRPr lang="ru-RU" sz="200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63EEFD-0866-5211-60C6-14E241082774}"/>
              </a:ext>
            </a:extLst>
          </p:cNvPr>
          <p:cNvSpPr txBox="1"/>
          <p:nvPr/>
        </p:nvSpPr>
        <p:spPr bwMode="auto">
          <a:xfrm>
            <a:off x="6324601" y="2599237"/>
            <a:ext cx="48387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000" b="1" dirty="0" err="1">
                <a:solidFill>
                  <a:srgbClr val="000000"/>
                </a:solidFill>
              </a:rPr>
              <a:t>ЭТрН</a:t>
            </a:r>
            <a:r>
              <a:rPr lang="ru-RU" sz="2000" b="1" dirty="0">
                <a:solidFill>
                  <a:srgbClr val="000000"/>
                </a:solidFill>
              </a:rPr>
              <a:t> нужна</a:t>
            </a:r>
          </a:p>
          <a:p>
            <a:pPr algn="ctr">
              <a:defRPr/>
            </a:pPr>
            <a:r>
              <a:rPr lang="ru-RU" sz="2000" b="1" dirty="0">
                <a:solidFill>
                  <a:srgbClr val="000000"/>
                </a:solidFill>
              </a:rPr>
              <a:t>(+ при заключении договора ТЭУ – подписываются экспедиторские документы!)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731AE1C-1B85-B8FE-C607-85B537D0EA5E}"/>
              </a:ext>
            </a:extLst>
          </p:cNvPr>
          <p:cNvSpPr/>
          <p:nvPr/>
        </p:nvSpPr>
        <p:spPr bwMode="auto">
          <a:xfrm>
            <a:off x="884902" y="2436336"/>
            <a:ext cx="5296822" cy="1562469"/>
          </a:xfrm>
          <a:prstGeom prst="roundRect">
            <a:avLst>
              <a:gd name="adj" fmla="val 431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4625">
              <a:spcBef>
                <a:spcPts val="600"/>
              </a:spcBef>
              <a:spcAft>
                <a:spcPts val="600"/>
              </a:spcAft>
              <a:defRPr/>
            </a:pPr>
            <a:r>
              <a:rPr lang="ru-RU" sz="2000" b="1" dirty="0">
                <a:solidFill>
                  <a:srgbClr val="000000"/>
                </a:solidFill>
              </a:rPr>
              <a:t>Договор на перевозку или договор транспортной экспедиции</a:t>
            </a:r>
            <a:endParaRPr lang="ru-RU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618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EF81E8-0F48-4511-A4BC-C056B0D26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44583" y="3982868"/>
            <a:ext cx="3128169" cy="37067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C9C67-AEC2-46F2-A57D-0246151EF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Подведём итог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F7F273F-4EC7-47A6-889D-BCC33CB56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44584" y="1490680"/>
            <a:ext cx="2662004" cy="370670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82E11549-6F4A-4773-AE12-339EF5094B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b="1" dirty="0" err="1"/>
              <a:t>ЭТрН</a:t>
            </a:r>
            <a:r>
              <a:rPr lang="ru-RU" b="1" dirty="0"/>
              <a:t> обязательна </a:t>
            </a:r>
            <a:r>
              <a:rPr lang="ru-RU" dirty="0"/>
              <a:t>к </a:t>
            </a:r>
            <a:r>
              <a:rPr lang="ru-RU"/>
              <a:t>оформлению с </a:t>
            </a:r>
            <a:r>
              <a:rPr lang="ru-RU" dirty="0"/>
              <a:t>1 сентября, если: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все участники перевозки – ЮЛ или ИП,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перевозчик ≠ грузоотправитель,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перевозчик ≠ грузополучатель,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перевозчик осуществляет свою деятельность на коммерческой основе (стоимость доставки отражается в </a:t>
            </a:r>
            <a:r>
              <a:rPr lang="ru-RU" dirty="0" err="1"/>
              <a:t>ЭТрН</a:t>
            </a:r>
            <a:r>
              <a:rPr lang="ru-RU" dirty="0"/>
              <a:t>).</a:t>
            </a:r>
          </a:p>
          <a:p>
            <a:endParaRPr lang="ru-RU" dirty="0"/>
          </a:p>
          <a:p>
            <a:r>
              <a:rPr lang="ru-RU" b="1" dirty="0" err="1"/>
              <a:t>ЭТрН</a:t>
            </a:r>
            <a:r>
              <a:rPr lang="ru-RU" b="1" dirty="0"/>
              <a:t> не оформляется</a:t>
            </a:r>
            <a:r>
              <a:rPr lang="ru-RU" dirty="0"/>
              <a:t>, если: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хотя бы один </a:t>
            </a:r>
            <a:r>
              <a:rPr lang="ru-RU" dirty="0"/>
              <a:t>из участников грузоперевозки </a:t>
            </a:r>
            <a:r>
              <a:rPr lang="ru-RU" b="1" dirty="0"/>
              <a:t>– физлицо или самозанятый,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перевозчик = грузоотправитель (доставка),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перевозчик = грузополучатель (самовывоз).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9594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D98995-BED1-FB33-9588-123868E32752}"/>
              </a:ext>
            </a:extLst>
          </p:cNvPr>
          <p:cNvSpPr txBox="1"/>
          <p:nvPr/>
        </p:nvSpPr>
        <p:spPr bwMode="auto">
          <a:xfrm>
            <a:off x="602808" y="499667"/>
            <a:ext cx="1074362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600" b="1" dirty="0">
                <a:solidFill>
                  <a:srgbClr val="000000"/>
                </a:solidFill>
              </a:rPr>
              <a:t>В соответствии с приказом Минтранса России </a:t>
            </a:r>
            <a:r>
              <a:rPr lang="ru-RU" sz="1600" b="1" dirty="0"/>
              <a:t>«</a:t>
            </a:r>
            <a:r>
              <a:rPr lang="ru-RU" sz="1600" b="1" dirty="0">
                <a:solidFill>
                  <a:srgbClr val="FF0000"/>
                </a:solidFill>
                <a:hlinkClick r:id="rId2"/>
              </a:rPr>
              <a:t>Об определении случаев, при которых транспортная накладная, заказ и заявка оформляются на бумажном носителе</a:t>
            </a:r>
            <a:r>
              <a:rPr lang="ru-RU" sz="1600" b="1" dirty="0"/>
              <a:t>» </a:t>
            </a:r>
            <a:r>
              <a:rPr lang="ru-RU" sz="1600" b="1" dirty="0">
                <a:solidFill>
                  <a:srgbClr val="000000"/>
                </a:solidFill>
              </a:rPr>
              <a:t>в перечень исключений вошли:</a:t>
            </a:r>
          </a:p>
          <a:p>
            <a:pPr>
              <a:defRPr/>
            </a:pPr>
            <a:endParaRPr lang="ru-RU" sz="1600" dirty="0">
              <a:solidFill>
                <a:srgbClr val="000000"/>
              </a:solidFill>
            </a:endParaRPr>
          </a:p>
          <a:p>
            <a:pPr marL="285750" indent="-285750">
              <a:buClr>
                <a:srgbClr val="FFCF66"/>
              </a:buClr>
              <a:buFont typeface="Wingdings" panose="05000000000000000000" pitchFamily="2" charset="2"/>
              <a:buChar char="§"/>
              <a:defRPr/>
            </a:pPr>
            <a:r>
              <a:rPr lang="ru-RU" sz="1600" dirty="0">
                <a:solidFill>
                  <a:srgbClr val="000000"/>
                </a:solidFill>
              </a:rPr>
              <a:t>перевозки военного назначения, где Минобороны — грузоотправитель или грузополучатель,</a:t>
            </a:r>
          </a:p>
          <a:p>
            <a:pPr marL="285750" indent="-285750">
              <a:buClr>
                <a:srgbClr val="FFCF66"/>
              </a:buClr>
              <a:buFont typeface="Wingdings" panose="05000000000000000000" pitchFamily="2" charset="2"/>
              <a:buChar char="§"/>
              <a:defRPr/>
            </a:pPr>
            <a:r>
              <a:rPr lang="ru-RU" sz="1600" dirty="0">
                <a:solidFill>
                  <a:srgbClr val="000000"/>
                </a:solidFill>
              </a:rPr>
              <a:t>ГО или ГП — иностранное юрлицо, которое не включено в государственный реестр аккредитованных филиалов (ст. 21 Федерального закона от 09.07.1999 №160-ФЗ)</a:t>
            </a:r>
          </a:p>
          <a:p>
            <a:pPr marL="285750" indent="-285750">
              <a:buClr>
                <a:srgbClr val="FFCF66"/>
              </a:buClr>
              <a:buFont typeface="Wingdings" panose="05000000000000000000" pitchFamily="2" charset="2"/>
              <a:buChar char="§"/>
              <a:defRPr/>
            </a:pPr>
            <a:r>
              <a:rPr lang="ru-RU" sz="1600" dirty="0">
                <a:solidFill>
                  <a:srgbClr val="000000"/>
                </a:solidFill>
              </a:rPr>
              <a:t>каботажные перевозки, которые осуществляют иностранные перевозчики из ЕАЭС,</a:t>
            </a:r>
          </a:p>
          <a:p>
            <a:pPr marL="285750" indent="-285750">
              <a:buClr>
                <a:srgbClr val="FFCF66"/>
              </a:buClr>
              <a:buFont typeface="Wingdings" panose="05000000000000000000" pitchFamily="2" charset="2"/>
              <a:buChar char="§"/>
              <a:defRPr/>
            </a:pPr>
            <a:r>
              <a:rPr lang="ru-RU" sz="1600" dirty="0">
                <a:solidFill>
                  <a:srgbClr val="000000"/>
                </a:solidFill>
              </a:rPr>
              <a:t>перевозки для личных, семейных или домашних нужд физлица (ГО или ГП), не связанного </a:t>
            </a:r>
            <a:br>
              <a:rPr lang="ru-RU" sz="1600" dirty="0">
                <a:solidFill>
                  <a:srgbClr val="000000"/>
                </a:solidFill>
              </a:rPr>
            </a:br>
            <a:r>
              <a:rPr lang="ru-RU" sz="1600" dirty="0">
                <a:solidFill>
                  <a:srgbClr val="000000"/>
                </a:solidFill>
              </a:rPr>
              <a:t>с предпринимательской деятельностью,</a:t>
            </a:r>
          </a:p>
          <a:p>
            <a:pPr marL="285750" indent="-285750">
              <a:buClr>
                <a:srgbClr val="FFCF66"/>
              </a:buClr>
              <a:buFont typeface="Wingdings" panose="05000000000000000000" pitchFamily="2" charset="2"/>
              <a:buChar char="§"/>
              <a:defRPr/>
            </a:pPr>
            <a:r>
              <a:rPr lang="ru-RU" sz="1600" dirty="0">
                <a:solidFill>
                  <a:srgbClr val="000000"/>
                </a:solidFill>
              </a:rPr>
              <a:t>при отсутствии у участника перевозки технической возможности направления в ГИС ЭПД транспортной накладной, заказа и заявки, в связи со сбоем в работе программно-аппаратных комплексов, зафиксированным государственной системой обнаружения, предупреждения и ликвидации последствий компьютерных атак на информационные ресурсы Российской Федерации,</a:t>
            </a:r>
          </a:p>
          <a:p>
            <a:pPr marL="285750" indent="-285750">
              <a:buClr>
                <a:srgbClr val="FFCF66"/>
              </a:buClr>
              <a:buFont typeface="Wingdings" panose="05000000000000000000" pitchFamily="2" charset="2"/>
              <a:buChar char="§"/>
              <a:defRPr/>
            </a:pPr>
            <a:r>
              <a:rPr lang="ru-RU" sz="1600" dirty="0">
                <a:solidFill>
                  <a:srgbClr val="000000"/>
                </a:solidFill>
              </a:rPr>
              <a:t>при отсутствии доступа в Интернет, в том числе в конкретных регионах, которые утверждены распоряжением Правительства РФ от 10.07.2025 № 1855-р,</a:t>
            </a:r>
          </a:p>
          <a:p>
            <a:pPr marL="285750" indent="-285750">
              <a:buClr>
                <a:srgbClr val="FFCF66"/>
              </a:buClr>
              <a:buFont typeface="Wingdings" panose="05000000000000000000" pitchFamily="2" charset="2"/>
              <a:buChar char="§"/>
              <a:defRPr/>
            </a:pPr>
            <a:r>
              <a:rPr lang="ru-RU" sz="1600" dirty="0">
                <a:solidFill>
                  <a:srgbClr val="000000"/>
                </a:solidFill>
              </a:rPr>
              <a:t>грузоотправитель и получатель являются одним лицом,</a:t>
            </a:r>
          </a:p>
          <a:p>
            <a:pPr marL="285750" indent="-285750">
              <a:buClr>
                <a:srgbClr val="FFCF66"/>
              </a:buClr>
              <a:buFont typeface="Wingdings" panose="05000000000000000000" pitchFamily="2" charset="2"/>
              <a:buChar char="§"/>
              <a:defRPr/>
            </a:pPr>
            <a:r>
              <a:rPr lang="ru-RU" sz="1600" dirty="0">
                <a:solidFill>
                  <a:srgbClr val="000000"/>
                </a:solidFill>
              </a:rPr>
              <a:t>перевозки драгоценных металлов и драгоценных камней.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  <a:defRPr/>
            </a:pPr>
            <a:endParaRPr lang="ru-RU" sz="1600" dirty="0">
              <a:solidFill>
                <a:srgbClr val="000000"/>
              </a:solidFill>
            </a:endParaRPr>
          </a:p>
          <a:p>
            <a:pPr>
              <a:buClr>
                <a:srgbClr val="C00000"/>
              </a:buClr>
              <a:defRPr/>
            </a:pPr>
            <a:r>
              <a:rPr lang="ru-RU" sz="1600" dirty="0">
                <a:solidFill>
                  <a:srgbClr val="000000"/>
                </a:solidFill>
              </a:rPr>
              <a:t>У организаций появится возможность выбора для таких случаев: использовать бумажный или электронный формат. Приказ ещё не подписан, есть только </a:t>
            </a:r>
            <a:r>
              <a:rPr lang="ru-RU" sz="1600" dirty="0">
                <a:solidFill>
                  <a:srgbClr val="000000"/>
                </a:solidFill>
                <a:hlinkClick r:id="rId3"/>
              </a:rPr>
              <a:t>проект.</a:t>
            </a:r>
            <a:endParaRPr lang="ru-RU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166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dirty="0"/>
              <a:t>Федеральный реестр экспедиторов </a:t>
            </a:r>
            <a:br>
              <a:rPr lang="ru-RU" dirty="0"/>
            </a:br>
            <a:r>
              <a:rPr lang="ru-RU" dirty="0"/>
              <a:t>на платформе «</a:t>
            </a:r>
            <a:r>
              <a:rPr lang="ru-RU" dirty="0" err="1"/>
              <a:t>ГосЛог</a:t>
            </a:r>
            <a:r>
              <a:rPr lang="ru-RU" dirty="0"/>
              <a:t>»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D0F50C-B18E-1FF9-3FFD-875257526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0680" y="1851254"/>
            <a:ext cx="2835320" cy="427844"/>
          </a:xfrm>
          <a:prstGeom prst="rect">
            <a:avLst/>
          </a:prstGeom>
        </p:spPr>
      </p:pic>
      <p:sp>
        <p:nvSpPr>
          <p:cNvPr id="4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951577" y="1855273"/>
            <a:ext cx="2996309" cy="30577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2400" b="1" dirty="0"/>
              <a:t>с 1 мая 2026 </a:t>
            </a:r>
            <a:endParaRPr sz="2400" dirty="0"/>
          </a:p>
        </p:txBody>
      </p:sp>
      <p:sp>
        <p:nvSpPr>
          <p:cNvPr id="9" name="TextBox 8"/>
          <p:cNvSpPr txBox="1"/>
          <p:nvPr/>
        </p:nvSpPr>
        <p:spPr bwMode="auto">
          <a:xfrm>
            <a:off x="865073" y="2380691"/>
            <a:ext cx="420370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b="1" dirty="0"/>
              <a:t>Ведение экспедиторской деятельности </a:t>
            </a:r>
            <a:br>
              <a:rPr lang="ru-RU" b="1" dirty="0"/>
            </a:br>
            <a:r>
              <a:rPr lang="ru-RU" b="1" dirty="0"/>
              <a:t>без регистрации в </a:t>
            </a:r>
            <a:r>
              <a:rPr lang="ru-RU" b="1" u="sng" dirty="0">
                <a:hlinkClick r:id="rId4" tooltip="https://mintrans.gov.ru/activities/297/367/433"/>
              </a:rPr>
              <a:t>реестре экспедиторов</a:t>
            </a:r>
            <a:r>
              <a:rPr lang="ru-RU" b="1" dirty="0"/>
              <a:t> запрещено.</a:t>
            </a:r>
            <a:endParaRPr dirty="0"/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endParaRPr lang="ru-RU" dirty="0"/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dirty="0"/>
              <a:t>Если </a:t>
            </a:r>
            <a:r>
              <a:rPr lang="ru-RU" b="1" dirty="0"/>
              <a:t>не отправили вовремя</a:t>
            </a:r>
            <a:r>
              <a:rPr lang="ru-RU" dirty="0"/>
              <a:t> заявку на регистрацию в реестре, то необходимо </a:t>
            </a:r>
            <a:r>
              <a:rPr lang="ru-RU" b="1" dirty="0"/>
              <a:t>приостановить деятельность и подать заявление, дождаться регистрации!</a:t>
            </a:r>
            <a:endParaRPr b="1" dirty="0"/>
          </a:p>
        </p:txBody>
      </p:sp>
      <p:sp>
        <p:nvSpPr>
          <p:cNvPr id="10" name="TextBox 9"/>
          <p:cNvSpPr txBox="1"/>
          <p:nvPr/>
        </p:nvSpPr>
        <p:spPr bwMode="auto">
          <a:xfrm>
            <a:off x="5216550" y="4025224"/>
            <a:ext cx="56949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 b="0" i="1" dirty="0">
                <a:solidFill>
                  <a:srgbClr val="333333"/>
                </a:solidFill>
                <a:latin typeface="system-ui"/>
              </a:rPr>
              <a:t>статья 11.14.3 КоАП РФ</a:t>
            </a:r>
            <a:endParaRPr lang="ru-RU" sz="1400" i="1" dirty="0"/>
          </a:p>
        </p:txBody>
      </p:sp>
      <p:sp>
        <p:nvSpPr>
          <p:cNvPr id="11" name="TextBox 10"/>
          <p:cNvSpPr txBox="1"/>
          <p:nvPr/>
        </p:nvSpPr>
        <p:spPr bwMode="auto">
          <a:xfrm>
            <a:off x="5394956" y="1863985"/>
            <a:ext cx="56042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1" dirty="0"/>
              <a:t>Штрафы для экспедиторов за отсутствие сведений в реестре: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5728077" y="2549867"/>
            <a:ext cx="5604231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 dirty="0"/>
              <a:t>от 3 до 5 тыс. рублей для граждан</a:t>
            </a:r>
          </a:p>
          <a:p>
            <a:pPr>
              <a:defRPr/>
            </a:pPr>
            <a:r>
              <a:rPr lang="ru-RU" sz="900" dirty="0"/>
              <a:t> </a:t>
            </a:r>
          </a:p>
          <a:p>
            <a:pPr>
              <a:defRPr/>
            </a:pPr>
            <a:r>
              <a:rPr lang="ru-RU" sz="1400" dirty="0"/>
              <a:t>от 100 до 300 тыс. рублей для юрлиц, за повторное нарушение – от 500 тысяч до 1 млн. рублей</a:t>
            </a:r>
          </a:p>
          <a:p>
            <a:pPr>
              <a:defRPr/>
            </a:pPr>
            <a:endParaRPr lang="ru-RU" sz="1400" dirty="0"/>
          </a:p>
          <a:p>
            <a:pPr>
              <a:defRPr/>
            </a:pPr>
            <a:r>
              <a:rPr lang="ru-RU" sz="1400" dirty="0"/>
              <a:t>от 0,001 до 0,003 размера суммы выручки</a:t>
            </a:r>
          </a:p>
          <a:p>
            <a:pPr>
              <a:defRPr/>
            </a:pPr>
            <a:endParaRPr lang="ru-RU" dirty="0"/>
          </a:p>
          <a:p>
            <a:pPr>
              <a:defRPr/>
            </a:pPr>
            <a:endParaRPr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467733" y="2578811"/>
            <a:ext cx="260344" cy="260344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467733" y="2937141"/>
            <a:ext cx="260344" cy="260344"/>
          </a:xfrm>
          <a:prstGeom prst="rect">
            <a:avLst/>
          </a:prstGeom>
        </p:spPr>
      </p:pic>
      <p:sp>
        <p:nvSpPr>
          <p:cNvPr id="16" name="Прямоугольник: скругленные углы 15"/>
          <p:cNvSpPr/>
          <p:nvPr/>
        </p:nvSpPr>
        <p:spPr bwMode="auto">
          <a:xfrm>
            <a:off x="5078027" y="1733530"/>
            <a:ext cx="6370632" cy="2581018"/>
          </a:xfrm>
          <a:prstGeom prst="roundRect">
            <a:avLst>
              <a:gd name="adj" fmla="val 8084"/>
            </a:avLst>
          </a:prstGeom>
          <a:noFill/>
          <a:ln w="19050"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0755086" y="3555388"/>
            <a:ext cx="987317" cy="987317"/>
          </a:xfrm>
          <a:prstGeom prst="rect">
            <a:avLst/>
          </a:prstGeom>
        </p:spPr>
      </p:pic>
      <p:sp>
        <p:nvSpPr>
          <p:cNvPr id="19" name="Прямоугольник: скругленные углы 18"/>
          <p:cNvSpPr/>
          <p:nvPr/>
        </p:nvSpPr>
        <p:spPr bwMode="auto">
          <a:xfrm>
            <a:off x="5068779" y="4542706"/>
            <a:ext cx="6379879" cy="1412122"/>
          </a:xfrm>
          <a:prstGeom prst="roundRect">
            <a:avLst>
              <a:gd name="adj" fmla="val 16667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ru-RU" sz="1400" b="1" dirty="0">
                <a:solidFill>
                  <a:schemeClr val="tx1"/>
                </a:solidFill>
              </a:rPr>
              <a:t>Экспедитор</a:t>
            </a:r>
            <a:r>
              <a:rPr lang="ru-RU" sz="1400" b="0" dirty="0">
                <a:solidFill>
                  <a:schemeClr val="tx1"/>
                </a:solidFill>
              </a:rPr>
              <a:t> в соответствии с </a:t>
            </a:r>
            <a:r>
              <a:rPr lang="ru-RU" sz="1400" u="sng" dirty="0">
                <a:solidFill>
                  <a:schemeClr val="bg1"/>
                </a:solidFill>
                <a:ea typeface="Calibri"/>
                <a:cs typeface="Calibri"/>
                <a:hlinkClick r:id="rId7" tooltip="http://publication.pravo.gov.ru/document/0001202508290068?ysclid=mmmofhuh1w580771936"/>
              </a:rPr>
              <a:t>Постановлением Правительства РФ от 29.08.2025 №1318</a:t>
            </a:r>
            <a:r>
              <a:rPr lang="ru-RU" sz="1400" dirty="0">
                <a:solidFill>
                  <a:schemeClr val="bg1"/>
                </a:solidFill>
                <a:ea typeface="Calibri"/>
              </a:rPr>
              <a:t> </a:t>
            </a:r>
            <a:r>
              <a:rPr lang="ru-RU" sz="1400" b="0" dirty="0">
                <a:solidFill>
                  <a:schemeClr val="tx1"/>
                </a:solidFill>
              </a:rPr>
              <a:t>обязан подать в </a:t>
            </a:r>
            <a:r>
              <a:rPr lang="ru-RU" sz="1400" b="1" dirty="0">
                <a:solidFill>
                  <a:schemeClr val="tx1"/>
                </a:solidFill>
              </a:rPr>
              <a:t>ФСБ</a:t>
            </a:r>
            <a:r>
              <a:rPr lang="ru-RU" sz="1400" b="0" dirty="0">
                <a:solidFill>
                  <a:schemeClr val="tx1"/>
                </a:solidFill>
              </a:rPr>
              <a:t> заявление о начале взаимодействия с органами оперативно-розыскной деятельности в срок не позднее </a:t>
            </a:r>
            <a:r>
              <a:rPr lang="ru-RU" sz="1400" b="1" dirty="0">
                <a:solidFill>
                  <a:schemeClr val="tx1"/>
                </a:solidFill>
              </a:rPr>
              <a:t>45 дней </a:t>
            </a:r>
            <a:r>
              <a:rPr lang="ru-RU" sz="1400" b="0" dirty="0">
                <a:solidFill>
                  <a:schemeClr val="tx1"/>
                </a:solidFill>
              </a:rPr>
              <a:t>с </a:t>
            </a:r>
            <a:r>
              <a:rPr lang="ru-RU" sz="1400" b="1" dirty="0">
                <a:solidFill>
                  <a:schemeClr val="tx1"/>
                </a:solidFill>
              </a:rPr>
              <a:t>момента размещения в реестре экспедиторов</a:t>
            </a:r>
            <a:r>
              <a:rPr lang="ru-RU" sz="1400" b="0" dirty="0">
                <a:solidFill>
                  <a:schemeClr val="tx1"/>
                </a:solidFill>
              </a:rPr>
              <a:t> сведений о нём.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C2BFDB7-AF70-4EEC-A015-1659BB1479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467733" y="3566213"/>
            <a:ext cx="260344" cy="260344"/>
          </a:xfrm>
          <a:prstGeom prst="rect">
            <a:avLst/>
          </a:prstGeom>
        </p:spPr>
      </p:pic>
      <p:cxnSp>
        <p:nvCxnSpPr>
          <p:cNvPr id="20" name="Соединитель: изогнутый 19">
            <a:extLst>
              <a:ext uri="{FF2B5EF4-FFF2-40B4-BE49-F238E27FC236}">
                <a16:creationId xmlns:a16="http://schemas.microsoft.com/office/drawing/2014/main" id="{6E3A9176-5EAF-4D7B-932E-389DB9C9113F}"/>
              </a:ext>
            </a:extLst>
          </p:cNvPr>
          <p:cNvCxnSpPr>
            <a:cxnSpLocks/>
          </p:cNvCxnSpPr>
          <p:nvPr/>
        </p:nvCxnSpPr>
        <p:spPr bwMode="auto">
          <a:xfrm rot="16200000" flipV="1">
            <a:off x="9802788" y="3812360"/>
            <a:ext cx="975942" cy="767587"/>
          </a:xfrm>
          <a:prstGeom prst="curvedConnector3">
            <a:avLst>
              <a:gd name="adj1" fmla="val 105489"/>
            </a:avLst>
          </a:prstGeom>
          <a:ln w="57150">
            <a:tailEnd type="triangle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Взаимодействие с ФСБ</a:t>
            </a:r>
            <a:endParaRPr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2FDD1D5-9458-3B63-290B-B249AC16558D}"/>
              </a:ext>
            </a:extLst>
          </p:cNvPr>
          <p:cNvSpPr/>
          <p:nvPr/>
        </p:nvSpPr>
        <p:spPr bwMode="auto">
          <a:xfrm>
            <a:off x="855874" y="4884887"/>
            <a:ext cx="10813612" cy="1111469"/>
          </a:xfrm>
          <a:prstGeom prst="roundRect">
            <a:avLst>
              <a:gd name="adj" fmla="val 1099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9388">
              <a:defRPr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B4BDD0-54F3-EFDB-CC5D-66EEF004FEBB}"/>
              </a:ext>
            </a:extLst>
          </p:cNvPr>
          <p:cNvSpPr txBox="1"/>
          <p:nvPr/>
        </p:nvSpPr>
        <p:spPr bwMode="auto">
          <a:xfrm>
            <a:off x="884902" y="1048152"/>
            <a:ext cx="10306084" cy="414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ru-RU" sz="1600" b="1" i="0" dirty="0"/>
              <a:t>Цель: </a:t>
            </a:r>
            <a:r>
              <a:rPr lang="ru-RU" sz="1600" b="0" i="0" dirty="0"/>
              <a:t>предоставление ФСБ круглосуточного удаленного доступа к данным  о клиентах </a:t>
            </a:r>
            <a:br>
              <a:rPr lang="ru-RU" sz="1600" b="0" i="0" dirty="0"/>
            </a:br>
            <a:r>
              <a:rPr lang="ru-RU" sz="1600" b="0" i="0" dirty="0"/>
              <a:t>и грузах.</a:t>
            </a:r>
            <a:endParaRPr lang="ru-RU" sz="1600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ru-RU" sz="1600" b="1" i="0" dirty="0"/>
              <a:t>1. Обратитесь в территориальное подразделение ФСБ вашего региона.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ru-RU" sz="1400" b="0" i="0" dirty="0"/>
              <a:t>Контакты можно найти </a:t>
            </a:r>
            <a:r>
              <a:rPr lang="ru-RU" sz="1400" b="0" i="0" u="sng" dirty="0">
                <a:solidFill>
                  <a:srgbClr val="333333"/>
                </a:solidFill>
                <a:hlinkClick r:id="rId2" tooltip="http://www.fsb.ru/fsb/regions.htm"/>
              </a:rPr>
              <a:t>на официальном сайте</a:t>
            </a:r>
            <a:r>
              <a:rPr lang="ru-RU" sz="1400" b="0" i="0" dirty="0">
                <a:solidFill>
                  <a:srgbClr val="333333"/>
                </a:solidFill>
              </a:rPr>
              <a:t>. </a:t>
            </a:r>
            <a:r>
              <a:rPr lang="ru-RU" sz="1400" b="0" i="0" dirty="0"/>
              <a:t>Вам разъяснят порядок подачи заявления, а также сообщат перечень необходимых документов. </a:t>
            </a:r>
            <a:endParaRPr lang="ru-RU" sz="1400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ru-RU" sz="1600" b="1" i="0" dirty="0"/>
              <a:t>2. Подготовьте пакет документов и подайте заявление. </a:t>
            </a:r>
            <a:endParaRPr lang="ru-RU" sz="1600" b="1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ru-RU" sz="1400" b="0" i="0" dirty="0"/>
              <a:t>После получения заявления ФСБ в течение 30 рабочих дней определяет куратора, который будет осуществлять взаимодействие с вашей организацией </a:t>
            </a:r>
            <a:r>
              <a:rPr lang="ru-RU" sz="1400" b="0" i="0" dirty="0">
                <a:solidFill>
                  <a:srgbClr val="333333"/>
                </a:solidFill>
              </a:rPr>
              <a:t>(</a:t>
            </a:r>
            <a:r>
              <a:rPr lang="ru-RU" sz="1400" b="0" i="0" u="sng" dirty="0">
                <a:solidFill>
                  <a:srgbClr val="333333"/>
                </a:solidFill>
                <a:hlinkClick r:id="rId3" tooltip="http://publication.pravo.gov.ru/document/0001202508290068?index=2))"/>
              </a:rPr>
              <a:t>ПП №1318, пункт 5</a:t>
            </a:r>
            <a:r>
              <a:rPr lang="ru-RU" sz="1400" b="0" i="0" dirty="0"/>
              <a:t>).</a:t>
            </a:r>
            <a:endParaRPr lang="ru-RU" sz="1400" dirty="0"/>
          </a:p>
          <a:p>
            <a:pPr lvl="1"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ru-RU" sz="1600" b="1" i="0" dirty="0"/>
              <a:t>3. Подготовьте план мероприятий по установке программно-технических средств (ПТС) .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defRPr/>
            </a:pPr>
            <a:r>
              <a:rPr lang="ru-RU" sz="1400" dirty="0"/>
              <a:t>Э</a:t>
            </a:r>
            <a:r>
              <a:rPr lang="ru-RU" sz="1400" b="0" i="0" dirty="0"/>
              <a:t>кспедитором совместно с уполномоченным подразделением ФСБ в течение 3 месяцев со дня регистрации заявления в ФСБ.</a:t>
            </a:r>
            <a:br>
              <a:rPr lang="ru-RU" sz="1600" dirty="0"/>
            </a:br>
            <a:endParaRPr lang="ru-RU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EA51C-8FB6-675F-FF04-2C42DFDC4224}"/>
              </a:ext>
            </a:extLst>
          </p:cNvPr>
          <p:cNvSpPr txBox="1"/>
          <p:nvPr/>
        </p:nvSpPr>
        <p:spPr bwMode="auto">
          <a:xfrm>
            <a:off x="884902" y="4928429"/>
            <a:ext cx="10784584" cy="1027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20000"/>
              </a:lnSpc>
              <a:spcBef>
                <a:spcPts val="600"/>
              </a:spcBef>
              <a:defRPr/>
            </a:pPr>
            <a:r>
              <a:rPr lang="ru-RU" sz="1300" b="1" dirty="0"/>
              <a:t>Важно:</a:t>
            </a:r>
            <a:r>
              <a:rPr lang="ru-RU" sz="1300" b="1" i="0" dirty="0"/>
              <a:t> </a:t>
            </a:r>
            <a:r>
              <a:rPr lang="ru-RU" sz="1300" b="0" i="0" dirty="0"/>
              <a:t>ПП №1318 не содержит прямого указания на источник финансирования настройки взаимодействия с ФСБ через ПТС и не предусматривает компенсации затрат из бюджета. Расходы ложатся на экспедитора, поэтому </a:t>
            </a:r>
            <a:r>
              <a:rPr lang="ru-RU" sz="1300" b="1" i="0" dirty="0"/>
              <a:t>запланируйте свои финансовые затраты </a:t>
            </a:r>
            <a:r>
              <a:rPr lang="ru-RU" sz="1300" b="0" i="0" dirty="0"/>
              <a:t>на данное мероприятие. Также ПП №1318, </a:t>
            </a:r>
            <a:r>
              <a:rPr lang="ru-RU" sz="1300" b="0" i="0" u="sng" dirty="0">
                <a:solidFill>
                  <a:srgbClr val="333333"/>
                </a:solidFill>
                <a:hlinkClick r:id="rId4" tooltip="http://publication.pravo.gov.ru/document/0001202508290068?index=4"/>
              </a:rPr>
              <a:t>пункт 12</a:t>
            </a:r>
            <a:r>
              <a:rPr lang="ru-RU" sz="1300" b="0" i="0" dirty="0">
                <a:solidFill>
                  <a:srgbClr val="333333"/>
                </a:solidFill>
              </a:rPr>
              <a:t> </a:t>
            </a:r>
            <a:r>
              <a:rPr lang="ru-RU" sz="1300" b="0" i="0" dirty="0"/>
              <a:t>допускает использование ПТС другого экспедитора по согласованию с уполномоченным подразделением органа ФСБ.</a:t>
            </a:r>
            <a:endParaRPr lang="ru-RU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>
            <a:noAutofit/>
          </a:bodyPr>
          <a:lstStyle/>
          <a:p>
            <a:r>
              <a:rPr lang="ru-RU" sz="3200" dirty="0"/>
              <a:t>Федеральный реестр перевозчиков</a:t>
            </a:r>
            <a:br>
              <a:rPr lang="ru-RU" sz="3200" dirty="0"/>
            </a:br>
            <a:r>
              <a:rPr lang="ru-RU" sz="3200" dirty="0"/>
              <a:t>на платформе «</a:t>
            </a:r>
            <a:r>
              <a:rPr lang="ru-RU" sz="3200" dirty="0" err="1"/>
              <a:t>ГосЛог</a:t>
            </a:r>
            <a:r>
              <a:rPr lang="ru-RU" sz="3200" dirty="0"/>
              <a:t>»</a:t>
            </a:r>
            <a:endParaRPr lang="ru-RU" sz="3200" b="0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07C6BD08-DC0A-DB89-E2E8-41760C252C2F}"/>
              </a:ext>
            </a:extLst>
          </p:cNvPr>
          <p:cNvSpPr txBox="1">
            <a:spLocks/>
          </p:cNvSpPr>
          <p:nvPr/>
        </p:nvSpPr>
        <p:spPr bwMode="auto">
          <a:xfrm>
            <a:off x="932527" y="2009952"/>
            <a:ext cx="4715798" cy="1756212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dirty="0"/>
              <a:t>С этой даты юрлица и ИП, осуществляющие коммерческие перевозки грузов автомобильным транспортом массой более 3,5 т, обязаны быть зарегистрированы в реестре </a:t>
            </a:r>
            <a:r>
              <a:rPr lang="ru-RU" b="1" dirty="0"/>
              <a:t>перевозчиков.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E373350-6B25-F63F-F66D-4DFB627518EF}"/>
              </a:ext>
            </a:extLst>
          </p:cNvPr>
          <p:cNvSpPr/>
          <p:nvPr/>
        </p:nvSpPr>
        <p:spPr>
          <a:xfrm>
            <a:off x="884902" y="1662400"/>
            <a:ext cx="2038348" cy="30410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3A1900-D5E6-DE8F-184E-7127E92162CC}"/>
              </a:ext>
            </a:extLst>
          </p:cNvPr>
          <p:cNvSpPr txBox="1"/>
          <p:nvPr/>
        </p:nvSpPr>
        <p:spPr bwMode="auto">
          <a:xfrm>
            <a:off x="932527" y="1633825"/>
            <a:ext cx="2038349" cy="368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b="1" dirty="0"/>
              <a:t>1 марта 2027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E5E390-72F6-FD81-72D8-44D7AF49EDBF}"/>
              </a:ext>
            </a:extLst>
          </p:cNvPr>
          <p:cNvSpPr txBox="1"/>
          <p:nvPr/>
        </p:nvSpPr>
        <p:spPr bwMode="auto">
          <a:xfrm>
            <a:off x="932527" y="3916299"/>
            <a:ext cx="3668048" cy="673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Федеральный закон </a:t>
            </a:r>
            <a:br>
              <a:rPr lang="ru-RU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ru-RU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 29.12.2025 N 520-ФЗ</a:t>
            </a:r>
            <a:endParaRPr lang="ru-RU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55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65238" y="1376363"/>
            <a:ext cx="6449962" cy="4645025"/>
          </a:xfrm>
        </p:spPr>
        <p:txBody>
          <a:bodyPr/>
          <a:lstStyle/>
          <a:p>
            <a:r>
              <a:rPr lang="ru-RU" dirty="0"/>
              <a:t>Демонстрация сервиса</a:t>
            </a:r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2769649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49E9FC58-389D-F7E2-4783-E42F77D2C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 работает сервис 1С-ЭПД</a:t>
            </a:r>
            <a:br>
              <a:rPr lang="ru-RU" dirty="0"/>
            </a:b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C3821E2-2415-9D47-1B8A-EB4C06866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24623" y="1036437"/>
            <a:ext cx="9542754" cy="482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08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3"/>
          <p:cNvSpPr>
            <a:spLocks noGrp="1"/>
          </p:cNvSpPr>
          <p:nvPr>
            <p:ph type="body" sz="quarter" idx="13"/>
          </p:nvPr>
        </p:nvSpPr>
        <p:spPr bwMode="auto">
          <a:xfrm>
            <a:off x="882072" y="2127441"/>
            <a:ext cx="10392695" cy="312731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Clr>
                <a:srgbClr val="FFCF66"/>
              </a:buClr>
              <a:defRPr/>
            </a:pPr>
            <a:r>
              <a:rPr lang="ru-RU" b="1" dirty="0"/>
              <a:t>Возможности:</a:t>
            </a:r>
            <a:endParaRPr dirty="0"/>
          </a:p>
          <a:p>
            <a:pPr marL="742950" lvl="1" indent="-285750" algn="just">
              <a:lnSpc>
                <a:spcPct val="120000"/>
              </a:lnSpc>
              <a:buClr>
                <a:srgbClr val="FFCF66"/>
              </a:buClr>
              <a:buFont typeface="Arial"/>
              <a:buChar char="•"/>
              <a:defRPr/>
            </a:pPr>
            <a:r>
              <a:rPr lang="ru-RU" b="0" dirty="0"/>
              <a:t>Поддержка всех форматов ЭПД, требуемых ФНС</a:t>
            </a:r>
          </a:p>
          <a:p>
            <a:pPr marL="742950" lvl="1" indent="-285750" algn="just">
              <a:lnSpc>
                <a:spcPct val="120000"/>
              </a:lnSpc>
              <a:buClr>
                <a:srgbClr val="FFCF66"/>
              </a:buClr>
              <a:buFont typeface="Arial"/>
              <a:buChar char="•"/>
              <a:defRPr/>
            </a:pPr>
            <a:r>
              <a:rPr lang="ru-RU" b="0" dirty="0"/>
              <a:t>Обеспечение подписания ЭПД всеми участниками: грузоотправителями, грузополучателями, грузоперевозчиками, экспедиторами, водителями и другие</a:t>
            </a:r>
          </a:p>
          <a:p>
            <a:pPr marL="742950" lvl="1" indent="-285750" algn="just">
              <a:lnSpc>
                <a:spcPct val="120000"/>
              </a:lnSpc>
              <a:buClr>
                <a:srgbClr val="FFCF66"/>
              </a:buClr>
              <a:buFont typeface="Arial"/>
              <a:buChar char="•"/>
              <a:defRPr/>
            </a:pPr>
            <a:r>
              <a:rPr lang="ru-RU" b="0" dirty="0"/>
              <a:t>Все преимущества электронного документооборота: скорость, сохранность, экономия расходных материалов</a:t>
            </a:r>
            <a:endParaRPr b="0" dirty="0"/>
          </a:p>
          <a:p>
            <a:pPr marL="742950" lvl="1" indent="-285750" algn="just">
              <a:lnSpc>
                <a:spcPct val="120000"/>
              </a:lnSpc>
              <a:buClr>
                <a:srgbClr val="FFCF66"/>
              </a:buClr>
              <a:buFont typeface="Arial"/>
              <a:buChar char="•"/>
              <a:defRPr/>
            </a:pPr>
            <a:r>
              <a:rPr lang="ru-RU" b="0" dirty="0"/>
              <a:t>Есть роуминг с другими операторами ИС ЭПД</a:t>
            </a:r>
            <a:endParaRPr lang="ru-RU" dirty="0"/>
          </a:p>
        </p:txBody>
      </p:sp>
      <p:sp>
        <p:nvSpPr>
          <p:cNvPr id="3" name="Заголовок 2"/>
          <p:cNvSpPr txBox="1"/>
          <p:nvPr/>
        </p:nvSpPr>
        <p:spPr bwMode="auto">
          <a:xfrm>
            <a:off x="884902" y="441325"/>
            <a:ext cx="10392696" cy="48938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dirty="0"/>
              <a:t>О функционале 1С-ЭПД</a:t>
            </a:r>
            <a:endParaRPr dirty="0"/>
          </a:p>
        </p:txBody>
      </p:sp>
      <p:sp>
        <p:nvSpPr>
          <p:cNvPr id="4" name="Текст 3"/>
          <p:cNvSpPr txBox="1"/>
          <p:nvPr/>
        </p:nvSpPr>
        <p:spPr bwMode="auto">
          <a:xfrm>
            <a:off x="1492977" y="1513061"/>
            <a:ext cx="9170883" cy="489381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b="1" dirty="0"/>
              <a:t>Сервис для обмена электронными перевозочными документами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23942" y="1355472"/>
            <a:ext cx="666750" cy="6000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23942" y="4947424"/>
            <a:ext cx="953947" cy="8920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1712456" y="5197422"/>
            <a:ext cx="6034272" cy="349702"/>
          </a:xfrm>
          <a:prstGeom prst="rect">
            <a:avLst/>
          </a:prstGeom>
          <a:noFill/>
        </p:spPr>
        <p:txBody>
          <a:bodyPr wrap="none" lIns="36000" tIns="36000" rIns="36000" bIns="36000" rtlCol="0" anchor="ctr" anchorCtr="0">
            <a:spAutoFit/>
          </a:bodyPr>
          <a:lstStyle/>
          <a:p>
            <a:pPr>
              <a:defRPr/>
            </a:pPr>
            <a:r>
              <a:rPr lang="ru-RU" b="1" i="0" dirty="0">
                <a:latin typeface="Verdana"/>
                <a:ea typeface="Verdana"/>
              </a:rPr>
              <a:t>Разработчики: </a:t>
            </a:r>
            <a:r>
              <a:rPr lang="ru-RU" i="0" dirty="0">
                <a:latin typeface="Verdana"/>
                <a:ea typeface="Verdana"/>
              </a:rPr>
              <a:t>Фирма 1С и АО «Калуга Астрал»</a:t>
            </a:r>
            <a:endParaRPr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C292F71B-AA67-7E62-FE20-6FA013C88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Работает в программах:</a:t>
            </a:r>
          </a:p>
        </p:txBody>
      </p:sp>
      <p:sp>
        <p:nvSpPr>
          <p:cNvPr id="9" name="Текст 2">
            <a:extLst>
              <a:ext uri="{FF2B5EF4-FFF2-40B4-BE49-F238E27FC236}">
                <a16:creationId xmlns:a16="http://schemas.microsoft.com/office/drawing/2014/main" id="{9801E3BB-F3D9-2F59-EDE1-719AB368CB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1"/>
            <a:ext cx="10513567" cy="3733198"/>
          </a:xfrm>
        </p:spPr>
        <p:txBody>
          <a:bodyPr numCol="2">
            <a:normAutofit fontScale="92500" lnSpcReduction="10000"/>
          </a:bodyPr>
          <a:lstStyle/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 dirty="0"/>
              <a:t>1С:Бухгалтерия предприятия</a:t>
            </a:r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 dirty="0"/>
              <a:t>1С:Бухгалтерия государственного учреждения 2.0</a:t>
            </a:r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 dirty="0"/>
              <a:t>1С:Бухгалтерия некоммерческой организации 8</a:t>
            </a:r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 dirty="0"/>
              <a:t>1C:Управление нашей фирмой</a:t>
            </a:r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 dirty="0"/>
              <a:t>1С:Розница 3.0</a:t>
            </a:r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 dirty="0"/>
              <a:t>1С:Управление холдингом</a:t>
            </a:r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 dirty="0"/>
              <a:t>1С:Управление производственным предприятием 1.3</a:t>
            </a:r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 dirty="0"/>
              <a:t>1C:ERP Управление предприятием 2.5</a:t>
            </a:r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 dirty="0"/>
              <a:t>1С:ERP. Управление холдингом</a:t>
            </a:r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 dirty="0"/>
              <a:t>1С:Комплексная автоматизация</a:t>
            </a:r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 dirty="0"/>
              <a:t>1C:Управление торговлей</a:t>
            </a:r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 u="sng" dirty="0">
                <a:hlinkClick r:id="rId2" tooltip="http://1c-edo.ru/handbook/28/2563/"/>
              </a:rPr>
              <a:t>1С:Клиент ЭДО, ред. 2</a:t>
            </a:r>
            <a:endParaRPr lang="ru-RU" dirty="0"/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 dirty="0"/>
              <a:t>1C:Управление автотранспортом Стандарт/ПРОФ</a:t>
            </a:r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 dirty="0"/>
              <a:t>1С:Управление автотранспортом. Модуль для 1С:ERP</a:t>
            </a:r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 dirty="0"/>
              <a:t>1С:Транспортная логистика, экспедирование и управление автотранспортом КОРП </a:t>
            </a:r>
          </a:p>
          <a:p>
            <a:pPr marL="285750" indent="-285750">
              <a:buClr>
                <a:srgbClr val="FFCF66"/>
              </a:buClr>
              <a:buFont typeface="Arial"/>
              <a:buChar char="•"/>
              <a:defRPr/>
            </a:pPr>
            <a:r>
              <a:rPr lang="ru-RU" dirty="0"/>
              <a:t>мобильное приложение "1С-ЭПД" (</a:t>
            </a:r>
            <a:r>
              <a:rPr lang="ru-RU" u="sng" dirty="0" err="1">
                <a:hlinkClick r:id="rId3" tooltip="https://play.google.com/store/apps/details?id=com.e1c.ETD"/>
              </a:rPr>
              <a:t>Android</a:t>
            </a:r>
            <a:r>
              <a:rPr lang="ru-RU" dirty="0"/>
              <a:t> (только с </a:t>
            </a:r>
            <a:r>
              <a:rPr lang="ru-RU" dirty="0" err="1"/>
              <a:t>моб.телефона</a:t>
            </a:r>
            <a:r>
              <a:rPr lang="ru-RU" dirty="0"/>
              <a:t>), </a:t>
            </a:r>
            <a:r>
              <a:rPr lang="ru-RU" u="sng" dirty="0" err="1">
                <a:hlinkClick r:id="rId4" tooltip="https://apps.apple.com/ru/app/1%D1%81-%D1%8D%D0%BF%D0%B4/id6467879931"/>
              </a:rPr>
              <a:t>iOS</a:t>
            </a:r>
            <a:r>
              <a:rPr lang="ru-RU" dirty="0"/>
              <a:t>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475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1CF68D-83F8-8D00-3ADF-900AECB0EFE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/>
          <a:lstStyle/>
          <a:p>
            <a:pPr>
              <a:defRPr/>
            </a:pPr>
            <a:r>
              <a:rPr lang="ru-RU"/>
              <a:t>Что необходимо для подключения?</a:t>
            </a:r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3C5735-8125-E81A-4506-5B4C7C62FA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1423495" y="1653992"/>
            <a:ext cx="7061744" cy="4166705"/>
          </a:xfrm>
        </p:spPr>
        <p:txBody>
          <a:bodyPr/>
          <a:lstStyle/>
          <a:p>
            <a:pPr algn="just">
              <a:buClr>
                <a:srgbClr val="FFCF66"/>
              </a:buClr>
              <a:defRPr/>
            </a:pPr>
            <a:r>
              <a:rPr lang="ru-RU" b="1" dirty="0"/>
              <a:t>Программа 1С.</a:t>
            </a:r>
          </a:p>
          <a:p>
            <a:pPr algn="just">
              <a:buClr>
                <a:srgbClr val="FFCF66"/>
              </a:buClr>
              <a:defRPr/>
            </a:pPr>
            <a:r>
              <a:rPr lang="ru-RU" b="1" dirty="0"/>
              <a:t>УКЭП и МЧД:</a:t>
            </a:r>
            <a:r>
              <a:rPr lang="ru-RU" dirty="0"/>
              <a:t> для каждого, сотрудника ответственного за подписание.</a:t>
            </a:r>
            <a:endParaRPr dirty="0"/>
          </a:p>
          <a:p>
            <a:pPr algn="just">
              <a:buClr>
                <a:srgbClr val="FFCF66"/>
              </a:buClr>
              <a:defRPr/>
            </a:pPr>
            <a:r>
              <a:rPr lang="ru-RU" dirty="0"/>
              <a:t>Программа </a:t>
            </a:r>
            <a:r>
              <a:rPr lang="ru-RU" b="1" dirty="0" err="1"/>
              <a:t>КриптоПРО</a:t>
            </a:r>
            <a:r>
              <a:rPr lang="ru-RU" b="1" dirty="0"/>
              <a:t> </a:t>
            </a:r>
            <a:r>
              <a:rPr lang="en-US" b="1" dirty="0"/>
              <a:t>CSP</a:t>
            </a:r>
            <a:r>
              <a:rPr lang="ru-RU" dirty="0"/>
              <a:t> с лицензией.</a:t>
            </a:r>
            <a:endParaRPr dirty="0"/>
          </a:p>
          <a:p>
            <a:pPr algn="just">
              <a:buClr>
                <a:srgbClr val="FFCF66"/>
              </a:buClr>
              <a:defRPr/>
            </a:pPr>
            <a:r>
              <a:rPr lang="ru-RU" u="sng" dirty="0"/>
              <a:t>Для перевозчиков:</a:t>
            </a:r>
            <a:r>
              <a:rPr lang="ru-RU" b="1" dirty="0"/>
              <a:t> установить </a:t>
            </a:r>
            <a:r>
              <a:rPr lang="ru-RU" dirty="0"/>
              <a:t>бесплатное мобильное приложение, через которое смогут работать водители, медики, механики </a:t>
            </a:r>
            <a:r>
              <a:rPr lang="ru-RU" i="1" dirty="0"/>
              <a:t>(можно работать без приложения)</a:t>
            </a:r>
            <a:r>
              <a:rPr lang="ru-RU" dirty="0"/>
              <a:t>. Водитель может подписывать документы от имени перевозчика прямо с телефона при наличии </a:t>
            </a:r>
            <a:r>
              <a:rPr lang="ru-RU" b="1" dirty="0"/>
              <a:t>токена с поддержкой </a:t>
            </a:r>
            <a:r>
              <a:rPr lang="en-US" b="1" dirty="0"/>
              <a:t>NFC</a:t>
            </a:r>
            <a:r>
              <a:rPr lang="ru-RU" dirty="0"/>
              <a:t>. В данном случае можно выпустить УКЭП через </a:t>
            </a:r>
            <a:r>
              <a:rPr lang="ru-RU" b="1" dirty="0"/>
              <a:t>1С:Подпись или 1С КЦР.</a:t>
            </a:r>
            <a:endParaRPr b="1" dirty="0"/>
          </a:p>
          <a:p>
            <a:pPr>
              <a:defRPr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8C98F70-0112-DE9C-B9CA-6D4F1AD1C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255276" y="1503218"/>
            <a:ext cx="1995836" cy="199583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20B5F8-6BB8-FCB8-5C1C-F81C19AF6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40888" y="1573570"/>
            <a:ext cx="320140" cy="32014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4A3DA60-5168-2A91-2F15-FF21E459E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40888" y="1961388"/>
            <a:ext cx="320140" cy="32014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86FF6B3-EE94-E049-F715-E9C73596A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40888" y="2588766"/>
            <a:ext cx="320140" cy="32014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B9293B-9B94-8B8F-8F38-2E9DA795F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40888" y="2976584"/>
            <a:ext cx="320140" cy="32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53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/>
          <a:lstStyle/>
          <a:p>
            <a:pPr>
              <a:defRPr/>
            </a:pPr>
            <a:r>
              <a:rPr lang="ru-RU" dirty="0"/>
              <a:t>Подключение сервиса</a:t>
            </a:r>
            <a:endParaRPr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562400"/>
            <a:ext cx="10392697" cy="110970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defRPr/>
            </a:pPr>
            <a:r>
              <a:rPr lang="ru-RU" sz="2500" dirty="0"/>
              <a:t>Для обмена электронными перевозочными документами необходимо:</a:t>
            </a:r>
            <a:endParaRPr sz="2500" dirty="0"/>
          </a:p>
          <a:p>
            <a:pPr>
              <a:defRPr/>
            </a:pPr>
            <a:endParaRPr lang="ru-RU" sz="2500" dirty="0"/>
          </a:p>
        </p:txBody>
      </p:sp>
      <p:sp>
        <p:nvSpPr>
          <p:cNvPr id="5" name="TextBox 42"/>
          <p:cNvSpPr txBox="1"/>
          <p:nvPr/>
        </p:nvSpPr>
        <p:spPr bwMode="auto">
          <a:xfrm>
            <a:off x="1689584" y="2795052"/>
            <a:ext cx="66821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defRPr/>
            </a:pPr>
            <a:r>
              <a:rPr lang="ru-RU" sz="2400" dirty="0"/>
              <a:t>Подключить </a:t>
            </a:r>
            <a:r>
              <a:rPr lang="ru-RU" sz="2400" b="1" dirty="0"/>
              <a:t>сервис 1С-ЭДО</a:t>
            </a:r>
            <a:endParaRPr sz="2400" dirty="0"/>
          </a:p>
        </p:txBody>
      </p:sp>
      <p:sp>
        <p:nvSpPr>
          <p:cNvPr id="7" name="TextBox 46"/>
          <p:cNvSpPr txBox="1"/>
          <p:nvPr/>
        </p:nvSpPr>
        <p:spPr bwMode="auto">
          <a:xfrm>
            <a:off x="1690524" y="3425089"/>
            <a:ext cx="96797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defRPr/>
            </a:pPr>
            <a:r>
              <a:rPr lang="ru-RU" sz="2400" dirty="0"/>
              <a:t>Обменяться </a:t>
            </a:r>
            <a:r>
              <a:rPr lang="ru-RU" sz="2400" b="1" dirty="0"/>
              <a:t>приглашениями</a:t>
            </a:r>
            <a:r>
              <a:rPr lang="ru-RU" sz="2400" dirty="0"/>
              <a:t> с контрагентами</a:t>
            </a:r>
            <a:endParaRPr sz="2400" dirty="0"/>
          </a:p>
        </p:txBody>
      </p:sp>
      <p:sp>
        <p:nvSpPr>
          <p:cNvPr id="8" name="TextBox 50"/>
          <p:cNvSpPr txBox="1"/>
          <p:nvPr/>
        </p:nvSpPr>
        <p:spPr bwMode="auto">
          <a:xfrm>
            <a:off x="1693347" y="4060389"/>
            <a:ext cx="95361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defRPr/>
            </a:pPr>
            <a:r>
              <a:rPr lang="ru-RU" sz="2400" b="1" dirty="0"/>
              <a:t>Проверить настройку обмена электронными перевозочными документами </a:t>
            </a:r>
            <a:r>
              <a:rPr lang="ru-RU" sz="2400" dirty="0"/>
              <a:t>в учетной системе</a:t>
            </a:r>
            <a:endParaRPr sz="2400" dirty="0"/>
          </a:p>
        </p:txBody>
      </p:sp>
      <p:sp>
        <p:nvSpPr>
          <p:cNvPr id="9" name="Овал 8"/>
          <p:cNvSpPr/>
          <p:nvPr/>
        </p:nvSpPr>
        <p:spPr bwMode="auto">
          <a:xfrm>
            <a:off x="1216800" y="2872219"/>
            <a:ext cx="360000" cy="360000"/>
          </a:xfrm>
          <a:prstGeom prst="ellipse">
            <a:avLst/>
          </a:prstGeom>
          <a:solidFill>
            <a:srgbClr val="FFCF66"/>
          </a:solidFill>
          <a:ln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sz="2400" b="1" dirty="0">
                <a:solidFill>
                  <a:schemeClr val="tx1"/>
                </a:solidFill>
              </a:rPr>
              <a:t>1</a:t>
            </a:r>
            <a:endParaRPr sz="2400" dirty="0"/>
          </a:p>
        </p:txBody>
      </p:sp>
      <p:sp>
        <p:nvSpPr>
          <p:cNvPr id="10" name="Овал 9"/>
          <p:cNvSpPr/>
          <p:nvPr/>
        </p:nvSpPr>
        <p:spPr bwMode="auto">
          <a:xfrm>
            <a:off x="1216800" y="3513573"/>
            <a:ext cx="360000" cy="360000"/>
          </a:xfrm>
          <a:prstGeom prst="ellipse">
            <a:avLst/>
          </a:prstGeom>
          <a:solidFill>
            <a:srgbClr val="FFCF66"/>
          </a:solidFill>
          <a:ln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sz="2400" b="1">
                <a:solidFill>
                  <a:schemeClr val="tx1"/>
                </a:solidFill>
              </a:rPr>
              <a:t>2</a:t>
            </a:r>
            <a:endParaRPr sz="2400"/>
          </a:p>
        </p:txBody>
      </p:sp>
      <p:sp>
        <p:nvSpPr>
          <p:cNvPr id="11" name="Овал 10"/>
          <p:cNvSpPr/>
          <p:nvPr/>
        </p:nvSpPr>
        <p:spPr bwMode="auto">
          <a:xfrm>
            <a:off x="1216800" y="4291639"/>
            <a:ext cx="360000" cy="360000"/>
          </a:xfrm>
          <a:prstGeom prst="ellipse">
            <a:avLst/>
          </a:prstGeom>
          <a:solidFill>
            <a:srgbClr val="FFCF66"/>
          </a:solidFill>
          <a:ln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sz="2400" b="1" dirty="0">
                <a:solidFill>
                  <a:schemeClr val="tx1"/>
                </a:solidFill>
              </a:rPr>
              <a:t>3</a:t>
            </a:r>
            <a:endParaRPr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8D68EC8C-EE73-6EA8-0E5E-DA5428F2F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Подключение сервиса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097A913C-7D82-F31A-1671-856E6BA9BF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744155" y="1288337"/>
            <a:ext cx="9299120" cy="1368152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defRPr/>
            </a:pPr>
            <a:r>
              <a:rPr lang="ru-RU" sz="1400" dirty="0"/>
              <a:t>Для настройки обмена ЭПД перейдите в раздел </a:t>
            </a:r>
            <a:r>
              <a:rPr lang="ru-RU" sz="1400" b="1" dirty="0"/>
              <a:t>Администрирование → Обмен электронными документами → Настройки ЭДО</a:t>
            </a:r>
            <a:r>
              <a:rPr lang="ru-RU" sz="1400" dirty="0"/>
              <a:t>. В форме </a:t>
            </a:r>
            <a:r>
              <a:rPr lang="ru-RU" sz="1400" b="1" dirty="0"/>
              <a:t>Настройки ЭДО</a:t>
            </a:r>
            <a:r>
              <a:rPr lang="ru-RU" sz="1400" dirty="0"/>
              <a:t> на вкладке </a:t>
            </a:r>
            <a:r>
              <a:rPr lang="ru-RU" sz="1400" b="1" dirty="0"/>
              <a:t>Настройки отправки</a:t>
            </a:r>
            <a:r>
              <a:rPr lang="ru-RU" sz="1400" dirty="0"/>
              <a:t> дважды нажмите на строку с нужным контрагентом:</a:t>
            </a:r>
            <a:endParaRPr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1D37B7F-B666-A346-95E4-5D0025DEC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46541" y="2000862"/>
            <a:ext cx="5307997" cy="1311253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1" name="Текст 3">
            <a:extLst>
              <a:ext uri="{FF2B5EF4-FFF2-40B4-BE49-F238E27FC236}">
                <a16:creationId xmlns:a16="http://schemas.microsoft.com/office/drawing/2014/main" id="{0C8F15E5-29C0-BCF1-0A3A-02D72F8A27E2}"/>
              </a:ext>
            </a:extLst>
          </p:cNvPr>
          <p:cNvSpPr txBox="1"/>
          <p:nvPr/>
        </p:nvSpPr>
        <p:spPr bwMode="auto">
          <a:xfrm>
            <a:off x="741526" y="3736609"/>
            <a:ext cx="3291663" cy="105162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4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ru-RU" sz="1400"/>
              <a:t>В открывшемся окне </a:t>
            </a:r>
            <a:r>
              <a:rPr lang="ru-RU" sz="1400" b="1"/>
              <a:t>Настройки отправки документов</a:t>
            </a:r>
            <a:r>
              <a:rPr lang="ru-RU" sz="1400"/>
              <a:t> проверьте наличие флажка в строках:</a:t>
            </a:r>
            <a:endParaRPr/>
          </a:p>
        </p:txBody>
      </p:sp>
      <p:pic>
        <p:nvPicPr>
          <p:cNvPr id="12" name="Рисунок 7">
            <a:extLst>
              <a:ext uri="{FF2B5EF4-FFF2-40B4-BE49-F238E27FC236}">
                <a16:creationId xmlns:a16="http://schemas.microsoft.com/office/drawing/2014/main" id="{7B945D53-078B-0C58-661A-B8784227B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594464" y="3463883"/>
            <a:ext cx="4668474" cy="2456506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081609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175D00-A674-796C-2F77-A6E46CFA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 перевозки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40AA07-50C8-8A57-B5F0-06D92193A3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4401" y="1130709"/>
            <a:ext cx="10392697" cy="4778477"/>
          </a:xfrm>
        </p:spPr>
        <p:txBody>
          <a:bodyPr>
            <a:normAutofit/>
          </a:bodyPr>
          <a:lstStyle/>
          <a:p>
            <a:pPr algn="l"/>
            <a:r>
              <a:rPr lang="ru-RU" b="1" i="0" dirty="0">
                <a:effectLst/>
              </a:rPr>
              <a:t>1. Создание заявки (ЭЗЗ) и обработка</a:t>
            </a:r>
          </a:p>
          <a:p>
            <a:pPr algn="l"/>
            <a:r>
              <a:rPr lang="ru-RU" b="0" i="0" dirty="0">
                <a:effectLst/>
              </a:rPr>
              <a:t>Получение перевозчиком информации о заказе от отправителя. Подбор транспорта.</a:t>
            </a:r>
          </a:p>
          <a:p>
            <a:pPr algn="l"/>
            <a:endParaRPr lang="ru-RU" b="0" i="0" dirty="0">
              <a:effectLst/>
            </a:endParaRPr>
          </a:p>
          <a:p>
            <a:pPr algn="l"/>
            <a:r>
              <a:rPr lang="ru-RU" b="1" dirty="0"/>
              <a:t>2. Создание </a:t>
            </a:r>
            <a:r>
              <a:rPr lang="ru-RU" b="1" dirty="0" err="1"/>
              <a:t>ЭТрН</a:t>
            </a:r>
            <a:r>
              <a:rPr lang="ru-RU" b="1" dirty="0"/>
              <a:t>. Отправка груза со склада грузоотправителя</a:t>
            </a:r>
          </a:p>
          <a:p>
            <a:pPr algn="l"/>
            <a:r>
              <a:rPr lang="ru-RU" b="0" i="0" dirty="0">
                <a:effectLst/>
              </a:rPr>
              <a:t>Погрузка груза в ТС</a:t>
            </a:r>
            <a:r>
              <a:rPr lang="ru-RU" dirty="0"/>
              <a:t>. Перевозчик фиксирует информацию о том как прошла погрузка и выезжает на дорогу.</a:t>
            </a:r>
          </a:p>
          <a:p>
            <a:pPr algn="l"/>
            <a:r>
              <a:rPr lang="ru-RU" b="1" i="0" dirty="0">
                <a:effectLst/>
              </a:rPr>
              <a:t>3. </a:t>
            </a:r>
            <a:r>
              <a:rPr lang="ru-RU" b="1" dirty="0"/>
              <a:t>Водитель</a:t>
            </a:r>
            <a:r>
              <a:rPr lang="ru-RU" b="1" i="0" dirty="0">
                <a:effectLst/>
              </a:rPr>
              <a:t> в дороге</a:t>
            </a:r>
          </a:p>
          <a:p>
            <a:r>
              <a:rPr lang="ru-RU" dirty="0"/>
              <a:t>Доставляет груз до получателя. Предъявляет </a:t>
            </a:r>
            <a:r>
              <a:rPr lang="en-US" dirty="0"/>
              <a:t>QR-</a:t>
            </a:r>
            <a:r>
              <a:rPr lang="ru-RU" dirty="0"/>
              <a:t>код и </a:t>
            </a:r>
            <a:r>
              <a:rPr lang="ru-RU" b="1" dirty="0"/>
              <a:t>Путевой лист </a:t>
            </a:r>
            <a:r>
              <a:rPr lang="ru-RU" dirty="0"/>
              <a:t>в случае проверки документов на дороге.</a:t>
            </a:r>
          </a:p>
          <a:p>
            <a:r>
              <a:rPr lang="ru-RU" b="1" dirty="0"/>
              <a:t>4. Грузополучатель производит приёмку груза</a:t>
            </a:r>
          </a:p>
          <a:p>
            <a:r>
              <a:rPr lang="ru-RU" dirty="0"/>
              <a:t>Приёмка в точке разгрузки. Грузополучатель может принять весь груз, частично или не принять всё.</a:t>
            </a:r>
          </a:p>
          <a:p>
            <a:r>
              <a:rPr lang="ru-RU" b="1" dirty="0"/>
              <a:t>5. Разгрузка на складе получателя</a:t>
            </a:r>
          </a:p>
          <a:p>
            <a:r>
              <a:rPr lang="ru-RU" dirty="0"/>
              <a:t>Перевозчик фиксирует информацию о  том как прошла разгрузка.</a:t>
            </a:r>
          </a:p>
        </p:txBody>
      </p:sp>
    </p:spTree>
    <p:extLst>
      <p:ext uri="{BB962C8B-B14F-4D97-AF65-F5344CB8AC3E}">
        <p14:creationId xmlns:p14="http://schemas.microsoft.com/office/powerpoint/2010/main" val="3853212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95969D-6E16-3A82-AA5B-7D786E068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Документы в ЭПД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0919D4-C4AC-05D6-9087-1B3BC4238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ru-RU" b="1" dirty="0"/>
              <a:t>Электронный заказ (заявка) – ЭЗЗ</a:t>
            </a:r>
            <a:r>
              <a:rPr lang="ru-RU" dirty="0"/>
              <a:t>: фиксация договорённости между грузоотправителем и перевозчиком до начала перевозки. </a:t>
            </a:r>
          </a:p>
          <a:p>
            <a:r>
              <a:rPr lang="ru-RU" dirty="0"/>
              <a:t>Участники: грузоотправитель (заказчик перевозки) и перевозчик.</a:t>
            </a:r>
          </a:p>
          <a:p>
            <a:r>
              <a:rPr lang="ru-RU" b="1" dirty="0"/>
              <a:t>2. Электронная транспортная накладная - </a:t>
            </a:r>
            <a:r>
              <a:rPr lang="ru-RU" b="1" dirty="0" err="1"/>
              <a:t>ЭТрН</a:t>
            </a:r>
            <a:r>
              <a:rPr lang="ru-RU" dirty="0"/>
              <a:t>: документ, который подтверждает факт перевозки груза.</a:t>
            </a:r>
          </a:p>
          <a:p>
            <a:r>
              <a:rPr lang="ru-RU" dirty="0"/>
              <a:t>Участники: грузоотправитель (заказчик перевозки), перевозчик и грузополучатель.</a:t>
            </a:r>
          </a:p>
          <a:p>
            <a:r>
              <a:rPr lang="ru-RU" b="1" dirty="0"/>
              <a:t>3. Электронный путевой лист – ЭПЛ</a:t>
            </a:r>
            <a:r>
              <a:rPr lang="ru-RU" dirty="0"/>
              <a:t>: документ, который содержит данные о водителе, транспортном средстве, маршруте, результатах медосмотра и технического контроля, пробеге.</a:t>
            </a:r>
          </a:p>
          <a:p>
            <a:r>
              <a:rPr lang="ru-RU" dirty="0"/>
              <a:t>Участники: организация-владелец ТС, медик, механик.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3469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95969D-6E16-3A82-AA5B-7D786E068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Документы в ЭПД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0919D4-C4AC-05D6-9087-1B3BC4238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4. Электронные экспедиторские документы – ЭЭД: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Электронное поручение экспедитору (ЭПЭ). </a:t>
            </a:r>
            <a:r>
              <a:rPr lang="ru-RU" dirty="0"/>
              <a:t>В нём клиент задаёт задачу: перечисляет, какие транспортно-экспедиционные услуги нужен (например, оформить документы, подобрать транспорт, проконтролировать погрузку), и фиксирует условия. Документ состоит из двух частей (титулов): одну подписывает клиент, другую — экспедитор.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Электронная экспедиторская расписка (ЭЭР). </a:t>
            </a:r>
            <a:r>
              <a:rPr lang="ru-RU" dirty="0"/>
              <a:t>Её оформляет экспедитор, когда принимает груз от клиента во владение. Расписка подтверждает, что теперь экспедитор несёт ответственность за груз до момента доставки получателю.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Электронная складская расписка (ЭСР). </a:t>
            </a:r>
            <a:r>
              <a:rPr lang="ru-RU" dirty="0"/>
              <a:t>Её оформляют, если экспедитор принял груз не для немедленной перевозки, а для временного хранения на своём складе или на складе партнёра. </a:t>
            </a:r>
          </a:p>
          <a:p>
            <a:pPr marL="342900" indent="-34290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3418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E76E35BA-5756-85B5-4F70-E650F0DF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Схема документооборота ЭЗЗ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29AF923-7285-6FF9-487B-6481DF56A33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8155" y="5391520"/>
            <a:ext cx="1464446" cy="263671"/>
          </a:xfrm>
          <a:prstGeom prst="rect">
            <a:avLst/>
          </a:prstGeom>
        </p:spPr>
      </p:pic>
      <p:sp>
        <p:nvSpPr>
          <p:cNvPr id="10" name="Текст 2">
            <a:extLst>
              <a:ext uri="{FF2B5EF4-FFF2-40B4-BE49-F238E27FC236}">
                <a16:creationId xmlns:a16="http://schemas.microsoft.com/office/drawing/2014/main" id="{B2277C87-40F2-26D3-97CD-38D19921C7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1" y="5391520"/>
            <a:ext cx="10392697" cy="985273"/>
          </a:xfrm>
        </p:spPr>
        <p:txBody>
          <a:bodyPr/>
          <a:lstStyle/>
          <a:p>
            <a:r>
              <a:rPr lang="ru-RU" b="1" i="1" dirty="0"/>
              <a:t>Титул</a:t>
            </a:r>
            <a:r>
              <a:rPr lang="ru-RU" i="1" dirty="0"/>
              <a:t> – это часть электронного перевозочного документа, которая заполняется каждым из участников перевозки в определённый её момент. </a:t>
            </a:r>
            <a:endParaRPr lang="ru-RU" dirty="0"/>
          </a:p>
          <a:p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898F9E1-A820-0977-7265-3A1DE62EC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581725" y="1818183"/>
            <a:ext cx="6404037" cy="23192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CE15ED8-D1A1-033D-E560-361FD5639F53}"/>
              </a:ext>
            </a:extLst>
          </p:cNvPr>
          <p:cNvSpPr txBox="1"/>
          <p:nvPr/>
        </p:nvSpPr>
        <p:spPr bwMode="auto">
          <a:xfrm>
            <a:off x="2489200" y="4137426"/>
            <a:ext cx="294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ru-RU" sz="1400" i="1" dirty="0"/>
              <a:t>Что? Когда? Куда перевезти?</a:t>
            </a:r>
            <a:endParaRPr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CD2F8D-58D8-44BB-1540-F1E15ECB08E4}"/>
              </a:ext>
            </a:extLst>
          </p:cNvPr>
          <p:cNvSpPr txBox="1"/>
          <p:nvPr/>
        </p:nvSpPr>
        <p:spPr bwMode="auto">
          <a:xfrm>
            <a:off x="6573520" y="4137426"/>
            <a:ext cx="421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ru-RU" sz="1400" i="1" dirty="0"/>
              <a:t>Какое ТС и водитель будут на погрузке</a:t>
            </a:r>
            <a:endParaRPr sz="1400" dirty="0"/>
          </a:p>
        </p:txBody>
      </p:sp>
      <p:cxnSp>
        <p:nvCxnSpPr>
          <p:cNvPr id="15" name="Соединитель: изогнутый 14">
            <a:extLst>
              <a:ext uri="{FF2B5EF4-FFF2-40B4-BE49-F238E27FC236}">
                <a16:creationId xmlns:a16="http://schemas.microsoft.com/office/drawing/2014/main" id="{754C3A15-E8BA-6A7C-C441-1981BDBF3A1E}"/>
              </a:ext>
            </a:extLst>
          </p:cNvPr>
          <p:cNvCxnSpPr>
            <a:cxnSpLocks/>
            <a:endCxn id="13" idx="1"/>
          </p:cNvCxnSpPr>
          <p:nvPr/>
        </p:nvCxnSpPr>
        <p:spPr>
          <a:xfrm rot="5400000">
            <a:off x="2404424" y="3830619"/>
            <a:ext cx="545472" cy="375920"/>
          </a:xfrm>
          <a:prstGeom prst="curvedConnector4">
            <a:avLst>
              <a:gd name="adj1" fmla="val 35894"/>
              <a:gd name="adj2" fmla="val 16081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0AF91D7C-3060-DC0D-14F8-F4066C9CC9DB}"/>
              </a:ext>
            </a:extLst>
          </p:cNvPr>
          <p:cNvCxnSpPr>
            <a:cxnSpLocks/>
          </p:cNvCxnSpPr>
          <p:nvPr/>
        </p:nvCxnSpPr>
        <p:spPr>
          <a:xfrm>
            <a:off x="8681720" y="3799840"/>
            <a:ext cx="553720" cy="322682"/>
          </a:xfrm>
          <a:prstGeom prst="curvedConnector3">
            <a:avLst>
              <a:gd name="adj1" fmla="val 11055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3181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0A03DB5C-84E1-1F3C-36F9-E7CA3642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>
            <a:normAutofit fontScale="90000"/>
          </a:bodyPr>
          <a:lstStyle/>
          <a:p>
            <a:r>
              <a:rPr lang="ru-RU" dirty="0"/>
              <a:t>Схема документооборота </a:t>
            </a:r>
            <a:r>
              <a:rPr lang="ru-RU" dirty="0" err="1"/>
              <a:t>ЭТрН</a:t>
            </a:r>
            <a:br>
              <a:rPr lang="ru-RU" dirty="0"/>
            </a:b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BEC8648-5636-4849-A696-24D6E17412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9"/>
          <a:stretch/>
        </p:blipFill>
        <p:spPr>
          <a:xfrm>
            <a:off x="2516118" y="1047507"/>
            <a:ext cx="6738547" cy="449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0864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7822CB7B-2983-8F86-DC22-01CD86EF2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>
            <a:normAutofit fontScale="90000"/>
          </a:bodyPr>
          <a:lstStyle/>
          <a:p>
            <a:r>
              <a:rPr lang="ru-RU" dirty="0"/>
              <a:t>Схема документооборота ЭПЛ</a:t>
            </a:r>
            <a:br>
              <a:rPr lang="ru-RU" dirty="0"/>
            </a:b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F3B681C-CA13-A39B-9D94-7524F55CA4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3" t="1967" r="3005" b="2504"/>
          <a:stretch/>
        </p:blipFill>
        <p:spPr bwMode="auto">
          <a:xfrm>
            <a:off x="1759258" y="1205986"/>
            <a:ext cx="8673484" cy="406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268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2F3D7-6904-9935-29F2-A3C64559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1A1A1A"/>
                </a:solidFill>
              </a:rPr>
              <a:t>Электронные перевозочные документы в 1С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234595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4F423D-1AED-71E6-D5D9-C832E1E87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Конфигурация УТ и БП</a:t>
            </a:r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5C59876A-0C2F-C31E-BD5C-4E49C71A09A9}"/>
              </a:ext>
            </a:extLst>
          </p:cNvPr>
          <p:cNvSpPr txBox="1">
            <a:spLocks/>
          </p:cNvSpPr>
          <p:nvPr/>
        </p:nvSpPr>
        <p:spPr bwMode="auto">
          <a:xfrm>
            <a:off x="884902" y="1550044"/>
            <a:ext cx="3962130" cy="138875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ru-RU"/>
              <a:t>В конфигурации 1С:УТ или 1С:БП необходимо перейти </a:t>
            </a:r>
            <a:r>
              <a:rPr lang="ru-RU" b="1"/>
              <a:t>«Продажи» – «Электронные перевозочные документы».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D43975-9898-EF53-315A-1650D149B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269872" y="1426598"/>
            <a:ext cx="3575625" cy="3925815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7143149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DF1EFE-F675-78B0-9A21-9714F6112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Раздел «ЭПД»</a:t>
            </a:r>
          </a:p>
        </p:txBody>
      </p:sp>
      <p:pic>
        <p:nvPicPr>
          <p:cNvPr id="3" name="Рисунок 5">
            <a:extLst>
              <a:ext uri="{FF2B5EF4-FFF2-40B4-BE49-F238E27FC236}">
                <a16:creationId xmlns:a16="http://schemas.microsoft.com/office/drawing/2014/main" id="{D05385B3-BE19-FDAF-12E4-B57272FCC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61610" y="1745035"/>
            <a:ext cx="10039279" cy="308414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733207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2F3D7-6904-9935-29F2-A3C64559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1A1A1A"/>
                </a:solidFill>
              </a:rPr>
              <a:t>Дополнительные </a:t>
            </a:r>
            <a:br>
              <a:rPr lang="ru-RU" sz="4000" dirty="0">
                <a:solidFill>
                  <a:srgbClr val="1A1A1A"/>
                </a:solidFill>
              </a:rPr>
            </a:br>
            <a:r>
              <a:rPr lang="ru-RU" sz="4000" dirty="0">
                <a:solidFill>
                  <a:srgbClr val="1A1A1A"/>
                </a:solidFill>
              </a:rPr>
              <a:t>возможности в 1С-ЭПД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585871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EAAF13-3BB5-6F57-7397-E7865DC3B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Перенос 1С-ЭПД в другую базу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D0B5E6-39F1-A93E-7401-E582AF1316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/>
          <a:lstStyle/>
          <a:p>
            <a:pPr marL="285750" indent="-285750" algn="just">
              <a:buFont typeface="Wingdings"/>
              <a:buChar char="ü"/>
              <a:defRPr/>
            </a:pPr>
            <a:r>
              <a:rPr lang="ru-RU" dirty="0"/>
              <a:t>При переходе в другую базу 1С есть возможность перенести учетную запись 1С-ЭПД.</a:t>
            </a:r>
          </a:p>
          <a:p>
            <a:pPr algn="just">
              <a:defRPr/>
            </a:pPr>
            <a:r>
              <a:rPr lang="ru-RU" dirty="0"/>
              <a:t>Например, если Вы работаете в 1С:БП и решаете перейти в 1С:УТ, то достаточно в 1С:УТ добавить существующий идентификатор учетной записи и продолжать работу с ним. При этом, действующие настройки обмена с контрагентами остаются прежними.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77354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1E685-481D-DD57-CDE2-A147CEF1B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>
            <a:normAutofit fontScale="90000"/>
          </a:bodyPr>
          <a:lstStyle/>
          <a:p>
            <a:r>
              <a:rPr lang="ru-RU" dirty="0"/>
              <a:t>Настройка дополнительных реквизитов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9D2505-5480-9653-0A7D-DE56BE894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/>
          <a:lstStyle/>
          <a:p>
            <a:pPr>
              <a:defRPr/>
            </a:pPr>
            <a:r>
              <a:rPr lang="ru-RU" dirty="0"/>
              <a:t>Есть возможность настроить дополнительные реквизиты для всех видов документов.</a:t>
            </a:r>
          </a:p>
          <a:p>
            <a:pPr>
              <a:defRPr/>
            </a:pPr>
            <a:r>
              <a:rPr lang="ru-RU" dirty="0"/>
              <a:t>Если есть необходимость, чтобы в ЭПД отображался реквизит, который не утвержден форматом, то можно его добавить. </a:t>
            </a:r>
          </a:p>
          <a:p>
            <a:endParaRPr lang="ru-RU" dirty="0"/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BB569C07-1843-1073-4BF9-E6110AA25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883988" y="2962786"/>
            <a:ext cx="8394523" cy="2217556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09908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DB36D-9364-ADF7-6065-AC1745CAF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Групповая отправка ЭПД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5822ED-D006-294A-9551-5E3223802C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/>
          <a:lstStyle/>
          <a:p>
            <a:r>
              <a:rPr lang="ru-RU" dirty="0"/>
              <a:t>Можно отправить сразу несколько титулов:</a:t>
            </a:r>
          </a:p>
          <a:p>
            <a:endParaRPr lang="ru-RU" dirty="0"/>
          </a:p>
        </p:txBody>
      </p:sp>
      <p:pic>
        <p:nvPicPr>
          <p:cNvPr id="4" name="Рисунок 5">
            <a:extLst>
              <a:ext uri="{FF2B5EF4-FFF2-40B4-BE49-F238E27FC236}">
                <a16:creationId xmlns:a16="http://schemas.microsoft.com/office/drawing/2014/main" id="{BC73E6F2-F4AE-A31D-A583-0B295E5BE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888871" y="2137114"/>
            <a:ext cx="6384758" cy="357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0834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D3431-3228-2CE3-2D8D-05EEE4D6D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Тренажер для пользователей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622125-7150-7E86-7D97-A6163A3D4F5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818" y="1562400"/>
            <a:ext cx="1464446" cy="263671"/>
          </a:xfrm>
          <a:prstGeom prst="rect">
            <a:avLst/>
          </a:prstGeom>
        </p:spPr>
      </p:pic>
      <p:sp>
        <p:nvSpPr>
          <p:cNvPr id="4" name="Текст 2">
            <a:extLst>
              <a:ext uri="{FF2B5EF4-FFF2-40B4-BE49-F238E27FC236}">
                <a16:creationId xmlns:a16="http://schemas.microsoft.com/office/drawing/2014/main" id="{39EDD629-80A3-6723-2536-CA268DEB5F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/>
          <a:lstStyle/>
          <a:p>
            <a:r>
              <a:rPr lang="ru-RU" dirty="0"/>
              <a:t>Тренажер находится по ссылке: </a:t>
            </a:r>
            <a:r>
              <a:rPr lang="ru-RU" u="sng" dirty="0">
                <a:hlinkClick r:id="rId3" tooltip="https://astral.ru/trainer/epd/"/>
              </a:rPr>
              <a:t>https://astral.ru/trainer/epd/</a:t>
            </a:r>
            <a:r>
              <a:rPr lang="ru-RU" dirty="0"/>
              <a:t> 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E36C20-361F-7093-B135-35CD5E8E04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44" r="16479"/>
          <a:stretch/>
        </p:blipFill>
        <p:spPr bwMode="auto">
          <a:xfrm>
            <a:off x="3704986" y="2317784"/>
            <a:ext cx="4752528" cy="297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435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2F3D7-6904-9935-29F2-A3C645592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rgbClr val="1A1A1A"/>
                </a:solidFill>
              </a:rPr>
              <a:t>Мобильное приложение </a:t>
            </a:r>
            <a:br>
              <a:rPr lang="ru-RU" sz="4000" dirty="0">
                <a:solidFill>
                  <a:srgbClr val="1A1A1A"/>
                </a:solidFill>
              </a:rPr>
            </a:br>
            <a:r>
              <a:rPr lang="ru-RU" sz="4000" dirty="0">
                <a:solidFill>
                  <a:srgbClr val="1A1A1A"/>
                </a:solidFill>
              </a:rPr>
              <a:t>1С-ЭПД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8376785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21E59-214C-4771-AED6-F77940ECC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>
                <a:solidFill>
                  <a:srgbClr val="1A1A1A"/>
                </a:solidFill>
              </a:rPr>
              <a:t>Мобильное приложение 1С-ЭПД 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1190B0-7215-96C6-D4DC-F635A6E0A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/>
          <a:lstStyle/>
          <a:p>
            <a:pPr marL="285750" indent="-285750" algn="just">
              <a:buFont typeface="Wingdings"/>
              <a:buChar char="ü"/>
              <a:defRPr/>
            </a:pPr>
            <a:r>
              <a:rPr lang="ru-RU" dirty="0"/>
              <a:t>Можно использовать для </a:t>
            </a:r>
            <a:r>
              <a:rPr lang="ru-RU" dirty="0" err="1"/>
              <a:t>ЭТрН</a:t>
            </a:r>
            <a:r>
              <a:rPr lang="ru-RU" dirty="0"/>
              <a:t> и ЭПЛ.</a:t>
            </a:r>
          </a:p>
          <a:p>
            <a:pPr marL="285750" indent="-285750" algn="just">
              <a:buFont typeface="Wingdings"/>
              <a:buChar char="ü"/>
              <a:defRPr/>
            </a:pPr>
            <a:r>
              <a:rPr lang="ru-RU" dirty="0"/>
              <a:t>Для работы с приложением потребуется устройство с оперативной памятью от 2 Гб с версиями операционных систем: </a:t>
            </a:r>
            <a:r>
              <a:rPr lang="ru-RU" dirty="0" err="1"/>
              <a:t>Android</a:t>
            </a:r>
            <a:r>
              <a:rPr lang="ru-RU" dirty="0"/>
              <a:t> 11 и выше, </a:t>
            </a:r>
            <a:r>
              <a:rPr lang="ru-RU" dirty="0" err="1"/>
              <a:t>iOS</a:t>
            </a:r>
            <a:r>
              <a:rPr lang="ru-RU" dirty="0"/>
              <a:t> 6.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50212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5D5B4-618B-5F51-0BD4-24C35CA6E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Подключение</a:t>
            </a:r>
          </a:p>
        </p:txBody>
      </p:sp>
      <p:pic>
        <p:nvPicPr>
          <p:cNvPr id="3" name="Рисунок 4">
            <a:extLst>
              <a:ext uri="{FF2B5EF4-FFF2-40B4-BE49-F238E27FC236}">
                <a16:creationId xmlns:a16="http://schemas.microsoft.com/office/drawing/2014/main" id="{CD1DBB4E-5B2C-DDBA-3670-475CD3369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28282" y="1426598"/>
            <a:ext cx="9335435" cy="3066385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1428702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B6AA08-7D94-3C63-8722-2578C91D9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/>
              <a:t>Подключение</a:t>
            </a:r>
          </a:p>
        </p:txBody>
      </p:sp>
      <p:pic>
        <p:nvPicPr>
          <p:cNvPr id="3" name="Рисунок 5">
            <a:extLst>
              <a:ext uri="{FF2B5EF4-FFF2-40B4-BE49-F238E27FC236}">
                <a16:creationId xmlns:a16="http://schemas.microsoft.com/office/drawing/2014/main" id="{EE307097-8A55-34D7-6F55-0C4C9FE87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81825" y="1426598"/>
            <a:ext cx="9228350" cy="352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6662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F53E30-7278-2D1D-7233-90E71DEE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Подключение пользователя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2E5342-0976-8538-1272-11511CFF8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66699" y="1144510"/>
            <a:ext cx="7229102" cy="4856761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8521650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A8E91A-8394-951C-5A42-4D8190FE8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Подключение в приложении</a:t>
            </a:r>
          </a:p>
        </p:txBody>
      </p:sp>
      <p:pic>
        <p:nvPicPr>
          <p:cNvPr id="3" name="Рисунок 5">
            <a:extLst>
              <a:ext uri="{FF2B5EF4-FFF2-40B4-BE49-F238E27FC236}">
                <a16:creationId xmlns:a16="http://schemas.microsoft.com/office/drawing/2014/main" id="{0F54B5B1-E9CC-36F1-75C4-4EE5AF907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29326" y="1176777"/>
            <a:ext cx="8133347" cy="450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7172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405BBA-C9D4-2A2E-4131-318A21922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 err="1"/>
              <a:t>ЭТрН</a:t>
            </a:r>
            <a:r>
              <a:rPr lang="ru-RU" dirty="0"/>
              <a:t> в мобильном приложении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3DDBE3-C002-01A2-1ED2-C7D913C82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450" y="1376362"/>
            <a:ext cx="5943600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61609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3610A6-01D9-D763-59F9-6CAB6ECFB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Информация о грузе</a:t>
            </a:r>
          </a:p>
        </p:txBody>
      </p:sp>
      <p:pic>
        <p:nvPicPr>
          <p:cNvPr id="3" name="Рисунок 5">
            <a:extLst>
              <a:ext uri="{FF2B5EF4-FFF2-40B4-BE49-F238E27FC236}">
                <a16:creationId xmlns:a16="http://schemas.microsoft.com/office/drawing/2014/main" id="{4AD67F2B-41C2-8CE4-0309-91EF92582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377437" y="1197985"/>
            <a:ext cx="5407626" cy="446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045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1D1E5C7-1877-CB46-46E6-BC0BBD4B05E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577" y="3700380"/>
            <a:ext cx="2498393" cy="263671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6B2AFFD-DB10-EF39-92FE-E5C4CEFDF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en-US" dirty="0"/>
              <a:t>QR</a:t>
            </a:r>
            <a:r>
              <a:rPr lang="ru-RU" dirty="0"/>
              <a:t>-код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9C348D-D861-2EDB-5E4A-83CAA8E7696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2523" y="1562400"/>
            <a:ext cx="1830207" cy="263671"/>
          </a:xfrm>
          <a:prstGeom prst="rect">
            <a:avLst/>
          </a:prstGeom>
        </p:spPr>
      </p:pic>
      <p:sp>
        <p:nvSpPr>
          <p:cNvPr id="5" name="Текст 2">
            <a:extLst>
              <a:ext uri="{FF2B5EF4-FFF2-40B4-BE49-F238E27FC236}">
                <a16:creationId xmlns:a16="http://schemas.microsoft.com/office/drawing/2014/main" id="{96A389C2-B0B1-615A-16DA-515104575A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3" y="1562400"/>
            <a:ext cx="4696090" cy="4012831"/>
          </a:xfrm>
        </p:spPr>
        <p:txBody>
          <a:bodyPr/>
          <a:lstStyle/>
          <a:p>
            <a:pPr marL="285750" indent="-285750" algn="just">
              <a:buFont typeface="Arial"/>
              <a:buChar char="•"/>
              <a:defRPr/>
            </a:pPr>
            <a:r>
              <a:rPr lang="ru-RU" dirty="0"/>
              <a:t>Всегда динамический.</a:t>
            </a:r>
          </a:p>
          <a:p>
            <a:pPr marL="285750" indent="-285750" algn="just">
              <a:buFont typeface="Arial"/>
              <a:buChar char="•"/>
              <a:defRPr/>
            </a:pPr>
            <a:r>
              <a:rPr lang="ru-RU" dirty="0"/>
              <a:t>Расшифровать информацию из QR-кода сможет только сотрудник ГИБДД.</a:t>
            </a:r>
          </a:p>
          <a:p>
            <a:pPr marL="285750" indent="-285750" algn="just">
              <a:buFont typeface="Arial"/>
              <a:buChar char="•"/>
              <a:defRPr/>
            </a:pPr>
            <a:r>
              <a:rPr lang="ru-RU" dirty="0"/>
              <a:t>Для получения QR-кода водителю необходим выход в интернет.</a:t>
            </a:r>
          </a:p>
          <a:p>
            <a:pPr marL="285750" indent="-285750" algn="just">
              <a:buFont typeface="Arial"/>
              <a:buChar char="•"/>
              <a:defRPr/>
            </a:pPr>
            <a:r>
              <a:rPr lang="ru-RU" dirty="0"/>
              <a:t>На дороге во время проверки интернет не нужен.</a:t>
            </a:r>
          </a:p>
          <a:p>
            <a:endParaRPr lang="ru-RU" dirty="0"/>
          </a:p>
        </p:txBody>
      </p:sp>
      <p:pic>
        <p:nvPicPr>
          <p:cNvPr id="6" name="Рисунок 7">
            <a:extLst>
              <a:ext uri="{FF2B5EF4-FFF2-40B4-BE49-F238E27FC236}">
                <a16:creationId xmlns:a16="http://schemas.microsoft.com/office/drawing/2014/main" id="{B5B221F2-0CC8-8AE3-3B7D-11BBA912E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03813" y="1426598"/>
            <a:ext cx="5003284" cy="41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6629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85342F-DFE5-43C5-3F49-458E9D50F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Звонки и навигатор</a:t>
            </a:r>
          </a:p>
        </p:txBody>
      </p:sp>
      <p:pic>
        <p:nvPicPr>
          <p:cNvPr id="3" name="Рисунок 5">
            <a:extLst>
              <a:ext uri="{FF2B5EF4-FFF2-40B4-BE49-F238E27FC236}">
                <a16:creationId xmlns:a16="http://schemas.microsoft.com/office/drawing/2014/main" id="{3250745B-1C20-9874-BE7B-14E3D49D6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66960" y="1440083"/>
            <a:ext cx="7258080" cy="397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4725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939BC7-7D4C-16CE-8003-5CB5205AE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Завершение документооборота</a:t>
            </a:r>
          </a:p>
        </p:txBody>
      </p:sp>
      <p:pic>
        <p:nvPicPr>
          <p:cNvPr id="3" name="Рисунок 5">
            <a:extLst>
              <a:ext uri="{FF2B5EF4-FFF2-40B4-BE49-F238E27FC236}">
                <a16:creationId xmlns:a16="http://schemas.microsoft.com/office/drawing/2014/main" id="{A6E00772-8E69-2BF5-839E-598071451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408591" y="1269835"/>
            <a:ext cx="5374818" cy="431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1102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7212BA-3379-9358-5C74-625E4A6AA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ЭПЛ в мобильном приложении</a:t>
            </a:r>
          </a:p>
        </p:txBody>
      </p:sp>
      <p:pic>
        <p:nvPicPr>
          <p:cNvPr id="3" name="Рисунок 4">
            <a:extLst>
              <a:ext uri="{FF2B5EF4-FFF2-40B4-BE49-F238E27FC236}">
                <a16:creationId xmlns:a16="http://schemas.microsoft.com/office/drawing/2014/main" id="{BFB4BF3A-334B-E117-05C6-13F4ECEDC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287391" y="1426598"/>
            <a:ext cx="7587717" cy="46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2104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43BE33-529E-B427-C93C-470135648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Как подписывать через мобильное приложение 1С-ЭПД?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637E87-CEFB-86D3-2669-A5CBF42BC0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ru-RU" b="1" dirty="0"/>
              <a:t>Водитель может подписать простой подписью (ПЭП), </a:t>
            </a:r>
            <a:r>
              <a:rPr lang="ru-RU" dirty="0"/>
              <a:t>т.е. просто «поставить отметку» о том, как прошла погрузка или выгрузка.</a:t>
            </a:r>
          </a:p>
          <a:p>
            <a:r>
              <a:rPr lang="ru-RU" dirty="0"/>
              <a:t>Диспетчер, который работает в базе 1С на основании отметки от водителя может подписать титул своей УКЭП.</a:t>
            </a:r>
            <a:endParaRPr lang="ru-RU" b="1" dirty="0"/>
          </a:p>
          <a:p>
            <a:r>
              <a:rPr lang="ru-RU" b="1" dirty="0"/>
              <a:t>2. Водитель может подписать титул своей УКЭП сразу в приложении.</a:t>
            </a:r>
          </a:p>
          <a:p>
            <a:r>
              <a:rPr lang="ru-RU" dirty="0"/>
              <a:t>Такую подпись не надо дублировать из 1С. Титул сразу отправится контрагентам.</a:t>
            </a:r>
          </a:p>
          <a:p>
            <a:r>
              <a:rPr lang="ru-RU" dirty="0"/>
              <a:t>3. Появится </a:t>
            </a:r>
            <a:r>
              <a:rPr lang="ru-RU" b="1" dirty="0"/>
              <a:t>подписание </a:t>
            </a:r>
            <a:r>
              <a:rPr lang="ru-RU" b="1" dirty="0" err="1"/>
              <a:t>Госключом</a:t>
            </a:r>
            <a:r>
              <a:rPr lang="ru-RU" dirty="0"/>
              <a:t>, но пока не реализовано, срока нет.</a:t>
            </a:r>
          </a:p>
        </p:txBody>
      </p:sp>
    </p:spTree>
    <p:extLst>
      <p:ext uri="{BB962C8B-B14F-4D97-AF65-F5344CB8AC3E}">
        <p14:creationId xmlns:p14="http://schemas.microsoft.com/office/powerpoint/2010/main" val="21211950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sz="3600" b="1" dirty="0">
                <a:solidFill>
                  <a:srgbClr val="222222"/>
                </a:solidFill>
                <a:latin typeface="Verdana"/>
              </a:rPr>
              <a:t>Пошаговый план перехода на </a:t>
            </a:r>
            <a:r>
              <a:rPr lang="en-US" sz="3600" b="1" dirty="0">
                <a:solidFill>
                  <a:srgbClr val="222222"/>
                </a:solidFill>
                <a:latin typeface="Verdana"/>
              </a:rPr>
              <a:t>1C-</a:t>
            </a:r>
            <a:r>
              <a:rPr lang="ru-RU" sz="3600" b="1" dirty="0">
                <a:solidFill>
                  <a:srgbClr val="222222"/>
                </a:solidFill>
                <a:latin typeface="Verdana"/>
              </a:rPr>
              <a:t>ЭПД</a:t>
            </a:r>
            <a:br>
              <a:rPr lang="ru-RU" sz="3600" b="1" i="0" dirty="0">
                <a:solidFill>
                  <a:srgbClr val="222222"/>
                </a:solidFill>
                <a:latin typeface="Verdana"/>
              </a:rPr>
            </a:br>
            <a:br>
              <a:rPr lang="ru-RU" dirty="0"/>
            </a:b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7436" t="20511" r="63011" b="64157"/>
          <a:stretch/>
        </p:blipFill>
        <p:spPr bwMode="auto">
          <a:xfrm>
            <a:off x="3529534" y="-40044"/>
            <a:ext cx="4049428" cy="1143983"/>
          </a:xfrm>
          <a:prstGeom prst="rect">
            <a:avLst/>
          </a:prstGeom>
        </p:spPr>
      </p:pic>
      <p:sp>
        <p:nvSpPr>
          <p:cNvPr id="4" name="Прямоугольник: скругленные углы 3"/>
          <p:cNvSpPr/>
          <p:nvPr/>
        </p:nvSpPr>
        <p:spPr bwMode="auto">
          <a:xfrm>
            <a:off x="884902" y="1534588"/>
            <a:ext cx="10093477" cy="46160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ru-RU"/>
          </a:p>
        </p:txBody>
      </p:sp>
      <p:sp>
        <p:nvSpPr>
          <p:cNvPr id="5" name="TextBox 42"/>
          <p:cNvSpPr txBox="1"/>
          <p:nvPr/>
        </p:nvSpPr>
        <p:spPr bwMode="auto">
          <a:xfrm>
            <a:off x="1374793" y="1569657"/>
            <a:ext cx="66821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ru-RU" b="1" dirty="0"/>
              <a:t>Проанализировать свои процессы</a:t>
            </a:r>
            <a:endParaRPr dirty="0"/>
          </a:p>
        </p:txBody>
      </p:sp>
      <p:sp>
        <p:nvSpPr>
          <p:cNvPr id="6" name="Прямоугольник: скругленные углы 5"/>
          <p:cNvSpPr/>
          <p:nvPr/>
        </p:nvSpPr>
        <p:spPr bwMode="auto">
          <a:xfrm>
            <a:off x="884902" y="2176714"/>
            <a:ext cx="10093477" cy="46160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ru-RU"/>
          </a:p>
        </p:txBody>
      </p:sp>
      <p:sp>
        <p:nvSpPr>
          <p:cNvPr id="7" name="TextBox 46"/>
          <p:cNvSpPr txBox="1"/>
          <p:nvPr/>
        </p:nvSpPr>
        <p:spPr bwMode="auto">
          <a:xfrm>
            <a:off x="1375733" y="2229674"/>
            <a:ext cx="9679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ru-RU" b="1" dirty="0"/>
              <a:t>Выбрать ключевых контрагентов и согласовать переход на ЭПД</a:t>
            </a:r>
            <a:endParaRPr lang="ru-RU" b="1" dirty="0">
              <a:solidFill>
                <a:prstClr val="black"/>
              </a:solidFill>
              <a:latin typeface="Verdana"/>
              <a:cs typeface="Calibri"/>
            </a:endParaRPr>
          </a:p>
        </p:txBody>
      </p:sp>
      <p:sp>
        <p:nvSpPr>
          <p:cNvPr id="8" name="Прямоугольник: скругленные углы 7"/>
          <p:cNvSpPr/>
          <p:nvPr/>
        </p:nvSpPr>
        <p:spPr bwMode="auto">
          <a:xfrm>
            <a:off x="887727" y="2818840"/>
            <a:ext cx="10093477" cy="46160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ru-RU"/>
          </a:p>
        </p:txBody>
      </p:sp>
      <p:sp>
        <p:nvSpPr>
          <p:cNvPr id="9" name="TextBox 50"/>
          <p:cNvSpPr txBox="1"/>
          <p:nvPr/>
        </p:nvSpPr>
        <p:spPr bwMode="auto">
          <a:xfrm>
            <a:off x="1378557" y="2864974"/>
            <a:ext cx="9536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ru-RU" b="1" dirty="0"/>
              <a:t>Подготовить информационную систему к работе с 1С-ЭПД</a:t>
            </a:r>
            <a:endParaRPr dirty="0"/>
          </a:p>
        </p:txBody>
      </p:sp>
      <p:sp>
        <p:nvSpPr>
          <p:cNvPr id="10" name="Прямоугольник: скругленные углы 9"/>
          <p:cNvSpPr/>
          <p:nvPr/>
        </p:nvSpPr>
        <p:spPr bwMode="auto">
          <a:xfrm>
            <a:off x="887727" y="3460965"/>
            <a:ext cx="10093477" cy="46160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ru-RU"/>
          </a:p>
        </p:txBody>
      </p:sp>
      <p:sp>
        <p:nvSpPr>
          <p:cNvPr id="11" name="TextBox 54"/>
          <p:cNvSpPr txBox="1"/>
          <p:nvPr/>
        </p:nvSpPr>
        <p:spPr bwMode="auto">
          <a:xfrm>
            <a:off x="1378557" y="3507100"/>
            <a:ext cx="81940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ru-RU" b="1" dirty="0"/>
              <a:t>Провести подключение и первую отправку</a:t>
            </a:r>
            <a:endParaRPr dirty="0"/>
          </a:p>
        </p:txBody>
      </p:sp>
      <p:sp>
        <p:nvSpPr>
          <p:cNvPr id="12" name="Прямоугольник: скругленные углы 11"/>
          <p:cNvSpPr/>
          <p:nvPr/>
        </p:nvSpPr>
        <p:spPr bwMode="auto">
          <a:xfrm>
            <a:off x="884902" y="4103092"/>
            <a:ext cx="10093477" cy="461600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ru-RU"/>
          </a:p>
        </p:txBody>
      </p:sp>
      <p:sp>
        <p:nvSpPr>
          <p:cNvPr id="13" name="TextBox 58"/>
          <p:cNvSpPr txBox="1"/>
          <p:nvPr/>
        </p:nvSpPr>
        <p:spPr bwMode="auto">
          <a:xfrm>
            <a:off x="1373569" y="4162656"/>
            <a:ext cx="9439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b="1" dirty="0"/>
              <a:t>Обучить персонал. Разработать новые регламенты и инструкции</a:t>
            </a:r>
            <a:endParaRPr lang="ru-RU" dirty="0"/>
          </a:p>
        </p:txBody>
      </p:sp>
      <p:sp>
        <p:nvSpPr>
          <p:cNvPr id="14" name="Овал 13"/>
          <p:cNvSpPr/>
          <p:nvPr/>
        </p:nvSpPr>
        <p:spPr bwMode="auto">
          <a:xfrm>
            <a:off x="961969" y="1601854"/>
            <a:ext cx="334534" cy="328612"/>
          </a:xfrm>
          <a:prstGeom prst="ellipse">
            <a:avLst/>
          </a:prstGeom>
          <a:solidFill>
            <a:srgbClr val="FFCF66"/>
          </a:solidFill>
          <a:ln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b="1">
                <a:solidFill>
                  <a:schemeClr val="tx1"/>
                </a:solidFill>
              </a:rPr>
              <a:t>1</a:t>
            </a:r>
            <a:endParaRPr/>
          </a:p>
        </p:txBody>
      </p:sp>
      <p:sp>
        <p:nvSpPr>
          <p:cNvPr id="15" name="Овал 14"/>
          <p:cNvSpPr/>
          <p:nvPr/>
        </p:nvSpPr>
        <p:spPr bwMode="auto">
          <a:xfrm>
            <a:off x="961969" y="2243208"/>
            <a:ext cx="334534" cy="328612"/>
          </a:xfrm>
          <a:prstGeom prst="ellipse">
            <a:avLst/>
          </a:prstGeom>
          <a:solidFill>
            <a:srgbClr val="FFCF66"/>
          </a:solidFill>
          <a:ln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b="1">
                <a:solidFill>
                  <a:schemeClr val="tx1"/>
                </a:solidFill>
              </a:rPr>
              <a:t>2</a:t>
            </a:r>
            <a:endParaRPr/>
          </a:p>
        </p:txBody>
      </p:sp>
      <p:sp>
        <p:nvSpPr>
          <p:cNvPr id="16" name="Овал 15"/>
          <p:cNvSpPr/>
          <p:nvPr/>
        </p:nvSpPr>
        <p:spPr bwMode="auto">
          <a:xfrm>
            <a:off x="964794" y="2885333"/>
            <a:ext cx="334534" cy="328612"/>
          </a:xfrm>
          <a:prstGeom prst="ellipse">
            <a:avLst/>
          </a:prstGeom>
          <a:solidFill>
            <a:srgbClr val="FFCF66"/>
          </a:solidFill>
          <a:ln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b="1">
                <a:solidFill>
                  <a:schemeClr val="tx1"/>
                </a:solidFill>
              </a:rPr>
              <a:t>3</a:t>
            </a:r>
            <a:endParaRPr/>
          </a:p>
        </p:txBody>
      </p:sp>
      <p:sp>
        <p:nvSpPr>
          <p:cNvPr id="17" name="Овал 16"/>
          <p:cNvSpPr/>
          <p:nvPr/>
        </p:nvSpPr>
        <p:spPr bwMode="auto">
          <a:xfrm>
            <a:off x="964794" y="3527460"/>
            <a:ext cx="334534" cy="328612"/>
          </a:xfrm>
          <a:prstGeom prst="ellipse">
            <a:avLst/>
          </a:prstGeom>
          <a:solidFill>
            <a:srgbClr val="FFCF66"/>
          </a:solidFill>
          <a:ln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b="1">
                <a:solidFill>
                  <a:schemeClr val="tx1"/>
                </a:solidFill>
              </a:rPr>
              <a:t>4</a:t>
            </a:r>
            <a:endParaRPr/>
          </a:p>
        </p:txBody>
      </p:sp>
      <p:sp>
        <p:nvSpPr>
          <p:cNvPr id="18" name="Овал 17"/>
          <p:cNvSpPr/>
          <p:nvPr/>
        </p:nvSpPr>
        <p:spPr bwMode="auto">
          <a:xfrm>
            <a:off x="961969" y="4169586"/>
            <a:ext cx="334534" cy="328612"/>
          </a:xfrm>
          <a:prstGeom prst="ellipse">
            <a:avLst/>
          </a:prstGeom>
          <a:solidFill>
            <a:srgbClr val="FFCF66"/>
          </a:solidFill>
          <a:ln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ru-RU" b="1">
                <a:solidFill>
                  <a:schemeClr val="tx1"/>
                </a:solidFill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D8C118-0220-8D4C-152C-DAD2A964D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014" y="781125"/>
            <a:ext cx="4497643" cy="985273"/>
          </a:xfrm>
        </p:spPr>
        <p:txBody>
          <a:bodyPr>
            <a:normAutofit/>
          </a:bodyPr>
          <a:lstStyle/>
          <a:p>
            <a:r>
              <a:rPr lang="ru-RU" dirty="0"/>
              <a:t>Тарифы 1С-ЭПД</a:t>
            </a:r>
          </a:p>
        </p:txBody>
      </p:sp>
      <p:pic>
        <p:nvPicPr>
          <p:cNvPr id="4" name="Рисунок 5">
            <a:extLst>
              <a:ext uri="{FF2B5EF4-FFF2-40B4-BE49-F238E27FC236}">
                <a16:creationId xmlns:a16="http://schemas.microsoft.com/office/drawing/2014/main" id="{86F822CF-EAC7-6027-E61F-3553AF139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03506" y="781125"/>
            <a:ext cx="4152900" cy="1266825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7DB28E8-75AE-4DB1-8A5F-B0D0E1DF356B}"/>
              </a:ext>
            </a:extLst>
          </p:cNvPr>
          <p:cNvSpPr/>
          <p:nvPr/>
        </p:nvSpPr>
        <p:spPr bwMode="auto">
          <a:xfrm>
            <a:off x="5058700" y="2456475"/>
            <a:ext cx="6096000" cy="3135662"/>
          </a:xfrm>
          <a:prstGeom prst="roundRect">
            <a:avLst>
              <a:gd name="adj" fmla="val 8084"/>
            </a:avLst>
          </a:prstGeom>
          <a:noFill/>
          <a:ln w="19050">
            <a:solidFill>
              <a:srgbClr val="FFC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20000"/>
              </a:lnSpc>
              <a:buFont typeface="Arial"/>
              <a:buChar char="•"/>
              <a:defRPr/>
            </a:pPr>
            <a:r>
              <a:rPr lang="ru-RU" sz="1600" b="1" dirty="0">
                <a:solidFill>
                  <a:schemeClr val="tx1"/>
                </a:solidFill>
              </a:rPr>
              <a:t>Титулы в ЭЗЗ бесплатны </a:t>
            </a:r>
            <a:r>
              <a:rPr lang="ru-RU" sz="1600" dirty="0">
                <a:solidFill>
                  <a:schemeClr val="tx1"/>
                </a:solidFill>
              </a:rPr>
              <a:t>для грузоотправителя и перевозчика.</a:t>
            </a:r>
            <a:endParaRPr dirty="0"/>
          </a:p>
          <a:p>
            <a:pPr marL="285750" indent="-285750" algn="just">
              <a:lnSpc>
                <a:spcPct val="120000"/>
              </a:lnSpc>
              <a:buFont typeface="Arial"/>
              <a:buChar char="•"/>
              <a:defRPr/>
            </a:pPr>
            <a:r>
              <a:rPr lang="ru-RU" sz="1600" b="1" dirty="0">
                <a:solidFill>
                  <a:schemeClr val="tx1"/>
                </a:solidFill>
              </a:rPr>
              <a:t>В </a:t>
            </a:r>
            <a:r>
              <a:rPr lang="ru-RU" sz="1600" b="1" dirty="0" err="1">
                <a:solidFill>
                  <a:schemeClr val="tx1"/>
                </a:solidFill>
              </a:rPr>
              <a:t>ЭТрН</a:t>
            </a:r>
            <a:r>
              <a:rPr lang="ru-RU" sz="1600" b="1" dirty="0">
                <a:solidFill>
                  <a:schemeClr val="tx1"/>
                </a:solidFill>
              </a:rPr>
              <a:t> оплачивается один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b="1" dirty="0">
                <a:solidFill>
                  <a:schemeClr val="tx1"/>
                </a:solidFill>
              </a:rPr>
              <a:t>титул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b="1" dirty="0">
                <a:solidFill>
                  <a:schemeClr val="tx1"/>
                </a:solidFill>
              </a:rPr>
              <a:t>грузоотправителем (Т1)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b="1" dirty="0">
                <a:solidFill>
                  <a:schemeClr val="tx1"/>
                </a:solidFill>
              </a:rPr>
              <a:t>и</a:t>
            </a:r>
            <a:r>
              <a:rPr lang="ru-RU" sz="1600" dirty="0">
                <a:solidFill>
                  <a:schemeClr val="tx1"/>
                </a:solidFill>
              </a:rPr>
              <a:t> один титул </a:t>
            </a:r>
            <a:r>
              <a:rPr lang="ru-RU" sz="1600" b="1" dirty="0">
                <a:solidFill>
                  <a:schemeClr val="tx1"/>
                </a:solidFill>
              </a:rPr>
              <a:t>грузоперевозчиком (Т2)</a:t>
            </a:r>
            <a:r>
              <a:rPr lang="ru-RU" sz="1600" dirty="0">
                <a:solidFill>
                  <a:schemeClr val="tx1"/>
                </a:solidFill>
              </a:rPr>
              <a:t>, остальные титулы  бесплатны.</a:t>
            </a:r>
            <a:endParaRPr dirty="0"/>
          </a:p>
          <a:p>
            <a:pPr marL="285750" indent="-285750" algn="just">
              <a:lnSpc>
                <a:spcPct val="120000"/>
              </a:lnSpc>
              <a:buFont typeface="Arial"/>
              <a:buChar char="•"/>
              <a:defRPr/>
            </a:pPr>
            <a:r>
              <a:rPr lang="ru-RU" sz="1600" b="1" dirty="0">
                <a:solidFill>
                  <a:schemeClr val="tx1"/>
                </a:solidFill>
              </a:rPr>
              <a:t>Грузополучатель не платит</a:t>
            </a:r>
            <a:r>
              <a:rPr lang="ru-RU" sz="1600" dirty="0">
                <a:solidFill>
                  <a:schemeClr val="tx1"/>
                </a:solidFill>
              </a:rPr>
              <a:t> за свой Т3 в </a:t>
            </a:r>
            <a:r>
              <a:rPr lang="ru-RU" sz="1600" dirty="0" err="1">
                <a:solidFill>
                  <a:schemeClr val="tx1"/>
                </a:solidFill>
              </a:rPr>
              <a:t>ЭТрН</a:t>
            </a:r>
            <a:r>
              <a:rPr lang="ru-RU" sz="1600" dirty="0">
                <a:solidFill>
                  <a:schemeClr val="tx1"/>
                </a:solidFill>
              </a:rPr>
              <a:t>.</a:t>
            </a:r>
            <a:endParaRPr dirty="0"/>
          </a:p>
          <a:p>
            <a:pPr marL="285750" indent="-285750" algn="just">
              <a:lnSpc>
                <a:spcPct val="120000"/>
              </a:lnSpc>
              <a:buFont typeface="Arial"/>
              <a:buChar char="•"/>
              <a:defRPr/>
            </a:pPr>
            <a:r>
              <a:rPr lang="ru-RU" sz="1600" b="1" dirty="0">
                <a:solidFill>
                  <a:schemeClr val="tx1"/>
                </a:solidFill>
              </a:rPr>
              <a:t>В ЭПЛ </a:t>
            </a:r>
            <a:r>
              <a:rPr lang="ru-RU" sz="1600" dirty="0">
                <a:solidFill>
                  <a:schemeClr val="tx1"/>
                </a:solidFill>
              </a:rPr>
              <a:t>оплачивается только один титул (Т4).</a:t>
            </a:r>
            <a:endParaRPr dirty="0"/>
          </a:p>
          <a:p>
            <a:pPr algn="just">
              <a:lnSpc>
                <a:spcPct val="120000"/>
              </a:lnSpc>
              <a:defRPr/>
            </a:pPr>
            <a:r>
              <a:rPr lang="ru-RU" sz="1600" dirty="0">
                <a:solidFill>
                  <a:schemeClr val="tx1"/>
                </a:solidFill>
              </a:rPr>
              <a:t>Актуально до 31.12.2026 г.</a:t>
            </a: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6DBD68D-277F-0547-A88C-B7FF95D07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06" y="2047950"/>
            <a:ext cx="3279060" cy="35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5961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2F3D7-6904-9935-29F2-A3C645592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665" y="1004934"/>
            <a:ext cx="10579509" cy="3922712"/>
          </a:xfrm>
        </p:spPr>
        <p:txBody>
          <a:bodyPr/>
          <a:lstStyle/>
          <a:p>
            <a:r>
              <a:rPr lang="ru-RU" dirty="0"/>
              <a:t>Доки</a:t>
            </a:r>
          </a:p>
        </p:txBody>
      </p:sp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B7FAF559-675D-A70D-9ABC-50F0267F7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38" y="5262562"/>
            <a:ext cx="971083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4FDA18-C7E9-4CD6-85FF-6C2F21BDDD99}"/>
              </a:ext>
            </a:extLst>
          </p:cNvPr>
          <p:cNvSpPr txBox="1"/>
          <p:nvPr/>
        </p:nvSpPr>
        <p:spPr>
          <a:xfrm>
            <a:off x="801864" y="3571610"/>
            <a:ext cx="80293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для тех, кто не ведёт учёт в 1С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для тех, кому нужна веб-версия приложения и мобильное подписание</a:t>
            </a:r>
          </a:p>
        </p:txBody>
      </p:sp>
    </p:spTree>
    <p:extLst>
      <p:ext uri="{BB962C8B-B14F-4D97-AF65-F5344CB8AC3E}">
        <p14:creationId xmlns:p14="http://schemas.microsoft.com/office/powerpoint/2010/main" val="1618814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252534-6A5D-FA7D-5284-72AAF40E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1425575"/>
          </a:xfrm>
        </p:spPr>
        <p:txBody>
          <a:bodyPr>
            <a:normAutofit/>
          </a:bodyPr>
          <a:lstStyle/>
          <a:p>
            <a:r>
              <a:rPr lang="ru-RU" sz="2800" dirty="0"/>
              <a:t>Доки – сервис обмена электронного документооборота с контрагентами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E6E0BF-CBD5-B957-0A18-C890F3AF7D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731"/>
          <a:stretch/>
        </p:blipFill>
        <p:spPr>
          <a:xfrm>
            <a:off x="715647" y="2073378"/>
            <a:ext cx="10760706" cy="359000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C2B480-E175-8DE1-F926-805A5F311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162" y="1366891"/>
            <a:ext cx="5343936" cy="70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9287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8327C0-CC89-B3EA-8016-1EE06DDE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1" y="441325"/>
            <a:ext cx="10630823" cy="985273"/>
          </a:xfrm>
        </p:spPr>
        <p:txBody>
          <a:bodyPr>
            <a:normAutofit/>
          </a:bodyPr>
          <a:lstStyle/>
          <a:p>
            <a:r>
              <a:rPr lang="ru-RU" dirty="0"/>
              <a:t>ЭПД доступны прямо в сервисе Доки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8985DB2-ABE4-9FA7-7C11-2EF544791F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45"/>
          <a:stretch/>
        </p:blipFill>
        <p:spPr>
          <a:xfrm>
            <a:off x="8139393" y="1562400"/>
            <a:ext cx="4052607" cy="4001314"/>
          </a:xfrm>
          <a:prstGeom prst="rect">
            <a:avLst/>
          </a:prstGeom>
        </p:spPr>
      </p:pic>
      <p:sp>
        <p:nvSpPr>
          <p:cNvPr id="4" name="Текст 2">
            <a:extLst>
              <a:ext uri="{FF2B5EF4-FFF2-40B4-BE49-F238E27FC236}">
                <a16:creationId xmlns:a16="http://schemas.microsoft.com/office/drawing/2014/main" id="{E1734DE7-6737-FE83-44DE-FDB3E17D9C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7411" y="2923868"/>
            <a:ext cx="6868448" cy="30384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Генерация, отправка и получение </a:t>
            </a:r>
            <a:r>
              <a:rPr lang="ru-RU" dirty="0" err="1"/>
              <a:t>ЭТрН</a:t>
            </a:r>
            <a:r>
              <a:rPr lang="ru-RU" dirty="0"/>
              <a:t> Т1-Т4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/>
              <a:t>Генерация, отправка и получение ЭЗЗ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Мобильное подписание водителем (заполнение ответного титула </a:t>
            </a:r>
            <a:r>
              <a:rPr lang="ru-RU" dirty="0" err="1"/>
              <a:t>ЭТрН</a:t>
            </a:r>
            <a:r>
              <a:rPr lang="ru-RU" dirty="0"/>
              <a:t> с телефона) с использованием УКЭП и </a:t>
            </a:r>
            <a:r>
              <a:rPr lang="ru-RU" dirty="0" err="1"/>
              <a:t>Госключ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33FB952-078E-E769-D886-FAA1189DA994}"/>
              </a:ext>
            </a:extLst>
          </p:cNvPr>
          <p:cNvSpPr/>
          <p:nvPr/>
        </p:nvSpPr>
        <p:spPr>
          <a:xfrm>
            <a:off x="-1264024" y="1562400"/>
            <a:ext cx="8919883" cy="985273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                С Доки все документы в одном месте, 	      без переключения между сервисами</a:t>
            </a:r>
          </a:p>
        </p:txBody>
      </p:sp>
    </p:spTree>
    <p:extLst>
      <p:ext uri="{BB962C8B-B14F-4D97-AF65-F5344CB8AC3E}">
        <p14:creationId xmlns:p14="http://schemas.microsoft.com/office/powerpoint/2010/main" val="25135108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AE3542-60C3-4CBB-B482-0588A0769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Работа с ЭПД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CAE25B-681A-C32F-0033-8FBB32AC83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0758" b="10758"/>
          <a:stretch/>
        </p:blipFill>
        <p:spPr>
          <a:xfrm>
            <a:off x="652462" y="1096757"/>
            <a:ext cx="10887075" cy="3838575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368CD70-6863-9F86-CD64-E2F022229AF1}"/>
              </a:ext>
            </a:extLst>
          </p:cNvPr>
          <p:cNvSpPr/>
          <p:nvPr/>
        </p:nvSpPr>
        <p:spPr>
          <a:xfrm>
            <a:off x="1071716" y="2104103"/>
            <a:ext cx="4031226" cy="403123"/>
          </a:xfrm>
          <a:prstGeom prst="rect">
            <a:avLst/>
          </a:prstGeom>
          <a:solidFill>
            <a:srgbClr val="E5E2FF"/>
          </a:solidFill>
          <a:ln>
            <a:solidFill>
              <a:srgbClr val="E5E2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1660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20652A-009E-31EF-E308-8FC6573AD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Веб-кабинет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7C5B86-E579-97D4-B3CB-826F092906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Для тех, кто не работает в 1С (логисты, юристы, менеджеры по продажам и </a:t>
            </a:r>
            <a:r>
              <a:rPr lang="ru-RU" dirty="0" err="1"/>
              <a:t>тп</a:t>
            </a:r>
            <a:r>
              <a:rPr lang="ru-RU" dirty="0"/>
              <a:t>)</a:t>
            </a:r>
          </a:p>
          <a:p>
            <a:r>
              <a:rPr lang="ru-RU" dirty="0"/>
              <a:t>Для тех, у кого вообще нет 1С, или кто часто находится вне офиса.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E883C0-0B71-8A71-33C5-B54C932A6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87" y="2367758"/>
            <a:ext cx="1082992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7525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43BE33-529E-B427-C93C-470135648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Как подписывать через мобильное приложение Доки?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637E87-CEFB-86D3-2669-A5CBF42BC0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ru-RU" b="1" dirty="0"/>
              <a:t>Водитель может подписать простой подписью (ПЭП), </a:t>
            </a:r>
            <a:r>
              <a:rPr lang="ru-RU" dirty="0"/>
              <a:t>т.е. просто «поставить отметку» о том, как прошла погрузка или выгрузка.</a:t>
            </a:r>
          </a:p>
          <a:p>
            <a:r>
              <a:rPr lang="ru-RU" b="1" dirty="0"/>
              <a:t>2. Водитель может подписать титул своей УКЭП сразу в приложении.</a:t>
            </a:r>
          </a:p>
          <a:p>
            <a:r>
              <a:rPr lang="ru-RU" dirty="0"/>
              <a:t>3. Водитель может подписать </a:t>
            </a:r>
            <a:r>
              <a:rPr lang="ru-RU" b="1" dirty="0" err="1"/>
              <a:t>Госключом</a:t>
            </a:r>
            <a:r>
              <a:rPr lang="ru-RU" dirty="0"/>
              <a:t>, но пока не реализовано, ожидаем не раньше середины августа.</a:t>
            </a:r>
          </a:p>
          <a:p>
            <a:r>
              <a:rPr lang="ru-RU" dirty="0"/>
              <a:t>4. Руководитель ЮЛ или ИП может выпустить подпись в мобильном приложении Моя Подпись ФНС</a:t>
            </a:r>
          </a:p>
        </p:txBody>
      </p:sp>
    </p:spTree>
    <p:extLst>
      <p:ext uri="{BB962C8B-B14F-4D97-AF65-F5344CB8AC3E}">
        <p14:creationId xmlns:p14="http://schemas.microsoft.com/office/powerpoint/2010/main" val="30676510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28F6F-6E48-3CF8-F65B-1AC5DA591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Тарифы Доки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0983B7-EDF9-0AED-71F9-D64AA2E5A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2" y="1111045"/>
            <a:ext cx="103060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3748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F3686-5048-DB68-719B-4F0925483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Тренажер Доки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4DF22C-9145-3E22-1FDA-3D72411274B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5218" y="1426598"/>
            <a:ext cx="1464446" cy="263671"/>
          </a:xfrm>
          <a:prstGeom prst="rect">
            <a:avLst/>
          </a:prstGeom>
        </p:spPr>
      </p:pic>
      <p:sp>
        <p:nvSpPr>
          <p:cNvPr id="5" name="Текст 2">
            <a:extLst>
              <a:ext uri="{FF2B5EF4-FFF2-40B4-BE49-F238E27FC236}">
                <a16:creationId xmlns:a16="http://schemas.microsoft.com/office/drawing/2014/main" id="{710B1F8F-3512-3E01-9255-023A439C7045}"/>
              </a:ext>
            </a:extLst>
          </p:cNvPr>
          <p:cNvSpPr txBox="1">
            <a:spLocks/>
          </p:cNvSpPr>
          <p:nvPr/>
        </p:nvSpPr>
        <p:spPr>
          <a:xfrm>
            <a:off x="1037302" y="1426598"/>
            <a:ext cx="10392697" cy="401283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Тренажер находится по ссылке: </a:t>
            </a:r>
            <a:r>
              <a:rPr lang="en-US" dirty="0">
                <a:hlinkClick r:id="rId3"/>
              </a:rPr>
              <a:t>https://astral.ru/trainer/astraldocs/epd.html</a:t>
            </a:r>
            <a:r>
              <a:rPr lang="ru-RU" dirty="0"/>
              <a:t> 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46F74F-F51D-989B-5BFF-A9C631AAB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191" y="1928630"/>
            <a:ext cx="5495618" cy="3779764"/>
          </a:xfrm>
          <a:prstGeom prst="rect">
            <a:avLst/>
          </a:prstGeom>
          <a:ln>
            <a:solidFill>
              <a:srgbClr val="8C76FF"/>
            </a:solidFill>
          </a:ln>
        </p:spPr>
      </p:pic>
    </p:spTree>
    <p:extLst>
      <p:ext uri="{BB962C8B-B14F-4D97-AF65-F5344CB8AC3E}">
        <p14:creationId xmlns:p14="http://schemas.microsoft.com/office/powerpoint/2010/main" val="30226120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0625CB-C659-34C0-672F-74160E869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Какое решение предложить клиенту?</a:t>
            </a:r>
          </a:p>
        </p:txBody>
      </p:sp>
    </p:spTree>
    <p:extLst>
      <p:ext uri="{BB962C8B-B14F-4D97-AF65-F5344CB8AC3E}">
        <p14:creationId xmlns:p14="http://schemas.microsoft.com/office/powerpoint/2010/main" val="38047583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9D920-752D-9F4F-B307-E6181905A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1С-ЭПД: Типовое решение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3804A2-ED2D-05C2-6C24-32EC1C57DC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Преимущества: 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ru-R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Встроено в типовые конфигурации 1С, не нужна установка доп. расширений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ru-R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Основной функционал уже готов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Есть мобильное подписание с использованием УКЭП для водителя в </a:t>
            </a:r>
            <a:r>
              <a:rPr lang="ru-RU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ЭТрН</a:t>
            </a:r>
            <a:endParaRPr lang="ru-RU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Недостатки:</a:t>
            </a: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ru-RU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На текущий момент приложение 1С-ЭПД работает только «в паре» с 1С.</a:t>
            </a:r>
          </a:p>
          <a:p>
            <a:pPr lvl="0">
              <a:lnSpc>
                <a:spcPct val="115000"/>
              </a:lnSpc>
            </a:pPr>
            <a:r>
              <a:rPr lang="ru-RU" i="1" kern="100" dirty="0">
                <a:ea typeface="Aptos" panose="020B0004020202020204" pitchFamily="34" charset="0"/>
                <a:cs typeface="Times New Roman" panose="02020603050405020304" pitchFamily="18" charset="0"/>
              </a:rPr>
              <a:t>*</a:t>
            </a:r>
            <a:r>
              <a:rPr lang="ru-RU" sz="18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Автономное мобильное приложение (самостоятельное) будет готово в течение августа, сроков нет.</a:t>
            </a:r>
            <a:b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ru-RU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48533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B5AAFF-6EC0-21B3-78FB-9333DF8F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Кому подойдет 1С-ЭПД: Типовое решение?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28179F0-2E52-8031-FADE-0E835468DB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1. Клиенты, которые пользуются 1С-ЭДО.</a:t>
            </a:r>
          </a:p>
          <a:p>
            <a:r>
              <a:rPr lang="ru-RU" dirty="0"/>
              <a:t>2. Клиенты, которые ведут учет в типовой 1С и регулярно обновляются.</a:t>
            </a:r>
          </a:p>
          <a:p>
            <a:r>
              <a:rPr lang="ru-RU" dirty="0"/>
              <a:t>3. Клиенты, у которых есть компьютер и база 1С.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38408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AABB1BD-3016-5AA8-F38B-65E7DE141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277395"/>
              </p:ext>
            </p:extLst>
          </p:nvPr>
        </p:nvGraphicFramePr>
        <p:xfrm>
          <a:off x="2694038" y="1045137"/>
          <a:ext cx="6009966" cy="44736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0332">
                  <a:extLst>
                    <a:ext uri="{9D8B030D-6E8A-4147-A177-3AD203B41FA5}">
                      <a16:colId xmlns:a16="http://schemas.microsoft.com/office/drawing/2014/main" val="1594021137"/>
                    </a:ext>
                  </a:extLst>
                </a:gridCol>
                <a:gridCol w="1657426">
                  <a:extLst>
                    <a:ext uri="{9D8B030D-6E8A-4147-A177-3AD203B41FA5}">
                      <a16:colId xmlns:a16="http://schemas.microsoft.com/office/drawing/2014/main" val="3281231878"/>
                    </a:ext>
                  </a:extLst>
                </a:gridCol>
                <a:gridCol w="1321104">
                  <a:extLst>
                    <a:ext uri="{9D8B030D-6E8A-4147-A177-3AD203B41FA5}">
                      <a16:colId xmlns:a16="http://schemas.microsoft.com/office/drawing/2014/main" val="2859038125"/>
                    </a:ext>
                  </a:extLst>
                </a:gridCol>
                <a:gridCol w="1321104">
                  <a:extLst>
                    <a:ext uri="{9D8B030D-6E8A-4147-A177-3AD203B41FA5}">
                      <a16:colId xmlns:a16="http://schemas.microsoft.com/office/drawing/2014/main" val="1543848012"/>
                    </a:ext>
                  </a:extLst>
                </a:gridCol>
              </a:tblGrid>
              <a:tr h="3261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</a:rPr>
                        <a:t>Роль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Документ</a:t>
                      </a:r>
                      <a:endParaRPr lang="ru-RU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1С</a:t>
                      </a:r>
                      <a:endParaRPr lang="ru-RU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МП</a:t>
                      </a: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1206980864"/>
                  </a:ext>
                </a:extLst>
              </a:tr>
              <a:tr h="326132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</a:rPr>
                        <a:t>Грузоотправитель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</a:rPr>
                        <a:t> 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ЭЗЗ (Т1)</a:t>
                      </a:r>
                      <a:endParaRPr lang="ru-RU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</a:rPr>
                        <a:t>+</a:t>
                      </a:r>
                      <a:endParaRPr lang="ru-RU" sz="11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512087236"/>
                  </a:ext>
                </a:extLst>
              </a:tr>
              <a:tr h="32613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 err="1">
                          <a:effectLst/>
                        </a:rPr>
                        <a:t>ЭТрН</a:t>
                      </a:r>
                      <a:r>
                        <a:rPr lang="ru-RU" sz="1100" kern="100" dirty="0">
                          <a:effectLst/>
                        </a:rPr>
                        <a:t> (Т1)</a:t>
                      </a:r>
                      <a:endParaRPr lang="ru-RU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</a:rPr>
                        <a:t>+</a:t>
                      </a:r>
                      <a:endParaRPr lang="ru-RU" sz="11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3437983205"/>
                  </a:ext>
                </a:extLst>
              </a:tr>
              <a:tr h="32613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ПЭ (Т1)</a:t>
                      </a:r>
                      <a:endParaRPr lang="ru-RU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Конец августа</a:t>
                      </a: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3891027135"/>
                  </a:ext>
                </a:extLst>
              </a:tr>
              <a:tr h="32613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ЭТрН (Т6)</a:t>
                      </a:r>
                      <a:endParaRPr lang="ru-R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280640165"/>
                  </a:ext>
                </a:extLst>
              </a:tr>
              <a:tr h="326132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</a:rPr>
                        <a:t>Перевозчик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ЭЗЗ (Т2)</a:t>
                      </a:r>
                      <a:endParaRPr lang="ru-R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857396937"/>
                  </a:ext>
                </a:extLst>
              </a:tr>
              <a:tr h="32613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ЭТрН (Т2, Т4)</a:t>
                      </a:r>
                      <a:endParaRPr lang="ru-R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  <a:latin typeface="+mn-lt"/>
                        </a:rPr>
                        <a:t>+</a:t>
                      </a:r>
                      <a:endParaRPr lang="ru-RU" sz="11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+ (подписание ПЭП и УКЭП)</a:t>
                      </a: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3797929176"/>
                  </a:ext>
                </a:extLst>
              </a:tr>
              <a:tr h="32613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ЭТрН (Т7, Т8)</a:t>
                      </a:r>
                      <a:endParaRPr lang="ru-R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1029816150"/>
                  </a:ext>
                </a:extLst>
              </a:tr>
              <a:tr h="32613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ЭТрН (Т5)</a:t>
                      </a:r>
                      <a:endParaRPr lang="ru-R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981668468"/>
                  </a:ext>
                </a:extLst>
              </a:tr>
              <a:tr h="6327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</a:rPr>
                        <a:t>Грузополучатель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ЭТрН (Т3)</a:t>
                      </a:r>
                      <a:endParaRPr lang="ru-R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</a:rPr>
                        <a:t>+</a:t>
                      </a:r>
                      <a:endParaRPr lang="ru-RU" sz="11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2795397680"/>
                  </a:ext>
                </a:extLst>
              </a:tr>
              <a:tr h="326132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</a:rPr>
                        <a:t>Экспедитор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ПЭ (Т2)</a:t>
                      </a:r>
                      <a:endParaRPr lang="ru-R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Конец августа</a:t>
                      </a: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618247357"/>
                  </a:ext>
                </a:extLst>
              </a:tr>
              <a:tr h="32613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ЭР (Т1)</a:t>
                      </a:r>
                      <a:endParaRPr lang="ru-R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Конец августа</a:t>
                      </a: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1944647735"/>
                  </a:ext>
                </a:extLst>
              </a:tr>
              <a:tr h="21324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СР (Т1)</a:t>
                      </a:r>
                      <a:endParaRPr lang="ru-RU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Конец августа</a:t>
                      </a: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2365159558"/>
                  </a:ext>
                </a:extLst>
              </a:tr>
            </a:tbl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5F9E0F3A-9DF7-F18E-7438-A132AFC0A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Развитие функционала 1С-ЭПД</a:t>
            </a:r>
          </a:p>
        </p:txBody>
      </p:sp>
    </p:spTree>
    <p:extLst>
      <p:ext uri="{BB962C8B-B14F-4D97-AF65-F5344CB8AC3E}">
        <p14:creationId xmlns:p14="http://schemas.microsoft.com/office/powerpoint/2010/main" val="35190542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06372-5E84-3232-E8B0-20BD1E43E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1С: Клиент ЭДО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925B27-08BA-004A-7E40-889E51AF75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Если клиент не работает в 1С, но хочет типовое решение, то можно установить ему бесплатную конфигурацию 1С:Клиент ЭДО: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Клиент ЭДО встроено типовое решение 1С-ЭПД.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Работает в связке с мобильным приложением 1С-ЭПД.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Работать можно как в локальной базе, так и через браузер.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Подходит для тех организаций, которые не ведут учет в 1С и не имеют опыта работы с электронными документами.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предполагает ведение учета организации.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Простой интерфейс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Только обмен электронными документами (ЭПД, УПД, счета, акты, договоры и </a:t>
            </a:r>
            <a:r>
              <a:rPr lang="ru-RU" dirty="0" err="1"/>
              <a:t>тп</a:t>
            </a:r>
            <a:r>
              <a:rPr lang="ru-RU" dirty="0"/>
              <a:t>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84286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7F8126-A140-DF80-2589-D0E0C6D73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EFD9D1-F8EF-F781-2D54-64B1B46C2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ru-RU" b="1" dirty="0"/>
              <a:t>Преимущества: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может работать сразу в 1С, веб-версии (браузер) и в мобильном приложении. Все три решения независимы друг от друга, можно работать как сразу в трех, так и отдельно в каждом.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безлимит на 3 месяца для новых клиентов (в том числе для тех, кто перешли с 1С-ЭДО на Доки).</a:t>
            </a:r>
          </a:p>
          <a:p>
            <a:pPr algn="just"/>
            <a:r>
              <a:rPr lang="ru-RU" b="1" dirty="0"/>
              <a:t>Недостатки: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требуется установка расширения в 1С для работы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функционал новый, полностью ещё не готов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83190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3016A5-1F2A-E0C4-2848-DBCAFE366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Кому подойдет Доки?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E3F750-20ED-3F43-7DA5-C5A28C9A68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Клиенты, у которых нет компьютера (только телефон).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Клиенты, у которых не ведется учет в 1С.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Клиенты, которые редко обновляют 1С.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Клиенты, у которых есть база 1С, но, например, бухгалтер против того, чтобы пускать логиста в базу.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 доки можно разделять документы по сотрудникам и подразделениям.</a:t>
            </a:r>
          </a:p>
          <a:p>
            <a:r>
              <a:rPr lang="ru-RU" dirty="0"/>
              <a:t>Здесь важно понимать, что необходимо подобрать функционал сотруднику, который в итоге будет подписывать ЭПД.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93406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B261C70-B227-ED4A-8AA4-9A73DAEDD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903671"/>
              </p:ext>
            </p:extLst>
          </p:nvPr>
        </p:nvGraphicFramePr>
        <p:xfrm>
          <a:off x="2674374" y="1212285"/>
          <a:ext cx="7315200" cy="44334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0332">
                  <a:extLst>
                    <a:ext uri="{9D8B030D-6E8A-4147-A177-3AD203B41FA5}">
                      <a16:colId xmlns:a16="http://schemas.microsoft.com/office/drawing/2014/main" val="1594021137"/>
                    </a:ext>
                  </a:extLst>
                </a:gridCol>
                <a:gridCol w="1657426">
                  <a:extLst>
                    <a:ext uri="{9D8B030D-6E8A-4147-A177-3AD203B41FA5}">
                      <a16:colId xmlns:a16="http://schemas.microsoft.com/office/drawing/2014/main" val="3281231878"/>
                    </a:ext>
                  </a:extLst>
                </a:gridCol>
                <a:gridCol w="1321104">
                  <a:extLst>
                    <a:ext uri="{9D8B030D-6E8A-4147-A177-3AD203B41FA5}">
                      <a16:colId xmlns:a16="http://schemas.microsoft.com/office/drawing/2014/main" val="2859038125"/>
                    </a:ext>
                  </a:extLst>
                </a:gridCol>
                <a:gridCol w="1321104">
                  <a:extLst>
                    <a:ext uri="{9D8B030D-6E8A-4147-A177-3AD203B41FA5}">
                      <a16:colId xmlns:a16="http://schemas.microsoft.com/office/drawing/2014/main" val="1543848012"/>
                    </a:ext>
                  </a:extLst>
                </a:gridCol>
                <a:gridCol w="1305234">
                  <a:extLst>
                    <a:ext uri="{9D8B030D-6E8A-4147-A177-3AD203B41FA5}">
                      <a16:colId xmlns:a16="http://schemas.microsoft.com/office/drawing/2014/main" val="861691683"/>
                    </a:ext>
                  </a:extLst>
                </a:gridCol>
              </a:tblGrid>
              <a:tr h="3261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</a:rPr>
                        <a:t>Роль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Документ</a:t>
                      </a:r>
                      <a:endParaRPr lang="ru-RU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1С</a:t>
                      </a:r>
                      <a:endParaRPr lang="ru-RU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Веб</a:t>
                      </a:r>
                      <a:endParaRPr lang="ru-RU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МП</a:t>
                      </a:r>
                      <a:endParaRPr lang="ru-RU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1206980864"/>
                  </a:ext>
                </a:extLst>
              </a:tr>
              <a:tr h="326132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</a:rPr>
                        <a:t>Грузоотправитель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</a:rPr>
                        <a:t> 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ЭЗЗ (Т1)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+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До 09.08</a:t>
                      </a:r>
                      <a:endParaRPr lang="ru-RU" sz="1200" kern="100" dirty="0">
                        <a:solidFill>
                          <a:srgbClr val="FF0000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До 18.10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512087236"/>
                  </a:ext>
                </a:extLst>
              </a:tr>
              <a:tr h="32613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 err="1">
                          <a:effectLst/>
                          <a:latin typeface="+mn-lt"/>
                        </a:rPr>
                        <a:t>ЭТрН</a:t>
                      </a:r>
                      <a:r>
                        <a:rPr lang="ru-RU" sz="1200" kern="100" dirty="0">
                          <a:effectLst/>
                          <a:latin typeface="+mn-lt"/>
                        </a:rPr>
                        <a:t> (Т1)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+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-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До 18.10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3437983205"/>
                  </a:ext>
                </a:extLst>
              </a:tr>
              <a:tr h="32613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ПЭ (Т1)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До 06.09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До 23.08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-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3891027135"/>
                  </a:ext>
                </a:extLst>
              </a:tr>
              <a:tr h="32613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ЭТрН (Т6)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-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До 13.12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-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280640165"/>
                  </a:ext>
                </a:extLst>
              </a:tr>
              <a:tr h="326132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</a:rPr>
                        <a:t>Перевозчик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ЭЗЗ (Т2)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До 16.08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До 23.08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До сентября</a:t>
                      </a: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857396937"/>
                  </a:ext>
                </a:extLst>
              </a:tr>
              <a:tr h="32613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ЭТрН (Т2, Т4)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+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+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+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3797929176"/>
                  </a:ext>
                </a:extLst>
              </a:tr>
              <a:tr h="32613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ЭТрН (Т7, Т8)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До 30.08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До 23.08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До 15.11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1029816150"/>
                  </a:ext>
                </a:extLst>
              </a:tr>
              <a:tr h="32613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ЭТрН (Т5)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-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До 13.12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-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981668468"/>
                  </a:ext>
                </a:extLst>
              </a:tr>
              <a:tr h="6327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</a:rPr>
                        <a:t>Грузополучатель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ЭТрН (Т3)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+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+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До 13.09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2795397680"/>
                  </a:ext>
                </a:extLst>
              </a:tr>
              <a:tr h="326132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</a:rPr>
                        <a:t>Экспедитор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ПЭ (Т2)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До 06.09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До 23.08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-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618247357"/>
                  </a:ext>
                </a:extLst>
              </a:tr>
              <a:tr h="32613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ЭР (Т1)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До 06.09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До 30.08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-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1944647735"/>
                  </a:ext>
                </a:extLst>
              </a:tr>
              <a:tr h="21324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СР (Т1)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До 27.09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>
                          <a:effectLst/>
                          <a:latin typeface="+mn-lt"/>
                        </a:rPr>
                        <a:t>До 04.10</a:t>
                      </a:r>
                      <a:endParaRPr lang="ru-RU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ru-RU" sz="1200" kern="100" dirty="0">
                          <a:effectLst/>
                          <a:latin typeface="+mn-lt"/>
                        </a:rPr>
                        <a:t>-</a:t>
                      </a:r>
                      <a:endParaRPr lang="ru-RU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8093" marR="48093" marT="0" marB="0"/>
                </a:tc>
                <a:extLst>
                  <a:ext uri="{0D108BD9-81ED-4DB2-BD59-A6C34878D82A}">
                    <a16:rowId xmlns:a16="http://schemas.microsoft.com/office/drawing/2014/main" val="2365159558"/>
                  </a:ext>
                </a:extLst>
              </a:tr>
            </a:tbl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56B20F8-EB09-7F06-1E2F-30FD9234E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/>
          <a:lstStyle/>
          <a:p>
            <a:r>
              <a:rPr lang="ru-RU" dirty="0"/>
              <a:t>Развитие функционала Доки</a:t>
            </a:r>
          </a:p>
        </p:txBody>
      </p:sp>
    </p:spTree>
    <p:extLst>
      <p:ext uri="{BB962C8B-B14F-4D97-AF65-F5344CB8AC3E}">
        <p14:creationId xmlns:p14="http://schemas.microsoft.com/office/powerpoint/2010/main" val="7076827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C504D0-C6E6-2238-47FE-51D04C3E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с 1С-ЭПД: Проектное решение?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FB6A6E-8123-1A07-2F86-04C700A2B6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Больше не предлагаем клиентам это решение.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48898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9B001D-9AD0-CC97-E0BC-17FBA9DC9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УКЭП и носитель</a:t>
            </a:r>
          </a:p>
        </p:txBody>
      </p:sp>
    </p:spTree>
    <p:extLst>
      <p:ext uri="{BB962C8B-B14F-4D97-AF65-F5344CB8AC3E}">
        <p14:creationId xmlns:p14="http://schemas.microsoft.com/office/powerpoint/2010/main" val="33036912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1A0E6872-F4CB-8A00-ABB4-A5A520F17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90967" y="1845726"/>
            <a:ext cx="4886631" cy="3626027"/>
          </a:xfrm>
        </p:spPr>
        <p:txBody>
          <a:bodyPr/>
          <a:lstStyle/>
          <a:p>
            <a:r>
              <a:rPr lang="ru-RU" dirty="0"/>
              <a:t>Смарт-карта с </a:t>
            </a:r>
            <a:r>
              <a:rPr lang="en-US" dirty="0"/>
              <a:t>NFC</a:t>
            </a:r>
            <a:endParaRPr lang="ru-RU" dirty="0"/>
          </a:p>
          <a:p>
            <a:r>
              <a:rPr lang="ru-RU" sz="1800" b="0" dirty="0"/>
              <a:t>3000 р. + нужен считыватель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3E5B81-9896-8063-5501-4D55B237C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2785" y="1907457"/>
            <a:ext cx="4886631" cy="3626027"/>
          </a:xfrm>
        </p:spPr>
        <p:txBody>
          <a:bodyPr/>
          <a:lstStyle/>
          <a:p>
            <a:r>
              <a:rPr lang="ru-RU" dirty="0" err="1"/>
              <a:t>Рутокен</a:t>
            </a:r>
            <a:r>
              <a:rPr lang="ru-RU" dirty="0"/>
              <a:t> с NFC</a:t>
            </a:r>
          </a:p>
          <a:p>
            <a:r>
              <a:rPr lang="ru-RU" sz="1800" dirty="0"/>
              <a:t>4700 р.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AB89A1-CC4C-4B3D-2F63-BA013D1B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Бесконтактная технология мобильного подписания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82474B3-712F-AD7E-7BB0-4AFDA0097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2" y="2636329"/>
            <a:ext cx="4494891" cy="31122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DD6F787-8BEF-1632-442F-0913F1756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316" y="2636329"/>
            <a:ext cx="4494890" cy="314642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30246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9C264-AF4F-39A5-5F1D-96B3BA308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1С-Подпись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B6C03B-2A21-A3F0-1D2B-660433F93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Выпуск подписи на физлицо.</a:t>
            </a:r>
          </a:p>
          <a:p>
            <a:r>
              <a:rPr lang="ru-RU" dirty="0"/>
              <a:t>Можно записать как в реестр компьютера, так и на съемный носитель (флешка, </a:t>
            </a:r>
            <a:r>
              <a:rPr lang="ru-RU" dirty="0" err="1"/>
              <a:t>рутокен</a:t>
            </a:r>
            <a:r>
              <a:rPr lang="ru-RU" dirty="0"/>
              <a:t>, смарт-карта).</a:t>
            </a:r>
          </a:p>
          <a:p>
            <a:r>
              <a:rPr lang="ru-RU" dirty="0"/>
              <a:t>Стоимость: 1050 рублей/шт.</a:t>
            </a:r>
          </a:p>
        </p:txBody>
      </p:sp>
    </p:spTree>
    <p:extLst>
      <p:ext uri="{BB962C8B-B14F-4D97-AF65-F5344CB8AC3E}">
        <p14:creationId xmlns:p14="http://schemas.microsoft.com/office/powerpoint/2010/main" val="21651013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A9C264-AF4F-39A5-5F1D-96B3BA308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1С-Подпись КЦР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B6C03B-2A21-A3F0-1D2B-660433F93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Выпуск подписи на физлицо.</a:t>
            </a:r>
          </a:p>
          <a:p>
            <a:r>
              <a:rPr lang="ru-RU" dirty="0"/>
              <a:t>Можно записать как в реестр компьютера, так и на съемный носитель (флешка, </a:t>
            </a:r>
            <a:r>
              <a:rPr lang="ru-RU" dirty="0" err="1"/>
              <a:t>рутокен</a:t>
            </a:r>
            <a:r>
              <a:rPr lang="ru-RU" dirty="0"/>
              <a:t>, смарт-карта).</a:t>
            </a:r>
          </a:p>
          <a:p>
            <a:endParaRPr lang="ru-RU" dirty="0"/>
          </a:p>
          <a:p>
            <a:r>
              <a:rPr lang="ru-RU" b="1" dirty="0"/>
              <a:t>Кому предлагать?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Перевозчики с потребностью мобильного подписания у которых много водителей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Грузоотправители, у которых оформлением </a:t>
            </a:r>
            <a:r>
              <a:rPr lang="ru-RU" dirty="0" err="1"/>
              <a:t>ЭТрН</a:t>
            </a:r>
            <a:r>
              <a:rPr lang="ru-RU" dirty="0"/>
              <a:t> занимаются логисты/</a:t>
            </a:r>
            <a:r>
              <a:rPr lang="ru-RU" dirty="0" err="1"/>
              <a:t>менеждеры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Грузополучатели, к которых 3 титул </a:t>
            </a:r>
            <a:r>
              <a:rPr lang="ru-RU" dirty="0" err="1"/>
              <a:t>ЭТрН</a:t>
            </a:r>
            <a:r>
              <a:rPr lang="ru-RU" dirty="0"/>
              <a:t> планируют подписывать работники склада </a:t>
            </a:r>
          </a:p>
        </p:txBody>
      </p:sp>
    </p:spTree>
    <p:extLst>
      <p:ext uri="{BB962C8B-B14F-4D97-AF65-F5344CB8AC3E}">
        <p14:creationId xmlns:p14="http://schemas.microsoft.com/office/powerpoint/2010/main" val="206198363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44F2F8-855F-F49B-6D9B-3581FACC6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1С-Подпись КЦР. Пакеты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7BBED3B-9757-B514-1180-1FC542028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94" y="1662572"/>
            <a:ext cx="10900743" cy="3371544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Текст 2">
            <a:extLst>
              <a:ext uri="{FF2B5EF4-FFF2-40B4-BE49-F238E27FC236}">
                <a16:creationId xmlns:a16="http://schemas.microsoft.com/office/drawing/2014/main" id="{D56638D7-2219-29BB-D8AD-D917F7DD48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5466735"/>
            <a:ext cx="10392697" cy="265812"/>
          </a:xfrm>
        </p:spPr>
        <p:txBody>
          <a:bodyPr/>
          <a:lstStyle/>
          <a:p>
            <a:r>
              <a:rPr lang="ru-RU" dirty="0"/>
              <a:t>Пакет приобретается на год!</a:t>
            </a:r>
          </a:p>
        </p:txBody>
      </p:sp>
    </p:spTree>
    <p:extLst>
      <p:ext uri="{BB962C8B-B14F-4D97-AF65-F5344CB8AC3E}">
        <p14:creationId xmlns:p14="http://schemas.microsoft.com/office/powerpoint/2010/main" val="13591935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8C4599-D826-DCD5-7ABE-435A8C80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какую линию записать клиента?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EF22C0-2003-90AE-EC5A-5D96134537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9651" y="2268042"/>
            <a:ext cx="10392697" cy="3307189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Все вопросы по сервисам ЭПД:</a:t>
            </a:r>
          </a:p>
          <a:p>
            <a:pPr marL="342900" indent="-342900">
              <a:buAutoNum type="arabicPeriod"/>
            </a:pPr>
            <a:r>
              <a:rPr lang="ru-RU" dirty="0"/>
              <a:t>Выпуск подписи для ЭПД (через 1С-Подпись, КЦР)</a:t>
            </a:r>
          </a:p>
          <a:p>
            <a:pPr marL="342900" indent="-342900">
              <a:buAutoNum type="arabicPeriod"/>
            </a:pPr>
            <a:r>
              <a:rPr lang="ru-RU" dirty="0"/>
              <a:t>Вопросы по МЧД для ЭПД</a:t>
            </a:r>
          </a:p>
          <a:p>
            <a:pPr marL="342900" indent="-342900">
              <a:buAutoNum type="arabicPeriod"/>
            </a:pPr>
            <a:r>
              <a:rPr lang="ru-RU" dirty="0"/>
              <a:t>Вопросы по созданию документов</a:t>
            </a:r>
          </a:p>
          <a:p>
            <a:pPr marL="342900" indent="-342900">
              <a:buAutoNum type="arabicPeriod"/>
            </a:pPr>
            <a:r>
              <a:rPr lang="ru-RU" dirty="0"/>
              <a:t>Настройка обмена с контрагентами</a:t>
            </a:r>
          </a:p>
          <a:p>
            <a:pPr marL="342900" indent="-342900">
              <a:buAutoNum type="arabicPeriod"/>
            </a:pPr>
            <a:r>
              <a:rPr lang="ru-RU" dirty="0"/>
              <a:t>Настройка 1С-ЭПД и Доки и т.д.</a:t>
            </a:r>
          </a:p>
          <a:p>
            <a:endParaRPr lang="ru-RU" dirty="0"/>
          </a:p>
          <a:p>
            <a:r>
              <a:rPr lang="ru-RU" dirty="0"/>
              <a:t>Линия платная, консультации в счёт минут.</a:t>
            </a:r>
          </a:p>
          <a:p>
            <a:r>
              <a:rPr lang="ru-RU" b="1" dirty="0"/>
              <a:t>Акция! Настройка 1С-ЭПД – бесплатно до 31 августа. Действует при приобретении пакета титулов 1С-ЭПД.</a:t>
            </a:r>
            <a:br>
              <a:rPr lang="ru-RU" dirty="0"/>
            </a:b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062AF51-7F0B-3A6A-3A19-4949E227CE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73" t="15950" r="32677" b="5152"/>
          <a:stretch/>
        </p:blipFill>
        <p:spPr>
          <a:xfrm>
            <a:off x="4038450" y="1077942"/>
            <a:ext cx="4115100" cy="937762"/>
          </a:xfrm>
          <a:prstGeom prst="rect">
            <a:avLst/>
          </a:prstGeom>
          <a:ln>
            <a:solidFill>
              <a:srgbClr val="385E75"/>
            </a:solidFill>
          </a:ln>
        </p:spPr>
      </p:pic>
    </p:spTree>
    <p:extLst>
      <p:ext uri="{BB962C8B-B14F-4D97-AF65-F5344CB8AC3E}">
        <p14:creationId xmlns:p14="http://schemas.microsoft.com/office/powerpoint/2010/main" val="358912466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4474-E8AB-0250-0C2F-91834F3D9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B55F72D-35A2-7D8E-E826-657FC8247D0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84902" y="497311"/>
            <a:ext cx="9797971" cy="94600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dirty="0"/>
              <a:t>Поможем при переходе на ЭПД</a:t>
            </a:r>
            <a:endParaRPr dirty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CD4F1A3F-0EF7-46E4-AC41-6A5E3640089D}"/>
              </a:ext>
            </a:extLst>
          </p:cNvPr>
          <p:cNvGrpSpPr/>
          <p:nvPr/>
        </p:nvGrpSpPr>
        <p:grpSpPr bwMode="auto">
          <a:xfrm>
            <a:off x="1959892" y="1655334"/>
            <a:ext cx="2764083" cy="2613222"/>
            <a:chOff x="8063204" y="498659"/>
            <a:chExt cx="3237723" cy="2419787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84B9B9A6-403D-4ED2-9209-5C05CE03455F}"/>
                </a:ext>
              </a:extLst>
            </p:cNvPr>
            <p:cNvSpPr/>
            <p:nvPr/>
          </p:nvSpPr>
          <p:spPr bwMode="auto">
            <a:xfrm>
              <a:off x="8063204" y="498659"/>
              <a:ext cx="3237723" cy="2419787"/>
            </a:xfrm>
            <a:prstGeom prst="roundRect">
              <a:avLst>
                <a:gd name="adj" fmla="val 8753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D7D0264-BE46-44C1-842B-3B4E5145C4F4}"/>
                </a:ext>
              </a:extLst>
            </p:cNvPr>
            <p:cNvSpPr txBox="1"/>
            <p:nvPr/>
          </p:nvSpPr>
          <p:spPr bwMode="auto">
            <a:xfrm>
              <a:off x="8427863" y="576145"/>
              <a:ext cx="2497579" cy="924521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>
                <a:defRPr/>
              </a:pPr>
              <a:r>
                <a:rPr lang="ru-RU" sz="1400" b="1" dirty="0"/>
                <a:t>Задать вопрос по ЭПД в ТГ-канале </a:t>
              </a:r>
              <a:r>
                <a:rPr lang="ru-RU" sz="1400" b="1" u="sng" dirty="0" err="1"/>
                <a:t>Форус</a:t>
              </a:r>
              <a:r>
                <a:rPr lang="ru-RU" sz="1400" b="1" u="sng" dirty="0"/>
                <a:t>. ЭПД на практике</a:t>
              </a:r>
              <a:r>
                <a:rPr lang="ru-RU" sz="1400" b="1" dirty="0"/>
                <a:t>:</a:t>
              </a:r>
              <a:endParaRPr lang="ru-RU" sz="1400" dirty="0"/>
            </a:p>
          </p:txBody>
        </p:sp>
      </p:grpSp>
      <p:pic>
        <p:nvPicPr>
          <p:cNvPr id="13" name="Рисунок 12" descr="Изображение выглядит как Графика, графический дизайн, Шрифт, графическая встав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B177CBA-316B-7F41-869B-9C0985248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2622" y="2718354"/>
            <a:ext cx="1364398" cy="1389208"/>
          </a:xfrm>
          <a:prstGeom prst="rect">
            <a:avLst/>
          </a:prstGeom>
        </p:spPr>
      </p:pic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96E0CB9-14DE-4063-8906-6F58C9FDD491}"/>
              </a:ext>
            </a:extLst>
          </p:cNvPr>
          <p:cNvGrpSpPr/>
          <p:nvPr/>
        </p:nvGrpSpPr>
        <p:grpSpPr bwMode="auto">
          <a:xfrm>
            <a:off x="7640248" y="1646759"/>
            <a:ext cx="2764083" cy="2613222"/>
            <a:chOff x="8063204" y="498659"/>
            <a:chExt cx="3237723" cy="2419787"/>
          </a:xfrm>
        </p:grpSpPr>
        <p:sp>
          <p:nvSpPr>
            <p:cNvPr id="19" name="Прямоугольник: скругленные углы 18">
              <a:extLst>
                <a:ext uri="{FF2B5EF4-FFF2-40B4-BE49-F238E27FC236}">
                  <a16:creationId xmlns:a16="http://schemas.microsoft.com/office/drawing/2014/main" id="{C489CA79-1B31-407E-843B-B6B50C85A9B2}"/>
                </a:ext>
              </a:extLst>
            </p:cNvPr>
            <p:cNvSpPr/>
            <p:nvPr/>
          </p:nvSpPr>
          <p:spPr bwMode="auto">
            <a:xfrm>
              <a:off x="8063204" y="498659"/>
              <a:ext cx="3237723" cy="2419787"/>
            </a:xfrm>
            <a:prstGeom prst="roundRect">
              <a:avLst>
                <a:gd name="adj" fmla="val 8753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DB087EB-ADE2-4788-A724-15A2159BE510}"/>
                </a:ext>
              </a:extLst>
            </p:cNvPr>
            <p:cNvSpPr txBox="1"/>
            <p:nvPr/>
          </p:nvSpPr>
          <p:spPr bwMode="auto">
            <a:xfrm>
              <a:off x="8433275" y="691566"/>
              <a:ext cx="2497579" cy="66581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>
                <a:defRPr/>
              </a:pPr>
              <a:r>
                <a:rPr lang="ru-RU" sz="1400" b="1" dirty="0"/>
                <a:t>Кейс по внедрению 1С-ЭПД </a:t>
              </a:r>
              <a:r>
                <a:rPr lang="ru-RU" sz="1400" b="1" dirty="0" err="1"/>
                <a:t>Сарма+Никалид</a:t>
              </a:r>
              <a:endParaRPr lang="ru-RU" sz="1400" b="1" dirty="0"/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B3E51C34-2FE2-4379-A38F-1875173378BA}"/>
              </a:ext>
            </a:extLst>
          </p:cNvPr>
          <p:cNvGrpSpPr/>
          <p:nvPr/>
        </p:nvGrpSpPr>
        <p:grpSpPr bwMode="auto">
          <a:xfrm>
            <a:off x="4802957" y="1638184"/>
            <a:ext cx="2764083" cy="2613222"/>
            <a:chOff x="8063204" y="498659"/>
            <a:chExt cx="3237723" cy="2419787"/>
          </a:xfrm>
        </p:grpSpPr>
        <p:sp>
          <p:nvSpPr>
            <p:cNvPr id="22" name="Прямоугольник: скругленные углы 21">
              <a:extLst>
                <a:ext uri="{FF2B5EF4-FFF2-40B4-BE49-F238E27FC236}">
                  <a16:creationId xmlns:a16="http://schemas.microsoft.com/office/drawing/2014/main" id="{0EEA9079-003C-43E3-894D-338836AE9BA0}"/>
                </a:ext>
              </a:extLst>
            </p:cNvPr>
            <p:cNvSpPr/>
            <p:nvPr/>
          </p:nvSpPr>
          <p:spPr bwMode="auto">
            <a:xfrm>
              <a:off x="8063204" y="498659"/>
              <a:ext cx="3237723" cy="2419787"/>
            </a:xfrm>
            <a:prstGeom prst="roundRect">
              <a:avLst>
                <a:gd name="adj" fmla="val 8753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C10CC82-B220-44FB-AB40-D73D865D2425}"/>
                </a:ext>
              </a:extLst>
            </p:cNvPr>
            <p:cNvSpPr txBox="1"/>
            <p:nvPr/>
          </p:nvSpPr>
          <p:spPr bwMode="auto">
            <a:xfrm>
              <a:off x="8394768" y="712791"/>
              <a:ext cx="2497579" cy="665810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spAutoFit/>
            </a:bodyPr>
            <a:lstStyle/>
            <a:p>
              <a:pPr algn="ctr">
                <a:defRPr/>
              </a:pPr>
              <a:r>
                <a:rPr lang="ru-RU" sz="1400" b="1" dirty="0"/>
                <a:t>Наш канал в </a:t>
              </a:r>
              <a:r>
                <a:rPr lang="en-US" sz="1400" b="1" dirty="0"/>
                <a:t>Max</a:t>
              </a:r>
              <a:r>
                <a:rPr lang="ru-RU" sz="1400" b="1" dirty="0"/>
                <a:t>:</a:t>
              </a:r>
              <a:endParaRPr lang="en-US" sz="1400" b="1" dirty="0"/>
            </a:p>
            <a:p>
              <a:pPr algn="ctr">
                <a:defRPr/>
              </a:pPr>
              <a:r>
                <a:rPr lang="ru-RU" sz="1400" b="1" u="sng" dirty="0"/>
                <a:t>Форус. ЭПД на практике</a:t>
              </a:r>
              <a:r>
                <a:rPr lang="ru-RU" sz="1400" b="1" dirty="0"/>
                <a:t>:</a:t>
              </a:r>
              <a:endParaRPr lang="ru-RU" sz="1400" dirty="0"/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EE8550-E79B-4BE5-B3DE-161C93D62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913" y="2793604"/>
            <a:ext cx="1191474" cy="120684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70B356-4C26-47A8-B120-0B64BDE28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5223" y="2737440"/>
            <a:ext cx="1293799" cy="126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92149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1">
            <a:extLst>
              <a:ext uri="{FF2B5EF4-FFF2-40B4-BE49-F238E27FC236}">
                <a16:creationId xmlns:a16="http://schemas.microsoft.com/office/drawing/2014/main" id="{60B8A94F-AA2F-0F93-F3C4-B301AC039856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1460500" y="4427832"/>
            <a:ext cx="6084888" cy="1133788"/>
          </a:xfrm>
        </p:spPr>
        <p:txBody>
          <a:bodyPr/>
          <a:lstStyle/>
          <a:p>
            <a:pPr>
              <a:defRPr/>
            </a:pPr>
            <a:r>
              <a:rPr lang="ru-RU" dirty="0"/>
              <a:t>Команда внедрения и сопровождения сервиса 1С-ЭПД</a:t>
            </a:r>
            <a:endParaRPr dirty="0"/>
          </a:p>
        </p:txBody>
      </p:sp>
      <p:sp>
        <p:nvSpPr>
          <p:cNvPr id="12" name="Заголовок 13">
            <a:extLst>
              <a:ext uri="{FF2B5EF4-FFF2-40B4-BE49-F238E27FC236}">
                <a16:creationId xmlns:a16="http://schemas.microsoft.com/office/drawing/2014/main" id="{DF13C29B-C353-12CB-871C-7FD10140AB64}"/>
              </a:ext>
            </a:extLst>
          </p:cNvPr>
          <p:cNvSpPr txBox="1"/>
          <p:nvPr/>
        </p:nvSpPr>
        <p:spPr bwMode="auto">
          <a:xfrm>
            <a:off x="1341607" y="1176241"/>
            <a:ext cx="4912800" cy="472353"/>
          </a:xfrm>
          <a:prstGeom prst="rect">
            <a:avLst/>
          </a:prstGeom>
        </p:spPr>
        <p:txBody>
          <a:bodyPr/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4000"/>
              <a:t>Благодарим за внимание!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330483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Forus2020">
  <a:themeElements>
    <a:clrScheme name="Фору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ECF68"/>
      </a:accent1>
      <a:accent2>
        <a:srgbClr val="395F75"/>
      </a:accent2>
      <a:accent3>
        <a:srgbClr val="A5A5A5"/>
      </a:accent3>
      <a:accent4>
        <a:srgbClr val="D74949"/>
      </a:accent4>
      <a:accent5>
        <a:srgbClr val="5B9BD5"/>
      </a:accent5>
      <a:accent6>
        <a:srgbClr val="00715D"/>
      </a:accent6>
      <a:hlink>
        <a:srgbClr val="0563C1"/>
      </a:hlink>
      <a:folHlink>
        <a:srgbClr val="954F72"/>
      </a:folHlink>
    </a:clrScheme>
    <a:fontScheme name="Форус_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1519</TotalTime>
  <Words>3633</Words>
  <Application>Microsoft Office PowerPoint</Application>
  <PresentationFormat>Широкоэкранный</PresentationFormat>
  <Paragraphs>496</Paragraphs>
  <Slides>77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77</vt:i4>
      </vt:variant>
    </vt:vector>
  </HeadingPairs>
  <TitlesOfParts>
    <vt:vector size="88" baseType="lpstr">
      <vt:lpstr>Aptos</vt:lpstr>
      <vt:lpstr>Arial</vt:lpstr>
      <vt:lpstr>Calibri</vt:lpstr>
      <vt:lpstr>Montserrat</vt:lpstr>
      <vt:lpstr>Montserrat ExtraBold</vt:lpstr>
      <vt:lpstr>Symbol</vt:lpstr>
      <vt:lpstr>system-ui</vt:lpstr>
      <vt:lpstr>Times New Roman</vt:lpstr>
      <vt:lpstr>Verdana</vt:lpstr>
      <vt:lpstr>Wingdings</vt:lpstr>
      <vt:lpstr>Тема Forus2020</vt:lpstr>
      <vt:lpstr>Сервис 1С-ЭПД: Мастерская для менеджеров</vt:lpstr>
      <vt:lpstr>Транспортная стратегия</vt:lpstr>
      <vt:lpstr>Законодательные изменения</vt:lpstr>
      <vt:lpstr>Переход на электронный документооборот</vt:lpstr>
      <vt:lpstr>Перевозка пива, пивных напитков и другое</vt:lpstr>
      <vt:lpstr>Переход на электронный документооборот</vt:lpstr>
      <vt:lpstr>Роли участников грузоперевозки</vt:lpstr>
      <vt:lpstr>Экспедитор или агент</vt:lpstr>
      <vt:lpstr>В каких сценариях без ЭЗЗ/ЭТрН не обойтись?</vt:lpstr>
      <vt:lpstr>В каких сценариях ЭТрН не нужна</vt:lpstr>
      <vt:lpstr>Другие кейсы</vt:lpstr>
      <vt:lpstr>Подведём итог</vt:lpstr>
      <vt:lpstr>Презентация PowerPoint</vt:lpstr>
      <vt:lpstr>Федеральный реестр экспедиторов  на платформе «ГосЛог»</vt:lpstr>
      <vt:lpstr>Взаимодействие с ФСБ</vt:lpstr>
      <vt:lpstr>Федеральный реестр перевозчиков на платформе «ГосЛог»</vt:lpstr>
      <vt:lpstr>Демонстрация сервиса</vt:lpstr>
      <vt:lpstr>Как работает сервис 1С-ЭПД </vt:lpstr>
      <vt:lpstr>Презентация PowerPoint</vt:lpstr>
      <vt:lpstr>Работает в программах:</vt:lpstr>
      <vt:lpstr>Что необходимо для подключения?</vt:lpstr>
      <vt:lpstr>Подключение сервиса</vt:lpstr>
      <vt:lpstr>Подключение сервиса</vt:lpstr>
      <vt:lpstr>Процесс перевозки</vt:lpstr>
      <vt:lpstr>Документы в ЭПД</vt:lpstr>
      <vt:lpstr>Документы в ЭПД</vt:lpstr>
      <vt:lpstr>Схема документооборота ЭЗЗ</vt:lpstr>
      <vt:lpstr>Схема документооборота ЭТрН </vt:lpstr>
      <vt:lpstr>Схема документооборота ЭПЛ </vt:lpstr>
      <vt:lpstr>Электронные перевозочные документы в 1С</vt:lpstr>
      <vt:lpstr>Конфигурация УТ и БП</vt:lpstr>
      <vt:lpstr>Раздел «ЭПД»</vt:lpstr>
      <vt:lpstr>Дополнительные  возможности в 1С-ЭПД</vt:lpstr>
      <vt:lpstr>Перенос 1С-ЭПД в другую базу</vt:lpstr>
      <vt:lpstr>Настройка дополнительных реквизитов</vt:lpstr>
      <vt:lpstr>Групповая отправка ЭПД</vt:lpstr>
      <vt:lpstr>Тренажер для пользователей</vt:lpstr>
      <vt:lpstr>Мобильное приложение  1С-ЭПД</vt:lpstr>
      <vt:lpstr>Мобильное приложение 1С-ЭПД </vt:lpstr>
      <vt:lpstr>Подключение</vt:lpstr>
      <vt:lpstr>Подключение</vt:lpstr>
      <vt:lpstr>Подключение пользователя</vt:lpstr>
      <vt:lpstr>Подключение в приложении</vt:lpstr>
      <vt:lpstr>ЭТрН в мобильном приложении</vt:lpstr>
      <vt:lpstr>Информация о грузе</vt:lpstr>
      <vt:lpstr>QR-код</vt:lpstr>
      <vt:lpstr>Звонки и навигатор</vt:lpstr>
      <vt:lpstr>Завершение документооборота</vt:lpstr>
      <vt:lpstr>ЭПЛ в мобильном приложении</vt:lpstr>
      <vt:lpstr>Как подписывать через мобильное приложение 1С-ЭПД?</vt:lpstr>
      <vt:lpstr>Пошаговый план перехода на 1C-ЭПД  </vt:lpstr>
      <vt:lpstr>Тарифы 1С-ЭПД</vt:lpstr>
      <vt:lpstr>Доки</vt:lpstr>
      <vt:lpstr>Доки – сервис обмена электронного документооборота с контрагентами</vt:lpstr>
      <vt:lpstr>ЭПД доступны прямо в сервисе Доки</vt:lpstr>
      <vt:lpstr>Работа с ЭПД</vt:lpstr>
      <vt:lpstr>Веб-кабинет</vt:lpstr>
      <vt:lpstr>Как подписывать через мобильное приложение Доки?</vt:lpstr>
      <vt:lpstr>Тарифы Доки</vt:lpstr>
      <vt:lpstr>Тренажер Доки </vt:lpstr>
      <vt:lpstr>Какое решение предложить клиенту?</vt:lpstr>
      <vt:lpstr>1С-ЭПД: Типовое решение</vt:lpstr>
      <vt:lpstr>Кому подойдет 1С-ЭПД: Типовое решение?</vt:lpstr>
      <vt:lpstr>Развитие функционала 1С-ЭПД</vt:lpstr>
      <vt:lpstr>1С: Клиент ЭДО</vt:lpstr>
      <vt:lpstr>Доки</vt:lpstr>
      <vt:lpstr>Кому подойдет Доки?</vt:lpstr>
      <vt:lpstr>Развитие функционала Доки</vt:lpstr>
      <vt:lpstr>Что с 1С-ЭПД: Проектное решение?</vt:lpstr>
      <vt:lpstr>УКЭП и носитель</vt:lpstr>
      <vt:lpstr>Бесконтактная технология мобильного подписания</vt:lpstr>
      <vt:lpstr>1С-Подпись </vt:lpstr>
      <vt:lpstr>1С-Подпись КЦР </vt:lpstr>
      <vt:lpstr>1С-Подпись КЦР. Пакеты</vt:lpstr>
      <vt:lpstr>На какую линию записать клиента?</vt:lpstr>
      <vt:lpstr>Поможем при переходе на ЭПД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Костюкова Ольга</cp:lastModifiedBy>
  <cp:revision>211</cp:revision>
  <dcterms:created xsi:type="dcterms:W3CDTF">2020-01-20T06:19:00Z</dcterms:created>
  <dcterms:modified xsi:type="dcterms:W3CDTF">2026-08-12T05:46:47Z</dcterms:modified>
</cp:coreProperties>
</file>