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charts/colors2.xml" ContentType="application/vnd.ms-office.chartcolorstyl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Layouts/slideLayout17.xml" ContentType="application/vnd.openxmlformats-officedocument.presentationml.slideLayout+xml"/>
  <Override PartName="/ppt/charts/chart2.xml" ContentType="application/vnd.openxmlformats-officedocument.drawingml.char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charts/style1.xml" ContentType="application/vnd.ms-office.chartstyl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5.xml" ContentType="application/vnd.openxmlformats-officedocument.presentationml.slideLayout+xml"/>
  <Override PartName="/ppt/charts/colors1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4" d="100"/>
          <a:sy n="74" d="100"/>
        </p:scale>
        <p:origin x="101" y="499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microsoft.com/office/2011/relationships/chartStyle" Target="style1.xml" /><Relationship Id="rId2" Type="http://schemas.microsoft.com/office/2011/relationships/chartColorStyle" Target="colors1.xml" /><Relationship Id="rId3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microsoft.com/office/2011/relationships/chartStyle" Target="style2.xml" /><Relationship Id="rId2" Type="http://schemas.microsoft.com/office/2011/relationships/chartColorStyle" Target="colors2.xml" /><Relationship Id="rId3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3600"/>
          <c:y val="0.200175"/>
          <c:w val="0.707677"/>
          <c:h val="0.7076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 xml:space="preserve">1С </c:v>
                </c:pt>
              </c:strCache>
            </c:strRef>
          </c:tx>
          <c:spPr bwMode="auto">
            <a:prstGeom prst="rect">
              <a:avLst/>
            </a:prstGeom>
            <a:solidFill>
              <a:srgbClr val="385E75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100</c:v>
                </c:pt>
                <c:pt idx="1">
                  <c:v>125</c:v>
                </c:pt>
                <c:pt idx="2">
                  <c:v>160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Антивирусы</c:v>
                </c:pt>
              </c:strCache>
            </c:strRef>
          </c:tx>
          <c:spPr bwMode="auto">
            <a:prstGeom prst="rect">
              <a:avLst/>
            </a:prstGeom>
            <a:solidFill>
              <a:srgbClr val="26DB6E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80</c:v>
                </c:pt>
                <c:pt idx="1">
                  <c:v>75</c:v>
                </c:pt>
                <c:pt idx="2">
                  <c:v>125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Сервисы</c:v>
                </c:pt>
              </c:strCache>
            </c:strRef>
          </c:tx>
          <c:spPr bwMode="auto">
            <a:prstGeom prst="rect">
              <a:avLst/>
            </a:prstGeom>
            <a:solidFill>
              <a:srgbClr val="D64A4A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175</c:v>
                </c:pt>
                <c:pt idx="1">
                  <c:v>200</c:v>
                </c:pt>
                <c:pt idx="2">
                  <c:v>210</c:v>
                </c:pt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ИТС</c:v>
                </c:pt>
              </c:strCache>
            </c:strRef>
          </c:tx>
          <c:spPr bwMode="auto">
            <a:prstGeom prst="rect">
              <a:avLst/>
            </a:prstGeom>
            <a:solidFill>
              <a:srgbClr val="FFCF66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125</c:v>
                </c:pt>
                <c:pt idx="1">
                  <c:v>142</c:v>
                </c:pt>
                <c:pt idx="2">
                  <c:v>180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50"/>
        <c:axId val="979226576"/>
        <c:axId val="979226992"/>
      </c:barChart>
      <c:catAx>
        <c:axId val="97922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Verdana"/>
                <a:ea typeface="Verdana"/>
                <a:cs typeface="Liberation Sans"/>
              </a:defRPr>
            </a:pPr>
            <a:endParaRPr lang="ru-RU"/>
          </a:p>
        </c:txPr>
        <c:crossAx val="979226992"/>
        <c:crosses val="autoZero"/>
        <c:auto val="1"/>
        <c:lblAlgn val="ctr"/>
        <c:lblOffset val="100"/>
        <c:tickMarkSkip val="10"/>
        <c:noMultiLvlLbl val="0"/>
      </c:catAx>
      <c:valAx>
        <c:axId val="97922699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Verdana"/>
                <a:ea typeface="Verdana"/>
                <a:cs typeface="Liberation Sans"/>
              </a:defRPr>
            </a:pPr>
            <a:endParaRPr lang="ru-RU"/>
          </a:p>
        </c:txPr>
        <c:crossAx val="979226576"/>
        <c:crosses val="autoZero"/>
        <c:crossBetween val="between"/>
      </c:valAx>
      <c:spPr bwMode="auto">
        <a:prstGeom prst="rect">
          <a:avLst/>
        </a:prstGeom>
        <a:noFill/>
        <a:ln w="0" cmpd="dbl">
          <a:solidFill>
            <a:schemeClr val="bg1"/>
          </a:solidFill>
        </a:ln>
        <a:effectLst>
          <a:softEdge rad="0"/>
        </a:effectLst>
      </c:spPr>
    </c:plotArea>
    <c:legend>
      <c:legendPos val="r"/>
      <c:layout>
        <c:manualLayout>
          <c:xMode val="edge"/>
          <c:yMode val="edge"/>
          <c:x val="0.809040"/>
          <c:y val="0.343905"/>
          <c:w val="0.189593"/>
          <c:h val="0.354997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>
      <a:off x="936625" y="1325563"/>
      <a:ext cx="10274300" cy="4427555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522"/>
          <c:y val="0.040944"/>
          <c:w val="0.872540"/>
          <c:h val="0.657811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Лист1!$B$25</c:f>
              <c:strCache>
                <c:ptCount val="1"/>
                <c:pt idx="0">
                  <c:v xml:space="preserve">Показатель 1</c:v>
                </c:pt>
              </c:strCache>
            </c:strRef>
          </c:tx>
          <c:spPr bwMode="auto">
            <a:prstGeom prst="rect">
              <a:avLst/>
            </a:prstGeom>
            <a:ln w="28575" cap="rnd">
              <a:solidFill>
                <a:srgbClr val="385E75"/>
              </a:solidFill>
              <a:round/>
            </a:ln>
            <a:effectLst/>
          </c:spPr>
          <c:marker>
            <c:symbol val="none"/>
          </c:marker>
          <c:trendline>
            <c:spPr bwMode="auto">
              <a:prstGeom prst="rect">
                <a:avLst/>
              </a:prstGeom>
              <a:ln w="19050" cap="rnd">
                <a:solidFill>
                  <a:srgbClr val="385E75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Лист1!$B$26:$B$37</c:f>
              <c:numCache>
                <c:formatCode>0</c:formatCode>
                <c:ptCount val="12"/>
                <c:pt idx="0">
                  <c:v>4453</c:v>
                </c:pt>
                <c:pt idx="1">
                  <c:v>7541</c:v>
                </c:pt>
                <c:pt idx="2">
                  <c:v>6853</c:v>
                </c:pt>
                <c:pt idx="3">
                  <c:v>9530</c:v>
                </c:pt>
                <c:pt idx="4">
                  <c:v>6802</c:v>
                </c:pt>
                <c:pt idx="5">
                  <c:v>6992</c:v>
                </c:pt>
                <c:pt idx="6">
                  <c:v>7427</c:v>
                </c:pt>
                <c:pt idx="7">
                  <c:v>5963</c:v>
                </c:pt>
                <c:pt idx="8">
                  <c:v>6948</c:v>
                </c:pt>
                <c:pt idx="9">
                  <c:v>8346</c:v>
                </c:pt>
                <c:pt idx="10">
                  <c:v>7870</c:v>
                </c:pt>
                <c:pt idx="11">
                  <c:v>8787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Лист1!$C$25</c:f>
              <c:strCache>
                <c:ptCount val="1"/>
                <c:pt idx="0">
                  <c:v xml:space="preserve">Показатель 2</c:v>
                </c:pt>
              </c:strCache>
            </c:strRef>
          </c:tx>
          <c:spPr bwMode="auto">
            <a:prstGeom prst="rect">
              <a:avLst/>
            </a:prstGeom>
            <a:ln w="28575" cap="rnd">
              <a:solidFill>
                <a:srgbClr val="FFCF66"/>
              </a:solidFill>
              <a:round/>
            </a:ln>
            <a:effectLst/>
          </c:spPr>
          <c:marker>
            <c:symbol val="none"/>
          </c:marker>
          <c:trendline>
            <c:spPr bwMode="auto">
              <a:prstGeom prst="rect">
                <a:avLst/>
              </a:prstGeom>
              <a:ln w="19050" cap="rnd">
                <a:solidFill>
                  <a:srgbClr val="FFCF66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Лист1!$C$26:$C$37</c:f>
              <c:numCache>
                <c:formatCode>0</c:formatCode>
                <c:ptCount val="12"/>
                <c:pt idx="0">
                  <c:v>5167</c:v>
                </c:pt>
                <c:pt idx="1">
                  <c:v>9674</c:v>
                </c:pt>
                <c:pt idx="2">
                  <c:v>8107</c:v>
                </c:pt>
                <c:pt idx="3">
                  <c:v>8934</c:v>
                </c:pt>
                <c:pt idx="4">
                  <c:v>7624</c:v>
                </c:pt>
                <c:pt idx="5">
                  <c:v>7350</c:v>
                </c:pt>
                <c:pt idx="6">
                  <c:v>8362</c:v>
                </c:pt>
                <c:pt idx="7">
                  <c:v>7893</c:v>
                </c:pt>
                <c:pt idx="8">
                  <c:v>9395</c:v>
                </c:pt>
                <c:pt idx="9">
                  <c:v>10436</c:v>
                </c:pt>
                <c:pt idx="10">
                  <c:v>9255</c:v>
                </c:pt>
                <c:pt idx="11">
                  <c:v>6725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smooth val="0"/>
        <c:axId val="488468527"/>
        <c:axId val="488474767"/>
      </c:lineChart>
      <c:catAx>
        <c:axId val="488468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>
                <a:solidFill>
                  <a:srgbClr val="000000"/>
                </a:solidFill>
                <a:latin typeface="Verdana"/>
                <a:ea typeface="Verdana"/>
                <a:cs typeface="Liberation Sans"/>
              </a:defRPr>
            </a:pPr>
            <a:endParaRPr lang="ru-RU"/>
          </a:p>
        </c:txPr>
        <c:crossAx val="488474767"/>
        <c:crosses val="autoZero"/>
        <c:auto val="1"/>
        <c:lblAlgn val="ctr"/>
        <c:lblOffset val="100"/>
        <c:noMultiLvlLbl val="0"/>
      </c:catAx>
      <c:valAx>
        <c:axId val="488474767"/>
        <c:scaling>
          <c:orientation val="minMax"/>
          <c:min val="4000.000000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>
                <a:solidFill>
                  <a:srgbClr val="000000"/>
                </a:solidFill>
                <a:latin typeface="Verdana"/>
                <a:ea typeface="Verdana"/>
                <a:cs typeface="Liberation Sans"/>
              </a:defRPr>
            </a:pPr>
            <a:endParaRPr lang="ru-RU"/>
          </a:p>
        </c:txPr>
        <c:crossAx val="488468527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17826"/>
          <c:y val="0.890696"/>
          <c:w val="0.971961"/>
          <c:h val="0.092462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90000"/>
            </a:lnSpc>
            <a:defRPr sz="1050" b="0" i="0" u="none" strike="noStrike">
              <a:solidFill>
                <a:srgbClr val="000000"/>
              </a:solidFill>
              <a:latin typeface="Verdana"/>
              <a:ea typeface="Verdan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>
      <a:off x="4229100" y="1143000"/>
      <a:ext cx="6511925" cy="484028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/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solidFill>
        <a:schemeClr val="phClr"/>
      </a:solidFill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/>
</cs:chartStyl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6176" y="4520265"/>
            <a:ext cx="6084888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6176" y="4520265"/>
            <a:ext cx="6084888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74713" y="1386195"/>
            <a:ext cx="9364508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74714" y="4500600"/>
            <a:ext cx="6070701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 символ шафран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700714" y="1376363"/>
            <a:ext cx="5040312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700714" y="4490768"/>
            <a:ext cx="5040312" cy="747982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/>
              <a:t>Должность / отдел</a:t>
            </a:r>
            <a:endParaRPr/>
          </a:p>
        </p:txBody>
      </p: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700712" y="5633342"/>
            <a:ext cx="1387475" cy="491923"/>
          </a:xfrm>
          <a:prstGeom prst="rect">
            <a:avLst/>
          </a:prstGeom>
        </p:spPr>
      </p:pic>
      <p:sp>
        <p:nvSpPr>
          <p:cNvPr id="25" name="Полилиния 24"/>
          <p:cNvSpPr/>
          <p:nvPr userDrawn="1"/>
        </p:nvSpPr>
        <p:spPr bwMode="auto">
          <a:xfrm>
            <a:off x="0" y="0"/>
            <a:ext cx="4838701" cy="6858000"/>
          </a:xfrm>
          <a:custGeom>
            <a:avLst/>
            <a:gdLst>
              <a:gd name="connsiteX0" fmla="*/ 786539 w 4838701"/>
              <a:gd name="connsiteY0" fmla="*/ 2133598 h 6858000"/>
              <a:gd name="connsiteX1" fmla="*/ 1639821 w 4838701"/>
              <a:gd name="connsiteY1" fmla="*/ 3171823 h 6858000"/>
              <a:gd name="connsiteX2" fmla="*/ 786539 w 4838701"/>
              <a:gd name="connsiteY2" fmla="*/ 4210048 h 6858000"/>
              <a:gd name="connsiteX3" fmla="*/ 57218 w 4838701"/>
              <a:gd name="connsiteY3" fmla="*/ 3751468 h 6858000"/>
              <a:gd name="connsiteX4" fmla="*/ 0 w 4838701"/>
              <a:gd name="connsiteY4" fmla="*/ 3604516 h 6858000"/>
              <a:gd name="connsiteX5" fmla="*/ 0 w 4838701"/>
              <a:gd name="connsiteY5" fmla="*/ 2740664 h 6858000"/>
              <a:gd name="connsiteX6" fmla="*/ 57218 w 4838701"/>
              <a:gd name="connsiteY6" fmla="*/ 2594690 h 6858000"/>
              <a:gd name="connsiteX7" fmla="*/ 786539 w 4838701"/>
              <a:gd name="connsiteY7" fmla="*/ 2133598 h 6858000"/>
              <a:gd name="connsiteX8" fmla="*/ 0 w 4838701"/>
              <a:gd name="connsiteY8" fmla="*/ 0 h 6858000"/>
              <a:gd name="connsiteX9" fmla="*/ 758686 w 4838701"/>
              <a:gd name="connsiteY9" fmla="*/ 0 h 6858000"/>
              <a:gd name="connsiteX10" fmla="*/ 710008 w 4838701"/>
              <a:gd name="connsiteY10" fmla="*/ 64545 h 6858000"/>
              <a:gd name="connsiteX11" fmla="*/ 305440 w 4838701"/>
              <a:gd name="connsiteY11" fmla="*/ 610601 h 6858000"/>
              <a:gd name="connsiteX12" fmla="*/ 311674 w 4838701"/>
              <a:gd name="connsiteY12" fmla="*/ 838097 h 6858000"/>
              <a:gd name="connsiteX13" fmla="*/ 498139 w 4838701"/>
              <a:gd name="connsiteY13" fmla="*/ 1004391 h 6858000"/>
              <a:gd name="connsiteX14" fmla="*/ 758973 w 4838701"/>
              <a:gd name="connsiteY14" fmla="*/ 1014827 h 6858000"/>
              <a:gd name="connsiteX15" fmla="*/ 1953325 w 4838701"/>
              <a:gd name="connsiteY15" fmla="*/ 0 h 6858000"/>
              <a:gd name="connsiteX16" fmla="*/ 3191959 w 4838701"/>
              <a:gd name="connsiteY16" fmla="*/ 0 h 6858000"/>
              <a:gd name="connsiteX17" fmla="*/ 3225359 w 4838701"/>
              <a:gd name="connsiteY17" fmla="*/ 22255 h 6858000"/>
              <a:gd name="connsiteX18" fmla="*/ 4838701 w 4838701"/>
              <a:gd name="connsiteY18" fmla="*/ 3185326 h 6858000"/>
              <a:gd name="connsiteX19" fmla="*/ 2324833 w 4838701"/>
              <a:gd name="connsiteY19" fmla="*/ 6828634 h 6858000"/>
              <a:gd name="connsiteX20" fmla="*/ 2239107 w 4838701"/>
              <a:gd name="connsiteY20" fmla="*/ 6858000 h 6858000"/>
              <a:gd name="connsiteX21" fmla="*/ 0 w 4838701"/>
              <a:gd name="connsiteY21" fmla="*/ 6858000 h 6858000"/>
              <a:gd name="connsiteX22" fmla="*/ 0 w 4838701"/>
              <a:gd name="connsiteY22" fmla="*/ 4907035 h 6858000"/>
              <a:gd name="connsiteX23" fmla="*/ 128075 w 4838701"/>
              <a:gd name="connsiteY23" fmla="*/ 4949125 h 6858000"/>
              <a:gd name="connsiteX24" fmla="*/ 789714 w 4838701"/>
              <a:gd name="connsiteY24" fmla="*/ 5029199 h 6858000"/>
              <a:gd name="connsiteX25" fmla="*/ 2711383 w 4838701"/>
              <a:gd name="connsiteY25" fmla="*/ 3169443 h 6858000"/>
              <a:gd name="connsiteX26" fmla="*/ 789714 w 4838701"/>
              <a:gd name="connsiteY26" fmla="*/ 1309687 h 6858000"/>
              <a:gd name="connsiteX27" fmla="*/ 142223 w 4838701"/>
              <a:gd name="connsiteY27" fmla="*/ 1396835 h 6858000"/>
              <a:gd name="connsiteX28" fmla="*/ 0 w 4838701"/>
              <a:gd name="connsiteY28" fmla="*/ 14447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838701" h="6858000" fill="norm" stroke="1" extrusionOk="0">
                <a:moveTo>
                  <a:pt x="786539" y="2133598"/>
                </a:moveTo>
                <a:cubicBezTo>
                  <a:pt x="1340344" y="2120898"/>
                  <a:pt x="1639821" y="2598427"/>
                  <a:pt x="1639821" y="3171823"/>
                </a:cubicBezTo>
                <a:cubicBezTo>
                  <a:pt x="1639821" y="3745219"/>
                  <a:pt x="1340344" y="4213223"/>
                  <a:pt x="786539" y="4210048"/>
                </a:cubicBezTo>
                <a:cubicBezTo>
                  <a:pt x="440411" y="4208064"/>
                  <a:pt x="193629" y="4026986"/>
                  <a:pt x="57218" y="3751468"/>
                </a:cubicBezTo>
                <a:lnTo>
                  <a:pt x="0" y="3604516"/>
                </a:lnTo>
                <a:lnTo>
                  <a:pt x="0" y="2740664"/>
                </a:lnTo>
                <a:lnTo>
                  <a:pt x="57218" y="2594690"/>
                </a:lnTo>
                <a:cubicBezTo>
                  <a:pt x="193629" y="2321125"/>
                  <a:pt x="440411" y="2141536"/>
                  <a:pt x="786539" y="2133598"/>
                </a:cubicBezTo>
                <a:close/>
                <a:moveTo>
                  <a:pt x="0" y="0"/>
                </a:moveTo>
                <a:lnTo>
                  <a:pt x="758686" y="0"/>
                </a:lnTo>
                <a:lnTo>
                  <a:pt x="710008" y="64545"/>
                </a:lnTo>
                <a:cubicBezTo>
                  <a:pt x="563598" y="260963"/>
                  <a:pt x="423636" y="452191"/>
                  <a:pt x="305440" y="610601"/>
                </a:cubicBezTo>
                <a:cubicBezTo>
                  <a:pt x="254203" y="666596"/>
                  <a:pt x="255679" y="786860"/>
                  <a:pt x="311674" y="838097"/>
                </a:cubicBezTo>
                <a:lnTo>
                  <a:pt x="498139" y="1004391"/>
                </a:lnTo>
                <a:cubicBezTo>
                  <a:pt x="577945" y="1079440"/>
                  <a:pt x="669636" y="1082728"/>
                  <a:pt x="758973" y="1014827"/>
                </a:cubicBezTo>
                <a:lnTo>
                  <a:pt x="1953325" y="0"/>
                </a:lnTo>
                <a:lnTo>
                  <a:pt x="3191959" y="0"/>
                </a:lnTo>
                <a:lnTo>
                  <a:pt x="3225359" y="22255"/>
                </a:lnTo>
                <a:cubicBezTo>
                  <a:pt x="4201760" y="725220"/>
                  <a:pt x="4838701" y="1879968"/>
                  <a:pt x="4838701" y="3185326"/>
                </a:cubicBezTo>
                <a:cubicBezTo>
                  <a:pt x="4838701" y="4858863"/>
                  <a:pt x="3791789" y="6284847"/>
                  <a:pt x="2324833" y="6828634"/>
                </a:cubicBezTo>
                <a:lnTo>
                  <a:pt x="2239107" y="6858000"/>
                </a:lnTo>
                <a:lnTo>
                  <a:pt x="0" y="6858000"/>
                </a:lnTo>
                <a:lnTo>
                  <a:pt x="0" y="4907035"/>
                </a:lnTo>
                <a:lnTo>
                  <a:pt x="128075" y="4949125"/>
                </a:lnTo>
                <a:cubicBezTo>
                  <a:pt x="324783" y="5002829"/>
                  <a:pt x="545177" y="5030985"/>
                  <a:pt x="789714" y="5029199"/>
                </a:cubicBezTo>
                <a:cubicBezTo>
                  <a:pt x="2093910" y="5019674"/>
                  <a:pt x="2711383" y="4196558"/>
                  <a:pt x="2711383" y="3169443"/>
                </a:cubicBezTo>
                <a:cubicBezTo>
                  <a:pt x="2711383" y="2142328"/>
                  <a:pt x="2055809" y="1300162"/>
                  <a:pt x="789714" y="1309687"/>
                </a:cubicBezTo>
                <a:cubicBezTo>
                  <a:pt x="552321" y="1311473"/>
                  <a:pt x="336392" y="1341862"/>
                  <a:pt x="142223" y="1396835"/>
                </a:cubicBezTo>
                <a:lnTo>
                  <a:pt x="0" y="14447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текс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Заголовок и текс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Заголовок и текс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текст с фоном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нумерованный список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2114" y="1598615"/>
            <a:ext cx="10412361" cy="4080312"/>
          </a:xfrm>
        </p:spPr>
        <p:txBody>
          <a:bodyPr lIns="36000" tIns="36000" rIns="36000" bIns="3600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/>
            </a:lvl1pPr>
          </a:lstStyle>
          <a:p>
            <a:pPr lvl="0">
              <a:defRPr/>
            </a:pPr>
            <a:r>
              <a:rPr lang="ru-RU"/>
              <a:t>Первый пункт</a:t>
            </a:r>
            <a:endParaRPr/>
          </a:p>
          <a:p>
            <a:pPr lvl="0">
              <a:defRPr/>
            </a:pPr>
            <a:r>
              <a:rPr lang="ru-RU"/>
              <a:t>Второй пункт </a:t>
            </a:r>
            <a:endParaRPr/>
          </a:p>
          <a:p>
            <a:pPr lvl="0">
              <a:defRPr/>
            </a:pPr>
            <a:r>
              <a:rPr lang="ru-RU"/>
              <a:t>Третий пункт </a:t>
            </a:r>
            <a:endParaRPr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нумерованный список в 2 колонки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865430" y="1129630"/>
            <a:ext cx="5415345" cy="4330604"/>
          </a:xfrm>
        </p:spPr>
        <p:txBody>
          <a:bodyPr lIns="36000" tIns="36000" rIns="36000" bIns="3600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/>
            </a:lvl1pPr>
          </a:lstStyle>
          <a:p>
            <a:pPr lvl="0">
              <a:defRPr/>
            </a:pPr>
            <a:r>
              <a:rPr lang="ru-RU"/>
              <a:t>Первый пункт</a:t>
            </a:r>
            <a:endParaRPr/>
          </a:p>
          <a:p>
            <a:pPr lvl="0">
              <a:defRPr/>
            </a:pPr>
            <a:r>
              <a:rPr lang="ru-RU"/>
              <a:t>Второй пункт </a:t>
            </a:r>
            <a:endParaRPr/>
          </a:p>
          <a:p>
            <a:pPr lvl="0">
              <a:defRPr/>
            </a:pPr>
            <a:r>
              <a:rPr lang="ru-RU"/>
              <a:t>Третий пункт 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74713" y="963647"/>
            <a:ext cx="4620740" cy="2467616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маркированный список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4902" y="1550099"/>
            <a:ext cx="10392696" cy="4172342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7132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маркированный список в 2 колонки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759776" y="1047774"/>
            <a:ext cx="5517821" cy="460028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74713" y="891219"/>
            <a:ext cx="4620740" cy="2467616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объект справ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67697" y="762915"/>
            <a:ext cx="4943168" cy="4645025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1376363"/>
            <a:ext cx="10579509" cy="4645025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01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_0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Страница разделитель 0</a:t>
            </a:r>
            <a:r>
              <a:rPr lang="en-US"/>
              <a:t>2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5914931" y="832620"/>
            <a:ext cx="4718608" cy="44355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998299" y="5424845"/>
            <a:ext cx="3200800" cy="226472"/>
          </a:xfrm>
          <a:prstGeom prst="rect">
            <a:avLst/>
          </a:prstGeom>
        </p:spPr>
      </p:pic>
      <p:sp>
        <p:nvSpPr>
          <p:cNvPr id="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азделитель_0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Страница разделитель 03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228784" y="934114"/>
            <a:ext cx="4812258" cy="452361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629800" y="5248056"/>
            <a:ext cx="2963437" cy="209677"/>
          </a:xfrm>
          <a:prstGeom prst="rect">
            <a:avLst/>
          </a:prstGeom>
        </p:spPr>
      </p:pic>
      <p:sp>
        <p:nvSpPr>
          <p:cNvPr id="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04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05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06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диаграмм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>
              <a:defRPr/>
            </a:pPr>
            <a:r>
              <a:rPr lang="ru-RU"/>
              <a:t>Описание диаграммы</a:t>
            </a:r>
            <a:endParaRPr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84902" y="1543169"/>
            <a:ext cx="7771376" cy="4179273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63282"/>
            <a:ext cx="10392696" cy="954310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круговая диаграмм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 bwMode="auto">
          <a:xfrm>
            <a:off x="6343436" y="441325"/>
            <a:ext cx="4938367" cy="1552267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75071" y="441325"/>
            <a:ext cx="4973493" cy="509715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ва объект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390967" y="1595563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84902" y="1595564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исунок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80704" y="1614516"/>
            <a:ext cx="5005388" cy="4060364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52264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 Рисунка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90535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90535" y="1514633"/>
            <a:ext cx="4782677" cy="289055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 bwMode="auto"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6518788" y="1504646"/>
            <a:ext cx="4782677" cy="2900543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Объект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 bwMode="auto"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 bwMode="auto"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 bwMode="auto"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следни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56007" y="3429000"/>
            <a:ext cx="6084888" cy="1133788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156007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56006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pPr>
              <a:defRPr/>
            </a:pPr>
            <a:r>
              <a:rPr lang="ru-RU"/>
              <a:t>Благодарю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следни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56006" y="3429000"/>
            <a:ext cx="6084888" cy="1133788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156006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56006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pPr>
              <a:defRPr/>
            </a:pPr>
            <a:r>
              <a:rPr lang="ru-RU"/>
              <a:t>Благодарю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36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>
        <a:lnSpc>
          <a:spcPct val="90000"/>
        </a:lnSpc>
        <a:spcBef>
          <a:spcPts val="500"/>
        </a:spcBef>
        <a:buFont typeface="Arial"/>
        <a:buNone/>
        <a:defRPr sz="1800" b="1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>
        <a:lnSpc>
          <a:spcPct val="90000"/>
        </a:lnSpc>
        <a:spcBef>
          <a:spcPts val="500"/>
        </a:spcBef>
        <a:buFont typeface="Arial"/>
        <a:buNone/>
        <a:defRPr sz="1800" b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>
        <a:lnSpc>
          <a:spcPct val="90000"/>
        </a:lnSpc>
        <a:spcBef>
          <a:spcPts val="500"/>
        </a:spcBef>
        <a:buFont typeface="Arial"/>
        <a:buNone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>
        <a:lnSpc>
          <a:spcPct val="90000"/>
        </a:lnSpc>
        <a:spcBef>
          <a:spcPts val="500"/>
        </a:spcBef>
        <a:buFont typeface="Arial"/>
        <a:buNone/>
        <a:defRPr sz="1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7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chart" Target="../charts/char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chart" Target="../charts/char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8.png"/><Relationship Id="rId31" Type="http://schemas.openxmlformats.org/officeDocument/2006/relationships/image" Target="../media/image49.png"/><Relationship Id="rId32" Type="http://schemas.openxmlformats.org/officeDocument/2006/relationships/image" Target="../media/image50.png"/><Relationship Id="rId33" Type="http://schemas.openxmlformats.org/officeDocument/2006/relationships/image" Target="../media/image51.png"/><Relationship Id="rId34" Type="http://schemas.openxmlformats.org/officeDocument/2006/relationships/image" Target="../media/image52.png"/><Relationship Id="rId35" Type="http://schemas.openxmlformats.org/officeDocument/2006/relationships/image" Target="../media/image53.png"/><Relationship Id="rId36" Type="http://schemas.openxmlformats.org/officeDocument/2006/relationships/image" Target="../media/image54.png"/><Relationship Id="rId37" Type="http://schemas.openxmlformats.org/officeDocument/2006/relationships/image" Target="../media/image55.png"/><Relationship Id="rId38" Type="http://schemas.openxmlformats.org/officeDocument/2006/relationships/image" Target="../media/image56.png"/><Relationship Id="rId39" Type="http://schemas.openxmlformats.org/officeDocument/2006/relationships/image" Target="../media/image57.png"/><Relationship Id="rId40" Type="http://schemas.openxmlformats.org/officeDocument/2006/relationships/image" Target="../media/image58.png"/><Relationship Id="rId41" Type="http://schemas.openxmlformats.org/officeDocument/2006/relationships/image" Target="../media/image59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76.png"/><Relationship Id="rId19" Type="http://schemas.openxmlformats.org/officeDocument/2006/relationships/image" Target="../media/image77.png"/><Relationship Id="rId20" Type="http://schemas.openxmlformats.org/officeDocument/2006/relationships/image" Target="../media/image78.png"/><Relationship Id="rId21" Type="http://schemas.openxmlformats.org/officeDocument/2006/relationships/image" Target="../media/image79.png"/><Relationship Id="rId22" Type="http://schemas.openxmlformats.org/officeDocument/2006/relationships/image" Target="../media/image80.png"/><Relationship Id="rId23" Type="http://schemas.openxmlformats.org/officeDocument/2006/relationships/image" Target="../media/image81.png"/><Relationship Id="rId24" Type="http://schemas.openxmlformats.org/officeDocument/2006/relationships/image" Target="../media/image82.png"/><Relationship Id="rId25" Type="http://schemas.openxmlformats.org/officeDocument/2006/relationships/image" Target="../media/image83.png"/><Relationship Id="rId26" Type="http://schemas.openxmlformats.org/officeDocument/2006/relationships/image" Target="../media/image84.png"/><Relationship Id="rId27" Type="http://schemas.openxmlformats.org/officeDocument/2006/relationships/image" Target="../media/image85.png"/><Relationship Id="rId28" Type="http://schemas.openxmlformats.org/officeDocument/2006/relationships/image" Target="../media/image86.png"/><Relationship Id="rId29" Type="http://schemas.openxmlformats.org/officeDocument/2006/relationships/image" Target="../media/image87.png"/><Relationship Id="rId30" Type="http://schemas.openxmlformats.org/officeDocument/2006/relationships/image" Target="../media/image88.png"/><Relationship Id="rId31" Type="http://schemas.openxmlformats.org/officeDocument/2006/relationships/image" Target="../media/image89.png"/><Relationship Id="rId32" Type="http://schemas.openxmlformats.org/officeDocument/2006/relationships/image" Target="../media/image90.png"/><Relationship Id="rId33" Type="http://schemas.openxmlformats.org/officeDocument/2006/relationships/image" Target="../media/image91.png"/><Relationship Id="rId34" Type="http://schemas.openxmlformats.org/officeDocument/2006/relationships/image" Target="../media/image92.png"/><Relationship Id="rId35" Type="http://schemas.openxmlformats.org/officeDocument/2006/relationships/image" Target="../media/image93.png"/><Relationship Id="rId36" Type="http://schemas.openxmlformats.org/officeDocument/2006/relationships/image" Target="../media/image94.png"/><Relationship Id="rId37" Type="http://schemas.openxmlformats.org/officeDocument/2006/relationships/image" Target="../media/image95.png"/><Relationship Id="rId38" Type="http://schemas.openxmlformats.org/officeDocument/2006/relationships/image" Target="../media/image96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146175" y="1405860"/>
            <a:ext cx="10329133" cy="311440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Стратегия ЭПД. Очная встреча ЦСВ-ЦП-ЦКС-СМАК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146176" y="4520265"/>
            <a:ext cx="6084888" cy="77655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/>
              <a:t>Блохина Елизавета, Юнусова Юлиана – группа продуктового запуска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4848634" cy="48131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>
                <a:latin typeface="Calibri"/>
                <a:ea typeface="Times New Roman"/>
              </a:rPr>
              <a:t>Актуальный анализ целевой аудитории 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/>
          <a:lstStyle/>
          <a:p>
            <a:pPr lvl="0">
              <a:tabLst>
                <a:tab pos="457200" algn="l"/>
              </a:tabLst>
              <a:defRPr/>
            </a:pPr>
            <a:r>
              <a:rPr lang="ru-RU" sz="1800">
                <a:latin typeface="Calibri"/>
                <a:ea typeface="Times New Roman"/>
              </a:rPr>
              <a:t>Два направления: TAM–SAM–SOM по сегменту маленьких перевозчиков и анализ клиентов — генераторов трафика.</a:t>
            </a:r>
            <a:endParaRPr lang="ru-RU" sz="1800">
              <a:latin typeface="Calibri"/>
              <a:ea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 bwMode="auto">
          <a:xfrm>
            <a:off x="882114" y="1598615"/>
            <a:ext cx="10412361" cy="4080312"/>
          </a:xfrm>
        </p:spPr>
        <p:txBody>
          <a:bodyPr/>
          <a:lstStyle/>
          <a:p>
            <a:pPr>
              <a:defRPr/>
            </a:pPr>
            <a:r>
              <a:rPr lang="ru-RU"/>
              <a:t>ТАМ: К ГИС ЭПД (по неподтвержденным источникам) на данный момент подключено 25 тыс. рублей </a:t>
            </a:r>
            <a:br>
              <a:rPr lang="ru-RU"/>
            </a:br>
            <a:r>
              <a:rPr lang="ru-RU"/>
              <a:t>Объем рынка на текущий момент – 200 </a:t>
            </a:r>
            <a:r>
              <a:rPr lang="ru-RU"/>
              <a:t>тыс</a:t>
            </a:r>
            <a:r>
              <a:rPr lang="ru-RU"/>
              <a:t>+ </a:t>
            </a:r>
            <a:r>
              <a:rPr lang="ru-RU"/>
              <a:t>перевозчков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SAM:  Объем рынка в городах с наибольшим уровнем индекса интереса </a:t>
            </a:r>
            <a:br>
              <a:rPr lang="ru-RU"/>
            </a:br>
            <a:r>
              <a:rPr lang="ru-RU"/>
              <a:t>5 городов – Красноярск, Новосибирск, Екатеринбург, Самара и Челябинск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 </a:t>
            </a:r>
            <a:r>
              <a:rPr lang="ru-RU" sz="1800">
                <a:latin typeface="Calibri"/>
                <a:ea typeface="Times New Roman"/>
              </a:rPr>
              <a:t>SOM: Наша база</a:t>
            </a:r>
            <a:br>
              <a:rPr lang="ru-RU" sz="1800">
                <a:latin typeface="Calibri"/>
                <a:ea typeface="Times New Roman"/>
              </a:rPr>
            </a:br>
            <a:r>
              <a:rPr lang="ru-RU" sz="1800">
                <a:latin typeface="Calibri"/>
                <a:ea typeface="Times New Roman"/>
              </a:rPr>
              <a:t>Анализ – 245 текущих клиентов</a:t>
            </a:r>
            <a:endParaRPr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600">
                <a:latin typeface="Calibri"/>
                <a:ea typeface="Times New Roman"/>
              </a:rPr>
              <a:t>TAM–SAM–SOM . Мелкие перевозчики.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 bwMode="auto">
          <a:xfrm>
            <a:off x="5865430" y="1129630"/>
            <a:ext cx="5415345" cy="4330604"/>
          </a:xfrm>
        </p:spPr>
        <p:txBody>
          <a:bodyPr/>
          <a:lstStyle/>
          <a:p>
            <a:pPr>
              <a:defRPr/>
            </a:pPr>
            <a:r>
              <a:rPr lang="ru-RU"/>
              <a:t>Красноярск 9 098</a:t>
            </a:r>
            <a:endParaRPr/>
          </a:p>
          <a:p>
            <a:pPr>
              <a:defRPr/>
            </a:pPr>
            <a:r>
              <a:rPr lang="ru-RU"/>
              <a:t>Новосибирск 11 324</a:t>
            </a:r>
            <a:endParaRPr/>
          </a:p>
          <a:p>
            <a:pPr>
              <a:defRPr/>
            </a:pPr>
            <a:r>
              <a:rPr lang="ru-RU"/>
              <a:t>Екатеринбург 2 810</a:t>
            </a:r>
            <a:endParaRPr/>
          </a:p>
          <a:p>
            <a:pPr>
              <a:defRPr/>
            </a:pPr>
            <a:r>
              <a:rPr lang="ru-RU"/>
              <a:t>Самара 11 203</a:t>
            </a:r>
            <a:endParaRPr/>
          </a:p>
          <a:p>
            <a:pPr>
              <a:defRPr/>
            </a:pPr>
            <a:r>
              <a:rPr lang="ru-RU"/>
              <a:t>Челябинск – 23 286 </a:t>
            </a:r>
            <a:endParaRPr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874713" y="963647"/>
            <a:ext cx="4620740" cy="246761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/>
              <a:t>Города и объем рынка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Как к ним зайти? 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 bwMode="auto">
          <a:xfrm>
            <a:off x="884238" y="1755775"/>
            <a:ext cx="10393362" cy="4013200"/>
          </a:xfrm>
        </p:spPr>
        <p:txBody>
          <a:bodyPr>
            <a:norm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3"/>
          <p:cNvSpPr>
            <a:spLocks noGrp="1"/>
          </p:cNvSpPr>
          <p:nvPr>
            <p:ph type="title"/>
          </p:nvPr>
        </p:nvSpPr>
        <p:spPr bwMode="auto">
          <a:xfrm>
            <a:off x="874713" y="441325"/>
            <a:ext cx="10406062" cy="5327879"/>
          </a:xfrm>
          <a:prstGeom prst="rect">
            <a:avLst/>
          </a:prstGeom>
          <a:solidFill>
            <a:srgbClr val="D64A4A">
              <a:alpha val="25000"/>
            </a:srgbClr>
          </a:solidFill>
        </p:spPr>
        <p:txBody>
          <a:bodyPr lIns="720000" tIns="36000" rIns="720000" bIns="36000" anchor="ctr" anchorCtr="0">
            <a:normAutofit/>
          </a:bodyPr>
          <a:lstStyle/>
          <a:p>
            <a:pPr>
              <a:defRPr/>
            </a:pPr>
            <a:r>
              <a:rPr lang="ru-RU"/>
              <a:t>Рабочая область</a:t>
            </a:r>
            <a:br>
              <a:rPr lang="en-US"/>
            </a:br>
            <a:br>
              <a:rPr lang="ru-RU"/>
            </a:br>
            <a:br>
              <a:rPr lang="ru-RU"/>
            </a:br>
            <a:r>
              <a:rPr lang="ru-RU" sz="1800" b="0"/>
              <a:t>Весь контент должен заключаться в этой области экрана. </a:t>
            </a:r>
            <a:br>
              <a:rPr lang="ru-RU" sz="1800" b="0"/>
            </a:br>
            <a:r>
              <a:rPr lang="ru-RU" sz="1800" b="0"/>
              <a:t>Такое зонирование позволит разместить текст и другую информацию </a:t>
            </a:r>
            <a:br>
              <a:rPr lang="ru-RU" sz="1800" b="0"/>
            </a:br>
            <a:r>
              <a:rPr lang="ru-RU" sz="1800" b="0"/>
              <a:t>в максимально комфортном для восприятия месте.</a:t>
            </a:r>
            <a:br>
              <a:rPr lang="ru-RU" sz="1800" b="0"/>
            </a:br>
            <a:br>
              <a:rPr lang="ru-RU" sz="1800" b="0"/>
            </a:br>
            <a:r>
              <a:rPr lang="ru-RU" sz="1800" b="0"/>
              <a:t>Так же в макете имеются направляющие, </a:t>
            </a:r>
            <a:br>
              <a:rPr lang="ru-RU" sz="1800" b="0"/>
            </a:br>
            <a:r>
              <a:rPr lang="ru-RU" sz="1800" b="0"/>
              <a:t>по которым можно выравнивать расположение объектов.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Слайды </a:t>
            </a:r>
            <a:br>
              <a:rPr lang="ru-RU"/>
            </a:br>
            <a:r>
              <a:rPr lang="ru-RU"/>
              <a:t>с текстом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/>
              <a:t>Иерархия заголовков</a:t>
            </a:r>
            <a:endParaRPr/>
          </a:p>
        </p:txBody>
      </p:sp>
      <p:sp>
        <p:nvSpPr>
          <p:cNvPr id="35" name="Объект 4"/>
          <p:cNvSpPr txBox="1"/>
          <p:nvPr/>
        </p:nvSpPr>
        <p:spPr bwMode="auto">
          <a:xfrm>
            <a:off x="874713" y="1703445"/>
            <a:ext cx="2309857" cy="336708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rmAutofit fontScale="92500" lnSpcReduction="2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defRPr/>
            </a:pPr>
            <a:r>
              <a:rPr lang="en-US" sz="1200" b="0"/>
              <a:t>60pt,Verdana Bold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Название презентации</a:t>
            </a:r>
            <a:endParaRPr/>
          </a:p>
        </p:txBody>
      </p:sp>
      <p:sp>
        <p:nvSpPr>
          <p:cNvPr id="36" name="Текст 11"/>
          <p:cNvSpPr txBox="1"/>
          <p:nvPr/>
        </p:nvSpPr>
        <p:spPr bwMode="auto">
          <a:xfrm>
            <a:off x="3435394" y="1340576"/>
            <a:ext cx="7521575" cy="61467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6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Н0 Заголовок</a:t>
            </a:r>
            <a:endParaRPr/>
          </a:p>
        </p:txBody>
      </p:sp>
      <p:sp>
        <p:nvSpPr>
          <p:cNvPr id="37" name="Текст 11"/>
          <p:cNvSpPr txBox="1"/>
          <p:nvPr/>
        </p:nvSpPr>
        <p:spPr bwMode="auto">
          <a:xfrm>
            <a:off x="3435394" y="2289670"/>
            <a:ext cx="7521575" cy="649432"/>
          </a:xfrm>
          <a:prstGeom prst="rect">
            <a:avLst/>
          </a:prstGeom>
        </p:spPr>
        <p:txBody>
          <a:bodyPr lIns="36000" tIns="36000" rIns="36000" bIns="36000" anchor="t" anchorCtr="0">
            <a:normAutofit fontScale="92500" lnSpcReduction="1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</a:t>
            </a:r>
            <a:r>
              <a:rPr lang="en-US"/>
              <a:t>1</a:t>
            </a:r>
            <a:r>
              <a:rPr lang="ru-RU"/>
              <a:t> Заглавие раздела</a:t>
            </a:r>
            <a:endParaRPr/>
          </a:p>
        </p:txBody>
      </p:sp>
      <p:sp>
        <p:nvSpPr>
          <p:cNvPr id="38" name="Текст 11"/>
          <p:cNvSpPr txBox="1"/>
          <p:nvPr/>
        </p:nvSpPr>
        <p:spPr bwMode="auto">
          <a:xfrm>
            <a:off x="3435394" y="3036996"/>
            <a:ext cx="7521575" cy="500836"/>
          </a:xfrm>
          <a:prstGeom prst="rect">
            <a:avLst/>
          </a:prstGeom>
        </p:spPr>
        <p:txBody>
          <a:bodyPr lIns="36000" tIns="36000" rIns="36000" bIns="36000" anchor="t" anchorCtr="0">
            <a:normAutofit fontScale="92500" lnSpcReduction="1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Н2 Заглавие подраздела</a:t>
            </a:r>
            <a:endParaRPr/>
          </a:p>
        </p:txBody>
      </p:sp>
      <p:sp>
        <p:nvSpPr>
          <p:cNvPr id="39" name="Текст 11"/>
          <p:cNvSpPr txBox="1"/>
          <p:nvPr/>
        </p:nvSpPr>
        <p:spPr bwMode="auto">
          <a:xfrm>
            <a:off x="3435394" y="3749827"/>
            <a:ext cx="7521575" cy="321850"/>
          </a:xfrm>
          <a:prstGeom prst="rect">
            <a:avLst/>
          </a:prstGeom>
        </p:spPr>
        <p:txBody>
          <a:bodyPr lIns="36000" tIns="36000" rIns="36000" bIns="36000" anchor="t" anchorCtr="0">
            <a:normAutofit fontScale="92500" lnSpcReduction="2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Н3 Заголовок для текста размером </a:t>
            </a:r>
            <a:r>
              <a:rPr lang="en-US"/>
              <a:t>18pt</a:t>
            </a:r>
            <a:endParaRPr lang="ru-RU"/>
          </a:p>
        </p:txBody>
      </p:sp>
      <p:sp>
        <p:nvSpPr>
          <p:cNvPr id="40" name="Текст 11"/>
          <p:cNvSpPr txBox="1"/>
          <p:nvPr/>
        </p:nvSpPr>
        <p:spPr bwMode="auto">
          <a:xfrm>
            <a:off x="3435394" y="4331187"/>
            <a:ext cx="7521575" cy="253420"/>
          </a:xfrm>
          <a:prstGeom prst="rect">
            <a:avLst/>
          </a:prstGeom>
        </p:spPr>
        <p:txBody>
          <a:bodyPr lIns="36000" tIns="36000" rIns="36000" bIns="36000" anchor="t" anchorCtr="0">
            <a:normAutofit fontScale="92500" lnSpcReduction="2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</a:t>
            </a:r>
            <a:r>
              <a:rPr lang="en-US"/>
              <a:t>4</a:t>
            </a:r>
            <a:r>
              <a:rPr lang="ru-RU"/>
              <a:t> Заголовок для текста размером </a:t>
            </a:r>
            <a:r>
              <a:rPr lang="en-US"/>
              <a:t>14pt</a:t>
            </a:r>
            <a:endParaRPr lang="ru-RU"/>
          </a:p>
        </p:txBody>
      </p:sp>
      <p:sp>
        <p:nvSpPr>
          <p:cNvPr id="41" name="Текст 11"/>
          <p:cNvSpPr txBox="1"/>
          <p:nvPr/>
        </p:nvSpPr>
        <p:spPr bwMode="auto">
          <a:xfrm>
            <a:off x="3435394" y="4837972"/>
            <a:ext cx="7521575" cy="251504"/>
          </a:xfrm>
          <a:prstGeom prst="rect">
            <a:avLst/>
          </a:prstGeom>
        </p:spPr>
        <p:txBody>
          <a:bodyPr lIns="36000" tIns="36000" rIns="36000" bIns="36000" anchor="t" anchorCtr="0">
            <a:normAutofit fontScale="85000" lnSpcReduction="2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В1 Текст размером </a:t>
            </a:r>
            <a:r>
              <a:rPr lang="en-US"/>
              <a:t>18pt</a:t>
            </a:r>
            <a:endParaRPr lang="ru-RU"/>
          </a:p>
        </p:txBody>
      </p:sp>
      <p:sp>
        <p:nvSpPr>
          <p:cNvPr id="42" name="Текст 11"/>
          <p:cNvSpPr txBox="1"/>
          <p:nvPr/>
        </p:nvSpPr>
        <p:spPr bwMode="auto">
          <a:xfrm>
            <a:off x="3435394" y="5455977"/>
            <a:ext cx="7521575" cy="186258"/>
          </a:xfrm>
          <a:prstGeom prst="rect">
            <a:avLst/>
          </a:prstGeom>
        </p:spPr>
        <p:txBody>
          <a:bodyPr lIns="36000" tIns="36000" rIns="36000" bIns="36000" anchor="t" anchorCtr="0">
            <a:normAutofit fontScale="70000" lnSpcReduction="2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</a:t>
            </a:r>
            <a:r>
              <a:rPr lang="en-US"/>
              <a:t>2</a:t>
            </a:r>
            <a:r>
              <a:rPr lang="ru-RU"/>
              <a:t> Текст размером </a:t>
            </a:r>
            <a:r>
              <a:rPr lang="en-US"/>
              <a:t>14pt</a:t>
            </a:r>
            <a:endParaRPr lang="ru-RU"/>
          </a:p>
        </p:txBody>
      </p:sp>
      <p:sp>
        <p:nvSpPr>
          <p:cNvPr id="43" name="Объект 4"/>
          <p:cNvSpPr txBox="1"/>
          <p:nvPr/>
        </p:nvSpPr>
        <p:spPr bwMode="auto">
          <a:xfrm>
            <a:off x="874714" y="2373718"/>
            <a:ext cx="2276520" cy="48133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defRPr/>
            </a:pPr>
            <a:r>
              <a:rPr lang="en-US" sz="1200" b="0"/>
              <a:t>48</a:t>
            </a:r>
            <a:r>
              <a:rPr lang="ru-RU" sz="1200" b="0"/>
              <a:t>pt, Verdana Bold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Заголовок раздела,</a:t>
            </a:r>
            <a:br>
              <a:rPr lang="en-US" sz="1200" b="0"/>
            </a:br>
            <a:r>
              <a:rPr lang="ru-RU" sz="1200" b="0"/>
              <a:t>разделительная страница</a:t>
            </a:r>
            <a:endParaRPr/>
          </a:p>
        </p:txBody>
      </p:sp>
      <p:sp>
        <p:nvSpPr>
          <p:cNvPr id="44" name="Объект 4"/>
          <p:cNvSpPr txBox="1"/>
          <p:nvPr/>
        </p:nvSpPr>
        <p:spPr bwMode="auto">
          <a:xfrm>
            <a:off x="884238" y="3137978"/>
            <a:ext cx="2266995" cy="2988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defRPr/>
            </a:pPr>
            <a:r>
              <a:rPr lang="en-US" sz="1200" b="0"/>
              <a:t>36</a:t>
            </a:r>
            <a:r>
              <a:rPr lang="ru-RU" sz="1200" b="0"/>
              <a:t>pt, Verdana Bold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Заголовок слайда</a:t>
            </a:r>
            <a:endParaRPr/>
          </a:p>
        </p:txBody>
      </p:sp>
      <p:sp>
        <p:nvSpPr>
          <p:cNvPr id="45" name="Объект 4"/>
          <p:cNvSpPr txBox="1"/>
          <p:nvPr/>
        </p:nvSpPr>
        <p:spPr bwMode="auto">
          <a:xfrm>
            <a:off x="927145" y="3761316"/>
            <a:ext cx="2220913" cy="2988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defRPr/>
            </a:pPr>
            <a:r>
              <a:rPr lang="en-US" sz="1200" b="0"/>
              <a:t>24</a:t>
            </a:r>
            <a:r>
              <a:rPr lang="ru-RU" sz="1200" b="0"/>
              <a:t>pt, Verdana Bold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Заголовок для текста 1</a:t>
            </a:r>
            <a:r>
              <a:rPr lang="en-US" sz="1200" b="0"/>
              <a:t>8</a:t>
            </a:r>
            <a:r>
              <a:rPr lang="ru-RU" sz="1200" b="0"/>
              <a:t>pt</a:t>
            </a:r>
            <a:endParaRPr/>
          </a:p>
        </p:txBody>
      </p:sp>
      <p:sp>
        <p:nvSpPr>
          <p:cNvPr id="46" name="Объект 4"/>
          <p:cNvSpPr txBox="1"/>
          <p:nvPr/>
        </p:nvSpPr>
        <p:spPr bwMode="auto">
          <a:xfrm>
            <a:off x="927145" y="4308461"/>
            <a:ext cx="2220913" cy="2988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defRPr/>
            </a:pPr>
            <a:r>
              <a:rPr lang="ru-RU" sz="1200" b="0"/>
              <a:t>1</a:t>
            </a:r>
            <a:r>
              <a:rPr lang="en-US" sz="1200" b="0"/>
              <a:t>8</a:t>
            </a:r>
            <a:r>
              <a:rPr lang="ru-RU" sz="1200" b="0"/>
              <a:t>pt, Verdana Bold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Заголовок для текста 1</a:t>
            </a:r>
            <a:r>
              <a:rPr lang="en-US" sz="1200" b="0"/>
              <a:t>4</a:t>
            </a:r>
            <a:r>
              <a:rPr lang="ru-RU" sz="1200" b="0"/>
              <a:t>pt</a:t>
            </a:r>
            <a:endParaRPr/>
          </a:p>
        </p:txBody>
      </p:sp>
      <p:sp>
        <p:nvSpPr>
          <p:cNvPr id="47" name="Объект 4"/>
          <p:cNvSpPr txBox="1"/>
          <p:nvPr/>
        </p:nvSpPr>
        <p:spPr bwMode="auto">
          <a:xfrm>
            <a:off x="958101" y="4814289"/>
            <a:ext cx="2220913" cy="2988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defRPr/>
            </a:pPr>
            <a:r>
              <a:rPr lang="en-US" sz="1200" b="0"/>
              <a:t>18pt, Verdana Regular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Текст небольшого объёма</a:t>
            </a:r>
            <a:endParaRPr/>
          </a:p>
        </p:txBody>
      </p:sp>
      <p:sp>
        <p:nvSpPr>
          <p:cNvPr id="48" name="Объект 4"/>
          <p:cNvSpPr txBox="1"/>
          <p:nvPr/>
        </p:nvSpPr>
        <p:spPr bwMode="auto">
          <a:xfrm>
            <a:off x="927144" y="5308438"/>
            <a:ext cx="2220913" cy="48133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defRPr/>
            </a:pPr>
            <a:r>
              <a:rPr lang="ru-RU" sz="1200" b="0"/>
              <a:t>1</a:t>
            </a:r>
            <a:r>
              <a:rPr lang="en-US" sz="1200" b="0"/>
              <a:t>4</a:t>
            </a:r>
            <a:r>
              <a:rPr lang="ru-RU" sz="1200" b="0"/>
              <a:t>pt, Verdana Regular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Текст большого объема,</a:t>
            </a:r>
            <a:endParaRPr/>
          </a:p>
          <a:p>
            <a:pPr algn="r">
              <a:spcBef>
                <a:spcPts val="0"/>
              </a:spcBef>
              <a:defRPr/>
            </a:pPr>
            <a:r>
              <a:rPr lang="ru-RU" sz="1200" b="0"/>
              <a:t> диаграмм и графиков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/>
          <p:cNvSpPr/>
          <p:nvPr/>
        </p:nvSpPr>
        <p:spPr bwMode="auto">
          <a:xfrm>
            <a:off x="592141" y="1323974"/>
            <a:ext cx="11012484" cy="4629150"/>
          </a:xfrm>
          <a:prstGeom prst="roundRect">
            <a:avLst>
              <a:gd name="adj" fmla="val 308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1825922"/>
            <a:ext cx="6973222" cy="54580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Что такое автоматизация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914402" y="2683172"/>
            <a:ext cx="3724273" cy="32097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400" b="1"/>
              <a:t>Автоматизация</a:t>
            </a:r>
            <a:endParaRPr/>
          </a:p>
        </p:txBody>
      </p:sp>
      <p:sp>
        <p:nvSpPr>
          <p:cNvPr id="5" name="Текст 2"/>
          <p:cNvSpPr txBox="1"/>
          <p:nvPr/>
        </p:nvSpPr>
        <p:spPr bwMode="auto">
          <a:xfrm>
            <a:off x="884902" y="1495425"/>
            <a:ext cx="2752723" cy="3209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 lnSpcReduction="1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000"/>
              <a:t>Вектор 2024</a:t>
            </a:r>
            <a:endParaRPr/>
          </a:p>
        </p:txBody>
      </p:sp>
      <p:sp>
        <p:nvSpPr>
          <p:cNvPr id="6" name="Текст 2"/>
          <p:cNvSpPr txBox="1"/>
          <p:nvPr/>
        </p:nvSpPr>
        <p:spPr bwMode="auto">
          <a:xfrm>
            <a:off x="914402" y="3205572"/>
            <a:ext cx="5619747" cy="155915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— применение технических средств, экономико-математических методов </a:t>
            </a:r>
            <a:br>
              <a:rPr lang="ru-RU"/>
            </a:br>
            <a:r>
              <a:rPr lang="ru-RU"/>
              <a:t>и систем управления, освобождающих человека частично или полностью от непосредственного участия в процессах получения, преобразования, передачи и использования энергии, материалов или информации.</a:t>
            </a:r>
            <a:endParaRPr/>
          </a:p>
        </p:txBody>
      </p:sp>
      <p:sp>
        <p:nvSpPr>
          <p:cNvPr id="7" name="Текст 2"/>
          <p:cNvSpPr txBox="1"/>
          <p:nvPr/>
        </p:nvSpPr>
        <p:spPr bwMode="auto">
          <a:xfrm>
            <a:off x="914403" y="5550048"/>
            <a:ext cx="1485898" cy="3209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/>
              <a:t>Это интересно!</a:t>
            </a:r>
            <a:endParaRPr/>
          </a:p>
        </p:txBody>
      </p:sp>
      <p:cxnSp>
        <p:nvCxnSpPr>
          <p:cNvPr id="9" name="Прямая соединительная линия 8"/>
          <p:cNvCxnSpPr>
            <a:cxnSpLocks/>
          </p:cNvCxnSpPr>
          <p:nvPr/>
        </p:nvCxnSpPr>
        <p:spPr bwMode="auto">
          <a:xfrm>
            <a:off x="7858125" y="2103437"/>
            <a:ext cx="12954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3095625" y="1617662"/>
            <a:ext cx="6057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cxnSpLocks/>
          </p:cNvCxnSpPr>
          <p:nvPr/>
        </p:nvCxnSpPr>
        <p:spPr bwMode="auto">
          <a:xfrm>
            <a:off x="3848100" y="2865437"/>
            <a:ext cx="53054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cxnSpLocks/>
          </p:cNvCxnSpPr>
          <p:nvPr/>
        </p:nvCxnSpPr>
        <p:spPr bwMode="auto">
          <a:xfrm>
            <a:off x="6429375" y="3975622"/>
            <a:ext cx="2724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cxnSpLocks/>
          </p:cNvCxnSpPr>
          <p:nvPr/>
        </p:nvCxnSpPr>
        <p:spPr bwMode="auto">
          <a:xfrm>
            <a:off x="2571750" y="5635773"/>
            <a:ext cx="658177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Текст 2"/>
          <p:cNvSpPr txBox="1"/>
          <p:nvPr/>
        </p:nvSpPr>
        <p:spPr bwMode="auto">
          <a:xfrm>
            <a:off x="9563098" y="1495425"/>
            <a:ext cx="1108075" cy="32097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000"/>
              <a:t>20 </a:t>
            </a:r>
            <a:r>
              <a:rPr lang="en-US" sz="2000"/>
              <a:t>px</a:t>
            </a:r>
            <a:endParaRPr lang="ru-RU" sz="2000"/>
          </a:p>
        </p:txBody>
      </p:sp>
      <p:sp>
        <p:nvSpPr>
          <p:cNvPr id="21" name="Текст 2"/>
          <p:cNvSpPr txBox="1"/>
          <p:nvPr/>
        </p:nvSpPr>
        <p:spPr bwMode="auto">
          <a:xfrm>
            <a:off x="9563098" y="1874247"/>
            <a:ext cx="1595438" cy="44915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3600"/>
              <a:t>36 </a:t>
            </a:r>
            <a:r>
              <a:rPr lang="en-US" sz="3600"/>
              <a:t>px</a:t>
            </a:r>
            <a:endParaRPr lang="ru-RU" sz="3600"/>
          </a:p>
        </p:txBody>
      </p:sp>
      <p:sp>
        <p:nvSpPr>
          <p:cNvPr id="24" name="Текст 2"/>
          <p:cNvSpPr txBox="1"/>
          <p:nvPr/>
        </p:nvSpPr>
        <p:spPr bwMode="auto">
          <a:xfrm>
            <a:off x="9563098" y="2683172"/>
            <a:ext cx="1228725" cy="320966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400"/>
              <a:t>24 </a:t>
            </a:r>
            <a:r>
              <a:rPr lang="en-US" sz="2400"/>
              <a:t>px</a:t>
            </a:r>
            <a:endParaRPr lang="ru-RU" sz="2400"/>
          </a:p>
        </p:txBody>
      </p:sp>
      <p:sp>
        <p:nvSpPr>
          <p:cNvPr id="25" name="Текст 2"/>
          <p:cNvSpPr txBox="1"/>
          <p:nvPr/>
        </p:nvSpPr>
        <p:spPr bwMode="auto">
          <a:xfrm>
            <a:off x="9563098" y="3824661"/>
            <a:ext cx="657225" cy="3209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 fontScale="85000" lnSpcReduction="10000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18 </a:t>
            </a:r>
            <a:r>
              <a:rPr lang="en-US"/>
              <a:t>px</a:t>
            </a:r>
            <a:endParaRPr lang="ru-RU"/>
          </a:p>
        </p:txBody>
      </p:sp>
      <p:sp>
        <p:nvSpPr>
          <p:cNvPr id="26" name="Текст 2"/>
          <p:cNvSpPr txBox="1"/>
          <p:nvPr/>
        </p:nvSpPr>
        <p:spPr bwMode="auto">
          <a:xfrm>
            <a:off x="9563098" y="5550048"/>
            <a:ext cx="657225" cy="32097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/>
              <a:t>14 </a:t>
            </a:r>
            <a:r>
              <a:rPr lang="en-US" sz="1400"/>
              <a:t>px</a:t>
            </a:r>
            <a:endParaRPr lang="ru-RU" sz="1400"/>
          </a:p>
        </p:txBody>
      </p:sp>
      <p:sp>
        <p:nvSpPr>
          <p:cNvPr id="27" name="Заголовок 3"/>
          <p:cNvSpPr txBox="1"/>
          <p:nvPr/>
        </p:nvSpPr>
        <p:spPr bwMode="auto">
          <a:xfrm>
            <a:off x="884902" y="447986"/>
            <a:ext cx="10392696" cy="98527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Пример размеров шрифтов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445325"/>
            <a:ext cx="10392696" cy="4172342"/>
          </a:xfrm>
        </p:spPr>
        <p:txBody>
          <a:bodyPr/>
          <a:lstStyle/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489381"/>
          </a:xfrm>
        </p:spPr>
        <p:txBody>
          <a:bodyPr>
            <a:noAutofit/>
          </a:bodyPr>
          <a:lstStyle/>
          <a:p>
            <a:pPr marL="0" indent="0">
              <a:defRPr/>
            </a:pPr>
            <a:r>
              <a:rPr lang="ru-RU"/>
              <a:t>Маркированный список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 bwMode="auto">
          <a:xfrm>
            <a:off x="5759776" y="1219224"/>
            <a:ext cx="5517821" cy="4600281"/>
          </a:xfrm>
        </p:spPr>
        <p:txBody>
          <a:bodyPr/>
          <a:lstStyle/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914403" y="1047774"/>
            <a:ext cx="4412963" cy="1042674"/>
          </a:xfrm>
        </p:spPr>
        <p:txBody>
          <a:bodyPr>
            <a:noAutofit/>
          </a:bodyPr>
          <a:lstStyle/>
          <a:p>
            <a:pPr marL="0" indent="0">
              <a:defRPr/>
            </a:pPr>
            <a:r>
              <a:rPr lang="ru-RU"/>
              <a:t>Маркированный список №</a:t>
            </a:r>
            <a:r>
              <a:rPr lang="en-US"/>
              <a:t>2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ru-RU"/>
              <a:t>Информация </a:t>
            </a:r>
            <a:br>
              <a:rPr lang="ru-RU"/>
            </a:br>
            <a:r>
              <a:rPr lang="ru-RU" b="0"/>
              <a:t>в колонках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/>
              <a:t>Информация с тремя колонками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1289050" y="303309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>
              <a:defRPr/>
            </a:pPr>
            <a:r>
              <a:rPr lang="ru-RU" b="1"/>
              <a:t>Название раздела.</a:t>
            </a:r>
            <a:endParaRPr/>
          </a:p>
          <a:p>
            <a:pPr>
              <a:defRPr/>
            </a:pPr>
            <a:r>
              <a:rPr lang="ru-RU" b="1"/>
              <a:t>Заголовок.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7943850" y="303309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>
              <a:defRPr/>
            </a:pPr>
            <a:r>
              <a:rPr lang="ru-RU" b="1"/>
              <a:t>Название раздела.</a:t>
            </a:r>
            <a:endParaRPr/>
          </a:p>
          <a:p>
            <a:pPr>
              <a:defRPr/>
            </a:pPr>
            <a:r>
              <a:rPr lang="ru-RU" b="1"/>
              <a:t>Заголовок.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4616450" y="303309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>
              <a:defRPr/>
            </a:pPr>
            <a:r>
              <a:rPr lang="ru-RU" b="1"/>
              <a:t>Название раздела.</a:t>
            </a:r>
            <a:endParaRPr/>
          </a:p>
          <a:p>
            <a:pPr>
              <a:defRPr/>
            </a:pPr>
            <a:r>
              <a:rPr lang="ru-RU" b="1"/>
              <a:t>Заголовок.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  <a:endParaRPr/>
          </a:p>
        </p:txBody>
      </p:sp>
      <p:sp>
        <p:nvSpPr>
          <p:cNvPr id="7" name="Овал 6"/>
          <p:cNvSpPr/>
          <p:nvPr/>
        </p:nvSpPr>
        <p:spPr bwMode="auto">
          <a:xfrm>
            <a:off x="2033587" y="1771650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Овал 7"/>
          <p:cNvSpPr/>
          <p:nvPr/>
        </p:nvSpPr>
        <p:spPr bwMode="auto">
          <a:xfrm>
            <a:off x="5360987" y="1771649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вал 8"/>
          <p:cNvSpPr/>
          <p:nvPr/>
        </p:nvSpPr>
        <p:spPr bwMode="auto">
          <a:xfrm>
            <a:off x="8675688" y="1771649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/>
              <a:t>Информация с четырьмя колонками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1313016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 algn="ctr">
              <a:defRPr/>
            </a:pPr>
            <a:r>
              <a:rPr lang="ru-RU" b="1"/>
              <a:t>Название раздела.</a:t>
            </a:r>
            <a:endParaRPr/>
          </a:p>
          <a:p>
            <a:pPr algn="ctr">
              <a:defRPr/>
            </a:pPr>
            <a:r>
              <a:rPr lang="ru-RU" b="1"/>
              <a:t>Заголовок.</a:t>
            </a:r>
            <a:endParaRPr/>
          </a:p>
          <a:p>
            <a:pPr algn="ctr">
              <a:defRPr/>
            </a:pPr>
            <a:endParaRPr lang="ru-RU" sz="1400"/>
          </a:p>
          <a:p>
            <a:pPr algn="ctr">
              <a:defRPr/>
            </a:pPr>
            <a:r>
              <a:rPr lang="ru-RU" sz="1400"/>
              <a:t>Душа моя озарена неземной радостью, как эти чудесные весенние утра</a:t>
            </a:r>
            <a:endParaRPr/>
          </a:p>
        </p:txBody>
      </p:sp>
      <p:sp>
        <p:nvSpPr>
          <p:cNvPr id="11" name="Овал 10"/>
          <p:cNvSpPr/>
          <p:nvPr/>
        </p:nvSpPr>
        <p:spPr bwMode="auto">
          <a:xfrm>
            <a:off x="1801966" y="1895165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Овал 11"/>
          <p:cNvSpPr/>
          <p:nvPr/>
        </p:nvSpPr>
        <p:spPr bwMode="auto">
          <a:xfrm>
            <a:off x="4190624" y="1895166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Овал 12"/>
          <p:cNvSpPr/>
          <p:nvPr/>
        </p:nvSpPr>
        <p:spPr bwMode="auto">
          <a:xfrm>
            <a:off x="8967941" y="1895165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TextBox 13"/>
          <p:cNvSpPr txBox="1"/>
          <p:nvPr/>
        </p:nvSpPr>
        <p:spPr bwMode="auto">
          <a:xfrm>
            <a:off x="3701674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 algn="ctr">
              <a:defRPr/>
            </a:pPr>
            <a:r>
              <a:rPr lang="ru-RU" b="1"/>
              <a:t>Название раздела.</a:t>
            </a:r>
            <a:endParaRPr/>
          </a:p>
          <a:p>
            <a:pPr algn="ctr">
              <a:defRPr/>
            </a:pPr>
            <a:r>
              <a:rPr lang="ru-RU" b="1"/>
              <a:t>Заголовок.</a:t>
            </a:r>
            <a:endParaRPr/>
          </a:p>
          <a:p>
            <a:pPr algn="ctr">
              <a:defRPr/>
            </a:pPr>
            <a:endParaRPr lang="ru-RU" sz="1400"/>
          </a:p>
          <a:p>
            <a:pPr algn="ctr">
              <a:defRPr/>
            </a:pPr>
            <a:r>
              <a:rPr lang="ru-RU" sz="1400"/>
              <a:t>Душа моя озарена неземной радостью, как эти чудесные весенние утра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6090332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 algn="ctr">
              <a:defRPr/>
            </a:pPr>
            <a:r>
              <a:rPr lang="ru-RU" b="1"/>
              <a:t>Название раздела.</a:t>
            </a:r>
            <a:endParaRPr/>
          </a:p>
          <a:p>
            <a:pPr algn="ctr">
              <a:defRPr/>
            </a:pPr>
            <a:r>
              <a:rPr lang="ru-RU" b="1"/>
              <a:t>Заголовок.</a:t>
            </a:r>
            <a:endParaRPr/>
          </a:p>
          <a:p>
            <a:pPr algn="ctr">
              <a:defRPr/>
            </a:pPr>
            <a:endParaRPr lang="ru-RU" sz="1400"/>
          </a:p>
          <a:p>
            <a:pPr algn="ctr">
              <a:defRPr/>
            </a:pPr>
            <a:r>
              <a:rPr lang="ru-RU" sz="1400"/>
              <a:t>Душа моя озарена неземной радостью, как эти чудесные весенние утра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8478991" y="3476278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 algn="ctr">
              <a:defRPr/>
            </a:pPr>
            <a:r>
              <a:rPr lang="ru-RU" b="1"/>
              <a:t>Название раздела.</a:t>
            </a:r>
            <a:endParaRPr/>
          </a:p>
          <a:p>
            <a:pPr algn="ctr">
              <a:defRPr/>
            </a:pPr>
            <a:r>
              <a:rPr lang="ru-RU" b="1"/>
              <a:t>Заголовок.</a:t>
            </a:r>
            <a:endParaRPr/>
          </a:p>
          <a:p>
            <a:pPr algn="ctr">
              <a:defRPr/>
            </a:pPr>
            <a:endParaRPr lang="ru-RU" sz="1400"/>
          </a:p>
          <a:p>
            <a:pPr algn="ctr">
              <a:defRPr/>
            </a:pPr>
            <a:r>
              <a:rPr lang="ru-RU" sz="1400"/>
              <a:t>Душа моя озарена неземной радостью, как эти чудесные весенние утра</a:t>
            </a:r>
            <a:endParaRPr/>
          </a:p>
        </p:txBody>
      </p:sp>
      <p:sp>
        <p:nvSpPr>
          <p:cNvPr id="17" name="Овал 16"/>
          <p:cNvSpPr/>
          <p:nvPr/>
        </p:nvSpPr>
        <p:spPr bwMode="auto">
          <a:xfrm>
            <a:off x="6579282" y="1895166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Слайды </a:t>
            </a:r>
            <a:br>
              <a:rPr lang="ru-RU"/>
            </a:br>
            <a:r>
              <a:rPr lang="ru-RU"/>
              <a:t>с фотографиями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 bwMode="auto">
          <a:xfrm>
            <a:off x="6096000" y="2489588"/>
            <a:ext cx="5196348" cy="3185292"/>
          </a:xfrm>
        </p:spPr>
        <p:txBody>
          <a:bodyPr anchor="t"/>
          <a:lstStyle/>
          <a:p>
            <a:pPr>
              <a:defRPr/>
            </a:pPr>
            <a:r>
              <a:rPr lang="ru-RU"/>
              <a:t>Описание фотографии</a:t>
            </a:r>
            <a:endParaRPr/>
          </a:p>
        </p:txBody>
      </p:sp>
      <p:pic>
        <p:nvPicPr>
          <p:cNvPr id="6" name="Рисунок 5"/>
          <p:cNvPicPr>
            <a:picLocks noChangeAspect="1" noGrp="1"/>
          </p:cNvPicPr>
          <p:nvPr>
            <p:ph type="pic" sz="quarter" idx="13"/>
          </p:nvPr>
        </p:nvPicPr>
        <p:blipFill>
          <a:blip r:embed="rId2"/>
          <a:srcRect l="0" t="9" r="0" b="9"/>
          <a:stretch/>
        </p:blipFill>
        <p:spPr bwMode="auto">
          <a:xfrm>
            <a:off x="880704" y="1614516"/>
            <a:ext cx="5005388" cy="4060364"/>
          </a:xfrm>
          <a:prstGeom prst="rect">
            <a:avLst/>
          </a:prstGeom>
        </p:spPr>
      </p:pic>
      <p:sp>
        <p:nvSpPr>
          <p:cNvPr id="10" name="Текст 9"/>
          <p:cNvSpPr>
            <a:spLocks noGrp="1"/>
          </p:cNvSpPr>
          <p:nvPr>
            <p:ph type="body" sz="half" idx="14"/>
          </p:nvPr>
        </p:nvSpPr>
        <p:spPr bwMode="auto">
          <a:xfrm>
            <a:off x="6096000" y="1614516"/>
            <a:ext cx="5196348" cy="715962"/>
          </a:xfrm>
        </p:spPr>
        <p:txBody>
          <a:bodyPr/>
          <a:lstStyle/>
          <a:p>
            <a:pPr>
              <a:defRPr/>
            </a:pPr>
            <a:r>
              <a:rPr lang="ru-RU"/>
              <a:t>Название</a:t>
            </a:r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 bwMode="auto">
          <a:xfrm>
            <a:off x="884902" y="452264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/>
              <a:t>Слайд с фото или скриншотом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half" idx="2"/>
          </p:nvPr>
        </p:nvSpPr>
        <p:spPr bwMode="auto">
          <a:xfrm>
            <a:off x="890535" y="4965410"/>
            <a:ext cx="4782677" cy="715962"/>
          </a:xfrm>
        </p:spPr>
        <p:txBody>
          <a:bodyPr anchor="ctr"/>
          <a:lstStyle/>
          <a:p>
            <a:pPr>
              <a:defRPr/>
            </a:pPr>
            <a:r>
              <a:rPr lang="ru-RU"/>
              <a:t>Описание фотографии</a:t>
            </a:r>
            <a:endParaRPr/>
          </a:p>
        </p:txBody>
      </p:sp>
      <p:pic>
        <p:nvPicPr>
          <p:cNvPr id="17" name="Рисунок 16"/>
          <p:cNvPicPr>
            <a:picLocks noChangeAspect="1" noGrp="1"/>
          </p:cNvPicPr>
          <p:nvPr>
            <p:ph type="pic" sz="quarter" idx="13"/>
          </p:nvPr>
        </p:nvPicPr>
        <p:blipFill>
          <a:blip r:embed="rId2"/>
          <a:srcRect l="0" t="3577" r="0" b="3575"/>
          <a:stretch/>
        </p:blipFill>
        <p:spPr bwMode="auto">
          <a:xfrm>
            <a:off x="890535" y="1514633"/>
            <a:ext cx="4782677" cy="2890556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half" idx="14"/>
          </p:nvPr>
        </p:nvSpPr>
        <p:spPr bwMode="auto">
          <a:xfrm>
            <a:off x="890535" y="4536785"/>
            <a:ext cx="4782677" cy="428625"/>
          </a:xfrm>
        </p:spPr>
        <p:txBody>
          <a:bodyPr/>
          <a:lstStyle/>
          <a:p>
            <a:pPr>
              <a:defRPr/>
            </a:pPr>
            <a:r>
              <a:rPr lang="ru-RU"/>
              <a:t>Название</a:t>
            </a:r>
            <a:endParaRPr/>
          </a:p>
        </p:txBody>
      </p:sp>
      <p:sp>
        <p:nvSpPr>
          <p:cNvPr id="14" name="Текст 13"/>
          <p:cNvSpPr>
            <a:spLocks noGrp="1"/>
          </p:cNvSpPr>
          <p:nvPr>
            <p:ph type="body" sz="half" idx="16"/>
          </p:nvPr>
        </p:nvSpPr>
        <p:spPr bwMode="auto">
          <a:xfrm>
            <a:off x="6518788" y="4965410"/>
            <a:ext cx="4782677" cy="715962"/>
          </a:xfrm>
        </p:spPr>
        <p:txBody>
          <a:bodyPr anchor="ctr"/>
          <a:lstStyle/>
          <a:p>
            <a:pPr>
              <a:defRPr/>
            </a:pPr>
            <a:r>
              <a:rPr lang="ru-RU"/>
              <a:t>Описание фотографии</a:t>
            </a:r>
            <a:endParaRPr/>
          </a:p>
        </p:txBody>
      </p:sp>
      <p:pic>
        <p:nvPicPr>
          <p:cNvPr id="18" name="Рисунок 17"/>
          <p:cNvPicPr>
            <a:picLocks noChangeAspect="1" noGrp="1"/>
          </p:cNvPicPr>
          <p:nvPr>
            <p:ph type="pic" sz="quarter" idx="17"/>
          </p:nvPr>
        </p:nvPicPr>
        <p:blipFill>
          <a:blip r:embed="rId3"/>
          <a:srcRect l="0" t="3241" r="0" b="3239"/>
          <a:stretch/>
        </p:blipFill>
        <p:spPr bwMode="auto">
          <a:xfrm>
            <a:off x="6518788" y="1504646"/>
            <a:ext cx="4782677" cy="2900543"/>
          </a:xfrm>
          <a:prstGeom prst="rect">
            <a:avLst/>
          </a:prstGeom>
        </p:spPr>
      </p:pic>
      <p:sp>
        <p:nvSpPr>
          <p:cNvPr id="8" name="Текст 7"/>
          <p:cNvSpPr>
            <a:spLocks noGrp="1"/>
          </p:cNvSpPr>
          <p:nvPr>
            <p:ph type="body" sz="half" idx="18"/>
          </p:nvPr>
        </p:nvSpPr>
        <p:spPr bwMode="auto">
          <a:xfrm>
            <a:off x="6518788" y="4536784"/>
            <a:ext cx="4782677" cy="428625"/>
          </a:xfrm>
        </p:spPr>
        <p:txBody>
          <a:bodyPr/>
          <a:lstStyle/>
          <a:p>
            <a:pPr>
              <a:defRPr/>
            </a:pPr>
            <a:r>
              <a:rPr lang="ru-RU"/>
              <a:t>Название</a:t>
            </a:r>
            <a:endParaRPr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/>
              <a:t>Слайд с фото или скриншотом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Графики </a:t>
            </a:r>
            <a:br>
              <a:rPr lang="ru-RU"/>
            </a:br>
            <a:r>
              <a:rPr lang="ru-RU"/>
              <a:t>и диаграммы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>
            <a:graphicFrameLocks xmlns:a="http://schemas.openxmlformats.org/drawingml/2006/main"/>
          </p:cNvGraphicFramePr>
          <p:nvPr/>
        </p:nvGraphicFramePr>
        <p:xfrm>
          <a:off x="936625" y="1325563"/>
          <a:ext cx="10274300" cy="4427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Заголовок 8"/>
          <p:cNvSpPr txBox="1"/>
          <p:nvPr/>
        </p:nvSpPr>
        <p:spPr bwMode="auto">
          <a:xfrm>
            <a:off x="884238" y="441325"/>
            <a:ext cx="10393362" cy="9858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Пример диаграммы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/>
          <p:nvPr/>
        </p:nvSpPr>
        <p:spPr bwMode="auto">
          <a:xfrm>
            <a:off x="955675" y="1143000"/>
            <a:ext cx="2881312" cy="45307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defRPr/>
            </a:pPr>
            <a:r>
              <a:rPr lang="ru-RU" sz="3600">
                <a:latin typeface="Verdana"/>
                <a:ea typeface="Verdana"/>
              </a:rPr>
              <a:t>Название графика</a:t>
            </a:r>
            <a:endParaRPr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800" b="0">
                <a:latin typeface="Verdana"/>
                <a:ea typeface="Verdana"/>
              </a:rPr>
              <a:t>Описание графика – для чего данные, </a:t>
            </a:r>
            <a:endParaRPr lang="en-US" sz="1800" b="0">
              <a:latin typeface="Verdana"/>
              <a:ea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800" b="0">
                <a:latin typeface="Verdana"/>
                <a:ea typeface="Verdana"/>
              </a:rPr>
              <a:t>что дают, пояснение</a:t>
            </a:r>
            <a:endParaRPr/>
          </a:p>
          <a:p>
            <a:pPr>
              <a:defRPr/>
            </a:pPr>
            <a:endParaRPr lang="ru-RU" sz="1800" b="0">
              <a:latin typeface="Verdana"/>
              <a:ea typeface="Verdana"/>
            </a:endParaRPr>
          </a:p>
        </p:txBody>
      </p:sp>
      <p:graphicFrame>
        <p:nvGraphicFramePr>
          <p:cNvPr id="6" name="Диаграмма 5"/>
          <p:cNvGraphicFramePr>
            <a:graphicFrameLocks xmlns:a="http://schemas.openxmlformats.org/drawingml/2006/main"/>
          </p:cNvGraphicFramePr>
          <p:nvPr/>
        </p:nvGraphicFramePr>
        <p:xfrm>
          <a:off x="4229100" y="1143000"/>
          <a:ext cx="6511925" cy="484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/>
              <a:t>Пример таблицы</a:t>
            </a:r>
            <a:endParaRPr/>
          </a:p>
        </p:txBody>
      </p:sp>
      <p:graphicFrame>
        <p:nvGraphicFramePr>
          <p:cNvPr id="8" name="Объект 3"/>
          <p:cNvGraphicFramePr>
            <a:graphicFrameLocks xmlns:a="http://schemas.openxmlformats.org/drawingml/2006/main"/>
          </p:cNvGraphicFramePr>
          <p:nvPr/>
        </p:nvGraphicFramePr>
        <p:xfrm>
          <a:off x="888997" y="1472904"/>
          <a:ext cx="10398127" cy="4305298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051137"/>
                <a:gridCol w="1937185"/>
                <a:gridCol w="1937185"/>
                <a:gridCol w="2535435"/>
                <a:gridCol w="1937185"/>
              </a:tblGrid>
              <a:tr h="92859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Важные показатели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solidFill>
                        <a:schemeClr val="accent1"/>
                      </a:solidFill>
                      <a:prstDash val="solid"/>
                    </a:lnL>
                    <a:lnR w="12700" algn="ctr">
                      <a:solidFill>
                        <a:schemeClr val="accent1"/>
                      </a:solidFill>
                      <a:prstDash val="solid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12700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CF6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Цифровые</a:t>
                      </a:r>
                      <a:br>
                        <a:rPr lang="ru-RU" sz="1400" b="1" u="none" strike="noStrike">
                          <a:latin typeface="Verdana"/>
                          <a:ea typeface="Verdana"/>
                        </a:rPr>
                      </a:b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данные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solidFill>
                        <a:schemeClr val="accent1"/>
                      </a:solidFill>
                      <a:prstDash val="solid"/>
                    </a:lnL>
                    <a:lnR w="12700" algn="ctr">
                      <a:solidFill>
                        <a:schemeClr val="accent1"/>
                      </a:solidFill>
                      <a:prstDash val="solid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12700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CF6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Какие-то</a:t>
                      </a:r>
                      <a:br>
                        <a:rPr lang="ru-RU" sz="1400" b="1" u="none" strike="noStrike">
                          <a:latin typeface="Verdana"/>
                          <a:ea typeface="Verdana"/>
                        </a:rPr>
                      </a:b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проценты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solidFill>
                        <a:schemeClr val="accent1"/>
                      </a:solidFill>
                      <a:prstDash val="solid"/>
                    </a:lnL>
                    <a:lnR w="12700" algn="ctr">
                      <a:solidFill>
                        <a:schemeClr val="accent1"/>
                      </a:solidFill>
                      <a:prstDash val="solid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12700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CF6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Ещё цифровые</a:t>
                      </a:r>
                      <a:br>
                        <a:rPr lang="ru-RU" sz="1400" b="1" u="none" strike="noStrike">
                          <a:latin typeface="Verdana"/>
                          <a:ea typeface="Verdana"/>
                        </a:rPr>
                      </a:b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данные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solidFill>
                        <a:schemeClr val="accent1"/>
                      </a:solidFill>
                      <a:prstDash val="solid"/>
                    </a:lnL>
                    <a:lnR w="12700" algn="ctr">
                      <a:solidFill>
                        <a:schemeClr val="accent1"/>
                      </a:solidFill>
                      <a:prstDash val="solid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12700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CF6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Ещё какие-то</a:t>
                      </a:r>
                      <a:br>
                        <a:rPr lang="ru-RU" sz="1400" b="1" u="none" strike="noStrike">
                          <a:latin typeface="Verdana"/>
                          <a:ea typeface="Verdana"/>
                        </a:rPr>
                      </a:br>
                      <a:r>
                        <a:rPr lang="ru-RU" sz="1400" b="1" u="none" strike="noStrike">
                          <a:latin typeface="Verdana"/>
                          <a:ea typeface="Verdana"/>
                        </a:rPr>
                        <a:t>проценты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solidFill>
                        <a:schemeClr val="accent1"/>
                      </a:solidFill>
                      <a:prstDash val="solid"/>
                    </a:lnL>
                    <a:lnR w="12700" algn="ctr">
                      <a:solidFill>
                        <a:schemeClr val="accent1"/>
                      </a:solidFill>
                      <a:prstDash val="solid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12700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CF66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2013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302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50%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302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-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12700" algn="ctr">
                      <a:solidFill>
                        <a:schemeClr val="accent1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2014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407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47%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407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11%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2015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445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36%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445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-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2016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472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42%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472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13%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2017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511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54%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511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12%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2018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509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55%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509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13%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2019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534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53%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534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21%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20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2020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6350" algn="ctr">
                      <a:solidFill>
                        <a:srgbClr val="CAC8C8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545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57%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545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dashDot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u="none" strike="noStrike">
                          <a:latin typeface="Verdana"/>
                          <a:ea typeface="Verdana"/>
                        </a:rPr>
                        <a:t>22%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</a:endParaRPr>
                    </a:p>
                  </a:txBody>
                  <a:tcPr marL="9525" marR="9525" marT="9525" marB="0" anchor="ctr">
                    <a:lnL w="12700" algn="ctr">
                      <a:noFill/>
                      <a:prstDash val="dashDot"/>
                    </a:lnL>
                    <a:lnR w="6350" algn="ctr">
                      <a:solidFill>
                        <a:srgbClr val="CAC8C8"/>
                      </a:solidFill>
                      <a:prstDash val="solid"/>
                    </a:lnR>
                    <a:lnT w="6350" algn="ctr">
                      <a:solidFill>
                        <a:srgbClr val="CAC8C8"/>
                      </a:solidFill>
                      <a:prstDash val="solid"/>
                    </a:lnT>
                    <a:lnB w="6350" algn="ctr">
                      <a:solidFill>
                        <a:srgbClr val="CAC8C8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Визуальные элементы</a:t>
            </a:r>
            <a:br>
              <a:rPr lang="ru-RU"/>
            </a:br>
            <a:r>
              <a:rPr lang="ru-RU" sz="4000" b="0"/>
              <a:t>Иконки, росчерки</a:t>
            </a:r>
            <a:endParaRPr lang="ru-RU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 bwMode="auto">
          <a:xfrm>
            <a:off x="1156007" y="3429000"/>
            <a:ext cx="6084888" cy="1133788"/>
          </a:xfrm>
        </p:spPr>
        <p:txBody>
          <a:bodyPr/>
          <a:lstStyle/>
          <a:p>
            <a:pPr>
              <a:defRPr/>
            </a:pPr>
            <a:r>
              <a:rPr lang="ru-RU"/>
              <a:t>Иван Иванов </a:t>
            </a:r>
            <a:endParaRPr/>
          </a:p>
          <a:p>
            <a:pPr>
              <a:defRPr/>
            </a:pPr>
            <a:r>
              <a:rPr lang="ru-RU"/>
              <a:t>Автор презентации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 bwMode="auto">
          <a:xfrm>
            <a:off x="1156007" y="4588768"/>
            <a:ext cx="3770313" cy="62865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/>
              <a:t>(3952) 78-00-00</a:t>
            </a:r>
            <a:endParaRPr/>
          </a:p>
          <a:p>
            <a:pPr>
              <a:defRPr/>
            </a:pPr>
            <a:r>
              <a:rPr lang="en-US"/>
              <a:t>info@forus.ru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Благодарю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/>
              <a:t>Иконки цветные</a:t>
            </a:r>
            <a:endParaRPr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17267" y="2644054"/>
            <a:ext cx="654673" cy="654981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6747" y="1888768"/>
            <a:ext cx="654673" cy="654673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72386" y="3496342"/>
            <a:ext cx="304798" cy="304798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72386" y="3959142"/>
            <a:ext cx="304798" cy="304798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789934" y="3470658"/>
            <a:ext cx="1080000" cy="1080000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810378" y="3470658"/>
            <a:ext cx="1080000" cy="10800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4789934" y="2540396"/>
            <a:ext cx="1080000" cy="10800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5803409" y="1645287"/>
            <a:ext cx="1080000" cy="108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5803409" y="2540396"/>
            <a:ext cx="1080000" cy="1080000"/>
          </a:xfrm>
          <a:prstGeom prst="rect">
            <a:avLst/>
          </a:prstGeom>
        </p:spPr>
      </p:pic>
      <p:pic>
        <p:nvPicPr>
          <p:cNvPr id="38" name="Рисунок 37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4789934" y="1645287"/>
            <a:ext cx="1080000" cy="1080000"/>
          </a:xfrm>
          <a:prstGeom prst="rect">
            <a:avLst/>
          </a:prstGeom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6810378" y="1645287"/>
            <a:ext cx="1080000" cy="1080000"/>
          </a:xfrm>
          <a:prstGeom prst="rect">
            <a:avLst/>
          </a:prstGeom>
        </p:spPr>
      </p:pic>
      <p:pic>
        <p:nvPicPr>
          <p:cNvPr id="40" name="Рисунок 39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>
            <a:off x="5803409" y="3470658"/>
            <a:ext cx="1080000" cy="1080000"/>
          </a:xfrm>
          <a:prstGeom prst="rect">
            <a:avLst/>
          </a:prstGeom>
        </p:spPr>
      </p:pic>
      <p:pic>
        <p:nvPicPr>
          <p:cNvPr id="41" name="Рисунок 40"/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6810378" y="2540396"/>
            <a:ext cx="1080000" cy="1080000"/>
          </a:xfrm>
          <a:prstGeom prst="rect">
            <a:avLst/>
          </a:prstGeom>
        </p:spPr>
      </p:pic>
      <p:pic>
        <p:nvPicPr>
          <p:cNvPr id="42" name="Рисунок 41"/>
          <p:cNvPicPr>
            <a:picLocks noChangeAspect="1"/>
          </p:cNvPicPr>
          <p:nvPr/>
        </p:nvPicPr>
        <p:blipFill>
          <a:blip r:embed="rId15"/>
          <a:stretch/>
        </p:blipFill>
        <p:spPr bwMode="auto">
          <a:xfrm>
            <a:off x="1072386" y="4421942"/>
            <a:ext cx="304798" cy="304798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>
          <a:blip r:embed="rId16"/>
          <a:stretch/>
        </p:blipFill>
        <p:spPr bwMode="auto">
          <a:xfrm>
            <a:off x="2904119" y="3705899"/>
            <a:ext cx="520685" cy="520685"/>
          </a:xfrm>
          <a:prstGeom prst="rect">
            <a:avLst/>
          </a:prstGeom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2904119" y="4330957"/>
            <a:ext cx="520685" cy="520685"/>
          </a:xfrm>
          <a:prstGeom prst="rect">
            <a:avLst/>
          </a:prstGeom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18"/>
          <a:stretch/>
        </p:blipFill>
        <p:spPr bwMode="auto">
          <a:xfrm>
            <a:off x="2907009" y="1848068"/>
            <a:ext cx="514905" cy="514905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19"/>
          <a:stretch/>
        </p:blipFill>
        <p:spPr bwMode="auto">
          <a:xfrm>
            <a:off x="2907009" y="2467345"/>
            <a:ext cx="514905" cy="514905"/>
          </a:xfrm>
          <a:prstGeom prst="rect">
            <a:avLst/>
          </a:prstGeom>
        </p:spPr>
      </p:pic>
      <p:pic>
        <p:nvPicPr>
          <p:cNvPr id="47" name="Рисунок 46"/>
          <p:cNvPicPr>
            <a:picLocks noChangeAspect="1"/>
          </p:cNvPicPr>
          <p:nvPr/>
        </p:nvPicPr>
        <p:blipFill>
          <a:blip r:embed="rId20"/>
          <a:stretch/>
        </p:blipFill>
        <p:spPr bwMode="auto">
          <a:xfrm>
            <a:off x="2907009" y="3086622"/>
            <a:ext cx="514905" cy="514905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21"/>
          <a:stretch/>
        </p:blipFill>
        <p:spPr bwMode="auto">
          <a:xfrm>
            <a:off x="2254005" y="3090884"/>
            <a:ext cx="514905" cy="514905"/>
          </a:xfrm>
          <a:prstGeom prst="rect">
            <a:avLst/>
          </a:prstGeom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22"/>
          <a:stretch/>
        </p:blipFill>
        <p:spPr bwMode="auto">
          <a:xfrm>
            <a:off x="2254005" y="4336737"/>
            <a:ext cx="514905" cy="514905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23"/>
          <a:stretch/>
        </p:blipFill>
        <p:spPr bwMode="auto">
          <a:xfrm>
            <a:off x="2254005" y="2467345"/>
            <a:ext cx="514905" cy="514905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>
            <a:off x="2254005" y="3704285"/>
            <a:ext cx="514905" cy="514905"/>
          </a:xfrm>
          <a:prstGeom prst="rect">
            <a:avLst/>
          </a:prstGeom>
        </p:spPr>
      </p:pic>
      <p:pic>
        <p:nvPicPr>
          <p:cNvPr id="52" name="Рисунок 51"/>
          <p:cNvPicPr>
            <a:picLocks noChangeAspect="1"/>
          </p:cNvPicPr>
          <p:nvPr/>
        </p:nvPicPr>
        <p:blipFill>
          <a:blip r:embed="rId25"/>
          <a:stretch/>
        </p:blipFill>
        <p:spPr bwMode="auto">
          <a:xfrm>
            <a:off x="2254005" y="1834893"/>
            <a:ext cx="514905" cy="514905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/>
        </p:nvPicPr>
        <p:blipFill>
          <a:blip r:embed="rId26"/>
          <a:stretch/>
        </p:blipFill>
        <p:spPr bwMode="auto">
          <a:xfrm>
            <a:off x="7805334" y="3470658"/>
            <a:ext cx="1080000" cy="108000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/>
        </p:nvPicPr>
        <p:blipFill>
          <a:blip r:embed="rId27"/>
          <a:stretch/>
        </p:blipFill>
        <p:spPr bwMode="auto">
          <a:xfrm>
            <a:off x="3875379" y="1645287"/>
            <a:ext cx="1080000" cy="1080000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/>
        </p:nvPicPr>
        <p:blipFill>
          <a:blip r:embed="rId28"/>
          <a:stretch/>
        </p:blipFill>
        <p:spPr bwMode="auto">
          <a:xfrm>
            <a:off x="7830626" y="1670579"/>
            <a:ext cx="1029417" cy="1029417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/>
        </p:nvPicPr>
        <p:blipFill>
          <a:blip r:embed="rId29"/>
          <a:stretch/>
        </p:blipFill>
        <p:spPr bwMode="auto">
          <a:xfrm>
            <a:off x="7805334" y="2540396"/>
            <a:ext cx="1080000" cy="1080000"/>
          </a:xfrm>
          <a:prstGeom prst="rect">
            <a:avLst/>
          </a:prstGeom>
        </p:spPr>
      </p:pic>
      <p:pic>
        <p:nvPicPr>
          <p:cNvPr id="62" name="Рисунок 61"/>
          <p:cNvPicPr>
            <a:picLocks noChangeAspect="1"/>
          </p:cNvPicPr>
          <p:nvPr/>
        </p:nvPicPr>
        <p:blipFill>
          <a:blip r:embed="rId30"/>
          <a:stretch/>
        </p:blipFill>
        <p:spPr bwMode="auto">
          <a:xfrm>
            <a:off x="8820311" y="3606027"/>
            <a:ext cx="809262" cy="809262"/>
          </a:xfrm>
          <a:prstGeom prst="rect">
            <a:avLst/>
          </a:prstGeom>
        </p:spPr>
      </p:pic>
      <p:pic>
        <p:nvPicPr>
          <p:cNvPr id="64" name="Рисунок 63"/>
          <p:cNvPicPr>
            <a:picLocks noChangeAspect="1"/>
          </p:cNvPicPr>
          <p:nvPr/>
        </p:nvPicPr>
        <p:blipFill>
          <a:blip r:embed="rId31"/>
          <a:stretch/>
        </p:blipFill>
        <p:spPr bwMode="auto">
          <a:xfrm>
            <a:off x="4011758" y="2675765"/>
            <a:ext cx="807243" cy="809262"/>
          </a:xfrm>
          <a:prstGeom prst="rect">
            <a:avLst/>
          </a:prstGeom>
        </p:spPr>
      </p:pic>
      <p:pic>
        <p:nvPicPr>
          <p:cNvPr id="66" name="Рисунок 65"/>
          <p:cNvPicPr>
            <a:picLocks noChangeAspect="1"/>
          </p:cNvPicPr>
          <p:nvPr/>
        </p:nvPicPr>
        <p:blipFill>
          <a:blip r:embed="rId32"/>
          <a:stretch/>
        </p:blipFill>
        <p:spPr bwMode="auto">
          <a:xfrm>
            <a:off x="8843675" y="2700079"/>
            <a:ext cx="762535" cy="760634"/>
          </a:xfrm>
          <a:prstGeom prst="rect">
            <a:avLst/>
          </a:prstGeom>
        </p:spPr>
      </p:pic>
      <p:pic>
        <p:nvPicPr>
          <p:cNvPr id="68" name="Рисунок 67"/>
          <p:cNvPicPr>
            <a:picLocks noChangeAspect="1"/>
          </p:cNvPicPr>
          <p:nvPr/>
        </p:nvPicPr>
        <p:blipFill>
          <a:blip r:embed="rId33"/>
          <a:stretch/>
        </p:blipFill>
        <p:spPr bwMode="auto">
          <a:xfrm>
            <a:off x="4010748" y="3606027"/>
            <a:ext cx="809262" cy="809262"/>
          </a:xfrm>
          <a:prstGeom prst="rect">
            <a:avLst/>
          </a:prstGeom>
        </p:spPr>
      </p:pic>
      <p:pic>
        <p:nvPicPr>
          <p:cNvPr id="70" name="Рисунок 69"/>
          <p:cNvPicPr>
            <a:picLocks noChangeAspect="1"/>
          </p:cNvPicPr>
          <p:nvPr/>
        </p:nvPicPr>
        <p:blipFill>
          <a:blip r:embed="rId34"/>
          <a:stretch/>
        </p:blipFill>
        <p:spPr bwMode="auto">
          <a:xfrm>
            <a:off x="8843675" y="1804020"/>
            <a:ext cx="762535" cy="762535"/>
          </a:xfrm>
          <a:prstGeom prst="rect">
            <a:avLst/>
          </a:prstGeom>
        </p:spPr>
      </p:pic>
      <p:pic>
        <p:nvPicPr>
          <p:cNvPr id="117" name="Рисунок 116"/>
          <p:cNvPicPr>
            <a:picLocks noChangeAspect="1"/>
          </p:cNvPicPr>
          <p:nvPr/>
        </p:nvPicPr>
        <p:blipFill>
          <a:blip r:embed="rId35"/>
          <a:stretch/>
        </p:blipFill>
        <p:spPr bwMode="auto">
          <a:xfrm>
            <a:off x="10018842" y="1670579"/>
            <a:ext cx="1011938" cy="969266"/>
          </a:xfrm>
          <a:prstGeom prst="rect">
            <a:avLst/>
          </a:prstGeom>
        </p:spPr>
      </p:pic>
      <p:pic>
        <p:nvPicPr>
          <p:cNvPr id="118" name="Рисунок 117"/>
          <p:cNvPicPr>
            <a:picLocks noChangeAspect="1"/>
          </p:cNvPicPr>
          <p:nvPr/>
        </p:nvPicPr>
        <p:blipFill>
          <a:blip r:embed="rId36"/>
          <a:stretch/>
        </p:blipFill>
        <p:spPr bwMode="auto">
          <a:xfrm>
            <a:off x="10018842" y="2509723"/>
            <a:ext cx="1011938" cy="969266"/>
          </a:xfrm>
          <a:prstGeom prst="rect">
            <a:avLst/>
          </a:prstGeom>
        </p:spPr>
      </p:pic>
      <p:pic>
        <p:nvPicPr>
          <p:cNvPr id="119" name="Рисунок 118"/>
          <p:cNvPicPr>
            <a:picLocks noChangeAspect="1"/>
          </p:cNvPicPr>
          <p:nvPr/>
        </p:nvPicPr>
        <p:blipFill>
          <a:blip r:embed="rId37"/>
          <a:stretch/>
        </p:blipFill>
        <p:spPr bwMode="auto">
          <a:xfrm>
            <a:off x="10018842" y="3348869"/>
            <a:ext cx="1011938" cy="969266"/>
          </a:xfrm>
          <a:prstGeom prst="rect">
            <a:avLst/>
          </a:prstGeom>
        </p:spPr>
      </p:pic>
      <p:pic>
        <p:nvPicPr>
          <p:cNvPr id="120" name="Рисунок 119"/>
          <p:cNvPicPr>
            <a:picLocks noChangeAspect="1"/>
          </p:cNvPicPr>
          <p:nvPr/>
        </p:nvPicPr>
        <p:blipFill>
          <a:blip r:embed="rId38"/>
          <a:stretch/>
        </p:blipFill>
        <p:spPr bwMode="auto">
          <a:xfrm>
            <a:off x="10018842" y="4188014"/>
            <a:ext cx="1011938" cy="969266"/>
          </a:xfrm>
          <a:prstGeom prst="rect">
            <a:avLst/>
          </a:prstGeom>
        </p:spPr>
      </p:pic>
      <p:pic>
        <p:nvPicPr>
          <p:cNvPr id="121" name="Рисунок 120"/>
          <p:cNvPicPr>
            <a:picLocks noChangeAspect="1"/>
          </p:cNvPicPr>
          <p:nvPr/>
        </p:nvPicPr>
        <p:blipFill>
          <a:blip r:embed="rId39"/>
          <a:stretch/>
        </p:blipFill>
        <p:spPr bwMode="auto">
          <a:xfrm>
            <a:off x="10018842" y="5027158"/>
            <a:ext cx="1011938" cy="969266"/>
          </a:xfrm>
          <a:prstGeom prst="rect">
            <a:avLst/>
          </a:prstGeom>
        </p:spPr>
      </p:pic>
      <p:pic>
        <p:nvPicPr>
          <p:cNvPr id="123" name="Рисунок 122"/>
          <p:cNvPicPr>
            <a:picLocks noChangeAspect="1"/>
          </p:cNvPicPr>
          <p:nvPr/>
        </p:nvPicPr>
        <p:blipFill>
          <a:blip r:embed="rId40"/>
          <a:stretch/>
        </p:blipFill>
        <p:spPr bwMode="auto">
          <a:xfrm>
            <a:off x="4045695" y="4501136"/>
            <a:ext cx="782506" cy="782506"/>
          </a:xfrm>
          <a:prstGeom prst="rect">
            <a:avLst/>
          </a:prstGeom>
        </p:spPr>
      </p:pic>
      <p:pic>
        <p:nvPicPr>
          <p:cNvPr id="125" name="Рисунок 124"/>
          <p:cNvPicPr>
            <a:picLocks noChangeAspect="1"/>
          </p:cNvPicPr>
          <p:nvPr/>
        </p:nvPicPr>
        <p:blipFill>
          <a:blip r:embed="rId41"/>
          <a:stretch/>
        </p:blipFill>
        <p:spPr bwMode="auto">
          <a:xfrm>
            <a:off x="4958842" y="4501136"/>
            <a:ext cx="782506" cy="78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2"/>
          <p:cNvSpPr txBox="1"/>
          <p:nvPr/>
        </p:nvSpPr>
        <p:spPr bwMode="auto">
          <a:xfrm>
            <a:off x="899652" y="464392"/>
            <a:ext cx="10392696" cy="489381"/>
          </a:xfrm>
          <a:prstGeom prst="rect">
            <a:avLst/>
          </a:prstGeom>
        </p:spPr>
        <p:txBody>
          <a:bodyPr vert="horz" lIns="36000" tIns="36000" rIns="36000" bIns="36000" rtlCol="0" anchor="b" anchorCtr="0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Черно-белые иконки</a:t>
            </a:r>
            <a:endParaRPr/>
          </a:p>
        </p:txBody>
      </p:sp>
      <p:pic>
        <p:nvPicPr>
          <p:cNvPr id="5" name="Picture 2" descr="D:\лена раб\Форус и прочее\Корпрынок Дизайн\для презы\8\4-57.pn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641138" y="1640399"/>
            <a:ext cx="893735" cy="857256"/>
          </a:xfrm>
          <a:prstGeom prst="rect">
            <a:avLst/>
          </a:prstGeom>
          <a:noFill/>
        </p:spPr>
      </p:pic>
      <p:pic>
        <p:nvPicPr>
          <p:cNvPr id="6" name="Picture 3" descr="D:\лена раб\Форус и прочее\Корпрынок Дизайн\для презы\8\4-58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605683" y="1640399"/>
            <a:ext cx="893735" cy="857256"/>
          </a:xfrm>
          <a:prstGeom prst="rect">
            <a:avLst/>
          </a:prstGeom>
          <a:noFill/>
        </p:spPr>
      </p:pic>
      <p:pic>
        <p:nvPicPr>
          <p:cNvPr id="7" name="Picture 4" descr="D:\лена раб\Форус и прочее\Корпрынок Дизайн\для презы\8\4-59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320195" y="1640399"/>
            <a:ext cx="893735" cy="857256"/>
          </a:xfrm>
          <a:prstGeom prst="rect">
            <a:avLst/>
          </a:prstGeom>
          <a:noFill/>
        </p:spPr>
      </p:pic>
      <p:pic>
        <p:nvPicPr>
          <p:cNvPr id="8" name="Picture 5" descr="D:\лена раб\Форус и прочее\Корпрынок Дизайн\для презы\8\4-60.png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4641270" y="1640399"/>
            <a:ext cx="893735" cy="857256"/>
          </a:xfrm>
          <a:prstGeom prst="rect">
            <a:avLst/>
          </a:prstGeom>
          <a:noFill/>
        </p:spPr>
      </p:pic>
      <p:pic>
        <p:nvPicPr>
          <p:cNvPr id="9" name="Picture 6" descr="D:\лена раб\Форус и прочее\Корпрынок Дизайн\для презы\8\4-61.png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7320195" y="2499272"/>
            <a:ext cx="893735" cy="857256"/>
          </a:xfrm>
          <a:prstGeom prst="rect">
            <a:avLst/>
          </a:prstGeom>
          <a:noFill/>
        </p:spPr>
      </p:pic>
      <p:pic>
        <p:nvPicPr>
          <p:cNvPr id="10" name="Picture 7" descr="D:\лена раб\Форус и прочее\Корпрынок Дизайн\для презы\8\4-62.png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6427220" y="1640399"/>
            <a:ext cx="893735" cy="857256"/>
          </a:xfrm>
          <a:prstGeom prst="rect">
            <a:avLst/>
          </a:prstGeom>
          <a:noFill/>
        </p:spPr>
      </p:pic>
      <p:pic>
        <p:nvPicPr>
          <p:cNvPr id="11" name="Picture 8" descr="D:\лена раб\Форус и прочее\Корпрынок Дизайн\для презы\8\4-47.png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6427220" y="2499272"/>
            <a:ext cx="893735" cy="857256"/>
          </a:xfrm>
          <a:prstGeom prst="rect">
            <a:avLst/>
          </a:prstGeom>
          <a:noFill/>
        </p:spPr>
      </p:pic>
      <p:pic>
        <p:nvPicPr>
          <p:cNvPr id="12" name="Picture 9" descr="D:\лена раб\Форус и прочее\Корпрынок Дизайн\для презы\8\4-48.png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5605683" y="2499272"/>
            <a:ext cx="893735" cy="857256"/>
          </a:xfrm>
          <a:prstGeom prst="rect">
            <a:avLst/>
          </a:prstGeom>
          <a:noFill/>
        </p:spPr>
      </p:pic>
      <p:pic>
        <p:nvPicPr>
          <p:cNvPr id="13" name="Picture 10" descr="D:\лена раб\Форус и прочее\Корпрынок Дизайн\для презы\8\4-49.png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3641138" y="2499272"/>
            <a:ext cx="893735" cy="857256"/>
          </a:xfrm>
          <a:prstGeom prst="rect">
            <a:avLst/>
          </a:prstGeom>
          <a:noFill/>
        </p:spPr>
      </p:pic>
      <p:pic>
        <p:nvPicPr>
          <p:cNvPr id="14" name="Picture 11" descr="D:\лена раб\Форус и прочее\Корпрынок Дизайн\для презы\8\4-50.png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4641270" y="2499272"/>
            <a:ext cx="893735" cy="857256"/>
          </a:xfrm>
          <a:prstGeom prst="rect">
            <a:avLst/>
          </a:prstGeom>
          <a:noFill/>
        </p:spPr>
      </p:pic>
      <p:pic>
        <p:nvPicPr>
          <p:cNvPr id="15" name="Picture 12" descr="D:\лена раб\Форус и прочее\Корпрынок Дизайн\для презы\8\4-51.png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2641006" y="2499272"/>
            <a:ext cx="893735" cy="857256"/>
          </a:xfrm>
          <a:prstGeom prst="rect">
            <a:avLst/>
          </a:prstGeom>
          <a:noFill/>
        </p:spPr>
      </p:pic>
      <p:pic>
        <p:nvPicPr>
          <p:cNvPr id="16" name="Picture 13" descr="D:\лена раб\Форус и прочее\Корпрынок Дизайн\для презы\8\4-52.png"/>
          <p:cNvPicPr>
            <a:picLocks noChangeAspect="1" noChangeArrowheads="1"/>
          </p:cNvPicPr>
          <p:nvPr/>
        </p:nvPicPr>
        <p:blipFill>
          <a:blip r:embed="rId13"/>
          <a:stretch/>
        </p:blipFill>
        <p:spPr bwMode="auto">
          <a:xfrm>
            <a:off x="1676593" y="2499272"/>
            <a:ext cx="893735" cy="857256"/>
          </a:xfrm>
          <a:prstGeom prst="rect">
            <a:avLst/>
          </a:prstGeom>
          <a:noFill/>
        </p:spPr>
      </p:pic>
      <p:pic>
        <p:nvPicPr>
          <p:cNvPr id="17" name="Picture 14" descr="D:\лена раб\Форус и прочее\Корпрынок Дизайн\для презы\8\4-53.png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747899" y="2499272"/>
            <a:ext cx="893735" cy="857256"/>
          </a:xfrm>
          <a:prstGeom prst="rect">
            <a:avLst/>
          </a:prstGeom>
          <a:noFill/>
        </p:spPr>
      </p:pic>
      <p:pic>
        <p:nvPicPr>
          <p:cNvPr id="18" name="Picture 15" descr="D:\лена раб\Форус и прочее\Корпрынок Дизайн\для презы\8\4-54.png"/>
          <p:cNvPicPr>
            <a:picLocks noChangeAspect="1" noChangeArrowheads="1"/>
          </p:cNvPicPr>
          <p:nvPr/>
        </p:nvPicPr>
        <p:blipFill>
          <a:blip r:embed="rId15"/>
          <a:stretch/>
        </p:blipFill>
        <p:spPr bwMode="auto">
          <a:xfrm>
            <a:off x="2641006" y="1640399"/>
            <a:ext cx="893735" cy="857256"/>
          </a:xfrm>
          <a:prstGeom prst="rect">
            <a:avLst/>
          </a:prstGeom>
          <a:noFill/>
        </p:spPr>
      </p:pic>
      <p:pic>
        <p:nvPicPr>
          <p:cNvPr id="19" name="Picture 16" descr="D:\лена раб\Форус и прочее\Корпрынок Дизайн\для презы\8\4-55.png"/>
          <p:cNvPicPr>
            <a:picLocks noChangeAspect="1" noChangeArrowheads="1"/>
          </p:cNvPicPr>
          <p:nvPr/>
        </p:nvPicPr>
        <p:blipFill>
          <a:blip r:embed="rId16"/>
          <a:stretch/>
        </p:blipFill>
        <p:spPr bwMode="auto">
          <a:xfrm>
            <a:off x="1676593" y="1640399"/>
            <a:ext cx="893735" cy="857256"/>
          </a:xfrm>
          <a:prstGeom prst="rect">
            <a:avLst/>
          </a:prstGeom>
          <a:noFill/>
        </p:spPr>
      </p:pic>
      <p:pic>
        <p:nvPicPr>
          <p:cNvPr id="20" name="Picture 17" descr="D:\лена раб\Форус и прочее\Корпрынок Дизайн\для презы\8\4-56.png"/>
          <p:cNvPicPr>
            <a:picLocks noChangeAspect="1" noChangeArrowheads="1"/>
          </p:cNvPicPr>
          <p:nvPr/>
        </p:nvPicPr>
        <p:blipFill>
          <a:blip r:embed="rId17"/>
          <a:stretch/>
        </p:blipFill>
        <p:spPr bwMode="auto">
          <a:xfrm>
            <a:off x="747899" y="1640399"/>
            <a:ext cx="893735" cy="857256"/>
          </a:xfrm>
          <a:prstGeom prst="rect">
            <a:avLst/>
          </a:prstGeom>
          <a:noFill/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18"/>
          <a:stretch/>
        </p:blipFill>
        <p:spPr bwMode="auto">
          <a:xfrm>
            <a:off x="2956588" y="4756611"/>
            <a:ext cx="565963" cy="565963"/>
          </a:xfrm>
          <a:prstGeom prst="rect">
            <a:avLst/>
          </a:prstGeom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19"/>
          <a:stretch/>
        </p:blipFill>
        <p:spPr bwMode="auto">
          <a:xfrm>
            <a:off x="1606430" y="4791866"/>
            <a:ext cx="565963" cy="565963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20"/>
          <a:stretch/>
        </p:blipFill>
        <p:spPr bwMode="auto">
          <a:xfrm>
            <a:off x="3153298" y="3898875"/>
            <a:ext cx="565963" cy="565963"/>
          </a:xfrm>
          <a:prstGeom prst="rect">
            <a:avLst/>
          </a:prstGeom>
        </p:spPr>
      </p:pic>
      <p:pic>
        <p:nvPicPr>
          <p:cNvPr id="47" name="Рисунок 46"/>
          <p:cNvPicPr>
            <a:picLocks noChangeAspect="1"/>
          </p:cNvPicPr>
          <p:nvPr/>
        </p:nvPicPr>
        <p:blipFill>
          <a:blip r:embed="rId21"/>
          <a:stretch/>
        </p:blipFill>
        <p:spPr bwMode="auto">
          <a:xfrm>
            <a:off x="4347970" y="4791866"/>
            <a:ext cx="565963" cy="565963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22"/>
          <a:stretch/>
        </p:blipFill>
        <p:spPr bwMode="auto">
          <a:xfrm>
            <a:off x="2412649" y="3858245"/>
            <a:ext cx="565963" cy="565963"/>
          </a:xfrm>
          <a:prstGeom prst="rect">
            <a:avLst/>
          </a:prstGeom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23"/>
          <a:stretch/>
        </p:blipFill>
        <p:spPr bwMode="auto">
          <a:xfrm>
            <a:off x="6427477" y="3922817"/>
            <a:ext cx="565963" cy="565963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>
            <a:off x="931351" y="4737217"/>
            <a:ext cx="565963" cy="565963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>
          <a:blip r:embed="rId25"/>
          <a:stretch/>
        </p:blipFill>
        <p:spPr bwMode="auto">
          <a:xfrm>
            <a:off x="931351" y="3922817"/>
            <a:ext cx="565963" cy="565963"/>
          </a:xfrm>
          <a:prstGeom prst="rect">
            <a:avLst/>
          </a:prstGeom>
        </p:spPr>
      </p:pic>
      <p:pic>
        <p:nvPicPr>
          <p:cNvPr id="52" name="Рисунок 51"/>
          <p:cNvPicPr>
            <a:picLocks noChangeAspect="1"/>
          </p:cNvPicPr>
          <p:nvPr/>
        </p:nvPicPr>
        <p:blipFill>
          <a:blip r:embed="rId26"/>
          <a:stretch/>
        </p:blipFill>
        <p:spPr bwMode="auto">
          <a:xfrm>
            <a:off x="6427220" y="4700686"/>
            <a:ext cx="565963" cy="565963"/>
          </a:xfrm>
          <a:prstGeom prst="rect">
            <a:avLst/>
          </a:prstGeom>
        </p:spPr>
      </p:pic>
      <p:pic>
        <p:nvPicPr>
          <p:cNvPr id="53" name="Рисунок 52"/>
          <p:cNvPicPr>
            <a:picLocks noChangeAspect="1"/>
          </p:cNvPicPr>
          <p:nvPr/>
        </p:nvPicPr>
        <p:blipFill>
          <a:blip r:embed="rId27"/>
          <a:stretch/>
        </p:blipFill>
        <p:spPr bwMode="auto">
          <a:xfrm>
            <a:off x="5087946" y="4729779"/>
            <a:ext cx="565963" cy="565963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/>
        </p:nvPicPr>
        <p:blipFill>
          <a:blip r:embed="rId28"/>
          <a:stretch/>
        </p:blipFill>
        <p:spPr bwMode="auto">
          <a:xfrm>
            <a:off x="1672000" y="3858246"/>
            <a:ext cx="565963" cy="565963"/>
          </a:xfrm>
          <a:prstGeom prst="rect">
            <a:avLst/>
          </a:prstGeom>
        </p:spPr>
      </p:pic>
      <p:pic>
        <p:nvPicPr>
          <p:cNvPr id="55" name="Рисунок 54"/>
          <p:cNvPicPr>
            <a:picLocks noChangeAspect="1"/>
          </p:cNvPicPr>
          <p:nvPr/>
        </p:nvPicPr>
        <p:blipFill>
          <a:blip r:embed="rId29"/>
          <a:stretch/>
        </p:blipFill>
        <p:spPr bwMode="auto">
          <a:xfrm>
            <a:off x="2281509" y="4791866"/>
            <a:ext cx="565963" cy="565963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/>
        </p:nvPicPr>
        <p:blipFill>
          <a:blip r:embed="rId30"/>
          <a:stretch/>
        </p:blipFill>
        <p:spPr bwMode="auto">
          <a:xfrm>
            <a:off x="3631667" y="4791866"/>
            <a:ext cx="565963" cy="565963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31"/>
          <a:stretch/>
        </p:blipFill>
        <p:spPr bwMode="auto">
          <a:xfrm>
            <a:off x="9504403" y="4679429"/>
            <a:ext cx="645622" cy="645622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32"/>
          <a:stretch/>
        </p:blipFill>
        <p:spPr bwMode="auto">
          <a:xfrm>
            <a:off x="9512095" y="3800157"/>
            <a:ext cx="645622" cy="645622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33"/>
          <a:stretch/>
        </p:blipFill>
        <p:spPr bwMode="auto">
          <a:xfrm>
            <a:off x="8514551" y="3792855"/>
            <a:ext cx="645622" cy="645622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34"/>
          <a:stretch/>
        </p:blipFill>
        <p:spPr bwMode="auto">
          <a:xfrm>
            <a:off x="10517537" y="3778586"/>
            <a:ext cx="645622" cy="645622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35"/>
          <a:stretch/>
        </p:blipFill>
        <p:spPr bwMode="auto">
          <a:xfrm>
            <a:off x="8514551" y="4676952"/>
            <a:ext cx="645622" cy="645622"/>
          </a:xfrm>
          <a:prstGeom prst="rect">
            <a:avLst/>
          </a:prstGeom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36"/>
          <a:stretch/>
        </p:blipFill>
        <p:spPr bwMode="auto">
          <a:xfrm>
            <a:off x="4608317" y="3799191"/>
            <a:ext cx="719294" cy="719294"/>
          </a:xfrm>
          <a:prstGeom prst="rect">
            <a:avLst/>
          </a:prstGeom>
        </p:spPr>
      </p:pic>
      <p:pic>
        <p:nvPicPr>
          <p:cNvPr id="41" name="Рисунок 40"/>
          <p:cNvPicPr>
            <a:picLocks noChangeAspect="1"/>
          </p:cNvPicPr>
          <p:nvPr/>
        </p:nvPicPr>
        <p:blipFill>
          <a:blip r:embed="rId37"/>
          <a:stretch/>
        </p:blipFill>
        <p:spPr bwMode="auto">
          <a:xfrm>
            <a:off x="3890444" y="3852838"/>
            <a:ext cx="612000" cy="612000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/>
        </p:nvPicPr>
        <p:blipFill>
          <a:blip r:embed="rId38"/>
          <a:stretch/>
        </p:blipFill>
        <p:spPr bwMode="auto">
          <a:xfrm>
            <a:off x="7057046" y="4223186"/>
            <a:ext cx="774873" cy="7748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/>
              <a:t>Росчерки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230588" y="1654966"/>
            <a:ext cx="2248436" cy="662772"/>
          </a:xfrm>
          <a:prstGeom prst="rect">
            <a:avLst/>
          </a:prstGeom>
        </p:spPr>
      </p:pic>
      <p:sp>
        <p:nvSpPr>
          <p:cNvPr id="5" name="Заголовок 2"/>
          <p:cNvSpPr txBox="1"/>
          <p:nvPr/>
        </p:nvSpPr>
        <p:spPr bwMode="auto">
          <a:xfrm>
            <a:off x="7426707" y="1654966"/>
            <a:ext cx="1856198" cy="489381"/>
          </a:xfrm>
          <a:prstGeom prst="rect">
            <a:avLst/>
          </a:prstGeom>
        </p:spPr>
        <p:txBody>
          <a:bodyPr vert="horz" lIns="36000" tIns="36000" rIns="36000" bIns="36000" rtlCol="0" anchor="b" anchorCtr="0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2400"/>
              <a:t>Заголовок</a:t>
            </a:r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12945" y="1722665"/>
            <a:ext cx="3008258" cy="886745"/>
          </a:xfrm>
          <a:prstGeom prst="rect">
            <a:avLst/>
          </a:prstGeom>
        </p:spPr>
      </p:pic>
      <p:sp>
        <p:nvSpPr>
          <p:cNvPr id="7" name="Заголовок 2"/>
          <p:cNvSpPr txBox="1"/>
          <p:nvPr/>
        </p:nvSpPr>
        <p:spPr bwMode="auto">
          <a:xfrm>
            <a:off x="7237807" y="2427829"/>
            <a:ext cx="2507914" cy="1709246"/>
          </a:xfrm>
          <a:prstGeom prst="rect">
            <a:avLst/>
          </a:prstGeom>
        </p:spPr>
        <p:txBody>
          <a:bodyPr vert="horz" lIns="36000" tIns="36000" rIns="36000" bIns="36000" rtlCol="0" anchor="b" anchorCtr="0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1800" b="0"/>
              <a:t>Для подчеркивания важной информации на слайде</a:t>
            </a:r>
            <a:endParaRPr/>
          </a:p>
          <a:p>
            <a:pPr>
              <a:defRPr/>
            </a:pPr>
            <a:endParaRPr lang="ru-RU" sz="1800" b="0"/>
          </a:p>
          <a:p>
            <a:pPr>
              <a:defRPr/>
            </a:pPr>
            <a:r>
              <a:rPr lang="ru-RU" sz="1800" b="0"/>
              <a:t>Менять размер только с зажатой кнопкой </a:t>
            </a:r>
            <a:r>
              <a:rPr lang="en-US" sz="1800" b="0"/>
              <a:t>Shift</a:t>
            </a:r>
            <a:endParaRPr lang="ru-RU" sz="1800" b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39300" y="2984827"/>
            <a:ext cx="4933913" cy="888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/>
              <a:t>Блоки для схем или важной информации</a:t>
            </a:r>
            <a:endParaRPr/>
          </a:p>
        </p:txBody>
      </p:sp>
      <p:sp>
        <p:nvSpPr>
          <p:cNvPr id="15" name="Прямоугольник: скругленные углы 14"/>
          <p:cNvSpPr/>
          <p:nvPr/>
        </p:nvSpPr>
        <p:spPr bwMode="auto">
          <a:xfrm>
            <a:off x="884902" y="2116169"/>
            <a:ext cx="1987214" cy="93571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600" b="0">
                <a:solidFill>
                  <a:schemeClr val="tx1"/>
                </a:solidFill>
              </a:rPr>
              <a:t>Название</a:t>
            </a:r>
            <a:br>
              <a:rPr lang="ru-RU" sz="1600" b="0">
                <a:solidFill>
                  <a:schemeClr val="tx1"/>
                </a:solidFill>
              </a:rPr>
            </a:br>
            <a:r>
              <a:rPr lang="ru-RU" sz="1600" b="0">
                <a:solidFill>
                  <a:schemeClr val="tx1"/>
                </a:solidFill>
              </a:rPr>
              <a:t>блока</a:t>
            </a:r>
            <a:endParaRPr/>
          </a:p>
        </p:txBody>
      </p:sp>
      <p:sp>
        <p:nvSpPr>
          <p:cNvPr id="25" name="Прямоугольник: скругленные углы 24"/>
          <p:cNvSpPr/>
          <p:nvPr/>
        </p:nvSpPr>
        <p:spPr bwMode="auto">
          <a:xfrm>
            <a:off x="3506132" y="2116169"/>
            <a:ext cx="1987214" cy="93571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600" b="0">
                <a:solidFill>
                  <a:schemeClr val="bg1"/>
                </a:solidFill>
              </a:rPr>
              <a:t>Название </a:t>
            </a:r>
            <a:br>
              <a:rPr lang="ru-RU" sz="1600" b="0">
                <a:solidFill>
                  <a:schemeClr val="bg1"/>
                </a:solidFill>
              </a:rPr>
            </a:br>
            <a:r>
              <a:rPr lang="ru-RU" sz="1600" b="0">
                <a:solidFill>
                  <a:schemeClr val="bg1"/>
                </a:solidFill>
              </a:rPr>
              <a:t>блока</a:t>
            </a:r>
            <a:endParaRPr/>
          </a:p>
        </p:txBody>
      </p:sp>
      <p:sp>
        <p:nvSpPr>
          <p:cNvPr id="50" name="Прямоугольник: скругленные углы 49"/>
          <p:cNvSpPr/>
          <p:nvPr/>
        </p:nvSpPr>
        <p:spPr bwMode="auto">
          <a:xfrm>
            <a:off x="6249595" y="2116169"/>
            <a:ext cx="1987214" cy="93571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600" b="0">
                <a:solidFill>
                  <a:schemeClr val="tx1"/>
                </a:solidFill>
              </a:rPr>
              <a:t>Название</a:t>
            </a:r>
            <a:br>
              <a:rPr lang="ru-RU" sz="1600" b="0">
                <a:solidFill>
                  <a:schemeClr val="tx1"/>
                </a:solidFill>
              </a:rPr>
            </a:br>
            <a:r>
              <a:rPr lang="ru-RU" sz="1600" b="0">
                <a:solidFill>
                  <a:schemeClr val="tx1"/>
                </a:solidFill>
              </a:rPr>
              <a:t>блока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265176" y="3762521"/>
            <a:ext cx="450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i="0">
                <a:solidFill>
                  <a:srgbClr val="000000"/>
                </a:solidFill>
              </a:rPr>
              <a:t>Выделение ключевой информации на слайде</a:t>
            </a:r>
            <a:endParaRPr lang="ru-RU">
              <a:solidFill>
                <a:srgbClr val="0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627127" y="4455629"/>
            <a:ext cx="343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i="0">
                <a:solidFill>
                  <a:srgbClr val="000000"/>
                </a:solidFill>
              </a:rPr>
              <a:t>Пункт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1627128" y="4894412"/>
            <a:ext cx="343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i="0">
                <a:solidFill>
                  <a:srgbClr val="000000"/>
                </a:solidFill>
              </a:rPr>
              <a:t>Пункт</a:t>
            </a:r>
            <a:endParaRPr lang="ru-RU">
              <a:solidFill>
                <a:srgbClr val="000000"/>
              </a:solidFill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65176" y="4528801"/>
            <a:ext cx="278750" cy="27875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65176" y="4908000"/>
            <a:ext cx="278750" cy="278750"/>
          </a:xfrm>
          <a:prstGeom prst="rect">
            <a:avLst/>
          </a:prstGeom>
        </p:spPr>
      </p:pic>
      <p:sp>
        <p:nvSpPr>
          <p:cNvPr id="37" name="Прямоугольник: скругленные углы 36"/>
          <p:cNvSpPr/>
          <p:nvPr/>
        </p:nvSpPr>
        <p:spPr bwMode="auto">
          <a:xfrm>
            <a:off x="894065" y="3603039"/>
            <a:ext cx="5224134" cy="1959561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Forus2020">
  <a:themeElements>
    <a:clrScheme name="Фору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CF68"/>
      </a:accent1>
      <a:accent2>
        <a:srgbClr val="395F75"/>
      </a:accent2>
      <a:accent3>
        <a:srgbClr val="A5A5A5"/>
      </a:accent3>
      <a:accent4>
        <a:srgbClr val="D74949"/>
      </a:accent4>
      <a:accent5>
        <a:srgbClr val="5B9BD5"/>
      </a:accent5>
      <a:accent6>
        <a:srgbClr val="00715D"/>
      </a:accent6>
      <a:hlink>
        <a:srgbClr val="0563C1"/>
      </a:hlink>
      <a:folHlink>
        <a:srgbClr val="954F72"/>
      </a:folHlink>
    </a:clrScheme>
    <a:fontScheme name="Форус_2020">
      <a:majorFont>
        <a:latin typeface="Verdana"/>
        <a:ea typeface="Liberation Sans"/>
        <a:cs typeface="Liberation Sans"/>
      </a:majorFont>
      <a:minorFont>
        <a:latin typeface="Verdana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Широкоэкранный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Пользователь</dc:creator>
  <cp:keywords/>
  <dc:description/>
  <dc:identifier/>
  <dc:language/>
  <cp:lastModifiedBy>Блохина Елизавета</cp:lastModifiedBy>
  <cp:revision>147</cp:revision>
  <dcterms:created xsi:type="dcterms:W3CDTF">2020-01-20T06:19:00Z</dcterms:created>
  <dcterms:modified xsi:type="dcterms:W3CDTF">2026-10-22T02:16:16Z</dcterms:modified>
  <cp:category/>
  <cp:contentStatus/>
  <cp:version/>
</cp:coreProperties>
</file>