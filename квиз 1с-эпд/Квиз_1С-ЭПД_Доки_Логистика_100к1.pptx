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2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7.xml"/><Relationship Id="rId17" Type="http://schemas.openxmlformats.org/officeDocument/2006/relationships/slide" Target="slide18.xml"/><Relationship Id="rId18" Type="http://schemas.openxmlformats.org/officeDocument/2006/relationships/slide" Target="slide19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24" Type="http://schemas.openxmlformats.org/officeDocument/2006/relationships/slide" Target="slide25.xml"/><Relationship Id="rId25" Type="http://schemas.openxmlformats.org/officeDocument/2006/relationships/slide" Target="slide26.xml"/><Relationship Id="rId26" Type="http://schemas.openxmlformats.org/officeDocument/2006/relationships/slide" Target="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Квиз</a:t>
            </a:r>
          </a:p>
          <a:p>
            <a:pPr>
              <a:spcBef>
                <a:spcPts val="800"/>
              </a:spcBef>
            </a:pPr>
            <a:r>
              <a:rPr sz="3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1С-ЭПД / Доки.Логистика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Формат «100 к 1»  ·  Своя игра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5 тем  ·  25 вопросов  ·  от 10 до 100 баллов
Выберите ячейку на поле — вопрос, таймер 30 сек, затем ответ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Игровое поле  ·  100 к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0972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Клик по баллам → вопрос  ·  открытые ячейки краснеют  ·  таймер 30 сек  ·  «К полю» — назад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45736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41448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12" name="Cell_0_0">
            <a:hlinkClick action="ppaction://hlinksldjump" r:id="rId2"/>
          </p:cNvPr>
          <p:cNvSpPr/>
          <p:nvPr/>
        </p:nvSpPr>
        <p:spPr>
          <a:xfrm>
            <a:off x="3081528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" action="ppaction://hlinksldjump"/>
              </a:rPr>
              <a:t>10</a:t>
            </a:r>
          </a:p>
        </p:txBody>
      </p:sp>
      <p:sp>
        <p:nvSpPr>
          <p:cNvPr id="13" name="Cell_0_1">
            <a:hlinkClick action="ppaction://hlinksldjump" r:id="rId3"/>
          </p:cNvPr>
          <p:cNvSpPr/>
          <p:nvPr/>
        </p:nvSpPr>
        <p:spPr>
          <a:xfrm>
            <a:off x="4745736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3" action="ppaction://hlinksldjump"/>
              </a:rPr>
              <a:t>30</a:t>
            </a:r>
          </a:p>
        </p:txBody>
      </p:sp>
      <p:sp>
        <p:nvSpPr>
          <p:cNvPr id="14" name="Cell_0_2">
            <a:hlinkClick action="ppaction://hlinksldjump" r:id="rId4"/>
          </p:cNvPr>
          <p:cNvSpPr/>
          <p:nvPr/>
        </p:nvSpPr>
        <p:spPr>
          <a:xfrm>
            <a:off x="6409944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4" action="ppaction://hlinksldjump"/>
              </a:rPr>
              <a:t>50</a:t>
            </a:r>
          </a:p>
        </p:txBody>
      </p:sp>
      <p:sp>
        <p:nvSpPr>
          <p:cNvPr id="15" name="Cell_0_3">
            <a:hlinkClick action="ppaction://hlinksldjump" r:id="rId5"/>
          </p:cNvPr>
          <p:cNvSpPr/>
          <p:nvPr/>
        </p:nvSpPr>
        <p:spPr>
          <a:xfrm>
            <a:off x="8074152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5" action="ppaction://hlinksldjump"/>
              </a:rPr>
              <a:t>70</a:t>
            </a:r>
          </a:p>
        </p:txBody>
      </p:sp>
      <p:sp>
        <p:nvSpPr>
          <p:cNvPr id="16" name="Cell_0_4">
            <a:hlinkClick action="ppaction://hlinksldjump" r:id="rId6"/>
          </p:cNvPr>
          <p:cNvSpPr/>
          <p:nvPr/>
        </p:nvSpPr>
        <p:spPr>
          <a:xfrm>
            <a:off x="9738360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6" action="ppaction://hlinksldjump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28416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18" name="Cell_1_0">
            <a:hlinkClick action="ppaction://hlinksldjump" r:id="rId7"/>
          </p:cNvPr>
          <p:cNvSpPr/>
          <p:nvPr/>
        </p:nvSpPr>
        <p:spPr>
          <a:xfrm>
            <a:off x="3081528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7" action="ppaction://hlinksldjump"/>
              </a:rPr>
              <a:t>10</a:t>
            </a:r>
          </a:p>
        </p:txBody>
      </p:sp>
      <p:sp>
        <p:nvSpPr>
          <p:cNvPr id="19" name="Cell_1_1">
            <a:hlinkClick action="ppaction://hlinksldjump" r:id="rId8"/>
          </p:cNvPr>
          <p:cNvSpPr/>
          <p:nvPr/>
        </p:nvSpPr>
        <p:spPr>
          <a:xfrm>
            <a:off x="4745736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8" action="ppaction://hlinksldjump"/>
              </a:rPr>
              <a:t>30</a:t>
            </a:r>
          </a:p>
        </p:txBody>
      </p:sp>
      <p:sp>
        <p:nvSpPr>
          <p:cNvPr id="20" name="Cell_1_2">
            <a:hlinkClick action="ppaction://hlinksldjump" r:id="rId9"/>
          </p:cNvPr>
          <p:cNvSpPr/>
          <p:nvPr/>
        </p:nvSpPr>
        <p:spPr>
          <a:xfrm>
            <a:off x="6409944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9" action="ppaction://hlinksldjump"/>
              </a:rPr>
              <a:t>50</a:t>
            </a:r>
          </a:p>
        </p:txBody>
      </p:sp>
      <p:sp>
        <p:nvSpPr>
          <p:cNvPr id="21" name="Cell_1_3">
            <a:hlinkClick action="ppaction://hlinksldjump" r:id="rId10"/>
          </p:cNvPr>
          <p:cNvSpPr/>
          <p:nvPr/>
        </p:nvSpPr>
        <p:spPr>
          <a:xfrm>
            <a:off x="8074152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0" action="ppaction://hlinksldjump"/>
              </a:rPr>
              <a:t>70</a:t>
            </a:r>
          </a:p>
        </p:txBody>
      </p:sp>
      <p:sp>
        <p:nvSpPr>
          <p:cNvPr id="22" name="Cell_1_4">
            <a:hlinkClick action="ppaction://hlinksldjump" r:id="rId11"/>
          </p:cNvPr>
          <p:cNvSpPr/>
          <p:nvPr/>
        </p:nvSpPr>
        <p:spPr>
          <a:xfrm>
            <a:off x="9738360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1" action="ppaction://hlinksldjump"/>
              </a:rP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15384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24" name="Cell_2_0">
            <a:hlinkClick action="ppaction://hlinksldjump" r:id="rId12"/>
          </p:cNvPr>
          <p:cNvSpPr/>
          <p:nvPr/>
        </p:nvSpPr>
        <p:spPr>
          <a:xfrm>
            <a:off x="3081528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2" action="ppaction://hlinksldjump"/>
              </a:rPr>
              <a:t>10</a:t>
            </a:r>
          </a:p>
        </p:txBody>
      </p:sp>
      <p:sp>
        <p:nvSpPr>
          <p:cNvPr id="25" name="Cell_2_1">
            <a:hlinkClick action="ppaction://hlinksldjump" r:id="rId13"/>
          </p:cNvPr>
          <p:cNvSpPr/>
          <p:nvPr/>
        </p:nvSpPr>
        <p:spPr>
          <a:xfrm>
            <a:off x="4745736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3" action="ppaction://hlinksldjump"/>
              </a:rPr>
              <a:t>30</a:t>
            </a:r>
          </a:p>
        </p:txBody>
      </p:sp>
      <p:sp>
        <p:nvSpPr>
          <p:cNvPr id="26" name="Cell_2_2">
            <a:hlinkClick action="ppaction://hlinksldjump" r:id="rId14"/>
          </p:cNvPr>
          <p:cNvSpPr/>
          <p:nvPr/>
        </p:nvSpPr>
        <p:spPr>
          <a:xfrm>
            <a:off x="6409944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4" action="ppaction://hlinksldjump"/>
              </a:rPr>
              <a:t>50</a:t>
            </a:r>
          </a:p>
        </p:txBody>
      </p:sp>
      <p:sp>
        <p:nvSpPr>
          <p:cNvPr id="27" name="Cell_2_3">
            <a:hlinkClick action="ppaction://hlinksldjump" r:id="rId15"/>
          </p:cNvPr>
          <p:cNvSpPr/>
          <p:nvPr/>
        </p:nvSpPr>
        <p:spPr>
          <a:xfrm>
            <a:off x="8074152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5" action="ppaction://hlinksldjump"/>
              </a:rPr>
              <a:t>70</a:t>
            </a:r>
          </a:p>
        </p:txBody>
      </p:sp>
      <p:sp>
        <p:nvSpPr>
          <p:cNvPr id="28" name="Cell_2_4">
            <a:hlinkClick action="ppaction://hlinksldjump" r:id="rId16"/>
          </p:cNvPr>
          <p:cNvSpPr/>
          <p:nvPr/>
        </p:nvSpPr>
        <p:spPr>
          <a:xfrm>
            <a:off x="9738360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6" action="ppaction://hlinksldjump"/>
              </a:rPr>
              <a:t>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02352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0" name="Cell_3_0">
            <a:hlinkClick action="ppaction://hlinksldjump" r:id="rId17"/>
          </p:cNvPr>
          <p:cNvSpPr/>
          <p:nvPr/>
        </p:nvSpPr>
        <p:spPr>
          <a:xfrm>
            <a:off x="3081528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7" action="ppaction://hlinksldjump"/>
              </a:rPr>
              <a:t>10</a:t>
            </a:r>
          </a:p>
        </p:txBody>
      </p:sp>
      <p:sp>
        <p:nvSpPr>
          <p:cNvPr id="31" name="Cell_3_1">
            <a:hlinkClick action="ppaction://hlinksldjump" r:id="rId18"/>
          </p:cNvPr>
          <p:cNvSpPr/>
          <p:nvPr/>
        </p:nvSpPr>
        <p:spPr>
          <a:xfrm>
            <a:off x="4745736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8" action="ppaction://hlinksldjump"/>
              </a:rPr>
              <a:t>30</a:t>
            </a:r>
          </a:p>
        </p:txBody>
      </p:sp>
      <p:sp>
        <p:nvSpPr>
          <p:cNvPr id="32" name="Cell_3_2">
            <a:hlinkClick action="ppaction://hlinksldjump" r:id="rId19"/>
          </p:cNvPr>
          <p:cNvSpPr/>
          <p:nvPr/>
        </p:nvSpPr>
        <p:spPr>
          <a:xfrm>
            <a:off x="6409944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9" action="ppaction://hlinksldjump"/>
              </a:rPr>
              <a:t>50</a:t>
            </a:r>
          </a:p>
        </p:txBody>
      </p:sp>
      <p:sp>
        <p:nvSpPr>
          <p:cNvPr id="33" name="Cell_3_3">
            <a:hlinkClick action="ppaction://hlinksldjump" r:id="rId20"/>
          </p:cNvPr>
          <p:cNvSpPr/>
          <p:nvPr/>
        </p:nvSpPr>
        <p:spPr>
          <a:xfrm>
            <a:off x="8074152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0" action="ppaction://hlinksldjump"/>
              </a:rPr>
              <a:t>70</a:t>
            </a:r>
          </a:p>
        </p:txBody>
      </p:sp>
      <p:sp>
        <p:nvSpPr>
          <p:cNvPr id="34" name="Cell_3_4">
            <a:hlinkClick action="ppaction://hlinksldjump" r:id="rId21"/>
          </p:cNvPr>
          <p:cNvSpPr/>
          <p:nvPr/>
        </p:nvSpPr>
        <p:spPr>
          <a:xfrm>
            <a:off x="9738360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1" action="ppaction://hlinksldjump"/>
              </a:rPr>
              <a:t>100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9893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6" name="Cell_4_0">
            <a:hlinkClick action="ppaction://hlinksldjump" r:id="rId22"/>
          </p:cNvPr>
          <p:cNvSpPr/>
          <p:nvPr/>
        </p:nvSpPr>
        <p:spPr>
          <a:xfrm>
            <a:off x="3081528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2" action="ppaction://hlinksldjump"/>
              </a:rPr>
              <a:t>10</a:t>
            </a:r>
          </a:p>
        </p:txBody>
      </p:sp>
      <p:sp>
        <p:nvSpPr>
          <p:cNvPr id="37" name="Cell_4_1">
            <a:hlinkClick action="ppaction://hlinksldjump" r:id="rId23"/>
          </p:cNvPr>
          <p:cNvSpPr/>
          <p:nvPr/>
        </p:nvSpPr>
        <p:spPr>
          <a:xfrm>
            <a:off x="4745736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3" action="ppaction://hlinksldjump"/>
              </a:rPr>
              <a:t>30</a:t>
            </a:r>
          </a:p>
        </p:txBody>
      </p:sp>
      <p:sp>
        <p:nvSpPr>
          <p:cNvPr id="38" name="Cell_4_2">
            <a:hlinkClick action="ppaction://hlinksldjump" r:id="rId24"/>
          </p:cNvPr>
          <p:cNvSpPr/>
          <p:nvPr/>
        </p:nvSpPr>
        <p:spPr>
          <a:xfrm>
            <a:off x="6409944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4" action="ppaction://hlinksldjump"/>
              </a:rPr>
              <a:t>50</a:t>
            </a:r>
          </a:p>
        </p:txBody>
      </p:sp>
      <p:sp>
        <p:nvSpPr>
          <p:cNvPr id="39" name="Cell_4_3">
            <a:hlinkClick action="ppaction://hlinksldjump" r:id="rId25"/>
          </p:cNvPr>
          <p:cNvSpPr/>
          <p:nvPr/>
        </p:nvSpPr>
        <p:spPr>
          <a:xfrm>
            <a:off x="8074152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5" action="ppaction://hlinksldjump"/>
              </a:rPr>
              <a:t>70</a:t>
            </a:r>
          </a:p>
        </p:txBody>
      </p:sp>
      <p:sp>
        <p:nvSpPr>
          <p:cNvPr id="40" name="Cell_4_4">
            <a:hlinkClick action="ppaction://hlinksldjump" r:id="rId26"/>
          </p:cNvPr>
          <p:cNvSpPr/>
          <p:nvPr/>
        </p:nvSpPr>
        <p:spPr>
          <a:xfrm>
            <a:off x="9738360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6" action="ppaction://hlinksldjump"/>
              </a:rPr>
              <a:t>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означает сокращение ЭПД?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Электронные платёжные документы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Электронные перевозочные документы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Электронные первичные документы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Электронные перевозочные документы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титул?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Отдельный документ для водителя в мобильном приложении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Часть ЭПД, которая заполняется конкретным участником перевозки в определённый момент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Электронная подпись участника перевозки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QR-код документа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Часть ЭПД, которую заполняет конкретный участник перевозки в определённый момент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Какие участники подписывают ЭТрН?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Только грузоотправитель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Грузоотправитель, перевозчик и грузополучатель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перевозчик и водитель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Экспедитор и водитель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перевозчик и грузополучатель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такой грузоотправитель?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Организация, которая принимает груз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Организация, которая владеет грузом и нанимает перевозчика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Организация, которая предоставляет транспорт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Человек, который совершает погрузку груза в ТС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Организация, которая владеет грузом и нанимает перевозчика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относится к основным участникам грузоперевозки?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грузоперевозчик, грузополучатель, экспедитор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 какой даты для всех участников грузоперевозок становится обязательным использование документов в электронном виде?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1 января 2027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1 мая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1 сентября 2026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1 марта 2027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 сентября 2026 года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каком случае ЭТрН не требуется?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Все участники — юридические лица или ИП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Перевозчик оказывает коммерческую услугу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Хотя бы один участник — физическое лицо или самозанятый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Перевозчик нанят грузоотправителем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Хотя бы один участник — физическое лицо или самозанятый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доставляет собственным транспортом свой товар до покупателя. Нужно ли оформлять ЭТрН?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Да, всегда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если стоимость товара больше 100 000 рублей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Да, если перевозка по территории РФ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Да, если перевозка по территории 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продаёт товар, а покупатель сам забирает его своим транспортом. Нужна ли ЭТрН? Почему?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ЭТрН не требуется: перевозчик совпадает с грузополучателем (самовывоз)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условия, при которых ЭТрН обязательна к оформлению с 1 сентября 2026 года.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Все участники — ЮЛ или ИП; перевозчик не является грузоотправителем и грузополучателем; перевозчик работает на коммерческой основе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Для чего водителю нужен QR-код?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Для оплаты перевозки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Для предъявления электронных перевозочных документов при проверке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Для получения путевого листа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Для предъявления электронных перевозочных документов при проверке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ЭЗЗ и для чего она нужна?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Электронный заказ (заявка) — фиксирует договорённость между грузоотправителем и перевозчиком до начала перевозки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содержит электронный путевой лист (ЭПЛ)?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Сведения о грузе, отправителе и адресах погрузки/выгрузки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Данные о водителе, ТС, маршруте, медосмотре, техконтроле и пробеге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Стоимость перевозки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Данные грузополучателя и грузоотправителя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Данные о водителе, ТС, маршруте, медосмотре, техконтроле и пробеге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Нужен ли водителю интернет непосредственно во время проверки QR-кода на дороге?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Да, обязательно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Нет, интернет нужен для получения QR-кода, а во время проверки —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Интернет водителю не нужен вообще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Нет, интернет нужен для получения QR-кода, а во время проверки —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хотя бы три сценария-исключения, при которых транспортная накладная, заказ и заявка могут оформляться на бумаге.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Военные перевозки; перевозки с иностранными юрлицами; каботаж ЕАЭС; личные нужды физлица; сбой / нет интернета в утверждённых регионах; отправитель = получатель; драгметаллы и камни и др.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главное отличие экспедитора от агента в контексте ЭПД?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Экспедитор всегда является перевозчиком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Экспедитор принимает груз во владение и фигурирует в ЭТрН, агент —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Агент всегда подписывает экспедиторскую расписку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Отличий нет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 принимает груз во владение и фигурирует в ЭТрН, агент —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Поставщик обратился к экспедитору, экспедитор принял груз во владение и нанял перевозчика. Какие роли возникают у участников?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Заказчик и экспедитор подписывают экспедиторские документы; экспедитор принимает груз во владение, организует перевозку и нанимает перевозчика; в ЭТрН экспедитор фигурирует как грузоотправитель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Цепочка: заказчик → экспедитор → перевозчик → получатель. Какие электронные документы могут возникнуть у экспедитора?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Только ЭТрН и экспедиторская расписка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Экспедиторские документы, ЭЗЗ и ЭТрН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ЭПЛ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Только ЭЗЗ и ЭТрН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Экспедиторские документы, ЭЗЗ и ЭТрН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Расставьте этапы перевозки в правильном порядке:
1) Приёмка груза получателем
2) Создание ЭТрН и отправка груза
3) Водитель в дороге
4) Создание и обработка ЭЗЗ
5) Разгрузка на складе получателя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 → 2 → 3 → 1 →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произойдёт с необходимостью оформления ЭТрН, если грузоотправитель является одновременно грузополучателем?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ЭТрН обязательна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ЭТрН не оформляется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Можно остаться на бумаге, а можно перейти на ЭТрН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Можно остаться на бумаге, а можно перейти на ЭТрН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необходимо для подключения 1С-ЭПД? Назовите основные требования.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Программа 1С; УКЭП и МЧД для ответственных; КриптоПро CSP с лицензией; для перевозчиков — подписание водителей через мобильное приложение или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основные шаги подключения сервиса 1С-ЭПД.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Подключить 1С-ЭДО → обменяться приглашениями с контрагентами → проверить настройку обмена ЭПД в учётной системе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говорит: «У нас вообще нет 1С, но нам нужно работать с ЭПД». Какое решение предложить?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1С:Клиент ЭДО или Доки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ключевое отличие 1С-ЭПД и Доки с точки зрения сценариев работы клиента?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1С-ЭПД — типовое решение внутри конфигураций 1С. Доки работает в 1С, веб и мобильном приложении независимо и подходит клиентам без 1С, без ПК или с редко обновляемой 1С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Клиент: «С 1 сентября нам обязательно переходить на ЭПД. С чего начать?» Дайте пошаговую рекомендацию.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1) Проанализировать процессы  2) Выбрать ключевых контрагентов  3) Подготовить ИС  4) Подключить сервис и сделать первую отправку  5) Обучить персонал и обновить регламенты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FFFFFF"/>
      </a:hlink>
      <a:folHlink>
        <a:srgbClr val="C0392B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C0392B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C0392B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