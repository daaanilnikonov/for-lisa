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5E75"/>
    <a:srgbClr val="FFCF66"/>
    <a:srgbClr val="D64A4A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6395" autoAdjust="0"/>
  </p:normalViewPr>
  <p:slideViewPr>
    <p:cSldViewPr snapToGrid="0">
      <p:cViewPr varScale="1">
        <p:scale>
          <a:sx n="82" d="100"/>
          <a:sy n="82" d="100"/>
        </p:scale>
        <p:origin x="696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12.08.2026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12.08.2026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14.xml"/><Relationship Id="rId18" Type="http://schemas.openxmlformats.org/officeDocument/2006/relationships/slide" Target="slide19.xml"/><Relationship Id="rId26" Type="http://schemas.openxmlformats.org/officeDocument/2006/relationships/slide" Target="slide27.xml"/><Relationship Id="rId3" Type="http://schemas.openxmlformats.org/officeDocument/2006/relationships/slide" Target="slide4.xml"/><Relationship Id="rId21" Type="http://schemas.openxmlformats.org/officeDocument/2006/relationships/slide" Target="slide22.xml"/><Relationship Id="rId7" Type="http://schemas.openxmlformats.org/officeDocument/2006/relationships/slide" Target="slide8.xml"/><Relationship Id="rId12" Type="http://schemas.openxmlformats.org/officeDocument/2006/relationships/slide" Target="slide13.xml"/><Relationship Id="rId17" Type="http://schemas.openxmlformats.org/officeDocument/2006/relationships/slide" Target="slide18.xml"/><Relationship Id="rId25" Type="http://schemas.openxmlformats.org/officeDocument/2006/relationships/slide" Target="slide26.xml"/><Relationship Id="rId2" Type="http://schemas.openxmlformats.org/officeDocument/2006/relationships/slide" Target="slide3.xml"/><Relationship Id="rId16" Type="http://schemas.openxmlformats.org/officeDocument/2006/relationships/slide" Target="slide17.xml"/><Relationship Id="rId20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24" Type="http://schemas.openxmlformats.org/officeDocument/2006/relationships/slide" Target="slide25.xml"/><Relationship Id="rId5" Type="http://schemas.openxmlformats.org/officeDocument/2006/relationships/slide" Target="slide6.xml"/><Relationship Id="rId15" Type="http://schemas.openxmlformats.org/officeDocument/2006/relationships/slide" Target="slide16.xml"/><Relationship Id="rId23" Type="http://schemas.openxmlformats.org/officeDocument/2006/relationships/slide" Target="slide24.xml"/><Relationship Id="rId10" Type="http://schemas.openxmlformats.org/officeDocument/2006/relationships/slide" Target="slide11.xml"/><Relationship Id="rId19" Type="http://schemas.openxmlformats.org/officeDocument/2006/relationships/slide" Target="slide20.xml"/><Relationship Id="rId4" Type="http://schemas.openxmlformats.org/officeDocument/2006/relationships/slide" Target="slide5.xml"/><Relationship Id="rId9" Type="http://schemas.openxmlformats.org/officeDocument/2006/relationships/slide" Target="slide10.xml"/><Relationship Id="rId14" Type="http://schemas.openxmlformats.org/officeDocument/2006/relationships/slide" Target="slide15.xml"/><Relationship Id="rId22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74713" y="1592673"/>
            <a:ext cx="5106209" cy="3114405"/>
          </a:xfrm>
        </p:spPr>
        <p:txBody>
          <a:bodyPr/>
          <a:lstStyle/>
          <a:p>
            <a:r>
              <a:rPr sz="2200" b="0" dirty="0" err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Квиз</a:t>
            </a:r>
            <a:endParaRPr sz="2200" b="0" dirty="0">
              <a:solidFill>
                <a:srgbClr val="BFBFBF"/>
              </a:solidFill>
              <a:latin typeface="Verdana"/>
              <a:ea typeface="Verdana"/>
              <a:cs typeface="Verdana"/>
            </a:endParaRPr>
          </a:p>
          <a:p>
            <a:pPr>
              <a:spcBef>
                <a:spcPts val="800"/>
              </a:spcBef>
            </a:pPr>
            <a:r>
              <a:rPr sz="3200" b="1" dirty="0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1С-ЭПД / </a:t>
            </a:r>
            <a:r>
              <a:rPr sz="3200" b="1" dirty="0" err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Доки.Логистика</a:t>
            </a:r>
            <a:endParaRPr sz="3200" b="1" dirty="0">
              <a:solidFill>
                <a:srgbClr val="26A6E0"/>
              </a:solidFill>
              <a:latin typeface="Verdana"/>
              <a:ea typeface="Verdana"/>
              <a:cs typeface="Verdana"/>
            </a:endParaRPr>
          </a:p>
          <a:p>
            <a:pPr>
              <a:spcBef>
                <a:spcPts val="1600"/>
              </a:spcBef>
            </a:pPr>
            <a:r>
              <a:rPr sz="1600" b="1" dirty="0" err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Своя</a:t>
            </a:r>
            <a:r>
              <a:rPr sz="1600" b="1" dirty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игра</a:t>
            </a:r>
            <a:endParaRPr sz="1600" b="1" dirty="0">
              <a:solidFill>
                <a:srgbClr val="FFFFFF"/>
              </a:solidFill>
              <a:latin typeface="Verdana"/>
              <a:ea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Игровое поле  ·  100 к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10972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Клик по баллам → вопрос  ·  таймер 30 сек  ·  ответ откроется сам  ·  «К полю» — назад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81528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45736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9944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41448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3081528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" action="ppaction://hlinksldjump"/>
              </a:rPr>
              <a:t>10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4745736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3" action="ppaction://hlinksldjump"/>
              </a:rPr>
              <a:t>30</a:t>
            </a:r>
          </a:p>
        </p:txBody>
      </p:sp>
      <p:sp>
        <p:nvSpPr>
          <p:cNvPr id="14" name="Rounded Rectangle 13">
            <a:hlinkClick r:id="rId4" action="ppaction://hlinksldjump"/>
          </p:cNvPr>
          <p:cNvSpPr/>
          <p:nvPr/>
        </p:nvSpPr>
        <p:spPr>
          <a:xfrm>
            <a:off x="6409944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4" action="ppaction://hlinksldjump"/>
              </a:rPr>
              <a:t>50</a:t>
            </a:r>
          </a:p>
        </p:txBody>
      </p:sp>
      <p:sp>
        <p:nvSpPr>
          <p:cNvPr id="15" name="Rounded Rectangle 14">
            <a:hlinkClick r:id="rId5" action="ppaction://hlinksldjump"/>
          </p:cNvPr>
          <p:cNvSpPr/>
          <p:nvPr/>
        </p:nvSpPr>
        <p:spPr>
          <a:xfrm>
            <a:off x="8074152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5" action="ppaction://hlinksldjump"/>
              </a:rPr>
              <a:t>70</a:t>
            </a:r>
          </a:p>
        </p:txBody>
      </p:sp>
      <p:sp>
        <p:nvSpPr>
          <p:cNvPr id="16" name="Rounded Rectangle 15">
            <a:hlinkClick r:id="rId6" action="ppaction://hlinksldjump"/>
          </p:cNvPr>
          <p:cNvSpPr/>
          <p:nvPr/>
        </p:nvSpPr>
        <p:spPr>
          <a:xfrm>
            <a:off x="9738360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6" action="ppaction://hlinksldjump"/>
              </a:rPr>
              <a:t>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28416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18" name="Rounded Rectangle 17">
            <a:hlinkClick r:id="rId7" action="ppaction://hlinksldjump"/>
          </p:cNvPr>
          <p:cNvSpPr/>
          <p:nvPr/>
        </p:nvSpPr>
        <p:spPr>
          <a:xfrm>
            <a:off x="3081528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7" action="ppaction://hlinksldjump"/>
              </a:rPr>
              <a:t>10</a:t>
            </a:r>
          </a:p>
        </p:txBody>
      </p:sp>
      <p:sp>
        <p:nvSpPr>
          <p:cNvPr id="19" name="Rounded Rectangle 18">
            <a:hlinkClick r:id="rId8" action="ppaction://hlinksldjump"/>
          </p:cNvPr>
          <p:cNvSpPr/>
          <p:nvPr/>
        </p:nvSpPr>
        <p:spPr>
          <a:xfrm>
            <a:off x="4745736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8" action="ppaction://hlinksldjump"/>
              </a:rPr>
              <a:t>30</a:t>
            </a:r>
          </a:p>
        </p:txBody>
      </p:sp>
      <p:sp>
        <p:nvSpPr>
          <p:cNvPr id="20" name="Rounded Rectangle 19">
            <a:hlinkClick r:id="rId9" action="ppaction://hlinksldjump"/>
          </p:cNvPr>
          <p:cNvSpPr/>
          <p:nvPr/>
        </p:nvSpPr>
        <p:spPr>
          <a:xfrm>
            <a:off x="6409944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9" action="ppaction://hlinksldjump"/>
              </a:rPr>
              <a:t>50</a:t>
            </a:r>
          </a:p>
        </p:txBody>
      </p:sp>
      <p:sp>
        <p:nvSpPr>
          <p:cNvPr id="21" name="Rounded Rectangle 20">
            <a:hlinkClick r:id="rId10" action="ppaction://hlinksldjump"/>
          </p:cNvPr>
          <p:cNvSpPr/>
          <p:nvPr/>
        </p:nvSpPr>
        <p:spPr>
          <a:xfrm>
            <a:off x="8074152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0" action="ppaction://hlinksldjump"/>
              </a:rPr>
              <a:t>70</a:t>
            </a:r>
          </a:p>
        </p:txBody>
      </p:sp>
      <p:sp>
        <p:nvSpPr>
          <p:cNvPr id="22" name="Rounded Rectangle 21">
            <a:hlinkClick r:id="rId11" action="ppaction://hlinksldjump"/>
          </p:cNvPr>
          <p:cNvSpPr/>
          <p:nvPr/>
        </p:nvSpPr>
        <p:spPr>
          <a:xfrm>
            <a:off x="9738360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1" action="ppaction://hlinksldjump"/>
              </a:rPr>
              <a:t>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15384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24" name="Rounded Rectangle 23">
            <a:hlinkClick r:id="rId12" action="ppaction://hlinksldjump"/>
          </p:cNvPr>
          <p:cNvSpPr/>
          <p:nvPr/>
        </p:nvSpPr>
        <p:spPr>
          <a:xfrm>
            <a:off x="3081528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2" action="ppaction://hlinksldjump"/>
              </a:rPr>
              <a:t>10</a:t>
            </a:r>
          </a:p>
        </p:txBody>
      </p:sp>
      <p:sp>
        <p:nvSpPr>
          <p:cNvPr id="25" name="Rounded Rectangle 24">
            <a:hlinkClick r:id="rId13" action="ppaction://hlinksldjump"/>
          </p:cNvPr>
          <p:cNvSpPr/>
          <p:nvPr/>
        </p:nvSpPr>
        <p:spPr>
          <a:xfrm>
            <a:off x="4745736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3" action="ppaction://hlinksldjump"/>
              </a:rPr>
              <a:t>30</a:t>
            </a:r>
          </a:p>
        </p:txBody>
      </p:sp>
      <p:sp>
        <p:nvSpPr>
          <p:cNvPr id="26" name="Rounded Rectangle 25">
            <a:hlinkClick r:id="rId14" action="ppaction://hlinksldjump"/>
          </p:cNvPr>
          <p:cNvSpPr/>
          <p:nvPr/>
        </p:nvSpPr>
        <p:spPr>
          <a:xfrm>
            <a:off x="6409944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4" action="ppaction://hlinksldjump"/>
              </a:rPr>
              <a:t>50</a:t>
            </a:r>
          </a:p>
        </p:txBody>
      </p:sp>
      <p:sp>
        <p:nvSpPr>
          <p:cNvPr id="27" name="Rounded Rectangle 26">
            <a:hlinkClick r:id="rId15" action="ppaction://hlinksldjump"/>
          </p:cNvPr>
          <p:cNvSpPr/>
          <p:nvPr/>
        </p:nvSpPr>
        <p:spPr>
          <a:xfrm>
            <a:off x="8074152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5" action="ppaction://hlinksldjump"/>
              </a:rPr>
              <a:t>70</a:t>
            </a:r>
          </a:p>
        </p:txBody>
      </p:sp>
      <p:sp>
        <p:nvSpPr>
          <p:cNvPr id="28" name="Rounded Rectangle 27">
            <a:hlinkClick r:id="rId16" action="ppaction://hlinksldjump"/>
          </p:cNvPr>
          <p:cNvSpPr/>
          <p:nvPr/>
        </p:nvSpPr>
        <p:spPr>
          <a:xfrm>
            <a:off x="9738360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6" action="ppaction://hlinksldjump"/>
              </a:rPr>
              <a:t>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02352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0" name="Rounded Rectangle 29">
            <a:hlinkClick r:id="rId17" action="ppaction://hlinksldjump"/>
          </p:cNvPr>
          <p:cNvSpPr/>
          <p:nvPr/>
        </p:nvSpPr>
        <p:spPr>
          <a:xfrm>
            <a:off x="3081528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7" action="ppaction://hlinksldjump"/>
              </a:rPr>
              <a:t>10</a:t>
            </a:r>
          </a:p>
        </p:txBody>
      </p:sp>
      <p:sp>
        <p:nvSpPr>
          <p:cNvPr id="31" name="Rounded Rectangle 30">
            <a:hlinkClick r:id="rId18" action="ppaction://hlinksldjump"/>
          </p:cNvPr>
          <p:cNvSpPr/>
          <p:nvPr/>
        </p:nvSpPr>
        <p:spPr>
          <a:xfrm>
            <a:off x="4745736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8" action="ppaction://hlinksldjump"/>
              </a:rPr>
              <a:t>30</a:t>
            </a:r>
          </a:p>
        </p:txBody>
      </p:sp>
      <p:sp>
        <p:nvSpPr>
          <p:cNvPr id="32" name="Rounded Rectangle 31">
            <a:hlinkClick r:id="rId19" action="ppaction://hlinksldjump"/>
          </p:cNvPr>
          <p:cNvSpPr/>
          <p:nvPr/>
        </p:nvSpPr>
        <p:spPr>
          <a:xfrm>
            <a:off x="6409944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9" action="ppaction://hlinksldjump"/>
              </a:rPr>
              <a:t>50</a:t>
            </a:r>
          </a:p>
        </p:txBody>
      </p:sp>
      <p:sp>
        <p:nvSpPr>
          <p:cNvPr id="33" name="Rounded Rectangle 32">
            <a:hlinkClick r:id="rId20" action="ppaction://hlinksldjump"/>
          </p:cNvPr>
          <p:cNvSpPr/>
          <p:nvPr/>
        </p:nvSpPr>
        <p:spPr>
          <a:xfrm>
            <a:off x="8074152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0" action="ppaction://hlinksldjump"/>
              </a:rPr>
              <a:t>70</a:t>
            </a:r>
          </a:p>
        </p:txBody>
      </p:sp>
      <p:sp>
        <p:nvSpPr>
          <p:cNvPr id="34" name="Rounded Rectangle 33">
            <a:hlinkClick r:id="rId21" action="ppaction://hlinksldjump"/>
          </p:cNvPr>
          <p:cNvSpPr/>
          <p:nvPr/>
        </p:nvSpPr>
        <p:spPr>
          <a:xfrm>
            <a:off x="9738360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1" action="ppaction://hlinksldjump"/>
              </a:rPr>
              <a:t>100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9893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6" name="Rounded Rectangle 35">
            <a:hlinkClick r:id="rId22" action="ppaction://hlinksldjump"/>
          </p:cNvPr>
          <p:cNvSpPr/>
          <p:nvPr/>
        </p:nvSpPr>
        <p:spPr>
          <a:xfrm>
            <a:off x="3081528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2" action="ppaction://hlinksldjump"/>
              </a:rPr>
              <a:t>10</a:t>
            </a:r>
          </a:p>
        </p:txBody>
      </p:sp>
      <p:sp>
        <p:nvSpPr>
          <p:cNvPr id="37" name="Rounded Rectangle 36">
            <a:hlinkClick r:id="rId23" action="ppaction://hlinksldjump"/>
          </p:cNvPr>
          <p:cNvSpPr/>
          <p:nvPr/>
        </p:nvSpPr>
        <p:spPr>
          <a:xfrm>
            <a:off x="4745736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3" action="ppaction://hlinksldjump"/>
              </a:rPr>
              <a:t>30</a:t>
            </a:r>
          </a:p>
        </p:txBody>
      </p:sp>
      <p:sp>
        <p:nvSpPr>
          <p:cNvPr id="38" name="Rounded Rectangle 37">
            <a:hlinkClick r:id="rId24" action="ppaction://hlinksldjump"/>
          </p:cNvPr>
          <p:cNvSpPr/>
          <p:nvPr/>
        </p:nvSpPr>
        <p:spPr>
          <a:xfrm>
            <a:off x="6409944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4" action="ppaction://hlinksldjump"/>
              </a:rPr>
              <a:t>50</a:t>
            </a:r>
          </a:p>
        </p:txBody>
      </p:sp>
      <p:sp>
        <p:nvSpPr>
          <p:cNvPr id="39" name="Rounded Rectangle 38">
            <a:hlinkClick r:id="rId25" action="ppaction://hlinksldjump"/>
          </p:cNvPr>
          <p:cNvSpPr/>
          <p:nvPr/>
        </p:nvSpPr>
        <p:spPr>
          <a:xfrm>
            <a:off x="8074152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5" action="ppaction://hlinksldjump"/>
              </a:rPr>
              <a:t>70</a:t>
            </a:r>
          </a:p>
        </p:txBody>
      </p:sp>
      <p:sp>
        <p:nvSpPr>
          <p:cNvPr id="40" name="Rounded Rectangle 39">
            <a:hlinkClick r:id="rId26" action="ppaction://hlinksldjump"/>
          </p:cNvPr>
          <p:cNvSpPr/>
          <p:nvPr/>
        </p:nvSpPr>
        <p:spPr>
          <a:xfrm>
            <a:off x="9738360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6" action="ppaction://hlinksldjump"/>
              </a:rPr>
              <a:t>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4253263-27B8-4572-9CC7-0C7B105F24D2}"/>
              </a:ext>
            </a:extLst>
          </p:cNvPr>
          <p:cNvSpPr/>
          <p:nvPr/>
        </p:nvSpPr>
        <p:spPr>
          <a:xfrm>
            <a:off x="960742" y="3361099"/>
            <a:ext cx="3900196" cy="109728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означает сокращение ЭПД?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Электронные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платёжные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документы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Электронные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перевозочные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документы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Электронные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первичные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документы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Электронные перевозочные документы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B79E8C8-FD92-4435-AA5C-C175070DA7C7}"/>
              </a:ext>
            </a:extLst>
          </p:cNvPr>
          <p:cNvSpPr/>
          <p:nvPr/>
        </p:nvSpPr>
        <p:spPr>
          <a:xfrm>
            <a:off x="914401" y="3340185"/>
            <a:ext cx="7810034" cy="149436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 dirty="0" err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</a:t>
            </a:r>
            <a:r>
              <a:rPr sz="2200" b="1" dirty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такое титул?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Отдельный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документ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для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водителя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в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мобильном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приложении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77824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Часть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ЭПД,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которая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заполняется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конкретным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участником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перевозки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в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определённый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момент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Электронная подпись участника перевозки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QR-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код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документа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Часть ЭПД, которую заполняет конкретный участник перевозки в определённый момент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C4C7327-0EDF-4E9D-AA08-1D39A1BEFBBC}"/>
              </a:ext>
            </a:extLst>
          </p:cNvPr>
          <p:cNvSpPr/>
          <p:nvPr/>
        </p:nvSpPr>
        <p:spPr>
          <a:xfrm>
            <a:off x="960742" y="3361098"/>
            <a:ext cx="4525658" cy="13572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Какие участники подписывают ЭТрН?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Только грузоотправитель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Грузоотправитель, перевозчик и грузополучатель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Только перевозчик и водитель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Экспедитор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и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водитель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Грузоотправитель, перевозчик и грузополучатель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595F0F3-1E39-474C-A93A-B9BF6868C5E7}"/>
              </a:ext>
            </a:extLst>
          </p:cNvPr>
          <p:cNvSpPr/>
          <p:nvPr/>
        </p:nvSpPr>
        <p:spPr>
          <a:xfrm>
            <a:off x="960741" y="3361098"/>
            <a:ext cx="5878597" cy="13572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Кто такой грузоотправитель?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Организация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,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которая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принимает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груз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Организация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,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которая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владеет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грузом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и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нанимает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перевозчика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Организация, которая предоставляет транспорт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Человек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,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который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совершает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погрузку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груза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в ТС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Организация, которая владеет грузом и нанимает перевозчика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8964E7A1-AA49-49A8-996E-0D3BEF69B651}"/>
              </a:ext>
            </a:extLst>
          </p:cNvPr>
          <p:cNvSpPr/>
          <p:nvPr/>
        </p:nvSpPr>
        <p:spPr>
          <a:xfrm>
            <a:off x="765110" y="3372189"/>
            <a:ext cx="5330890" cy="3879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549000" y="1502163"/>
            <a:ext cx="10392697" cy="4012831"/>
          </a:xfrm>
        </p:spPr>
        <p:txBody>
          <a:bodyPr/>
          <a:lstStyle/>
          <a:p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Кто относится к основным участникам грузоперевозки?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4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4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4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4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4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4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4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Грузоотправитель, грузоперевозчик, грузополучатель, экспедитор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C91C92C-72F8-4828-8F4E-8A6E124CC876}"/>
              </a:ext>
            </a:extLst>
          </p:cNvPr>
          <p:cNvSpPr/>
          <p:nvPr/>
        </p:nvSpPr>
        <p:spPr>
          <a:xfrm>
            <a:off x="960742" y="3361098"/>
            <a:ext cx="2790164" cy="13572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 какой даты для всех участников грузоперевозок становится обязательным использование документов в электронном виде?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1 января 2027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1 мая 2026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1 сентября 2026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1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марта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2027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года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 сентября 2026 года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3345815-81DB-4133-9B98-7C91F3DE5934}"/>
              </a:ext>
            </a:extLst>
          </p:cNvPr>
          <p:cNvSpPr/>
          <p:nvPr/>
        </p:nvSpPr>
        <p:spPr>
          <a:xfrm>
            <a:off x="960741" y="3361098"/>
            <a:ext cx="5272107" cy="136634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каком случае ЭТрН не требуется?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Все участники — юридические лица или ИП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Перевозчик оказывает коммерческую услугу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Хотя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бы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один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участник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физическое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лицо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или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самозанятый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Перевозчик нанят грузоотправителем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Хотя бы один участник — физическое лицо или самозанятый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9DF099F-2F68-4882-B77B-2D332E72B9CA}"/>
              </a:ext>
            </a:extLst>
          </p:cNvPr>
          <p:cNvSpPr/>
          <p:nvPr/>
        </p:nvSpPr>
        <p:spPr>
          <a:xfrm>
            <a:off x="960741" y="3361098"/>
            <a:ext cx="4908213" cy="13572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Компания доставляет собственным транспортом свой товар до покупателя. Нужно ли оформлять ЭТрН?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Да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,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всегда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Только если стоимость товара больше 100 000 рублей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Да, если перевозка по территории РФ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Да, если перевозка по территории РФ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9A0635A-D706-45D6-9A41-722D3A9EC32E}"/>
              </a:ext>
            </a:extLst>
          </p:cNvPr>
          <p:cNvSpPr/>
          <p:nvPr/>
        </p:nvSpPr>
        <p:spPr>
          <a:xfrm>
            <a:off x="960742" y="3361099"/>
            <a:ext cx="4161764" cy="34490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Компания продаёт товар, а покупатель сам забирает его своим транспортом. Нужна ли ЭТрН? Почему?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ЭТрН не требуется: перевозчик совпадает с грузополучателем (самовывоз)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8C231A-5E3B-48B3-AA32-F2DEFB1445EC}"/>
              </a:ext>
            </a:extLst>
          </p:cNvPr>
          <p:cNvSpPr/>
          <p:nvPr/>
        </p:nvSpPr>
        <p:spPr>
          <a:xfrm>
            <a:off x="960741" y="3361099"/>
            <a:ext cx="4199087" cy="3879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условия, при которых ЭТрН обязательна к оформлению с 1 сентября 2026 года.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Все участники — ЮЛ или ИП; перевозчик не является грузоотправителем и грузополучателем; перевозчик работает на коммерческой основе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E070CB1-5030-4524-B039-4472EE003EE1}"/>
              </a:ext>
            </a:extLst>
          </p:cNvPr>
          <p:cNvSpPr/>
          <p:nvPr/>
        </p:nvSpPr>
        <p:spPr>
          <a:xfrm>
            <a:off x="914401" y="3346704"/>
            <a:ext cx="6419460" cy="109728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Для чего водителю нужен QR-код?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Для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оплаты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перевозки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Для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предъявления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электронных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перевозочных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документов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при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проверке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Для получения путевого листа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Для предъявления электронных перевозочных документов при проверке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03B899F-625B-4C5D-BB90-94D87ED4E9F4}"/>
              </a:ext>
            </a:extLst>
          </p:cNvPr>
          <p:cNvSpPr/>
          <p:nvPr/>
        </p:nvSpPr>
        <p:spPr>
          <a:xfrm>
            <a:off x="960741" y="3361099"/>
            <a:ext cx="4329715" cy="3879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такое ЭЗЗ и для чего она нужна?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Электронный заказ (заявка) — фиксирует договорённость между грузоотправителем и перевозчиком до начала перевозки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9E7FEDB-FE94-42A2-8470-0123FF461E7F}"/>
              </a:ext>
            </a:extLst>
          </p:cNvPr>
          <p:cNvSpPr/>
          <p:nvPr/>
        </p:nvSpPr>
        <p:spPr>
          <a:xfrm>
            <a:off x="960741" y="3361098"/>
            <a:ext cx="6027887" cy="13572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содержит электронный путевой лист (ЭПЛ)?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Сведения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о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грузе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,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отправителе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и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адресах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погрузки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/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выгрузки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Данные о водителе, ТС, маршруте, медосмотре, техконтроле и пробеге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Стоимость перевозки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Данные грузополучателя и грузоотправителя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Данные о водителе, ТС, маршруте, медосмотре, техконтроле и пробеге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69D7B1A-4F8C-4707-893D-FCD5115E36FD}"/>
              </a:ext>
            </a:extLst>
          </p:cNvPr>
          <p:cNvSpPr/>
          <p:nvPr/>
        </p:nvSpPr>
        <p:spPr>
          <a:xfrm>
            <a:off x="960742" y="3361099"/>
            <a:ext cx="6410442" cy="109728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Нужен ли водителю интернет непосредственно во время проверки QR-кода на дороге?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Да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,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обязательно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Нет, интернет нужен для получения QR-кода, а во время проверки —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Интернет водителю не нужен вообще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Нет, интернет нужен для получения QR-кода, а во время проверки —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41F65E2-19E8-4F07-AFAA-242BFD59F41B}"/>
              </a:ext>
            </a:extLst>
          </p:cNvPr>
          <p:cNvSpPr/>
          <p:nvPr/>
        </p:nvSpPr>
        <p:spPr>
          <a:xfrm>
            <a:off x="960741" y="3361099"/>
            <a:ext cx="4301723" cy="43646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хотя бы три сценария-исключения, при которых транспортная накладная, заказ и заявка могут оформляться на бумаге.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Военные перевозки; перевозки с иностранными юрлицами; каботаж ЕАЭС; личные нужды физлица; сбой / нет интернета в утверждённых регионах; отправитель = получатель; драгметаллы и камни и др.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FECB870-CE38-4A84-88EA-1AFB6422A284}"/>
              </a:ext>
            </a:extLst>
          </p:cNvPr>
          <p:cNvSpPr/>
          <p:nvPr/>
        </p:nvSpPr>
        <p:spPr>
          <a:xfrm>
            <a:off x="960741" y="3361098"/>
            <a:ext cx="6494417" cy="13572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чём главное отличие экспедитора от агента в контексте ЭПД?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Экспедитор всегда является перевозчиком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Экспедитор принимает груз во владение и фигурирует в ЭТрН, агент —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Агент всегда подписывает экспедиторскую расписку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Отличий нет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Экспедитор принимает груз во владение и фигурирует в ЭТрН, агент —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D7324EE-3527-44E7-8F95-B0E572D3CC19}"/>
              </a:ext>
            </a:extLst>
          </p:cNvPr>
          <p:cNvSpPr/>
          <p:nvPr/>
        </p:nvSpPr>
        <p:spPr>
          <a:xfrm>
            <a:off x="884902" y="3379416"/>
            <a:ext cx="3900196" cy="378797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Поставщик обратился к экспедитору, экспедитор принял груз во владение и нанял перевозчика. Какие роли возникают у участников?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Заказчик и экспедитор подписывают экспедиторские документы; экспедитор принимает груз во владение, организует перевозку и нанимает перевозчика; в ЭТрН экспедитор фигурирует как грузоотправитель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299DDB0-BA15-4DAC-A9C5-95B47D01B764}"/>
              </a:ext>
            </a:extLst>
          </p:cNvPr>
          <p:cNvSpPr/>
          <p:nvPr/>
        </p:nvSpPr>
        <p:spPr>
          <a:xfrm>
            <a:off x="960742" y="3361098"/>
            <a:ext cx="3676572" cy="136634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Цепочка: заказчик → экспедитор → перевозчик → получатель. Какие электронные документы могут возникнуть у экспедитора?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Только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ЭТрН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и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экспедиторская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расписка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Экспедиторские документы, ЭЗЗ и ЭТрН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Только ЭПЛ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16552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4)  Только ЭЗЗ и ЭТрН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55464"/>
            <a:ext cx="8686800" cy="113385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Экспедиторские документы, ЭЗЗ и ЭТрН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165D1FE-D5C7-489A-B309-095C2E3178E0}"/>
              </a:ext>
            </a:extLst>
          </p:cNvPr>
          <p:cNvSpPr/>
          <p:nvPr/>
        </p:nvSpPr>
        <p:spPr>
          <a:xfrm>
            <a:off x="960742" y="3361099"/>
            <a:ext cx="4217748" cy="3879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 dirty="0" err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</a:t>
            </a:r>
            <a:r>
              <a:rPr sz="2200" b="1" dirty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 и </a:t>
            </a:r>
            <a:r>
              <a:rPr sz="2200" b="1" dirty="0" err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процесс</a:t>
            </a:r>
            <a:endParaRPr sz="2200" b="1" dirty="0">
              <a:solidFill>
                <a:srgbClr val="FFFFFF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Расставьте этапы перевозки в правильном порядке:
1) Приёмка груза получателем
2) Создание ЭТрН и отправка груза
3) Водитель в дороге
4) Создание и обработка ЭЗЗ
5) Разгрузка на складе получателя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 → 2 → 3 → 1 →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EC9CFE8-5CD5-4AEF-B2A2-B3DD31DC611D}"/>
              </a:ext>
            </a:extLst>
          </p:cNvPr>
          <p:cNvSpPr/>
          <p:nvPr/>
        </p:nvSpPr>
        <p:spPr>
          <a:xfrm>
            <a:off x="960742" y="3361099"/>
            <a:ext cx="5262776" cy="109728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произойдёт с необходимостью оформления ЭТрН, если грузоотправитель является одновременно грузополучателем?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1)  ЭТрН обязательна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58184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2)  ЭТрН не оформляется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2121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3) 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Можно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остаться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на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бумаге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, а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можно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перейти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на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ЭТрН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Можно остаться на бумаге, а можно перейти на ЭТрН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BE330D8-E612-4525-9665-95015BDCF474}"/>
              </a:ext>
            </a:extLst>
          </p:cNvPr>
          <p:cNvSpPr/>
          <p:nvPr/>
        </p:nvSpPr>
        <p:spPr>
          <a:xfrm>
            <a:off x="914401" y="3361099"/>
            <a:ext cx="4282749" cy="3879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необходимо для подключения 1С-ЭПД? Назовите основные требования.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Программа 1С; УКЭП и МЧД для ответственных; КриптоПро CSP с лицензией; для перевозчиков — подписание водителей через мобильное приложение или с телефона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F0C359B-1BA5-4B6D-A413-38AD6BDAB103}"/>
              </a:ext>
            </a:extLst>
          </p:cNvPr>
          <p:cNvSpPr/>
          <p:nvPr/>
        </p:nvSpPr>
        <p:spPr>
          <a:xfrm>
            <a:off x="960741" y="3337560"/>
            <a:ext cx="4087119" cy="41148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основные шаги подключения сервиса 1С-ЭПД.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Подключить 1С-ЭДО → обменяться приглашениями с контрагентами → проверить настройку обмена ЭПД в учётной системе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2F57C26-5FA8-40F3-BA3D-38CE29F8000E}"/>
              </a:ext>
            </a:extLst>
          </p:cNvPr>
          <p:cNvSpPr/>
          <p:nvPr/>
        </p:nvSpPr>
        <p:spPr>
          <a:xfrm>
            <a:off x="960742" y="3361099"/>
            <a:ext cx="4096450" cy="42713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говорит: «У нас вообще нет 1С, но нам нужно работать с ЭПД». Какое решение предложить?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1С:Клиент ЭДО или Доки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1D422C7-EC4A-4055-AC1B-E9F669E5E409}"/>
              </a:ext>
            </a:extLst>
          </p:cNvPr>
          <p:cNvSpPr/>
          <p:nvPr/>
        </p:nvSpPr>
        <p:spPr>
          <a:xfrm>
            <a:off x="960742" y="3361099"/>
            <a:ext cx="4152434" cy="3879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чём ключевое отличие 1С-ЭПД и Доки с точки зрения сценариев работы клиента?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29000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1С-ЭПД — типовое решение внутри конфигураций 1С. Доки работает в 1С, веб и мобильном приложении независимо и подходит клиентам без 1С, без ПК или с редко обновляемой 1С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8C5AD2-ADA8-48D6-AD56-9B25A220DC19}"/>
              </a:ext>
            </a:extLst>
          </p:cNvPr>
          <p:cNvSpPr/>
          <p:nvPr/>
        </p:nvSpPr>
        <p:spPr>
          <a:xfrm>
            <a:off x="960741" y="3361099"/>
            <a:ext cx="4301723" cy="3879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1051560" cy="50292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3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00584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64040" y="2697480"/>
            <a:ext cx="187451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868680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82753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Клиент: «С 1 сентября нам обязательно переходить на ЭПД. С чего начать?» Дайте пошаговую рекомендацию.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3430315"/>
            <a:ext cx="84124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Открытый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вопрос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—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обсудите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ответ</a:t>
            </a:r>
            <a:r>
              <a:rPr sz="1200" b="1" dirty="0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 </a:t>
            </a:r>
            <a:r>
              <a:rPr sz="1200" b="1" dirty="0" err="1">
                <a:solidFill>
                  <a:schemeClr val="bg1"/>
                </a:solidFill>
                <a:latin typeface="Verdana"/>
                <a:ea typeface="Verdana"/>
                <a:cs typeface="Verdana"/>
              </a:rPr>
              <a:t>командой</a:t>
            </a:r>
            <a:endParaRPr sz="1200" b="1" dirty="0">
              <a:solidFill>
                <a:schemeClr val="bg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t"/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1) Проанализировать процессы  2) Выбрать ключевых контрагентов  3) Подготовить ИС  4) Подключить сервис и сделать первую отправку  5) Обучить персонал и обновить регламенты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3017520"/>
            <a:ext cx="18745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Ответ появится
через 30 секунд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55548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3000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FFFFFF"/>
      </a:hlink>
      <a:folHlink>
        <a:srgbClr val="C0392B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4341</TotalTime>
  <Words>1576</Words>
  <Application>Microsoft Office PowerPoint</Application>
  <PresentationFormat>Широкоэкранный</PresentationFormat>
  <Paragraphs>301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2" baseType="lpstr">
      <vt:lpstr>Arial</vt:lpstr>
      <vt:lpstr>Calibri</vt:lpstr>
      <vt:lpstr>Stolzl</vt:lpstr>
      <vt:lpstr>Verdana</vt:lpstr>
      <vt:lpstr>Тема Forus2020</vt:lpstr>
      <vt:lpstr>Квиз 1С-ЭПД / Доки.Логистика Своя игра</vt:lpstr>
      <vt:lpstr>Игровое поле  ·  100 к 1</vt:lpstr>
      <vt:lpstr>Основы ЭПД</vt:lpstr>
      <vt:lpstr>Основы ЭПД</vt:lpstr>
      <vt:lpstr>Основы ЭПД</vt:lpstr>
      <vt:lpstr>Основы ЭПД</vt:lpstr>
      <vt:lpstr>Основы ЭПД</vt:lpstr>
      <vt:lpstr>ЭТрН и обязательность</vt:lpstr>
      <vt:lpstr>ЭТрН и обязательность</vt:lpstr>
      <vt:lpstr>ЭТрН и обязательность</vt:lpstr>
      <vt:lpstr>ЭТрН и обязательность</vt:lpstr>
      <vt:lpstr>ЭТрН и обязательность</vt:lpstr>
      <vt:lpstr>Документы и QR</vt:lpstr>
      <vt:lpstr>Документы и QR</vt:lpstr>
      <vt:lpstr>Документы и QR</vt:lpstr>
      <vt:lpstr>Документы и QR</vt:lpstr>
      <vt:lpstr>Документы и QR</vt:lpstr>
      <vt:lpstr>Экспедиция и процесс</vt:lpstr>
      <vt:lpstr>Экспедиция и процесс</vt:lpstr>
      <vt:lpstr>Экспедиция и процесс</vt:lpstr>
      <vt:lpstr>Экспедиция и процесс</vt:lpstr>
      <vt:lpstr>Экспедиция и процесс</vt:lpstr>
      <vt:lpstr>1С-ЭПД и Доки</vt:lpstr>
      <vt:lpstr>1С-ЭПД и Доки</vt:lpstr>
      <vt:lpstr>1С-ЭПД и Доки</vt:lpstr>
      <vt:lpstr>1С-ЭПД и Доки</vt:lpstr>
      <vt:lpstr>1С-ЭПД и Доки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Блохина Елизавета</cp:lastModifiedBy>
  <cp:revision>219</cp:revision>
  <dcterms:created xsi:type="dcterms:W3CDTF">2020-01-20T06:19:00Z</dcterms:created>
  <dcterms:modified xsi:type="dcterms:W3CDTF">2026-08-13T03:56:46Z</dcterms:modified>
</cp:coreProperties>
</file>