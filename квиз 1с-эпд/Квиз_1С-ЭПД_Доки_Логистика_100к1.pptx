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Шафрановый шаблон" id="{FBFB8EBD-73BD-4F84-9F02-556D73907D89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5E75"/>
    <a:srgbClr val="FFCF66"/>
    <a:srgbClr val="D64A4A"/>
    <a:srgbClr val="F7DB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65" autoAdjust="0"/>
    <p:restoredTop sz="96395" autoAdjust="0"/>
  </p:normalViewPr>
  <p:slideViewPr>
    <p:cSldViewPr snapToGrid="0">
      <p:cViewPr varScale="1">
        <p:scale>
          <a:sx n="82" d="100"/>
          <a:sy n="82" d="100"/>
        </p:scale>
        <p:origin x="696" y="5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2406" y="-54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178FD9-E883-405F-84A7-48BE6C1C4639}" type="datetimeFigureOut">
              <a:rPr lang="ru-RU" smtClean="0"/>
              <a:t>12.08.2026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D83DF0-6FC0-4BAF-9BAA-AC3E7DD339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24204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F1DD30-20F5-456A-A91D-5E5E2AE4E96B}" type="datetimeFigureOut">
              <a:rPr lang="ru-RU" smtClean="0"/>
              <a:t>12.08.2026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AD6420-324F-4B35-AE1D-31198132CD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3850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874713" y="1592673"/>
            <a:ext cx="6084889" cy="3114405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6000"/>
            </a:lvl1pPr>
          </a:lstStyle>
          <a:p>
            <a:r>
              <a:rPr lang="ru-RU" dirty="0"/>
              <a:t>Название</a:t>
            </a:r>
            <a:br>
              <a:rPr lang="ru-RU" dirty="0"/>
            </a:br>
            <a:r>
              <a:rPr lang="ru-RU" dirty="0"/>
              <a:t>Заголовок доклада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874714" y="5452140"/>
            <a:ext cx="6084888" cy="776557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Имя Фамилия докладчика</a:t>
            </a:r>
          </a:p>
          <a:p>
            <a:r>
              <a:rPr lang="ru-RU" sz="2400" dirty="0"/>
              <a:t>Должность / Служба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94866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874713" y="3215147"/>
            <a:ext cx="9891610" cy="2081865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6000"/>
            </a:lvl1pPr>
          </a:lstStyle>
          <a:p>
            <a:r>
              <a:rPr lang="ru-RU" dirty="0"/>
              <a:t>Название</a:t>
            </a:r>
            <a:br>
              <a:rPr lang="ru-RU" dirty="0"/>
            </a:br>
            <a:r>
              <a:rPr lang="ru-RU" dirty="0"/>
              <a:t>Заголовок доклада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874714" y="5297013"/>
            <a:ext cx="9891608" cy="776557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Имя Фамилия докладчика</a:t>
            </a:r>
          </a:p>
          <a:p>
            <a:r>
              <a:rPr lang="ru-RU" sz="2400" dirty="0"/>
              <a:t>Должность / Служба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61081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9CBBFDCD-7D7F-4B80-B8B1-819A1E32F0B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74713" y="3215147"/>
            <a:ext cx="9891610" cy="2081865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6000"/>
            </a:lvl1pPr>
          </a:lstStyle>
          <a:p>
            <a:r>
              <a:rPr lang="ru-RU" dirty="0"/>
              <a:t>Название</a:t>
            </a:r>
            <a:br>
              <a:rPr lang="ru-RU" dirty="0"/>
            </a:br>
            <a:r>
              <a:rPr lang="ru-RU" dirty="0"/>
              <a:t>Заголовок доклада</a:t>
            </a: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43FBD1AF-C1AA-4706-8044-A437628082D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74714" y="5297013"/>
            <a:ext cx="9891608" cy="776557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Имя Фамилия докладчика</a:t>
            </a:r>
          </a:p>
          <a:p>
            <a:r>
              <a:rPr lang="ru-RU" sz="2400" dirty="0"/>
              <a:t>Должность / Служба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95648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лайд с текстом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"/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3BC5D02F-6A7F-488D-8863-2E7D5E916AF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84902" y="1562400"/>
            <a:ext cx="10392697" cy="4012831"/>
          </a:xfrm>
        </p:spPr>
        <p:txBody>
          <a:bodyPr lIns="0" tIns="0" rIns="0" bIns="0" anchor="t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Номер слайда 5">
            <a:extLst>
              <a:ext uri="{FF2B5EF4-FFF2-40B4-BE49-F238E27FC236}">
                <a16:creationId xmlns:a16="http://schemas.microsoft.com/office/drawing/2014/main" id="{2970EFF6-2A86-47BF-957F-C7B6C538C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44582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лайд с текстом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57519A18-1BF8-4938-AEC3-A77314E50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6" name="Текст 6">
            <a:extLst>
              <a:ext uri="{FF2B5EF4-FFF2-40B4-BE49-F238E27FC236}">
                <a16:creationId xmlns:a16="http://schemas.microsoft.com/office/drawing/2014/main" id="{D8AD4F86-5FE3-446D-8780-CDA879DFF7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84902" y="1562400"/>
            <a:ext cx="10392697" cy="4012831"/>
          </a:xfrm>
        </p:spPr>
        <p:txBody>
          <a:bodyPr lIns="0" tIns="0" rIns="0" bIns="0" anchor="t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0593BBA2-AC45-42A4-9428-FC5859BB97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776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Слайд с текстом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8BFBC993-7CB7-4F97-9604-69040108A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71CA5DEB-4E80-4943-910F-68B80795D75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84902" y="1562400"/>
            <a:ext cx="10392697" cy="4012831"/>
          </a:xfrm>
        </p:spPr>
        <p:txBody>
          <a:bodyPr lIns="0" tIns="0" rIns="0" bIns="0" anchor="t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96E871B4-AA94-4D4E-9BBB-98632F8FC5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61281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лайд с фоном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B0A5662A-3631-4B64-9763-487A6E3AD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4" name="Текст 6">
            <a:extLst>
              <a:ext uri="{FF2B5EF4-FFF2-40B4-BE49-F238E27FC236}">
                <a16:creationId xmlns:a16="http://schemas.microsoft.com/office/drawing/2014/main" id="{CED77CCE-A060-47D9-A7C0-7E698FE03F6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84902" y="1562400"/>
            <a:ext cx="10392697" cy="4012831"/>
          </a:xfrm>
        </p:spPr>
        <p:txBody>
          <a:bodyPr lIns="0" tIns="0" rIns="0" bIns="0" anchor="t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784624F-C505-4ADC-B9EB-36ABDDDDD9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45321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лайд с фоном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816A866A-C7E4-46BE-B9A8-81C97693C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6EE71620-56CC-413D-BC0A-00E91094C6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6" name="Текст 6">
            <a:extLst>
              <a:ext uri="{FF2B5EF4-FFF2-40B4-BE49-F238E27FC236}">
                <a16:creationId xmlns:a16="http://schemas.microsoft.com/office/drawing/2014/main" id="{0E8E5EB6-08F5-41BA-A4BA-A663A9CFB4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84902" y="1562400"/>
            <a:ext cx="10392697" cy="4012831"/>
          </a:xfrm>
        </p:spPr>
        <p:txBody>
          <a:bodyPr lIns="0" tIns="0" rIns="0" bIns="0" anchor="t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342865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нумерованный список в 2 колонки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Текст 6"/>
          <p:cNvSpPr>
            <a:spLocks noGrp="1"/>
          </p:cNvSpPr>
          <p:nvPr>
            <p:ph type="body" sz="quarter" idx="13" hasCustomPrompt="1"/>
          </p:nvPr>
        </p:nvSpPr>
        <p:spPr>
          <a:xfrm>
            <a:off x="5865430" y="1129630"/>
            <a:ext cx="5415345" cy="4330604"/>
          </a:xfrm>
        </p:spPr>
        <p:txBody>
          <a:bodyPr lIns="0" tIns="0" rIns="0" bIns="0" anchor="t" anchorCtr="0">
            <a:normAutofit/>
          </a:bodyPr>
          <a:lstStyle>
            <a:lvl1pPr marL="342900" indent="-342900">
              <a:buFont typeface="+mj-lt"/>
              <a:buAutoNum type="arabicPeriod"/>
              <a:defRPr sz="1800" b="0" baseline="0"/>
            </a:lvl1pPr>
          </a:lstStyle>
          <a:p>
            <a:pPr lvl="0"/>
            <a:r>
              <a:rPr lang="ru-RU" dirty="0"/>
              <a:t>Первый пункт</a:t>
            </a:r>
          </a:p>
          <a:p>
            <a:pPr lvl="0"/>
            <a:r>
              <a:rPr lang="ru-RU" dirty="0"/>
              <a:t>Второй пункт </a:t>
            </a:r>
          </a:p>
          <a:p>
            <a:pPr lvl="0"/>
            <a:r>
              <a:rPr lang="ru-RU" dirty="0"/>
              <a:t>Третий пункт 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CEE474C4-81A0-46FC-BFAC-275D8A403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713" y="963647"/>
            <a:ext cx="4620740" cy="2467616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33CAE1B9-25FF-48B5-A049-B9DC3BEF10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32768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маркированный список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E32A7D44-323D-47D5-A9F0-01D4A9E8A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7132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3E477ECF-E540-4493-B86E-B873B16EA3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D6149728-8AE4-4B5A-97C2-EA2E3AC92A4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4902" y="1562400"/>
            <a:ext cx="10392697" cy="4012831"/>
          </a:xfrm>
        </p:spPr>
        <p:txBody>
          <a:bodyPr lIns="0" tIns="0" rIns="0" bIns="0" anchor="t" anchorCtr="0">
            <a:normAutofit/>
          </a:bodyPr>
          <a:lstStyle>
            <a:lvl1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  <a:defRPr sz="1800" b="0"/>
            </a:lvl1pPr>
            <a:lvl2pPr marL="742950" indent="-285750">
              <a:buClr>
                <a:schemeClr val="accent1"/>
              </a:buClr>
              <a:buFont typeface="Verdana" panose="020B0604030504040204" pitchFamily="34" charset="0"/>
              <a:buChar char="–"/>
              <a:defRPr sz="1800" b="0"/>
            </a:lvl2pPr>
          </a:lstStyle>
          <a:p>
            <a:pPr lvl="0"/>
            <a:r>
              <a:rPr lang="ru-RU" dirty="0"/>
              <a:t>Первая позиция в списке</a:t>
            </a:r>
          </a:p>
          <a:p>
            <a:pPr lvl="0"/>
            <a:r>
              <a:rPr lang="ru-RU" dirty="0"/>
              <a:t>Вторая позиция в списке</a:t>
            </a:r>
          </a:p>
          <a:p>
            <a:pPr lvl="0"/>
            <a:r>
              <a:rPr lang="ru-RU" dirty="0"/>
              <a:t>Третья позиция в списке</a:t>
            </a:r>
          </a:p>
          <a:p>
            <a:pPr lvl="1"/>
            <a:r>
              <a:rPr lang="ru-RU" dirty="0"/>
              <a:t>Второй уровень списка</a:t>
            </a:r>
          </a:p>
          <a:p>
            <a:pPr lvl="1"/>
            <a:r>
              <a:rPr lang="ru-RU" dirty="0"/>
              <a:t>Еще строчка</a:t>
            </a:r>
          </a:p>
        </p:txBody>
      </p:sp>
    </p:spTree>
    <p:extLst>
      <p:ext uri="{BB962C8B-B14F-4D97-AF65-F5344CB8AC3E}">
        <p14:creationId xmlns:p14="http://schemas.microsoft.com/office/powerpoint/2010/main" val="2728259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маркированный список в 2 колонки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8D56FE66-88BE-40AA-AAA9-8DDD1F2AD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713" y="891219"/>
            <a:ext cx="4620740" cy="2467616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617602DF-5256-4FDD-94C1-5B638A446B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6" name="Текст 6">
            <a:extLst>
              <a:ext uri="{FF2B5EF4-FFF2-40B4-BE49-F238E27FC236}">
                <a16:creationId xmlns:a16="http://schemas.microsoft.com/office/drawing/2014/main" id="{133A49C5-51F3-4E68-A259-6E5B7AC4F31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59776" y="1047774"/>
            <a:ext cx="5517823" cy="4527457"/>
          </a:xfrm>
        </p:spPr>
        <p:txBody>
          <a:bodyPr lIns="0" tIns="0" rIns="0" bIns="0" anchor="t" anchorCtr="0">
            <a:normAutofit/>
          </a:bodyPr>
          <a:lstStyle>
            <a:lvl1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  <a:defRPr sz="1800" b="0"/>
            </a:lvl1pPr>
            <a:lvl2pPr marL="742950" indent="-285750">
              <a:buClr>
                <a:schemeClr val="accent1"/>
              </a:buClr>
              <a:buFont typeface="Verdana" panose="020B0604030504040204" pitchFamily="34" charset="0"/>
              <a:buChar char="–"/>
              <a:defRPr sz="1800" b="0"/>
            </a:lvl2pPr>
          </a:lstStyle>
          <a:p>
            <a:pPr lvl="0"/>
            <a:r>
              <a:rPr lang="ru-RU" dirty="0"/>
              <a:t>Первая позиция в списке</a:t>
            </a:r>
          </a:p>
          <a:p>
            <a:pPr lvl="0"/>
            <a:r>
              <a:rPr lang="ru-RU" dirty="0"/>
              <a:t>Вторая позиция в списке</a:t>
            </a:r>
          </a:p>
          <a:p>
            <a:pPr lvl="0"/>
            <a:r>
              <a:rPr lang="ru-RU" dirty="0"/>
              <a:t>Третья позиция в списке</a:t>
            </a:r>
          </a:p>
          <a:p>
            <a:pPr lvl="1"/>
            <a:r>
              <a:rPr lang="ru-RU" dirty="0"/>
              <a:t>Второй уровень списка</a:t>
            </a:r>
          </a:p>
          <a:p>
            <a:pPr lvl="1"/>
            <a:r>
              <a:rPr lang="ru-RU" dirty="0"/>
              <a:t>Еще строчка</a:t>
            </a:r>
          </a:p>
        </p:txBody>
      </p:sp>
    </p:spTree>
    <p:extLst>
      <p:ext uri="{BB962C8B-B14F-4D97-AF65-F5344CB8AC3E}">
        <p14:creationId xmlns:p14="http://schemas.microsoft.com/office/powerpoint/2010/main" val="12705667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 справ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67697" y="762915"/>
            <a:ext cx="4943168" cy="4645025"/>
          </a:xfrm>
        </p:spPr>
        <p:txBody>
          <a:bodyPr anchor="ctr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2" name="Текст 2"/>
          <p:cNvSpPr>
            <a:spLocks noGrp="1"/>
          </p:cNvSpPr>
          <p:nvPr>
            <p:ph idx="1" hasCustomPrompt="1"/>
          </p:nvPr>
        </p:nvSpPr>
        <p:spPr>
          <a:xfrm>
            <a:off x="6381135" y="762915"/>
            <a:ext cx="4943168" cy="4633911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8C523A1-EB68-423D-8F90-63E750B7F5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705664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_0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865238" y="3215148"/>
            <a:ext cx="5948517" cy="2806240"/>
          </a:xfrm>
        </p:spPr>
        <p:txBody>
          <a:bodyPr anchor="ctr" anchorCtr="0">
            <a:normAutofit/>
          </a:bodyPr>
          <a:lstStyle>
            <a:lvl1pPr>
              <a:defRPr sz="4800" baseline="0"/>
            </a:lvl1pPr>
          </a:lstStyle>
          <a:p>
            <a:r>
              <a:rPr lang="ru-RU" dirty="0"/>
              <a:t>Страница разделитель 01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E183D238-B879-455A-91BE-5DFBD2E39E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69279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 с цифрой_0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Текст 6">
            <a:extLst>
              <a:ext uri="{FF2B5EF4-FFF2-40B4-BE49-F238E27FC236}">
                <a16:creationId xmlns:a16="http://schemas.microsoft.com/office/drawing/2014/main" id="{F0DFD439-0271-4EDC-9E88-A8C8A5616F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92159" y="478202"/>
            <a:ext cx="4896950" cy="2806239"/>
          </a:xfrm>
        </p:spPr>
        <p:txBody>
          <a:bodyPr lIns="0" tIns="0" rIns="0" bIns="0" anchor="t" anchorCtr="0">
            <a:noAutofit/>
          </a:bodyPr>
          <a:lstStyle>
            <a:lvl1pPr marL="0" indent="0" algn="ctr">
              <a:buFontTx/>
              <a:buNone/>
              <a:defRPr lang="ru-RU" sz="25000" b="1" kern="1200" baseline="0" dirty="0">
                <a:solidFill>
                  <a:schemeClr val="bg1"/>
                </a:solidFill>
                <a:latin typeface="Stolzl" panose="00000500000000000000" pitchFamily="50" charset="-52"/>
                <a:ea typeface="+mj-ea"/>
                <a:cs typeface="+mj-cs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294DF25D-F3E4-4185-AB33-DAD8419C2E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5238" y="3820562"/>
            <a:ext cx="5948517" cy="2200826"/>
          </a:xfrm>
        </p:spPr>
        <p:txBody>
          <a:bodyPr anchor="b" anchorCtr="0">
            <a:normAutofit/>
          </a:bodyPr>
          <a:lstStyle>
            <a:lvl1pPr>
              <a:defRPr sz="4800" baseline="0"/>
            </a:lvl1pPr>
          </a:lstStyle>
          <a:p>
            <a:r>
              <a:rPr lang="ru-RU" dirty="0"/>
              <a:t>Страница разделитель 02</a:t>
            </a:r>
          </a:p>
        </p:txBody>
      </p:sp>
      <p:sp>
        <p:nvSpPr>
          <p:cNvPr id="9" name="Текст 6">
            <a:extLst>
              <a:ext uri="{FF2B5EF4-FFF2-40B4-BE49-F238E27FC236}">
                <a16:creationId xmlns:a16="http://schemas.microsoft.com/office/drawing/2014/main" id="{7E9D0740-1D71-4366-99A6-C672EF2E21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452852" y="4621161"/>
            <a:ext cx="3195484" cy="1400227"/>
          </a:xfrm>
        </p:spPr>
        <p:txBody>
          <a:bodyPr lIns="0" tIns="0" rIns="0" bIns="0" anchor="b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47C20D37-BE6F-4F7A-B249-94EC22728A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897763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_0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B397B02E-0E06-4105-94D2-12E74FD1EB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6021388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21E35BC-10AD-412F-9067-A83FD57ECA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5238" y="2988811"/>
            <a:ext cx="5948517" cy="2806240"/>
          </a:xfrm>
        </p:spPr>
        <p:txBody>
          <a:bodyPr anchor="ctr" anchorCtr="0">
            <a:normAutofit/>
          </a:bodyPr>
          <a:lstStyle>
            <a:lvl1pPr>
              <a:defRPr sz="4800" baseline="0"/>
            </a:lvl1pPr>
          </a:lstStyle>
          <a:p>
            <a:r>
              <a:rPr lang="ru-RU" dirty="0"/>
              <a:t>Страница разделитель 03</a:t>
            </a:r>
          </a:p>
        </p:txBody>
      </p:sp>
    </p:spTree>
    <p:extLst>
      <p:ext uri="{BB962C8B-B14F-4D97-AF65-F5344CB8AC3E}">
        <p14:creationId xmlns:p14="http://schemas.microsoft.com/office/powerpoint/2010/main" val="13685039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Разделитель_0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B397B02E-0E06-4105-94D2-12E74FD1EB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6021388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21E35BC-10AD-412F-9067-A83FD57ECA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5238" y="2988811"/>
            <a:ext cx="5948517" cy="2806240"/>
          </a:xfrm>
        </p:spPr>
        <p:txBody>
          <a:bodyPr anchor="ctr" anchorCtr="0">
            <a:normAutofit/>
          </a:bodyPr>
          <a:lstStyle>
            <a:lvl1pPr>
              <a:defRPr sz="4800" baseline="0"/>
            </a:lvl1pPr>
          </a:lstStyle>
          <a:p>
            <a:r>
              <a:rPr lang="ru-RU" dirty="0"/>
              <a:t>Страница разделитель 04</a:t>
            </a:r>
          </a:p>
        </p:txBody>
      </p:sp>
    </p:spTree>
    <p:extLst>
      <p:ext uri="{BB962C8B-B14F-4D97-AF65-F5344CB8AC3E}">
        <p14:creationId xmlns:p14="http://schemas.microsoft.com/office/powerpoint/2010/main" val="2189666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диаграмм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sz="quarter" idx="13" hasCustomPrompt="1"/>
          </p:nvPr>
        </p:nvSpPr>
        <p:spPr>
          <a:xfrm>
            <a:off x="8835461" y="1534625"/>
            <a:ext cx="2442137" cy="4179272"/>
          </a:xfrm>
        </p:spPr>
        <p:txBody>
          <a:bodyPr anchor="ctr" anchorCtr="0">
            <a:normAutofit/>
          </a:bodyPr>
          <a:lstStyle>
            <a:lvl1pPr>
              <a:defRPr sz="1400" b="0"/>
            </a:lvl1pPr>
            <a:lvl4pPr>
              <a:defRPr/>
            </a:lvl4pPr>
          </a:lstStyle>
          <a:p>
            <a:pPr lvl="0"/>
            <a:r>
              <a:rPr lang="ru-RU" dirty="0"/>
              <a:t>Описание диаграммы</a:t>
            </a:r>
          </a:p>
        </p:txBody>
      </p:sp>
      <p:sp>
        <p:nvSpPr>
          <p:cNvPr id="7" name="Диаграмма 6"/>
          <p:cNvSpPr>
            <a:spLocks noGrp="1"/>
          </p:cNvSpPr>
          <p:nvPr>
            <p:ph type="chart" sz="quarter" idx="14"/>
          </p:nvPr>
        </p:nvSpPr>
        <p:spPr>
          <a:xfrm>
            <a:off x="884902" y="1543169"/>
            <a:ext cx="7771376" cy="4179273"/>
          </a:xfrm>
        </p:spPr>
        <p:txBody>
          <a:bodyPr/>
          <a:lstStyle/>
          <a:p>
            <a:endParaRPr lang="ru-RU"/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2F821131-241D-4D09-AE09-799B29595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63282"/>
            <a:ext cx="10392696" cy="954310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F46BE731-9096-4039-BF9A-727DEA4B2E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407668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круговая диаграмм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1"/>
          <p:cNvSpPr>
            <a:spLocks noGrp="1"/>
          </p:cNvSpPr>
          <p:nvPr>
            <p:ph type="title"/>
          </p:nvPr>
        </p:nvSpPr>
        <p:spPr>
          <a:xfrm>
            <a:off x="6343436" y="441325"/>
            <a:ext cx="4938367" cy="1552267"/>
          </a:xfrm>
        </p:spPr>
        <p:txBody>
          <a:bodyPr anchor="ctr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7" name="Диаграмма 6"/>
          <p:cNvSpPr>
            <a:spLocks noGrp="1"/>
          </p:cNvSpPr>
          <p:nvPr>
            <p:ph type="chart" sz="quarter" idx="14"/>
          </p:nvPr>
        </p:nvSpPr>
        <p:spPr>
          <a:xfrm>
            <a:off x="875071" y="441325"/>
            <a:ext cx="4973493" cy="5097156"/>
          </a:xfrm>
        </p:spPr>
        <p:txBody>
          <a:bodyPr/>
          <a:lstStyle/>
          <a:p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idx="1" hasCustomPrompt="1"/>
          </p:nvPr>
        </p:nvSpPr>
        <p:spPr>
          <a:xfrm>
            <a:off x="6341806" y="2298393"/>
            <a:ext cx="4940197" cy="3240088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E1FE05CB-6EF4-4FF8-B36B-867271E4E4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312205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390967" y="1595563"/>
            <a:ext cx="4886631" cy="4045156"/>
          </a:xfrm>
        </p:spPr>
        <p:txBody>
          <a:bodyPr anchor="t" anchorCtr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84902" y="1595564"/>
            <a:ext cx="4886631" cy="4045156"/>
          </a:xfrm>
        </p:spPr>
        <p:txBody>
          <a:bodyPr anchor="t" anchorCtr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7211C23E-56A6-4164-B8FF-F10658F2B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E7F2573-AD9D-448A-A476-45D5ECB216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077090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Рисунок с подписью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96000" y="2489588"/>
            <a:ext cx="5196348" cy="3185292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Описание, краткая информация</a:t>
            </a:r>
          </a:p>
        </p:txBody>
      </p:sp>
      <p:sp>
        <p:nvSpPr>
          <p:cNvPr id="9" name="Рисунок 8"/>
          <p:cNvSpPr>
            <a:spLocks noGrp="1"/>
          </p:cNvSpPr>
          <p:nvPr>
            <p:ph type="pic" sz="quarter" idx="13"/>
          </p:nvPr>
        </p:nvSpPr>
        <p:spPr>
          <a:xfrm>
            <a:off x="880704" y="1614516"/>
            <a:ext cx="5005388" cy="4060364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10" name="Текст 3"/>
          <p:cNvSpPr>
            <a:spLocks noGrp="1"/>
          </p:cNvSpPr>
          <p:nvPr>
            <p:ph type="body" sz="half" idx="14" hasCustomPrompt="1"/>
          </p:nvPr>
        </p:nvSpPr>
        <p:spPr>
          <a:xfrm>
            <a:off x="6096000" y="1614516"/>
            <a:ext cx="5196348" cy="715962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Подпись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475CD4B1-F30F-4145-BA27-A319BB473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52264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E5CEB1CE-04E3-42BD-8823-F5452F1C49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214414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Рисунка с подписью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90535" y="4965411"/>
            <a:ext cx="4782677" cy="715962"/>
          </a:xfrm>
        </p:spPr>
        <p:txBody>
          <a:bodyPr anchor="b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Описание, краткая информация</a:t>
            </a:r>
          </a:p>
        </p:txBody>
      </p:sp>
      <p:sp>
        <p:nvSpPr>
          <p:cNvPr id="9" name="Рисунок 8"/>
          <p:cNvSpPr>
            <a:spLocks noGrp="1"/>
          </p:cNvSpPr>
          <p:nvPr>
            <p:ph type="pic" sz="quarter" idx="13"/>
          </p:nvPr>
        </p:nvSpPr>
        <p:spPr>
          <a:xfrm>
            <a:off x="890535" y="1514633"/>
            <a:ext cx="4782677" cy="2890556"/>
          </a:xfrm>
        </p:spPr>
        <p:txBody>
          <a:bodyPr/>
          <a:lstStyle/>
          <a:p>
            <a:endParaRPr lang="ru-RU"/>
          </a:p>
        </p:txBody>
      </p:sp>
      <p:sp>
        <p:nvSpPr>
          <p:cNvPr id="10" name="Текст 3"/>
          <p:cNvSpPr>
            <a:spLocks noGrp="1"/>
          </p:cNvSpPr>
          <p:nvPr>
            <p:ph type="body" sz="half" idx="14" hasCustomPrompt="1"/>
          </p:nvPr>
        </p:nvSpPr>
        <p:spPr>
          <a:xfrm>
            <a:off x="890535" y="4536785"/>
            <a:ext cx="4782677" cy="428625"/>
          </a:xfrm>
        </p:spPr>
        <p:txBody>
          <a:bodyPr anchor="b" anchorCtr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Подпись</a:t>
            </a:r>
          </a:p>
        </p:txBody>
      </p:sp>
      <p:sp>
        <p:nvSpPr>
          <p:cNvPr id="14" name="Текст 3"/>
          <p:cNvSpPr>
            <a:spLocks noGrp="1"/>
          </p:cNvSpPr>
          <p:nvPr>
            <p:ph type="body" sz="half" idx="16"/>
          </p:nvPr>
        </p:nvSpPr>
        <p:spPr>
          <a:xfrm>
            <a:off x="6518788" y="4965410"/>
            <a:ext cx="4782677" cy="715962"/>
          </a:xfrm>
        </p:spPr>
        <p:txBody>
          <a:bodyPr anchor="b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Описание, краткая информация</a:t>
            </a:r>
          </a:p>
        </p:txBody>
      </p:sp>
      <p:sp>
        <p:nvSpPr>
          <p:cNvPr id="15" name="Рисунок 8"/>
          <p:cNvSpPr>
            <a:spLocks noGrp="1"/>
          </p:cNvSpPr>
          <p:nvPr>
            <p:ph type="pic" sz="quarter" idx="17"/>
          </p:nvPr>
        </p:nvSpPr>
        <p:spPr>
          <a:xfrm>
            <a:off x="6518788" y="1504646"/>
            <a:ext cx="4782677" cy="2900543"/>
          </a:xfrm>
        </p:spPr>
        <p:txBody>
          <a:bodyPr/>
          <a:lstStyle/>
          <a:p>
            <a:endParaRPr lang="ru-RU"/>
          </a:p>
        </p:txBody>
      </p:sp>
      <p:sp>
        <p:nvSpPr>
          <p:cNvPr id="16" name="Текст 3"/>
          <p:cNvSpPr>
            <a:spLocks noGrp="1"/>
          </p:cNvSpPr>
          <p:nvPr>
            <p:ph type="body" sz="half" idx="18" hasCustomPrompt="1"/>
          </p:nvPr>
        </p:nvSpPr>
        <p:spPr>
          <a:xfrm>
            <a:off x="6518788" y="4536784"/>
            <a:ext cx="4782677" cy="428625"/>
          </a:xfrm>
        </p:spPr>
        <p:txBody>
          <a:bodyPr anchor="b" anchorCtr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Подпись</a:t>
            </a:r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981AEDAF-55A9-4E1C-8323-359C0D961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8FFC0EE2-1895-4B1F-A00C-1F2A313BE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426563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бъект с подписью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Текст 3"/>
          <p:cNvSpPr>
            <a:spLocks noGrp="1"/>
          </p:cNvSpPr>
          <p:nvPr>
            <p:ph type="body" sz="half" idx="2"/>
          </p:nvPr>
        </p:nvSpPr>
        <p:spPr>
          <a:xfrm>
            <a:off x="891280" y="5127584"/>
            <a:ext cx="4927703" cy="715962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Описание, краткая информация</a:t>
            </a:r>
          </a:p>
        </p:txBody>
      </p:sp>
      <p:sp>
        <p:nvSpPr>
          <p:cNvPr id="15" name="Текст 3"/>
          <p:cNvSpPr>
            <a:spLocks noGrp="1"/>
          </p:cNvSpPr>
          <p:nvPr>
            <p:ph type="body" sz="half" idx="14" hasCustomPrompt="1"/>
          </p:nvPr>
        </p:nvSpPr>
        <p:spPr>
          <a:xfrm>
            <a:off x="891280" y="4594184"/>
            <a:ext cx="4927703" cy="533399"/>
          </a:xfrm>
        </p:spPr>
        <p:txBody>
          <a:bodyPr anchor="b" anchorCtr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Подпись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6"/>
          </p:nvPr>
        </p:nvSpPr>
        <p:spPr>
          <a:xfrm>
            <a:off x="888105" y="1527246"/>
            <a:ext cx="4931385" cy="3004751"/>
          </a:xfrm>
        </p:spPr>
        <p:txBody>
          <a:bodyPr anchor="t" anchorCtr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10" name="Текст 3"/>
          <p:cNvSpPr>
            <a:spLocks noGrp="1"/>
          </p:cNvSpPr>
          <p:nvPr>
            <p:ph type="body" sz="half" idx="17"/>
          </p:nvPr>
        </p:nvSpPr>
        <p:spPr>
          <a:xfrm>
            <a:off x="6349420" y="5115850"/>
            <a:ext cx="4927703" cy="715962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Описание, краткая информация</a:t>
            </a:r>
          </a:p>
        </p:txBody>
      </p:sp>
      <p:sp>
        <p:nvSpPr>
          <p:cNvPr id="16" name="Текст 3"/>
          <p:cNvSpPr>
            <a:spLocks noGrp="1"/>
          </p:cNvSpPr>
          <p:nvPr>
            <p:ph type="body" sz="half" idx="18" hasCustomPrompt="1"/>
          </p:nvPr>
        </p:nvSpPr>
        <p:spPr>
          <a:xfrm>
            <a:off x="6349420" y="4582450"/>
            <a:ext cx="4927703" cy="533399"/>
          </a:xfrm>
        </p:spPr>
        <p:txBody>
          <a:bodyPr anchor="b" anchorCtr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Подпись</a:t>
            </a:r>
          </a:p>
        </p:txBody>
      </p:sp>
      <p:sp>
        <p:nvSpPr>
          <p:cNvPr id="17" name="Объект 3"/>
          <p:cNvSpPr>
            <a:spLocks noGrp="1"/>
          </p:cNvSpPr>
          <p:nvPr>
            <p:ph sz="half" idx="19"/>
          </p:nvPr>
        </p:nvSpPr>
        <p:spPr>
          <a:xfrm>
            <a:off x="6346213" y="1514593"/>
            <a:ext cx="4931385" cy="3004751"/>
          </a:xfrm>
        </p:spPr>
        <p:txBody>
          <a:bodyPr anchor="t" anchorCtr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4131546B-EEAC-45C2-AD58-2686120E4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54BC83B1-EA69-458C-93CC-D83700FA6A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925075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5">
            <a:extLst>
              <a:ext uri="{FF2B5EF4-FFF2-40B4-BE49-F238E27FC236}">
                <a16:creationId xmlns:a16="http://schemas.microsoft.com/office/drawing/2014/main" id="{253E90FC-F950-4C4B-B0F4-B43F9D7D14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9507819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следни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874714" y="3429000"/>
            <a:ext cx="6084888" cy="1133788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Имя Фамилия докладчика</a:t>
            </a:r>
          </a:p>
          <a:p>
            <a:r>
              <a:rPr lang="ru-RU" sz="2400" dirty="0"/>
              <a:t>Должность / Служба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 hasCustomPrompt="1"/>
          </p:nvPr>
        </p:nvSpPr>
        <p:spPr>
          <a:xfrm>
            <a:off x="874714" y="4588768"/>
            <a:ext cx="3770313" cy="628650"/>
          </a:xfrm>
        </p:spPr>
        <p:txBody>
          <a:bodyPr>
            <a:normAutofit/>
          </a:bodyPr>
          <a:lstStyle>
            <a:lvl1pPr>
              <a:defRPr sz="1800" b="0" baseline="0"/>
            </a:lvl1pPr>
          </a:lstStyle>
          <a:p>
            <a:pPr lvl="0"/>
            <a:r>
              <a:rPr lang="ru-RU" dirty="0"/>
              <a:t>Телефон / эл. почта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0CED1720-7802-4704-90FA-E3029649512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74713" y="1142075"/>
            <a:ext cx="6084889" cy="2254314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4800"/>
            </a:lvl1pPr>
          </a:lstStyle>
          <a:p>
            <a:r>
              <a:rPr lang="ru-RU" dirty="0"/>
              <a:t>Благодарю </a:t>
            </a:r>
            <a:br>
              <a:rPr lang="ru-RU" dirty="0"/>
            </a:br>
            <a:r>
              <a:rPr lang="ru-RU" dirty="0"/>
              <a:t>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51374327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оследни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874713" y="3429000"/>
            <a:ext cx="6084888" cy="1133788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Имя Фамилия докладчика</a:t>
            </a:r>
          </a:p>
          <a:p>
            <a:r>
              <a:rPr lang="ru-RU" sz="2400" dirty="0"/>
              <a:t>Должность / Служба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 hasCustomPrompt="1"/>
          </p:nvPr>
        </p:nvSpPr>
        <p:spPr>
          <a:xfrm>
            <a:off x="874713" y="4588768"/>
            <a:ext cx="3770313" cy="628650"/>
          </a:xfrm>
        </p:spPr>
        <p:txBody>
          <a:bodyPr>
            <a:normAutofit/>
          </a:bodyPr>
          <a:lstStyle>
            <a:lvl1pPr>
              <a:defRPr sz="1800" b="0" baseline="0"/>
            </a:lvl1pPr>
          </a:lstStyle>
          <a:p>
            <a:pPr lvl="0"/>
            <a:r>
              <a:rPr lang="ru-RU" dirty="0"/>
              <a:t>Телефон / эл. почта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8EA4524E-AC81-4F4C-AAE2-A4D98451D4A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74713" y="1142075"/>
            <a:ext cx="6084889" cy="2254314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4800"/>
            </a:lvl1pPr>
          </a:lstStyle>
          <a:p>
            <a:r>
              <a:rPr lang="ru-RU" dirty="0"/>
              <a:t>Благодарю </a:t>
            </a:r>
            <a:br>
              <a:rPr lang="ru-RU" dirty="0"/>
            </a:br>
            <a:r>
              <a:rPr lang="ru-RU" dirty="0"/>
              <a:t>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3675266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47800" y="1376363"/>
            <a:ext cx="4252913" cy="463391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456363" y="1376363"/>
            <a:ext cx="4287836" cy="4633912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06DD18E-EC18-44A1-8713-A3D5410D0C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82474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50" r:id="rId4"/>
    <p:sldLayoutId id="2147483694" r:id="rId5"/>
    <p:sldLayoutId id="2147483695" r:id="rId6"/>
    <p:sldLayoutId id="2147483706" r:id="rId7"/>
    <p:sldLayoutId id="2147483686" r:id="rId8"/>
    <p:sldLayoutId id="2147483704" r:id="rId9"/>
    <p:sldLayoutId id="2147483688" r:id="rId10"/>
    <p:sldLayoutId id="2147483705" r:id="rId11"/>
    <p:sldLayoutId id="2147483665" r:id="rId12"/>
    <p:sldLayoutId id="2147483677" r:id="rId13"/>
    <p:sldLayoutId id="2147483697" r:id="rId14"/>
    <p:sldLayoutId id="2147483698" r:id="rId15"/>
    <p:sldLayoutId id="2147483707" r:id="rId16"/>
    <p:sldLayoutId id="2147483672" r:id="rId17"/>
    <p:sldLayoutId id="2147483671" r:id="rId18"/>
    <p:sldLayoutId id="2147483652" r:id="rId19"/>
    <p:sldLayoutId id="2147483703" r:id="rId20"/>
    <p:sldLayoutId id="2147483675" r:id="rId21"/>
    <p:sldLayoutId id="2147483676" r:id="rId22"/>
    <p:sldLayoutId id="2147483666" r:id="rId23"/>
    <p:sldLayoutId id="2147483701" r:id="rId24"/>
    <p:sldLayoutId id="2147483684" r:id="rId2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b="1" kern="1200">
          <a:solidFill>
            <a:schemeClr val="bg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1" kern="1200">
          <a:solidFill>
            <a:schemeClr val="bg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kern="1200">
          <a:solidFill>
            <a:schemeClr val="bg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400" b="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7310" userDrawn="1">
          <p15:clr>
            <a:srgbClr val="F26B43"/>
          </p15:clr>
        </p15:guide>
        <p15:guide id="17" pos="370" userDrawn="1">
          <p15:clr>
            <a:srgbClr val="F26B43"/>
          </p15:clr>
        </p15:guide>
        <p15:guide id="20" orient="horz" pos="4042" userDrawn="1">
          <p15:clr>
            <a:srgbClr val="F26B43"/>
          </p15:clr>
        </p15:guide>
        <p15:guide id="21" orient="horz" pos="278" userDrawn="1">
          <p15:clr>
            <a:srgbClr val="F26B43"/>
          </p15:clr>
        </p15:guide>
        <p15:guide id="22" pos="551" userDrawn="1">
          <p15:clr>
            <a:srgbClr val="F26B43"/>
          </p15:clr>
        </p15:guide>
        <p15:guide id="23" pos="710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13" Type="http://schemas.openxmlformats.org/officeDocument/2006/relationships/slide" Target="slide14.xml"/><Relationship Id="rId18" Type="http://schemas.openxmlformats.org/officeDocument/2006/relationships/slide" Target="slide19.xml"/><Relationship Id="rId26" Type="http://schemas.openxmlformats.org/officeDocument/2006/relationships/slide" Target="slide27.xml"/><Relationship Id="rId3" Type="http://schemas.openxmlformats.org/officeDocument/2006/relationships/slide" Target="slide4.xml"/><Relationship Id="rId21" Type="http://schemas.openxmlformats.org/officeDocument/2006/relationships/slide" Target="slide22.xml"/><Relationship Id="rId7" Type="http://schemas.openxmlformats.org/officeDocument/2006/relationships/slide" Target="slide8.xml"/><Relationship Id="rId12" Type="http://schemas.openxmlformats.org/officeDocument/2006/relationships/slide" Target="slide13.xml"/><Relationship Id="rId17" Type="http://schemas.openxmlformats.org/officeDocument/2006/relationships/slide" Target="slide18.xml"/><Relationship Id="rId25" Type="http://schemas.openxmlformats.org/officeDocument/2006/relationships/slide" Target="slide26.xml"/><Relationship Id="rId2" Type="http://schemas.openxmlformats.org/officeDocument/2006/relationships/slide" Target="slide3.xml"/><Relationship Id="rId16" Type="http://schemas.openxmlformats.org/officeDocument/2006/relationships/slide" Target="slide17.xml"/><Relationship Id="rId20" Type="http://schemas.openxmlformats.org/officeDocument/2006/relationships/slide" Target="slide21.xml"/><Relationship Id="rId1" Type="http://schemas.openxmlformats.org/officeDocument/2006/relationships/slideLayout" Target="../slideLayouts/slideLayout4.xml"/><Relationship Id="rId6" Type="http://schemas.openxmlformats.org/officeDocument/2006/relationships/slide" Target="slide7.xml"/><Relationship Id="rId11" Type="http://schemas.openxmlformats.org/officeDocument/2006/relationships/slide" Target="slide12.xml"/><Relationship Id="rId24" Type="http://schemas.openxmlformats.org/officeDocument/2006/relationships/slide" Target="slide25.xml"/><Relationship Id="rId5" Type="http://schemas.openxmlformats.org/officeDocument/2006/relationships/slide" Target="slide6.xml"/><Relationship Id="rId15" Type="http://schemas.openxmlformats.org/officeDocument/2006/relationships/slide" Target="slide16.xml"/><Relationship Id="rId23" Type="http://schemas.openxmlformats.org/officeDocument/2006/relationships/slide" Target="slide24.xml"/><Relationship Id="rId10" Type="http://schemas.openxmlformats.org/officeDocument/2006/relationships/slide" Target="slide11.xml"/><Relationship Id="rId19" Type="http://schemas.openxmlformats.org/officeDocument/2006/relationships/slide" Target="slide20.xml"/><Relationship Id="rId4" Type="http://schemas.openxmlformats.org/officeDocument/2006/relationships/slide" Target="slide5.xml"/><Relationship Id="rId9" Type="http://schemas.openxmlformats.org/officeDocument/2006/relationships/slide" Target="slide10.xml"/><Relationship Id="rId14" Type="http://schemas.openxmlformats.org/officeDocument/2006/relationships/slide" Target="slide15.xml"/><Relationship Id="rId22" Type="http://schemas.openxmlformats.org/officeDocument/2006/relationships/slide" Target="slide2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74713" y="1592673"/>
            <a:ext cx="5106209" cy="3114405"/>
          </a:xfrm>
        </p:spPr>
        <p:txBody>
          <a:bodyPr/>
          <a:lstStyle/>
          <a:p>
            <a:r>
              <a:rPr sz="2200" b="0" dirty="0" err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Квиз</a:t>
            </a:r>
            <a:endParaRPr sz="2200" b="0" dirty="0">
              <a:solidFill>
                <a:srgbClr val="BFBFBF"/>
              </a:solidFill>
              <a:latin typeface="Verdana"/>
              <a:ea typeface="Verdana"/>
              <a:cs typeface="Verdana"/>
            </a:endParaRPr>
          </a:p>
          <a:p>
            <a:pPr>
              <a:spcBef>
                <a:spcPts val="800"/>
              </a:spcBef>
            </a:pPr>
            <a:r>
              <a:rPr sz="3200" b="1" dirty="0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1С-ЭПД / </a:t>
            </a:r>
            <a:r>
              <a:rPr sz="3200" b="1" dirty="0" err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Доки.Логистика</a:t>
            </a:r>
            <a:endParaRPr sz="3200" b="1" dirty="0">
              <a:solidFill>
                <a:srgbClr val="26A6E0"/>
              </a:solidFill>
              <a:latin typeface="Verdana"/>
              <a:ea typeface="Verdana"/>
              <a:cs typeface="Verdana"/>
            </a:endParaRPr>
          </a:p>
          <a:p>
            <a:pPr>
              <a:spcBef>
                <a:spcPts val="1600"/>
              </a:spcBef>
            </a:pPr>
            <a:r>
              <a:rPr sz="1600" b="1" dirty="0" err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Своя</a:t>
            </a:r>
            <a:r>
              <a:rPr sz="1600" b="1" dirty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600" b="1" dirty="0" err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игра</a:t>
            </a:r>
            <a:endParaRPr sz="1600" b="1" dirty="0">
              <a:solidFill>
                <a:srgbClr val="FFFFFF"/>
              </a:solidFill>
              <a:latin typeface="Verdana"/>
              <a:ea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Игровое поле  ·  100 к 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86968" y="1097280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Клик по баллам → вопрос  ·  таймер 30 сек  ·  ответ откроется сам  ·  «К полю» — назад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2331720" cy="777240"/>
          </a:xfrm>
          <a:prstGeom prst="roundRect">
            <a:avLst>
              <a:gd name="adj" fmla="val 8000"/>
            </a:avLst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Тема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81528" y="1554480"/>
            <a:ext cx="1554480" cy="777240"/>
          </a:xfrm>
          <a:prstGeom prst="roundRect">
            <a:avLst>
              <a:gd name="adj" fmla="val 10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45736" y="1554480"/>
            <a:ext cx="1554480" cy="777240"/>
          </a:xfrm>
          <a:prstGeom prst="roundRect">
            <a:avLst>
              <a:gd name="adj" fmla="val 10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9944" y="1554480"/>
            <a:ext cx="1554480" cy="777240"/>
          </a:xfrm>
          <a:prstGeom prst="roundRect">
            <a:avLst>
              <a:gd name="adj" fmla="val 10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74152" y="1554480"/>
            <a:ext cx="1554480" cy="777240"/>
          </a:xfrm>
          <a:prstGeom prst="roundRect">
            <a:avLst>
              <a:gd name="adj" fmla="val 10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70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38360" y="1554480"/>
            <a:ext cx="1554480" cy="777240"/>
          </a:xfrm>
          <a:prstGeom prst="roundRect">
            <a:avLst>
              <a:gd name="adj" fmla="val 10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441448"/>
            <a:ext cx="2331720" cy="77724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Основы ЭПД</a:t>
            </a:r>
          </a:p>
        </p:txBody>
      </p:sp>
      <p:sp>
        <p:nvSpPr>
          <p:cNvPr id="12" name="Rounded Rectangle 11">
            <a:hlinkClick r:id="rId2" action="ppaction://hlinksldjump"/>
          </p:cNvPr>
          <p:cNvSpPr/>
          <p:nvPr/>
        </p:nvSpPr>
        <p:spPr>
          <a:xfrm>
            <a:off x="3081528" y="2441448"/>
            <a:ext cx="1554480" cy="777240"/>
          </a:xfrm>
          <a:prstGeom prst="roundRect">
            <a:avLst>
              <a:gd name="adj" fmla="val 12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2" action="ppaction://hlinksldjump"/>
              </a:rPr>
              <a:t>10</a:t>
            </a:r>
          </a:p>
        </p:txBody>
      </p:sp>
      <p:sp>
        <p:nvSpPr>
          <p:cNvPr id="13" name="Rounded Rectangle 12">
            <a:hlinkClick r:id="rId3" action="ppaction://hlinksldjump"/>
          </p:cNvPr>
          <p:cNvSpPr/>
          <p:nvPr/>
        </p:nvSpPr>
        <p:spPr>
          <a:xfrm>
            <a:off x="4745736" y="2441448"/>
            <a:ext cx="1554480" cy="777240"/>
          </a:xfrm>
          <a:prstGeom prst="roundRect">
            <a:avLst>
              <a:gd name="adj" fmla="val 12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3" action="ppaction://hlinksldjump"/>
              </a:rPr>
              <a:t>30</a:t>
            </a:r>
          </a:p>
        </p:txBody>
      </p:sp>
      <p:sp>
        <p:nvSpPr>
          <p:cNvPr id="14" name="Rounded Rectangle 13">
            <a:hlinkClick r:id="rId4" action="ppaction://hlinksldjump"/>
          </p:cNvPr>
          <p:cNvSpPr/>
          <p:nvPr/>
        </p:nvSpPr>
        <p:spPr>
          <a:xfrm>
            <a:off x="6409944" y="2441448"/>
            <a:ext cx="1554480" cy="777240"/>
          </a:xfrm>
          <a:prstGeom prst="roundRect">
            <a:avLst>
              <a:gd name="adj" fmla="val 12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4" action="ppaction://hlinksldjump"/>
              </a:rPr>
              <a:t>50</a:t>
            </a:r>
          </a:p>
        </p:txBody>
      </p:sp>
      <p:sp>
        <p:nvSpPr>
          <p:cNvPr id="15" name="Rounded Rectangle 14">
            <a:hlinkClick r:id="rId5" action="ppaction://hlinksldjump"/>
          </p:cNvPr>
          <p:cNvSpPr/>
          <p:nvPr/>
        </p:nvSpPr>
        <p:spPr>
          <a:xfrm>
            <a:off x="8074152" y="2441448"/>
            <a:ext cx="1554480" cy="777240"/>
          </a:xfrm>
          <a:prstGeom prst="roundRect">
            <a:avLst>
              <a:gd name="adj" fmla="val 12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5" action="ppaction://hlinksldjump"/>
              </a:rPr>
              <a:t>70</a:t>
            </a:r>
          </a:p>
        </p:txBody>
      </p:sp>
      <p:sp>
        <p:nvSpPr>
          <p:cNvPr id="16" name="Rounded Rectangle 15">
            <a:hlinkClick r:id="rId6" action="ppaction://hlinksldjump"/>
          </p:cNvPr>
          <p:cNvSpPr/>
          <p:nvPr/>
        </p:nvSpPr>
        <p:spPr>
          <a:xfrm>
            <a:off x="9738360" y="2441448"/>
            <a:ext cx="1554480" cy="777240"/>
          </a:xfrm>
          <a:prstGeom prst="roundRect">
            <a:avLst>
              <a:gd name="adj" fmla="val 12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6" action="ppaction://hlinksldjump"/>
              </a:rPr>
              <a:t>100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328416"/>
            <a:ext cx="2331720" cy="77724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ЭТрН и обязательность</a:t>
            </a:r>
          </a:p>
        </p:txBody>
      </p:sp>
      <p:sp>
        <p:nvSpPr>
          <p:cNvPr id="18" name="Rounded Rectangle 17">
            <a:hlinkClick r:id="rId7" action="ppaction://hlinksldjump"/>
          </p:cNvPr>
          <p:cNvSpPr/>
          <p:nvPr/>
        </p:nvSpPr>
        <p:spPr>
          <a:xfrm>
            <a:off x="3081528" y="3328416"/>
            <a:ext cx="1554480" cy="777240"/>
          </a:xfrm>
          <a:prstGeom prst="roundRect">
            <a:avLst>
              <a:gd name="adj" fmla="val 12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7" action="ppaction://hlinksldjump"/>
              </a:rPr>
              <a:t>10</a:t>
            </a:r>
          </a:p>
        </p:txBody>
      </p:sp>
      <p:sp>
        <p:nvSpPr>
          <p:cNvPr id="19" name="Rounded Rectangle 18">
            <a:hlinkClick r:id="rId8" action="ppaction://hlinksldjump"/>
          </p:cNvPr>
          <p:cNvSpPr/>
          <p:nvPr/>
        </p:nvSpPr>
        <p:spPr>
          <a:xfrm>
            <a:off x="4745736" y="3328416"/>
            <a:ext cx="1554480" cy="777240"/>
          </a:xfrm>
          <a:prstGeom prst="roundRect">
            <a:avLst>
              <a:gd name="adj" fmla="val 12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8" action="ppaction://hlinksldjump"/>
              </a:rPr>
              <a:t>30</a:t>
            </a:r>
          </a:p>
        </p:txBody>
      </p:sp>
      <p:sp>
        <p:nvSpPr>
          <p:cNvPr id="20" name="Rounded Rectangle 19">
            <a:hlinkClick r:id="rId9" action="ppaction://hlinksldjump"/>
          </p:cNvPr>
          <p:cNvSpPr/>
          <p:nvPr/>
        </p:nvSpPr>
        <p:spPr>
          <a:xfrm>
            <a:off x="6409944" y="3328416"/>
            <a:ext cx="1554480" cy="777240"/>
          </a:xfrm>
          <a:prstGeom prst="roundRect">
            <a:avLst>
              <a:gd name="adj" fmla="val 12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9" action="ppaction://hlinksldjump"/>
              </a:rPr>
              <a:t>50</a:t>
            </a:r>
          </a:p>
        </p:txBody>
      </p:sp>
      <p:sp>
        <p:nvSpPr>
          <p:cNvPr id="21" name="Rounded Rectangle 20">
            <a:hlinkClick r:id="rId10" action="ppaction://hlinksldjump"/>
          </p:cNvPr>
          <p:cNvSpPr/>
          <p:nvPr/>
        </p:nvSpPr>
        <p:spPr>
          <a:xfrm>
            <a:off x="8074152" y="3328416"/>
            <a:ext cx="1554480" cy="777240"/>
          </a:xfrm>
          <a:prstGeom prst="roundRect">
            <a:avLst>
              <a:gd name="adj" fmla="val 12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10" action="ppaction://hlinksldjump"/>
              </a:rPr>
              <a:t>70</a:t>
            </a:r>
          </a:p>
        </p:txBody>
      </p:sp>
      <p:sp>
        <p:nvSpPr>
          <p:cNvPr id="22" name="Rounded Rectangle 21">
            <a:hlinkClick r:id="rId11" action="ppaction://hlinksldjump"/>
          </p:cNvPr>
          <p:cNvSpPr/>
          <p:nvPr/>
        </p:nvSpPr>
        <p:spPr>
          <a:xfrm>
            <a:off x="9738360" y="3328416"/>
            <a:ext cx="1554480" cy="777240"/>
          </a:xfrm>
          <a:prstGeom prst="roundRect">
            <a:avLst>
              <a:gd name="adj" fmla="val 12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11" action="ppaction://hlinksldjump"/>
              </a:rPr>
              <a:t>100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215384"/>
            <a:ext cx="2331720" cy="77724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Документы и QR</a:t>
            </a:r>
          </a:p>
        </p:txBody>
      </p:sp>
      <p:sp>
        <p:nvSpPr>
          <p:cNvPr id="24" name="Rounded Rectangle 23">
            <a:hlinkClick r:id="rId12" action="ppaction://hlinksldjump"/>
          </p:cNvPr>
          <p:cNvSpPr/>
          <p:nvPr/>
        </p:nvSpPr>
        <p:spPr>
          <a:xfrm>
            <a:off x="3081528" y="4215384"/>
            <a:ext cx="1554480" cy="777240"/>
          </a:xfrm>
          <a:prstGeom prst="roundRect">
            <a:avLst>
              <a:gd name="adj" fmla="val 12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12" action="ppaction://hlinksldjump"/>
              </a:rPr>
              <a:t>10</a:t>
            </a:r>
          </a:p>
        </p:txBody>
      </p:sp>
      <p:sp>
        <p:nvSpPr>
          <p:cNvPr id="25" name="Rounded Rectangle 24">
            <a:hlinkClick r:id="rId13" action="ppaction://hlinksldjump"/>
          </p:cNvPr>
          <p:cNvSpPr/>
          <p:nvPr/>
        </p:nvSpPr>
        <p:spPr>
          <a:xfrm>
            <a:off x="4745736" y="4215384"/>
            <a:ext cx="1554480" cy="777240"/>
          </a:xfrm>
          <a:prstGeom prst="roundRect">
            <a:avLst>
              <a:gd name="adj" fmla="val 12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13" action="ppaction://hlinksldjump"/>
              </a:rPr>
              <a:t>30</a:t>
            </a:r>
          </a:p>
        </p:txBody>
      </p:sp>
      <p:sp>
        <p:nvSpPr>
          <p:cNvPr id="26" name="Rounded Rectangle 25">
            <a:hlinkClick r:id="rId14" action="ppaction://hlinksldjump"/>
          </p:cNvPr>
          <p:cNvSpPr/>
          <p:nvPr/>
        </p:nvSpPr>
        <p:spPr>
          <a:xfrm>
            <a:off x="6409944" y="4215384"/>
            <a:ext cx="1554480" cy="777240"/>
          </a:xfrm>
          <a:prstGeom prst="roundRect">
            <a:avLst>
              <a:gd name="adj" fmla="val 12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14" action="ppaction://hlinksldjump"/>
              </a:rPr>
              <a:t>50</a:t>
            </a:r>
          </a:p>
        </p:txBody>
      </p:sp>
      <p:sp>
        <p:nvSpPr>
          <p:cNvPr id="27" name="Rounded Rectangle 26">
            <a:hlinkClick r:id="rId15" action="ppaction://hlinksldjump"/>
          </p:cNvPr>
          <p:cNvSpPr/>
          <p:nvPr/>
        </p:nvSpPr>
        <p:spPr>
          <a:xfrm>
            <a:off x="8074152" y="4215384"/>
            <a:ext cx="1554480" cy="777240"/>
          </a:xfrm>
          <a:prstGeom prst="roundRect">
            <a:avLst>
              <a:gd name="adj" fmla="val 12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15" action="ppaction://hlinksldjump"/>
              </a:rPr>
              <a:t>70</a:t>
            </a:r>
          </a:p>
        </p:txBody>
      </p:sp>
      <p:sp>
        <p:nvSpPr>
          <p:cNvPr id="28" name="Rounded Rectangle 27">
            <a:hlinkClick r:id="rId16" action="ppaction://hlinksldjump"/>
          </p:cNvPr>
          <p:cNvSpPr/>
          <p:nvPr/>
        </p:nvSpPr>
        <p:spPr>
          <a:xfrm>
            <a:off x="9738360" y="4215384"/>
            <a:ext cx="1554480" cy="777240"/>
          </a:xfrm>
          <a:prstGeom prst="roundRect">
            <a:avLst>
              <a:gd name="adj" fmla="val 12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16" action="ppaction://hlinksldjump"/>
              </a:rPr>
              <a:t>100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102352"/>
            <a:ext cx="2331720" cy="77724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Экспедиция и процесс</a:t>
            </a:r>
          </a:p>
        </p:txBody>
      </p:sp>
      <p:sp>
        <p:nvSpPr>
          <p:cNvPr id="30" name="Rounded Rectangle 29">
            <a:hlinkClick r:id="rId17" action="ppaction://hlinksldjump"/>
          </p:cNvPr>
          <p:cNvSpPr/>
          <p:nvPr/>
        </p:nvSpPr>
        <p:spPr>
          <a:xfrm>
            <a:off x="3081528" y="5102352"/>
            <a:ext cx="1554480" cy="777240"/>
          </a:xfrm>
          <a:prstGeom prst="roundRect">
            <a:avLst>
              <a:gd name="adj" fmla="val 12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17" action="ppaction://hlinksldjump"/>
              </a:rPr>
              <a:t>10</a:t>
            </a:r>
          </a:p>
        </p:txBody>
      </p:sp>
      <p:sp>
        <p:nvSpPr>
          <p:cNvPr id="31" name="Rounded Rectangle 30">
            <a:hlinkClick r:id="rId18" action="ppaction://hlinksldjump"/>
          </p:cNvPr>
          <p:cNvSpPr/>
          <p:nvPr/>
        </p:nvSpPr>
        <p:spPr>
          <a:xfrm>
            <a:off x="4745736" y="5102352"/>
            <a:ext cx="1554480" cy="777240"/>
          </a:xfrm>
          <a:prstGeom prst="roundRect">
            <a:avLst>
              <a:gd name="adj" fmla="val 12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18" action="ppaction://hlinksldjump"/>
              </a:rPr>
              <a:t>30</a:t>
            </a:r>
          </a:p>
        </p:txBody>
      </p:sp>
      <p:sp>
        <p:nvSpPr>
          <p:cNvPr id="32" name="Rounded Rectangle 31">
            <a:hlinkClick r:id="rId19" action="ppaction://hlinksldjump"/>
          </p:cNvPr>
          <p:cNvSpPr/>
          <p:nvPr/>
        </p:nvSpPr>
        <p:spPr>
          <a:xfrm>
            <a:off x="6409944" y="5102352"/>
            <a:ext cx="1554480" cy="777240"/>
          </a:xfrm>
          <a:prstGeom prst="roundRect">
            <a:avLst>
              <a:gd name="adj" fmla="val 12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19" action="ppaction://hlinksldjump"/>
              </a:rPr>
              <a:t>50</a:t>
            </a:r>
          </a:p>
        </p:txBody>
      </p:sp>
      <p:sp>
        <p:nvSpPr>
          <p:cNvPr id="33" name="Rounded Rectangle 32">
            <a:hlinkClick r:id="rId20" action="ppaction://hlinksldjump"/>
          </p:cNvPr>
          <p:cNvSpPr/>
          <p:nvPr/>
        </p:nvSpPr>
        <p:spPr>
          <a:xfrm>
            <a:off x="8074152" y="5102352"/>
            <a:ext cx="1554480" cy="777240"/>
          </a:xfrm>
          <a:prstGeom prst="roundRect">
            <a:avLst>
              <a:gd name="adj" fmla="val 12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20" action="ppaction://hlinksldjump"/>
              </a:rPr>
              <a:t>70</a:t>
            </a:r>
          </a:p>
        </p:txBody>
      </p:sp>
      <p:sp>
        <p:nvSpPr>
          <p:cNvPr id="34" name="Rounded Rectangle 33">
            <a:hlinkClick r:id="rId21" action="ppaction://hlinksldjump"/>
          </p:cNvPr>
          <p:cNvSpPr/>
          <p:nvPr/>
        </p:nvSpPr>
        <p:spPr>
          <a:xfrm>
            <a:off x="9738360" y="5102352"/>
            <a:ext cx="1554480" cy="777240"/>
          </a:xfrm>
          <a:prstGeom prst="roundRect">
            <a:avLst>
              <a:gd name="adj" fmla="val 12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21" action="ppaction://hlinksldjump"/>
              </a:rPr>
              <a:t>100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5989320"/>
            <a:ext cx="2331720" cy="77724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1С-ЭПД и Доки</a:t>
            </a:r>
          </a:p>
        </p:txBody>
      </p:sp>
      <p:sp>
        <p:nvSpPr>
          <p:cNvPr id="36" name="Rounded Rectangle 35">
            <a:hlinkClick r:id="rId22" action="ppaction://hlinksldjump"/>
          </p:cNvPr>
          <p:cNvSpPr/>
          <p:nvPr/>
        </p:nvSpPr>
        <p:spPr>
          <a:xfrm>
            <a:off x="3081528" y="5989320"/>
            <a:ext cx="1554480" cy="777240"/>
          </a:xfrm>
          <a:prstGeom prst="roundRect">
            <a:avLst>
              <a:gd name="adj" fmla="val 12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22" action="ppaction://hlinksldjump"/>
              </a:rPr>
              <a:t>10</a:t>
            </a:r>
          </a:p>
        </p:txBody>
      </p:sp>
      <p:sp>
        <p:nvSpPr>
          <p:cNvPr id="37" name="Rounded Rectangle 36">
            <a:hlinkClick r:id="rId23" action="ppaction://hlinksldjump"/>
          </p:cNvPr>
          <p:cNvSpPr/>
          <p:nvPr/>
        </p:nvSpPr>
        <p:spPr>
          <a:xfrm>
            <a:off x="4745736" y="5989320"/>
            <a:ext cx="1554480" cy="777240"/>
          </a:xfrm>
          <a:prstGeom prst="roundRect">
            <a:avLst>
              <a:gd name="adj" fmla="val 12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23" action="ppaction://hlinksldjump"/>
              </a:rPr>
              <a:t>30</a:t>
            </a:r>
          </a:p>
        </p:txBody>
      </p:sp>
      <p:sp>
        <p:nvSpPr>
          <p:cNvPr id="38" name="Rounded Rectangle 37">
            <a:hlinkClick r:id="rId24" action="ppaction://hlinksldjump"/>
          </p:cNvPr>
          <p:cNvSpPr/>
          <p:nvPr/>
        </p:nvSpPr>
        <p:spPr>
          <a:xfrm>
            <a:off x="6409944" y="5989320"/>
            <a:ext cx="1554480" cy="777240"/>
          </a:xfrm>
          <a:prstGeom prst="roundRect">
            <a:avLst>
              <a:gd name="adj" fmla="val 12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24" action="ppaction://hlinksldjump"/>
              </a:rPr>
              <a:t>50</a:t>
            </a:r>
          </a:p>
        </p:txBody>
      </p:sp>
      <p:sp>
        <p:nvSpPr>
          <p:cNvPr id="39" name="Rounded Rectangle 38">
            <a:hlinkClick r:id="rId25" action="ppaction://hlinksldjump"/>
          </p:cNvPr>
          <p:cNvSpPr/>
          <p:nvPr/>
        </p:nvSpPr>
        <p:spPr>
          <a:xfrm>
            <a:off x="8074152" y="5989320"/>
            <a:ext cx="1554480" cy="777240"/>
          </a:xfrm>
          <a:prstGeom prst="roundRect">
            <a:avLst>
              <a:gd name="adj" fmla="val 12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25" action="ppaction://hlinksldjump"/>
              </a:rPr>
              <a:t>70</a:t>
            </a:r>
          </a:p>
        </p:txBody>
      </p:sp>
      <p:sp>
        <p:nvSpPr>
          <p:cNvPr id="40" name="Rounded Rectangle 39">
            <a:hlinkClick r:id="rId26" action="ppaction://hlinksldjump"/>
          </p:cNvPr>
          <p:cNvSpPr/>
          <p:nvPr/>
        </p:nvSpPr>
        <p:spPr>
          <a:xfrm>
            <a:off x="9738360" y="5989320"/>
            <a:ext cx="1554480" cy="777240"/>
          </a:xfrm>
          <a:prstGeom prst="roundRect">
            <a:avLst>
              <a:gd name="adj" fmla="val 12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26" action="ppaction://hlinksldjump"/>
              </a:rPr>
              <a:t>100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E4253263-27B8-4572-9CC7-0C7B105F24D2}"/>
              </a:ext>
            </a:extLst>
          </p:cNvPr>
          <p:cNvSpPr/>
          <p:nvPr/>
        </p:nvSpPr>
        <p:spPr>
          <a:xfrm>
            <a:off x="960742" y="3361099"/>
            <a:ext cx="3900196" cy="109728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Основы ЭПД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365760"/>
            <a:ext cx="1051560" cy="50292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10</a:t>
            </a:r>
          </a:p>
        </p:txBody>
      </p:sp>
      <p:pic>
        <p:nvPicPr>
          <p:cNvPr id="5" name="Picture 4" descr="timer_3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100584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64040" y="2697480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30 сек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8686800" cy="20116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82753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Что означает сокращение ЭПД?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1) 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Электронные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платёжные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документы</a:t>
            </a:r>
            <a:endParaRPr sz="1200" b="1" dirty="0">
              <a:solidFill>
                <a:schemeClr val="bg1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8680" y="3758184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2) 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Электронные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перевозочные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документы</a:t>
            </a:r>
            <a:endParaRPr sz="1200" b="1" dirty="0">
              <a:solidFill>
                <a:schemeClr val="bg1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68680" y="4087368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3) 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Электронные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первичные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документы</a:t>
            </a:r>
            <a:endParaRPr sz="1200" b="1" dirty="0">
              <a:solidFill>
                <a:schemeClr val="bg1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40080" y="4526280"/>
            <a:ext cx="8686800" cy="14173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t"/>
          <a:lstStyle/>
          <a:p>
            <a:pPr algn="l"/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Ответ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Электронные перевозочные документы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64040" y="3017520"/>
            <a:ext cx="187451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Ответ появится
через 30 секунд</a:t>
            </a:r>
          </a:p>
        </p:txBody>
      </p:sp>
      <p:sp>
        <p:nvSpPr>
          <p:cNvPr id="14" name="Rounded Rectangle 13">
            <a:hlinkClick r:id="rId3" action="ppaction://hlinksldjump"/>
          </p:cNvPr>
          <p:cNvSpPr/>
          <p:nvPr/>
        </p:nvSpPr>
        <p:spPr>
          <a:xfrm>
            <a:off x="9555480" y="4892040"/>
            <a:ext cx="1691640" cy="105156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40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3B79E8C8-FD92-4435-AA5C-C175070DA7C7}"/>
              </a:ext>
            </a:extLst>
          </p:cNvPr>
          <p:cNvSpPr/>
          <p:nvPr/>
        </p:nvSpPr>
        <p:spPr>
          <a:xfrm>
            <a:off x="914401" y="3340185"/>
            <a:ext cx="7810034" cy="1494365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1" dirty="0" err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Основы</a:t>
            </a:r>
            <a:r>
              <a:rPr sz="2200" b="1" dirty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 ЭПД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9646920" y="365760"/>
            <a:ext cx="1051560" cy="50292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30</a:t>
            </a:r>
          </a:p>
        </p:txBody>
      </p:sp>
      <p:pic>
        <p:nvPicPr>
          <p:cNvPr id="5" name="Picture 4" descr="timer_3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100584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64040" y="2697480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30 сек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8686800" cy="20116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82753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Что такое титул?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1) 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Отдельный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документ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для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водителя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в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мобильном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приложении</a:t>
            </a:r>
            <a:endParaRPr sz="1200" b="1" dirty="0">
              <a:solidFill>
                <a:schemeClr val="bg1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8680" y="3758184"/>
            <a:ext cx="87782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2) 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Часть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ЭПД,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которая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заполняется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конкретным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участником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перевозки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в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определённый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момент</a:t>
            </a:r>
            <a:endParaRPr sz="1200" b="1" dirty="0">
              <a:solidFill>
                <a:schemeClr val="bg1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68680" y="4087368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3)  Электронная подпись участника перевозки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416552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4)  QR-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код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документа</a:t>
            </a:r>
            <a:endParaRPr sz="1200" b="1" dirty="0">
              <a:solidFill>
                <a:schemeClr val="bg1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40080" y="4855464"/>
            <a:ext cx="8686800" cy="113385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t"/>
          <a:lstStyle/>
          <a:p>
            <a:pPr algn="l"/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Ответ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Часть ЭПД, которую заполняет конкретный участник перевозки в определённый момент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64040" y="3017520"/>
            <a:ext cx="187451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Ответ появится
через 30 секунд</a:t>
            </a:r>
          </a:p>
        </p:txBody>
      </p:sp>
      <p:sp>
        <p:nvSpPr>
          <p:cNvPr id="15" name="Rounded Rectangle 14">
            <a:hlinkClick r:id="rId3" action="ppaction://hlinksldjump"/>
          </p:cNvPr>
          <p:cNvSpPr/>
          <p:nvPr/>
        </p:nvSpPr>
        <p:spPr>
          <a:xfrm>
            <a:off x="9555480" y="4892040"/>
            <a:ext cx="1691640" cy="105156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40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3C4C7327-0EDF-4E9D-AA08-1D39A1BEFBBC}"/>
              </a:ext>
            </a:extLst>
          </p:cNvPr>
          <p:cNvSpPr/>
          <p:nvPr/>
        </p:nvSpPr>
        <p:spPr>
          <a:xfrm>
            <a:off x="960742" y="3361098"/>
            <a:ext cx="4525658" cy="1357205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Основы ЭПД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9646920" y="365760"/>
            <a:ext cx="1051560" cy="50292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50</a:t>
            </a:r>
          </a:p>
        </p:txBody>
      </p:sp>
      <p:pic>
        <p:nvPicPr>
          <p:cNvPr id="5" name="Picture 4" descr="timer_3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100584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64040" y="2697480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30 сек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8686800" cy="20116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82753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Какие участники подписывают ЭТрН?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1)  Только грузоотправитель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758184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2)  Грузоотправитель, перевозчик и грузополучатель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087368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3)  Только перевозчик и водитель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416552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4) 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Экспедитор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и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водитель</a:t>
            </a:r>
            <a:endParaRPr sz="1200" b="1" dirty="0">
              <a:solidFill>
                <a:schemeClr val="bg1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40080" y="4855464"/>
            <a:ext cx="8686800" cy="113385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t"/>
          <a:lstStyle/>
          <a:p>
            <a:pPr algn="l"/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Ответ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Грузоотправитель, перевозчик и грузополучатель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64040" y="3017520"/>
            <a:ext cx="187451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Ответ появится
через 30 секунд</a:t>
            </a:r>
          </a:p>
        </p:txBody>
      </p:sp>
      <p:sp>
        <p:nvSpPr>
          <p:cNvPr id="15" name="Rounded Rectangle 14">
            <a:hlinkClick r:id="rId3" action="ppaction://hlinksldjump"/>
          </p:cNvPr>
          <p:cNvSpPr/>
          <p:nvPr/>
        </p:nvSpPr>
        <p:spPr>
          <a:xfrm>
            <a:off x="9555480" y="4892040"/>
            <a:ext cx="1691640" cy="105156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40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D595F0F3-1E39-474C-A93A-B9BF6868C5E7}"/>
              </a:ext>
            </a:extLst>
          </p:cNvPr>
          <p:cNvSpPr/>
          <p:nvPr/>
        </p:nvSpPr>
        <p:spPr>
          <a:xfrm>
            <a:off x="960741" y="3361098"/>
            <a:ext cx="5878597" cy="1357205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Основы ЭПД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9646920" y="365760"/>
            <a:ext cx="1051560" cy="50292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70</a:t>
            </a:r>
          </a:p>
        </p:txBody>
      </p:sp>
      <p:pic>
        <p:nvPicPr>
          <p:cNvPr id="5" name="Picture 4" descr="timer_3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100584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64040" y="2697480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30 сек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8686800" cy="20116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82753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Кто такой грузоотправитель?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1) 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Организация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,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которая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принимает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груз</a:t>
            </a:r>
            <a:endParaRPr sz="1200" b="1" dirty="0">
              <a:solidFill>
                <a:schemeClr val="bg1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8680" y="3758184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2) 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Организация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,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которая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владеет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грузом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и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нанимает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перевозчика</a:t>
            </a:r>
            <a:endParaRPr sz="1200" b="1" dirty="0">
              <a:solidFill>
                <a:schemeClr val="bg1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68680" y="4087368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3)  Организация, которая предоставляет транспорт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416552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4) 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Человек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,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который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совершает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погрузку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груза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в ТС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855464"/>
            <a:ext cx="8686800" cy="113385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t"/>
          <a:lstStyle/>
          <a:p>
            <a:pPr algn="l"/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Ответ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Организация, которая владеет грузом и нанимает перевозчика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64040" y="3017520"/>
            <a:ext cx="187451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Ответ появится
через 30 секунд</a:t>
            </a:r>
          </a:p>
        </p:txBody>
      </p:sp>
      <p:sp>
        <p:nvSpPr>
          <p:cNvPr id="15" name="Rounded Rectangle 14">
            <a:hlinkClick r:id="rId3" action="ppaction://hlinksldjump"/>
          </p:cNvPr>
          <p:cNvSpPr/>
          <p:nvPr/>
        </p:nvSpPr>
        <p:spPr>
          <a:xfrm>
            <a:off x="9555480" y="4892040"/>
            <a:ext cx="1691640" cy="105156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40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8964E7A1-AA49-49A8-996E-0D3BEF69B651}"/>
              </a:ext>
            </a:extLst>
          </p:cNvPr>
          <p:cNvSpPr/>
          <p:nvPr/>
        </p:nvSpPr>
        <p:spPr>
          <a:xfrm>
            <a:off x="765110" y="3372189"/>
            <a:ext cx="5330890" cy="387941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Основы ЭПД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549000" y="1502163"/>
            <a:ext cx="10392697" cy="4012831"/>
          </a:xfrm>
        </p:spPr>
        <p:txBody>
          <a:bodyPr/>
          <a:lstStyle/>
          <a:p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9646920" y="365760"/>
            <a:ext cx="1051560" cy="50292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100</a:t>
            </a:r>
          </a:p>
        </p:txBody>
      </p:sp>
      <p:pic>
        <p:nvPicPr>
          <p:cNvPr id="5" name="Picture 4" descr="timer_3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100584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64040" y="2697480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30 сек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8686800" cy="20116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82753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Кто относится к основным участникам грузоперевозки?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841248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Открытый</a:t>
            </a:r>
            <a:r>
              <a:rPr sz="14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4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вопрос</a:t>
            </a:r>
            <a:r>
              <a:rPr sz="14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— </a:t>
            </a:r>
            <a:r>
              <a:rPr sz="14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обсудите</a:t>
            </a:r>
            <a:r>
              <a:rPr sz="14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4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ответ</a:t>
            </a:r>
            <a:r>
              <a:rPr sz="14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4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командой</a:t>
            </a:r>
            <a:endParaRPr sz="1400" b="1" dirty="0">
              <a:solidFill>
                <a:schemeClr val="bg1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40080" y="3886200"/>
            <a:ext cx="8686800" cy="14173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t"/>
          <a:lstStyle/>
          <a:p>
            <a:pPr algn="l"/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Ответ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Грузоотправитель, грузоперевозчик, грузополучатель, экспедитор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4040" y="3017520"/>
            <a:ext cx="187451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Ответ появится
через 30 секунд</a:t>
            </a:r>
          </a:p>
        </p:txBody>
      </p:sp>
      <p:sp>
        <p:nvSpPr>
          <p:cNvPr id="12" name="Rounded Rectangle 11">
            <a:hlinkClick r:id="rId3" action="ppaction://hlinksldjump"/>
          </p:cNvPr>
          <p:cNvSpPr/>
          <p:nvPr/>
        </p:nvSpPr>
        <p:spPr>
          <a:xfrm>
            <a:off x="9555480" y="4892040"/>
            <a:ext cx="1691640" cy="105156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40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BC91C92C-72F8-4828-8F4E-8A6E124CC876}"/>
              </a:ext>
            </a:extLst>
          </p:cNvPr>
          <p:cNvSpPr/>
          <p:nvPr/>
        </p:nvSpPr>
        <p:spPr>
          <a:xfrm>
            <a:off x="960742" y="3361098"/>
            <a:ext cx="2790164" cy="1357205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ЭТрН и обязательность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646920" y="365760"/>
            <a:ext cx="1051560" cy="50292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10</a:t>
            </a:r>
          </a:p>
        </p:txBody>
      </p:sp>
      <p:pic>
        <p:nvPicPr>
          <p:cNvPr id="5" name="Picture 4" descr="timer_3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100584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64040" y="2697480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30 сек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8686800" cy="20116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82753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С какой даты для всех участников грузоперевозок становится обязательным использование документов в электронном виде?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1)  1 января 2027 года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758184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2)  1 мая 2026 года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087368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3)  1 сентября 2026 года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416552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4)  1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марта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2027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года</a:t>
            </a:r>
            <a:endParaRPr sz="1200" b="1" dirty="0">
              <a:solidFill>
                <a:schemeClr val="bg1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40080" y="4855464"/>
            <a:ext cx="8686800" cy="113385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t"/>
          <a:lstStyle/>
          <a:p>
            <a:pPr algn="l"/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Ответ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 сентября 2026 года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64040" y="3017520"/>
            <a:ext cx="187451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Ответ появится
через 30 секунд</a:t>
            </a:r>
          </a:p>
        </p:txBody>
      </p:sp>
      <p:sp>
        <p:nvSpPr>
          <p:cNvPr id="15" name="Rounded Rectangle 14">
            <a:hlinkClick r:id="rId3" action="ppaction://hlinksldjump"/>
          </p:cNvPr>
          <p:cNvSpPr/>
          <p:nvPr/>
        </p:nvSpPr>
        <p:spPr>
          <a:xfrm>
            <a:off x="9555480" y="4892040"/>
            <a:ext cx="1691640" cy="105156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40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B3345815-81DB-4133-9B98-7C91F3DE5934}"/>
              </a:ext>
            </a:extLst>
          </p:cNvPr>
          <p:cNvSpPr/>
          <p:nvPr/>
        </p:nvSpPr>
        <p:spPr>
          <a:xfrm>
            <a:off x="960741" y="3361098"/>
            <a:ext cx="5272107" cy="1366349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ЭТрН и обязательность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646920" y="365760"/>
            <a:ext cx="1051560" cy="50292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30</a:t>
            </a:r>
          </a:p>
        </p:txBody>
      </p:sp>
      <p:pic>
        <p:nvPicPr>
          <p:cNvPr id="5" name="Picture 4" descr="timer_3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100584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64040" y="2697480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30 сек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8686800" cy="20116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82753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 каком случае ЭТрН не требуется?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1)  Все участники — юридические лица или ИП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758184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2)  Перевозчик оказывает коммерческую услугу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087368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3) 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Хотя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бы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один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участник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—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физическое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лицо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или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самозанятый</a:t>
            </a:r>
            <a:endParaRPr sz="1200" b="1" dirty="0">
              <a:solidFill>
                <a:schemeClr val="bg1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68680" y="4416552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4)  Перевозчик нанят грузоотправителем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855464"/>
            <a:ext cx="8686800" cy="113385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t"/>
          <a:lstStyle/>
          <a:p>
            <a:pPr algn="l"/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Ответ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Хотя бы один участник — физическое лицо или самозанятый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64040" y="3017520"/>
            <a:ext cx="187451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Ответ появится
через 30 секунд</a:t>
            </a:r>
          </a:p>
        </p:txBody>
      </p:sp>
      <p:sp>
        <p:nvSpPr>
          <p:cNvPr id="15" name="Rounded Rectangle 14">
            <a:hlinkClick r:id="rId3" action="ppaction://hlinksldjump"/>
          </p:cNvPr>
          <p:cNvSpPr/>
          <p:nvPr/>
        </p:nvSpPr>
        <p:spPr>
          <a:xfrm>
            <a:off x="9555480" y="4892040"/>
            <a:ext cx="1691640" cy="105156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40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09DF099F-2F68-4882-B77B-2D332E72B9CA}"/>
              </a:ext>
            </a:extLst>
          </p:cNvPr>
          <p:cNvSpPr/>
          <p:nvPr/>
        </p:nvSpPr>
        <p:spPr>
          <a:xfrm>
            <a:off x="960741" y="3361098"/>
            <a:ext cx="4908213" cy="1357205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ЭТрН и обязательность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646920" y="365760"/>
            <a:ext cx="1051560" cy="50292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50</a:t>
            </a:r>
          </a:p>
        </p:txBody>
      </p:sp>
      <p:pic>
        <p:nvPicPr>
          <p:cNvPr id="5" name="Picture 4" descr="timer_3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100584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64040" y="2697480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30 сек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8686800" cy="20116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82753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Компания доставляет собственным транспортом свой товар до покупателя. Нужно ли оформлять ЭТрН?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1) 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Да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,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всегда</a:t>
            </a:r>
            <a:endParaRPr sz="1200" b="1" dirty="0">
              <a:solidFill>
                <a:schemeClr val="bg1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8680" y="3758184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2)  Нет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087368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3)  Только если стоимость товара больше 100 000 рублей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416552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4)  Да, если перевозка по территории РФ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855464"/>
            <a:ext cx="8686800" cy="113385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t"/>
          <a:lstStyle/>
          <a:p>
            <a:pPr algn="l"/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Ответ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Да, если перевозка по территории РФ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64040" y="3017520"/>
            <a:ext cx="187451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Ответ появится
через 30 секунд</a:t>
            </a:r>
          </a:p>
        </p:txBody>
      </p:sp>
      <p:sp>
        <p:nvSpPr>
          <p:cNvPr id="15" name="Rounded Rectangle 14">
            <a:hlinkClick r:id="rId3" action="ppaction://hlinksldjump"/>
          </p:cNvPr>
          <p:cNvSpPr/>
          <p:nvPr/>
        </p:nvSpPr>
        <p:spPr>
          <a:xfrm>
            <a:off x="9555480" y="4892040"/>
            <a:ext cx="1691640" cy="105156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40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9A0635A-D706-45D6-9A41-722D3A9EC32E}"/>
              </a:ext>
            </a:extLst>
          </p:cNvPr>
          <p:cNvSpPr/>
          <p:nvPr/>
        </p:nvSpPr>
        <p:spPr>
          <a:xfrm>
            <a:off x="960742" y="3361099"/>
            <a:ext cx="4161764" cy="34490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ЭТрН и обязательность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646920" y="365760"/>
            <a:ext cx="1051560" cy="50292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70</a:t>
            </a:r>
          </a:p>
        </p:txBody>
      </p:sp>
      <p:pic>
        <p:nvPicPr>
          <p:cNvPr id="5" name="Picture 4" descr="timer_3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100584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64040" y="2697480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30 сек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8686800" cy="20116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82753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Компания продаёт товар, а покупатель сам забирает его своим транспортом. Нужна ли ЭТрН? Почему?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Открытый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вопрос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—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обсудите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ответ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командой</a:t>
            </a:r>
            <a:endParaRPr sz="1200" b="1" dirty="0">
              <a:solidFill>
                <a:schemeClr val="bg1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40080" y="3886200"/>
            <a:ext cx="8686800" cy="14173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t"/>
          <a:lstStyle/>
          <a:p>
            <a:pPr algn="l"/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Ответ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ЭТрН не требуется: перевозчик совпадает с грузополучателем (самовывоз)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4040" y="3017520"/>
            <a:ext cx="187451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Ответ появится
через 30 секунд</a:t>
            </a:r>
          </a:p>
        </p:txBody>
      </p:sp>
      <p:sp>
        <p:nvSpPr>
          <p:cNvPr id="12" name="Rounded Rectangle 11">
            <a:hlinkClick r:id="rId3" action="ppaction://hlinksldjump"/>
          </p:cNvPr>
          <p:cNvSpPr/>
          <p:nvPr/>
        </p:nvSpPr>
        <p:spPr>
          <a:xfrm>
            <a:off x="9555480" y="4892040"/>
            <a:ext cx="1691640" cy="105156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40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C38C231A-5E3B-48B3-AA32-F2DEFB1445EC}"/>
              </a:ext>
            </a:extLst>
          </p:cNvPr>
          <p:cNvSpPr/>
          <p:nvPr/>
        </p:nvSpPr>
        <p:spPr>
          <a:xfrm>
            <a:off x="960741" y="3361099"/>
            <a:ext cx="4199087" cy="387941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ЭТрН и обязательность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646920" y="365760"/>
            <a:ext cx="1051560" cy="50292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100</a:t>
            </a:r>
          </a:p>
        </p:txBody>
      </p:sp>
      <p:pic>
        <p:nvPicPr>
          <p:cNvPr id="5" name="Picture 4" descr="timer_3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100584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64040" y="2697480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30 сек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8686800" cy="20116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82753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Назовите условия, при которых ЭТрН обязательна к оформлению с 1 сентября 2026 года.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Открытый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вопрос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—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обсудите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ответ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командой</a:t>
            </a:r>
            <a:endParaRPr sz="1200" b="1" dirty="0">
              <a:solidFill>
                <a:schemeClr val="bg1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40080" y="3886200"/>
            <a:ext cx="8686800" cy="14173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t"/>
          <a:lstStyle/>
          <a:p>
            <a:pPr algn="l"/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Ответ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Все участники — ЮЛ или ИП; перевозчик не является грузоотправителем и грузополучателем; перевозчик работает на коммерческой основе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4040" y="3017520"/>
            <a:ext cx="187451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Ответ появится
через 30 секунд</a:t>
            </a:r>
          </a:p>
        </p:txBody>
      </p:sp>
      <p:sp>
        <p:nvSpPr>
          <p:cNvPr id="12" name="Rounded Rectangle 11">
            <a:hlinkClick r:id="rId3" action="ppaction://hlinksldjump"/>
          </p:cNvPr>
          <p:cNvSpPr/>
          <p:nvPr/>
        </p:nvSpPr>
        <p:spPr>
          <a:xfrm>
            <a:off x="9555480" y="4892040"/>
            <a:ext cx="1691640" cy="105156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40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2E070CB1-5030-4524-B039-4472EE003EE1}"/>
              </a:ext>
            </a:extLst>
          </p:cNvPr>
          <p:cNvSpPr/>
          <p:nvPr/>
        </p:nvSpPr>
        <p:spPr>
          <a:xfrm>
            <a:off x="914401" y="3346704"/>
            <a:ext cx="6419460" cy="109728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Документы и QR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646920" y="365760"/>
            <a:ext cx="1051560" cy="50292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10</a:t>
            </a:r>
          </a:p>
        </p:txBody>
      </p:sp>
      <p:pic>
        <p:nvPicPr>
          <p:cNvPr id="5" name="Picture 4" descr="timer_3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100584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64040" y="2697480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30 сек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8686800" cy="20116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82753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Для чего водителю нужен QR-код?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1) 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Для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оплаты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перевозки</a:t>
            </a:r>
            <a:endParaRPr sz="1200" b="1" dirty="0">
              <a:solidFill>
                <a:schemeClr val="bg1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8680" y="3758184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2) 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Для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предъявления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электронных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перевозочных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документов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при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проверке</a:t>
            </a:r>
            <a:endParaRPr sz="1200" b="1" dirty="0">
              <a:solidFill>
                <a:schemeClr val="bg1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68680" y="4087368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3)  Для получения путевого листа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526280"/>
            <a:ext cx="8686800" cy="14173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t"/>
          <a:lstStyle/>
          <a:p>
            <a:pPr algn="l"/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Ответ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Для предъявления электронных перевозочных документов при проверке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64040" y="3017520"/>
            <a:ext cx="187451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Ответ появится
через 30 секунд</a:t>
            </a:r>
          </a:p>
        </p:txBody>
      </p:sp>
      <p:sp>
        <p:nvSpPr>
          <p:cNvPr id="14" name="Rounded Rectangle 13">
            <a:hlinkClick r:id="rId3" action="ppaction://hlinksldjump"/>
          </p:cNvPr>
          <p:cNvSpPr/>
          <p:nvPr/>
        </p:nvSpPr>
        <p:spPr>
          <a:xfrm>
            <a:off x="9555480" y="4892040"/>
            <a:ext cx="1691640" cy="105156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40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103B899F-625B-4C5D-BB90-94D87ED4E9F4}"/>
              </a:ext>
            </a:extLst>
          </p:cNvPr>
          <p:cNvSpPr/>
          <p:nvPr/>
        </p:nvSpPr>
        <p:spPr>
          <a:xfrm>
            <a:off x="960741" y="3361099"/>
            <a:ext cx="4329715" cy="387941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Документы и QR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646920" y="365760"/>
            <a:ext cx="1051560" cy="50292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30</a:t>
            </a:r>
          </a:p>
        </p:txBody>
      </p:sp>
      <p:pic>
        <p:nvPicPr>
          <p:cNvPr id="5" name="Picture 4" descr="timer_3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100584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64040" y="2697480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30 сек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8686800" cy="20116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82753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Что такое ЭЗЗ и для чего она нужна?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Открытый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вопрос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—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обсудите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ответ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командой</a:t>
            </a:r>
            <a:endParaRPr sz="1200" b="1" dirty="0">
              <a:solidFill>
                <a:schemeClr val="bg1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40080" y="3886200"/>
            <a:ext cx="8686800" cy="14173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t"/>
          <a:lstStyle/>
          <a:p>
            <a:pPr algn="l"/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Ответ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Электронный заказ (заявка) — фиксирует договорённость между грузоотправителем и перевозчиком до начала перевозки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4040" y="3017520"/>
            <a:ext cx="187451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Ответ появится
через 30 секунд</a:t>
            </a:r>
          </a:p>
        </p:txBody>
      </p:sp>
      <p:sp>
        <p:nvSpPr>
          <p:cNvPr id="12" name="Rounded Rectangle 11">
            <a:hlinkClick r:id="rId3" action="ppaction://hlinksldjump"/>
          </p:cNvPr>
          <p:cNvSpPr/>
          <p:nvPr/>
        </p:nvSpPr>
        <p:spPr>
          <a:xfrm>
            <a:off x="9555480" y="4892040"/>
            <a:ext cx="1691640" cy="105156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40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19E7FEDB-FE94-42A2-8470-0123FF461E7F}"/>
              </a:ext>
            </a:extLst>
          </p:cNvPr>
          <p:cNvSpPr/>
          <p:nvPr/>
        </p:nvSpPr>
        <p:spPr>
          <a:xfrm>
            <a:off x="960741" y="3361098"/>
            <a:ext cx="6027887" cy="1357205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Документы и QR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646920" y="365760"/>
            <a:ext cx="1051560" cy="50292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50</a:t>
            </a:r>
          </a:p>
        </p:txBody>
      </p:sp>
      <p:pic>
        <p:nvPicPr>
          <p:cNvPr id="5" name="Picture 4" descr="timer_3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100584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64040" y="2697480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30 сек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8686800" cy="20116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82753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Что содержит электронный путевой лист (ЭПЛ)?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1) 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Сведения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о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грузе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,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отправителе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и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адресах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погрузки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/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выгрузки</a:t>
            </a:r>
            <a:endParaRPr sz="1200" b="1" dirty="0">
              <a:solidFill>
                <a:schemeClr val="bg1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8680" y="3758184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2)  Данные о водителе, ТС, маршруте, медосмотре, техконтроле и пробеге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087368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3)  Стоимость перевозки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416552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4)  Данные грузополучателя и грузоотправителя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855464"/>
            <a:ext cx="8686800" cy="113385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t"/>
          <a:lstStyle/>
          <a:p>
            <a:pPr algn="l"/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Ответ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Данные о водителе, ТС, маршруте, медосмотре, техконтроле и пробеге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64040" y="3017520"/>
            <a:ext cx="187451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Ответ появится
через 30 секунд</a:t>
            </a:r>
          </a:p>
        </p:txBody>
      </p:sp>
      <p:sp>
        <p:nvSpPr>
          <p:cNvPr id="15" name="Rounded Rectangle 14">
            <a:hlinkClick r:id="rId3" action="ppaction://hlinksldjump"/>
          </p:cNvPr>
          <p:cNvSpPr/>
          <p:nvPr/>
        </p:nvSpPr>
        <p:spPr>
          <a:xfrm>
            <a:off x="9555480" y="4892040"/>
            <a:ext cx="1691640" cy="105156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40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F69D7B1A-4F8C-4707-893D-FCD5115E36FD}"/>
              </a:ext>
            </a:extLst>
          </p:cNvPr>
          <p:cNvSpPr/>
          <p:nvPr/>
        </p:nvSpPr>
        <p:spPr>
          <a:xfrm>
            <a:off x="960742" y="3361099"/>
            <a:ext cx="6410442" cy="109728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Документы и QR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646920" y="365760"/>
            <a:ext cx="1051560" cy="50292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70</a:t>
            </a:r>
          </a:p>
        </p:txBody>
      </p:sp>
      <p:pic>
        <p:nvPicPr>
          <p:cNvPr id="5" name="Picture 4" descr="timer_3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100584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64040" y="2697480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30 сек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8686800" cy="20116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82753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Нужен ли водителю интернет непосредственно во время проверки QR-кода на дороге?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1) 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Да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,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обязательно</a:t>
            </a:r>
            <a:endParaRPr sz="1200" b="1" dirty="0">
              <a:solidFill>
                <a:schemeClr val="bg1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8680" y="3758184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2)  Нет, интернет нужен для получения QR-кода, а во время проверки — нет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087368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3)  Интернет водителю не нужен вообще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526280"/>
            <a:ext cx="8686800" cy="14173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t"/>
          <a:lstStyle/>
          <a:p>
            <a:pPr algn="l"/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Ответ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Нет, интернет нужен для получения QR-кода, а во время проверки — нет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64040" y="3017520"/>
            <a:ext cx="187451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Ответ появится
через 30 секунд</a:t>
            </a:r>
          </a:p>
        </p:txBody>
      </p:sp>
      <p:sp>
        <p:nvSpPr>
          <p:cNvPr id="14" name="Rounded Rectangle 13">
            <a:hlinkClick r:id="rId3" action="ppaction://hlinksldjump"/>
          </p:cNvPr>
          <p:cNvSpPr/>
          <p:nvPr/>
        </p:nvSpPr>
        <p:spPr>
          <a:xfrm>
            <a:off x="9555480" y="4892040"/>
            <a:ext cx="1691640" cy="105156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40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F41F65E2-19E8-4F07-AFAA-242BFD59F41B}"/>
              </a:ext>
            </a:extLst>
          </p:cNvPr>
          <p:cNvSpPr/>
          <p:nvPr/>
        </p:nvSpPr>
        <p:spPr>
          <a:xfrm>
            <a:off x="960741" y="3361099"/>
            <a:ext cx="4301723" cy="43646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Документы и QR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646920" y="365760"/>
            <a:ext cx="1051560" cy="50292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100</a:t>
            </a:r>
          </a:p>
        </p:txBody>
      </p:sp>
      <p:pic>
        <p:nvPicPr>
          <p:cNvPr id="5" name="Picture 4" descr="timer_3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100584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64040" y="2697480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30 сек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8686800" cy="20116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82753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Назовите хотя бы три сценария-исключения, при которых транспортная накладная, заказ и заявка могут оформляться на бумаге.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Открытый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вопрос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—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обсудите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ответ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командой</a:t>
            </a:r>
            <a:endParaRPr sz="1200" b="1" dirty="0">
              <a:solidFill>
                <a:schemeClr val="bg1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40080" y="3886200"/>
            <a:ext cx="8686800" cy="14173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t"/>
          <a:lstStyle/>
          <a:p>
            <a:pPr algn="l"/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Ответ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Военные перевозки; перевозки с иностранными юрлицами; каботаж ЕАЭС; личные нужды физлица; сбой / нет интернета в утверждённых регионах; отправитель = получатель; драгметаллы и камни и др.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4040" y="3017520"/>
            <a:ext cx="187451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Ответ появится
через 30 секунд</a:t>
            </a:r>
          </a:p>
        </p:txBody>
      </p:sp>
      <p:sp>
        <p:nvSpPr>
          <p:cNvPr id="12" name="Rounded Rectangle 11">
            <a:hlinkClick r:id="rId3" action="ppaction://hlinksldjump"/>
          </p:cNvPr>
          <p:cNvSpPr/>
          <p:nvPr/>
        </p:nvSpPr>
        <p:spPr>
          <a:xfrm>
            <a:off x="9555480" y="4892040"/>
            <a:ext cx="1691640" cy="105156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40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9FECB870-CE38-4A84-88EA-1AFB6422A284}"/>
              </a:ext>
            </a:extLst>
          </p:cNvPr>
          <p:cNvSpPr/>
          <p:nvPr/>
        </p:nvSpPr>
        <p:spPr>
          <a:xfrm>
            <a:off x="960741" y="3361098"/>
            <a:ext cx="6494417" cy="1357205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Экспедиция и процесс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646920" y="365760"/>
            <a:ext cx="1051560" cy="50292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10</a:t>
            </a:r>
          </a:p>
        </p:txBody>
      </p:sp>
      <p:pic>
        <p:nvPicPr>
          <p:cNvPr id="5" name="Picture 4" descr="timer_3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100584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64040" y="2697480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30 сек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8686800" cy="20116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82753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 чём главное отличие экспедитора от агента в контексте ЭПД?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1)  Экспедитор всегда является перевозчиком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758184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2)  Экспедитор принимает груз во владение и фигурирует в ЭТрН, агент — нет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087368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3)  Агент всегда подписывает экспедиторскую расписку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416552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4)  Отличий нет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855464"/>
            <a:ext cx="8686800" cy="113385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t"/>
          <a:lstStyle/>
          <a:p>
            <a:pPr algn="l"/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Ответ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Экспедитор принимает груз во владение и фигурирует в ЭТрН, агент — нет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64040" y="3017520"/>
            <a:ext cx="187451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Ответ появится
через 30 секунд</a:t>
            </a:r>
          </a:p>
        </p:txBody>
      </p:sp>
      <p:sp>
        <p:nvSpPr>
          <p:cNvPr id="15" name="Rounded Rectangle 14">
            <a:hlinkClick r:id="rId3" action="ppaction://hlinksldjump"/>
          </p:cNvPr>
          <p:cNvSpPr/>
          <p:nvPr/>
        </p:nvSpPr>
        <p:spPr>
          <a:xfrm>
            <a:off x="9555480" y="4892040"/>
            <a:ext cx="1691640" cy="105156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40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D7324EE-3527-44E7-8F95-B0E572D3CC19}"/>
              </a:ext>
            </a:extLst>
          </p:cNvPr>
          <p:cNvSpPr/>
          <p:nvPr/>
        </p:nvSpPr>
        <p:spPr>
          <a:xfrm>
            <a:off x="884902" y="3379416"/>
            <a:ext cx="3900196" cy="378797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Экспедиция и процесс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646920" y="365760"/>
            <a:ext cx="1051560" cy="50292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30</a:t>
            </a:r>
          </a:p>
        </p:txBody>
      </p:sp>
      <p:pic>
        <p:nvPicPr>
          <p:cNvPr id="5" name="Picture 4" descr="timer_3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100584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64040" y="2697480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30 сек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8686800" cy="20116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82753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Поставщик обратился к экспедитору, экспедитор принял груз во владение и нанял перевозчика. Какие роли возникают у участников?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Открытый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вопрос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—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обсудите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ответ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командой</a:t>
            </a:r>
            <a:endParaRPr sz="1200" b="1" dirty="0">
              <a:solidFill>
                <a:schemeClr val="bg1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40080" y="3886200"/>
            <a:ext cx="8686800" cy="14173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t"/>
          <a:lstStyle/>
          <a:p>
            <a:pPr algn="l"/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Ответ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Заказчик и экспедитор подписывают экспедиторские документы; экспедитор принимает груз во владение, организует перевозку и нанимает перевозчика; в ЭТрН экспедитор фигурирует как грузоотправитель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4040" y="3017520"/>
            <a:ext cx="187451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Ответ появится
через 30 секунд</a:t>
            </a:r>
          </a:p>
        </p:txBody>
      </p:sp>
      <p:sp>
        <p:nvSpPr>
          <p:cNvPr id="12" name="Rounded Rectangle 11">
            <a:hlinkClick r:id="rId3" action="ppaction://hlinksldjump"/>
          </p:cNvPr>
          <p:cNvSpPr/>
          <p:nvPr/>
        </p:nvSpPr>
        <p:spPr>
          <a:xfrm>
            <a:off x="9555480" y="4892040"/>
            <a:ext cx="1691640" cy="105156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40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1299DDB0-BA15-4DAC-A9C5-95B47D01B764}"/>
              </a:ext>
            </a:extLst>
          </p:cNvPr>
          <p:cNvSpPr/>
          <p:nvPr/>
        </p:nvSpPr>
        <p:spPr>
          <a:xfrm>
            <a:off x="960742" y="3361098"/>
            <a:ext cx="3676572" cy="1366349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Экспедиция и процесс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646920" y="365760"/>
            <a:ext cx="1051560" cy="50292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50</a:t>
            </a:r>
          </a:p>
        </p:txBody>
      </p:sp>
      <p:pic>
        <p:nvPicPr>
          <p:cNvPr id="5" name="Picture 4" descr="timer_3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100584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64040" y="2697480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30 сек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8686800" cy="20116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82753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Цепочка: заказчик → экспедитор → перевозчик → получатель. Какие электронные документы могут возникнуть у экспедитора?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1) 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Только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ЭТрН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и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экспедиторская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расписка</a:t>
            </a:r>
            <a:endParaRPr sz="1200" b="1" dirty="0">
              <a:solidFill>
                <a:schemeClr val="bg1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8680" y="3758184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2)  Экспедиторские документы, ЭЗЗ и ЭТрН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087368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3)  Только ЭПЛ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416552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4)  Только ЭЗЗ и ЭТрН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855464"/>
            <a:ext cx="8686800" cy="113385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t"/>
          <a:lstStyle/>
          <a:p>
            <a:pPr algn="l"/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Ответ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Экспедиторские документы, ЭЗЗ и ЭТрН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64040" y="3017520"/>
            <a:ext cx="187451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Ответ появится
через 30 секунд</a:t>
            </a:r>
          </a:p>
        </p:txBody>
      </p:sp>
      <p:sp>
        <p:nvSpPr>
          <p:cNvPr id="15" name="Rounded Rectangle 14">
            <a:hlinkClick r:id="rId3" action="ppaction://hlinksldjump"/>
          </p:cNvPr>
          <p:cNvSpPr/>
          <p:nvPr/>
        </p:nvSpPr>
        <p:spPr>
          <a:xfrm>
            <a:off x="9555480" y="4892040"/>
            <a:ext cx="1691640" cy="105156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40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165D1FE-D5C7-489A-B309-095C2E3178E0}"/>
              </a:ext>
            </a:extLst>
          </p:cNvPr>
          <p:cNvSpPr/>
          <p:nvPr/>
        </p:nvSpPr>
        <p:spPr>
          <a:xfrm>
            <a:off x="960742" y="3361099"/>
            <a:ext cx="4217748" cy="387941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1" dirty="0" err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Экспедиция</a:t>
            </a:r>
            <a:r>
              <a:rPr sz="2200" b="1" dirty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 и </a:t>
            </a:r>
            <a:r>
              <a:rPr sz="2200" b="1" dirty="0" err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процесс</a:t>
            </a:r>
            <a:endParaRPr sz="2200" b="1" dirty="0">
              <a:solidFill>
                <a:srgbClr val="FFFFFF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646920" y="365760"/>
            <a:ext cx="1051560" cy="50292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70</a:t>
            </a:r>
          </a:p>
        </p:txBody>
      </p:sp>
      <p:pic>
        <p:nvPicPr>
          <p:cNvPr id="5" name="Picture 4" descr="timer_3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100584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64040" y="2697480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30 сек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8686800" cy="20116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82753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Расставьте этапы перевозки в правильном порядке:
1) Приёмка груза получателем
2) Создание ЭТрН и отправка груза
3) Водитель в дороге
4) Создание и обработка ЭЗЗ
5) Разгрузка на складе получателя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Открытый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вопрос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—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обсудите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ответ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командой</a:t>
            </a:r>
            <a:endParaRPr sz="1200" b="1" dirty="0">
              <a:solidFill>
                <a:schemeClr val="bg1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40080" y="3886200"/>
            <a:ext cx="8686800" cy="14173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t"/>
          <a:lstStyle/>
          <a:p>
            <a:pPr algn="l"/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Ответ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4 → 2 → 3 → 1 →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4040" y="3017520"/>
            <a:ext cx="187451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Ответ появится
через 30 секунд</a:t>
            </a:r>
          </a:p>
        </p:txBody>
      </p:sp>
      <p:sp>
        <p:nvSpPr>
          <p:cNvPr id="12" name="Rounded Rectangle 11">
            <a:hlinkClick r:id="rId3" action="ppaction://hlinksldjump"/>
          </p:cNvPr>
          <p:cNvSpPr/>
          <p:nvPr/>
        </p:nvSpPr>
        <p:spPr>
          <a:xfrm>
            <a:off x="9555480" y="4892040"/>
            <a:ext cx="1691640" cy="105156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40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EC9CFE8-5CD5-4AEF-B2A2-B3DD31DC611D}"/>
              </a:ext>
            </a:extLst>
          </p:cNvPr>
          <p:cNvSpPr/>
          <p:nvPr/>
        </p:nvSpPr>
        <p:spPr>
          <a:xfrm>
            <a:off x="960742" y="3361099"/>
            <a:ext cx="5262776" cy="109728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Экспедиция и процесс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365760"/>
            <a:ext cx="1051560" cy="50292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100</a:t>
            </a:r>
          </a:p>
        </p:txBody>
      </p:sp>
      <p:pic>
        <p:nvPicPr>
          <p:cNvPr id="5" name="Picture 4" descr="timer_3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100584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64040" y="2697480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30 сек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8686800" cy="20116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82753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Что произойдёт с необходимостью оформления ЭТрН, если грузоотправитель является одновременно грузополучателем?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1)  ЭТрН обязательна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758184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2)  ЭТрН не оформляется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112121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3) 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Можно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остаться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на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бумаге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, а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можно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перейти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на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ЭТрН</a:t>
            </a:r>
            <a:endParaRPr sz="1200" b="1" dirty="0">
              <a:solidFill>
                <a:schemeClr val="bg1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40080" y="4526280"/>
            <a:ext cx="8686800" cy="14173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t"/>
          <a:lstStyle/>
          <a:p>
            <a:pPr algn="l"/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Ответ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Можно остаться на бумаге, а можно перейти на ЭТрН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64040" y="3017520"/>
            <a:ext cx="187451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Ответ появится
через 30 секунд</a:t>
            </a:r>
          </a:p>
        </p:txBody>
      </p:sp>
      <p:sp>
        <p:nvSpPr>
          <p:cNvPr id="14" name="Rounded Rectangle 13">
            <a:hlinkClick r:id="rId3" action="ppaction://hlinksldjump"/>
          </p:cNvPr>
          <p:cNvSpPr/>
          <p:nvPr/>
        </p:nvSpPr>
        <p:spPr>
          <a:xfrm>
            <a:off x="9555480" y="4892040"/>
            <a:ext cx="1691640" cy="105156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40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4BE330D8-E612-4525-9665-95015BDCF474}"/>
              </a:ext>
            </a:extLst>
          </p:cNvPr>
          <p:cNvSpPr/>
          <p:nvPr/>
        </p:nvSpPr>
        <p:spPr>
          <a:xfrm>
            <a:off x="914401" y="3361099"/>
            <a:ext cx="4282749" cy="387941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1С-ЭПД и Доки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9646920" y="365760"/>
            <a:ext cx="1051560" cy="50292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10</a:t>
            </a:r>
          </a:p>
        </p:txBody>
      </p:sp>
      <p:pic>
        <p:nvPicPr>
          <p:cNvPr id="5" name="Picture 4" descr="timer_3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100584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64040" y="2697480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30 сек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8686800" cy="20116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82753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Что необходимо для подключения 1С-ЭПД? Назовите основные требования.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Открытый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вопрос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—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обсудите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ответ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командой</a:t>
            </a:r>
            <a:endParaRPr sz="1200" b="1" dirty="0">
              <a:solidFill>
                <a:schemeClr val="bg1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40080" y="3886200"/>
            <a:ext cx="8686800" cy="14173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t"/>
          <a:lstStyle/>
          <a:p>
            <a:pPr algn="l"/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Ответ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Программа 1С; УКЭП и МЧД для ответственных; КриптоПро CSP с лицензией; для перевозчиков — подписание водителей через мобильное приложение или с телефона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4040" y="3017520"/>
            <a:ext cx="187451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Ответ появится
через 30 секунд</a:t>
            </a:r>
          </a:p>
        </p:txBody>
      </p:sp>
      <p:sp>
        <p:nvSpPr>
          <p:cNvPr id="12" name="Rounded Rectangle 11">
            <a:hlinkClick r:id="rId3" action="ppaction://hlinksldjump"/>
          </p:cNvPr>
          <p:cNvSpPr/>
          <p:nvPr/>
        </p:nvSpPr>
        <p:spPr>
          <a:xfrm>
            <a:off x="9555480" y="4892040"/>
            <a:ext cx="1691640" cy="105156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40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2F0C359B-1BA5-4B6D-A413-38AD6BDAB103}"/>
              </a:ext>
            </a:extLst>
          </p:cNvPr>
          <p:cNvSpPr/>
          <p:nvPr/>
        </p:nvSpPr>
        <p:spPr>
          <a:xfrm>
            <a:off x="960741" y="3337560"/>
            <a:ext cx="4087119" cy="41148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1С-ЭПД и Доки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646920" y="365760"/>
            <a:ext cx="1051560" cy="50292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30</a:t>
            </a:r>
          </a:p>
        </p:txBody>
      </p:sp>
      <p:pic>
        <p:nvPicPr>
          <p:cNvPr id="5" name="Picture 4" descr="timer_3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100584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64040" y="2697480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30 сек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8686800" cy="20116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82753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Назовите основные шаги подключения сервиса 1С-ЭПД.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Открытый вопрос — обсудите ответ командой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886200"/>
            <a:ext cx="8686800" cy="14173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t"/>
          <a:lstStyle/>
          <a:p>
            <a:pPr algn="l"/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Ответ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Подключить 1С-ЭДО → обменяться приглашениями с контрагентами → проверить настройку обмена ЭПД в учётной системе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4040" y="3017520"/>
            <a:ext cx="187451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Ответ появится
через 30 секунд</a:t>
            </a:r>
          </a:p>
        </p:txBody>
      </p:sp>
      <p:sp>
        <p:nvSpPr>
          <p:cNvPr id="12" name="Rounded Rectangle 11">
            <a:hlinkClick r:id="rId3" action="ppaction://hlinksldjump"/>
          </p:cNvPr>
          <p:cNvSpPr/>
          <p:nvPr/>
        </p:nvSpPr>
        <p:spPr>
          <a:xfrm>
            <a:off x="9555480" y="4892040"/>
            <a:ext cx="1691640" cy="105156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40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02F57C26-5FA8-40F3-BA3D-38CE29F8000E}"/>
              </a:ext>
            </a:extLst>
          </p:cNvPr>
          <p:cNvSpPr/>
          <p:nvPr/>
        </p:nvSpPr>
        <p:spPr>
          <a:xfrm>
            <a:off x="960742" y="3361099"/>
            <a:ext cx="4096450" cy="42713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1С-ЭПД и Доки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646920" y="365760"/>
            <a:ext cx="1051560" cy="50292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50</a:t>
            </a:r>
          </a:p>
        </p:txBody>
      </p:sp>
      <p:pic>
        <p:nvPicPr>
          <p:cNvPr id="5" name="Picture 4" descr="timer_3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100584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64040" y="2697480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30 сек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8686800" cy="20116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82753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Клиент говорит: «У нас вообще нет 1С, но нам нужно работать с ЭПД». Какое решение предложить?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Открытый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вопрос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—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обсудите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ответ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командой</a:t>
            </a:r>
            <a:endParaRPr sz="1200" b="1" dirty="0">
              <a:solidFill>
                <a:schemeClr val="bg1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40080" y="3886200"/>
            <a:ext cx="8686800" cy="14173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t"/>
          <a:lstStyle/>
          <a:p>
            <a:pPr algn="l"/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Ответ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1С:Клиент ЭДО или Доки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4040" y="3017520"/>
            <a:ext cx="187451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Ответ появится
через 30 секунд</a:t>
            </a:r>
          </a:p>
        </p:txBody>
      </p:sp>
      <p:sp>
        <p:nvSpPr>
          <p:cNvPr id="12" name="Rounded Rectangle 11">
            <a:hlinkClick r:id="rId3" action="ppaction://hlinksldjump"/>
          </p:cNvPr>
          <p:cNvSpPr/>
          <p:nvPr/>
        </p:nvSpPr>
        <p:spPr>
          <a:xfrm>
            <a:off x="9555480" y="4892040"/>
            <a:ext cx="1691640" cy="105156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40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11D422C7-EC4A-4055-AC1B-E9F669E5E409}"/>
              </a:ext>
            </a:extLst>
          </p:cNvPr>
          <p:cNvSpPr/>
          <p:nvPr/>
        </p:nvSpPr>
        <p:spPr>
          <a:xfrm>
            <a:off x="960742" y="3361099"/>
            <a:ext cx="4152434" cy="387941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1С-ЭПД и Доки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9646920" y="365760"/>
            <a:ext cx="1051560" cy="50292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70</a:t>
            </a:r>
          </a:p>
        </p:txBody>
      </p:sp>
      <p:pic>
        <p:nvPicPr>
          <p:cNvPr id="5" name="Picture 4" descr="timer_3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100584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64040" y="2697480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30 сек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8686800" cy="20116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82753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 чём ключевое отличие 1С-ЭПД и Доки с точки зрения сценариев работы клиента?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Открытый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вопрос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—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обсудите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ответ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командой</a:t>
            </a:r>
            <a:endParaRPr sz="1200" b="1" dirty="0">
              <a:solidFill>
                <a:schemeClr val="bg1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40080" y="3886200"/>
            <a:ext cx="8686800" cy="14173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t"/>
          <a:lstStyle/>
          <a:p>
            <a:pPr algn="l"/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Ответ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1С-ЭПД — типовое решение внутри конфигураций 1С. Доки работает в 1С, веб и мобильном приложении независимо и подходит клиентам без 1С, без ПК или с редко обновляемой 1С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4040" y="3017520"/>
            <a:ext cx="187451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Ответ появится
через 30 секунд</a:t>
            </a:r>
          </a:p>
        </p:txBody>
      </p:sp>
      <p:sp>
        <p:nvSpPr>
          <p:cNvPr id="12" name="Rounded Rectangle 11">
            <a:hlinkClick r:id="rId3" action="ppaction://hlinksldjump"/>
          </p:cNvPr>
          <p:cNvSpPr/>
          <p:nvPr/>
        </p:nvSpPr>
        <p:spPr>
          <a:xfrm>
            <a:off x="9555480" y="4892040"/>
            <a:ext cx="1691640" cy="105156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40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AC8C5AD2-ADA8-48D6-AD56-9B25A220DC19}"/>
              </a:ext>
            </a:extLst>
          </p:cNvPr>
          <p:cNvSpPr/>
          <p:nvPr/>
        </p:nvSpPr>
        <p:spPr>
          <a:xfrm>
            <a:off x="960741" y="3361099"/>
            <a:ext cx="4301723" cy="387941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1С-ЭПД и Доки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9646920" y="365760"/>
            <a:ext cx="1051560" cy="50292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100</a:t>
            </a:r>
          </a:p>
        </p:txBody>
      </p:sp>
      <p:pic>
        <p:nvPicPr>
          <p:cNvPr id="5" name="Picture 4" descr="timer_3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100584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64040" y="2697480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30 сек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8686800" cy="20116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82753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Клиент: «С 1 сентября нам обязательно переходить на ЭПД. С чего начать?» Дайте пошаговую рекомендацию.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600" y="3430315"/>
            <a:ext cx="8412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Открытый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вопрос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—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обсудите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ответ</a:t>
            </a:r>
            <a:r>
              <a:rPr sz="1200" b="1" dirty="0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 dirty="0" err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командой</a:t>
            </a:r>
            <a:endParaRPr sz="1200" b="1" dirty="0">
              <a:solidFill>
                <a:schemeClr val="bg1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40080" y="3886200"/>
            <a:ext cx="8686800" cy="14173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t"/>
          <a:lstStyle/>
          <a:p>
            <a:pPr algn="l"/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Ответ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1) Проанализировать процессы  2) Выбрать ключевых контрагентов  3) Подготовить ИС  4) Подключить сервис и сделать первую отправку  5) Обучить персонал и обновить регламенты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4040" y="3017520"/>
            <a:ext cx="187451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Ответ появится
через 30 секунд</a:t>
            </a:r>
          </a:p>
        </p:txBody>
      </p:sp>
      <p:sp>
        <p:nvSpPr>
          <p:cNvPr id="12" name="Rounded Rectangle 11">
            <a:hlinkClick r:id="rId3" action="ppaction://hlinksldjump"/>
          </p:cNvPr>
          <p:cNvSpPr/>
          <p:nvPr/>
        </p:nvSpPr>
        <p:spPr>
          <a:xfrm>
            <a:off x="9555480" y="4892040"/>
            <a:ext cx="1691640" cy="105156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40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theme/theme1.xml><?xml version="1.0" encoding="utf-8"?>
<a:theme xmlns:a="http://schemas.openxmlformats.org/drawingml/2006/main" name="Тема Forus2020">
  <a:themeElements>
    <a:clrScheme name="Форус темная">
      <a:dk1>
        <a:srgbClr val="FFFFFF"/>
      </a:dk1>
      <a:lt1>
        <a:srgbClr val="FFFFFF"/>
      </a:lt1>
      <a:dk2>
        <a:srgbClr val="000000"/>
      </a:dk2>
      <a:lt2>
        <a:srgbClr val="000000"/>
      </a:lt2>
      <a:accent1>
        <a:srgbClr val="26A6E0"/>
      </a:accent1>
      <a:accent2>
        <a:srgbClr val="3F3F3F"/>
      </a:accent2>
      <a:accent3>
        <a:srgbClr val="767677"/>
      </a:accent3>
      <a:accent4>
        <a:srgbClr val="FFFFFF"/>
      </a:accent4>
      <a:accent5>
        <a:srgbClr val="395F76"/>
      </a:accent5>
      <a:accent6>
        <a:srgbClr val="BFBFBF"/>
      </a:accent6>
      <a:hlink>
        <a:srgbClr val="FFFFFF"/>
      </a:hlink>
      <a:folHlink>
        <a:srgbClr val="C0392B"/>
      </a:folHlink>
    </a:clrScheme>
    <a:fontScheme name="Форус_2020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 anchor="ctr" anchorCtr="0">
        <a:spAutoFit/>
      </a:bodyPr>
      <a:lstStyle>
        <a:defPPr>
          <a:defRPr sz="18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4341</TotalTime>
  <Words>1576</Words>
  <Application>Microsoft Office PowerPoint</Application>
  <PresentationFormat>Широкоэкранный</PresentationFormat>
  <Paragraphs>301</Paragraphs>
  <Slides>27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27</vt:i4>
      </vt:variant>
    </vt:vector>
  </HeadingPairs>
  <TitlesOfParts>
    <vt:vector size="32" baseType="lpstr">
      <vt:lpstr>Arial</vt:lpstr>
      <vt:lpstr>Calibri</vt:lpstr>
      <vt:lpstr>Stolzl</vt:lpstr>
      <vt:lpstr>Verdana</vt:lpstr>
      <vt:lpstr>Тема Forus2020</vt:lpstr>
      <vt:lpstr>Квиз 1С-ЭПД / Доки.Логистика Своя игра</vt:lpstr>
      <vt:lpstr>Игровое поле  ·  100 к 1</vt:lpstr>
      <vt:lpstr>Основы ЭПД</vt:lpstr>
      <vt:lpstr>Основы ЭПД</vt:lpstr>
      <vt:lpstr>Основы ЭПД</vt:lpstr>
      <vt:lpstr>Основы ЭПД</vt:lpstr>
      <vt:lpstr>Основы ЭПД</vt:lpstr>
      <vt:lpstr>ЭТрН и обязательность</vt:lpstr>
      <vt:lpstr>ЭТрН и обязательность</vt:lpstr>
      <vt:lpstr>ЭТрН и обязательность</vt:lpstr>
      <vt:lpstr>ЭТрН и обязательность</vt:lpstr>
      <vt:lpstr>ЭТрН и обязательность</vt:lpstr>
      <vt:lpstr>Документы и QR</vt:lpstr>
      <vt:lpstr>Документы и QR</vt:lpstr>
      <vt:lpstr>Документы и QR</vt:lpstr>
      <vt:lpstr>Документы и QR</vt:lpstr>
      <vt:lpstr>Документы и QR</vt:lpstr>
      <vt:lpstr>Экспедиция и процесс</vt:lpstr>
      <vt:lpstr>Экспедиция и процесс</vt:lpstr>
      <vt:lpstr>Экспедиция и процесс</vt:lpstr>
      <vt:lpstr>Экспедиция и процесс</vt:lpstr>
      <vt:lpstr>Экспедиция и процесс</vt:lpstr>
      <vt:lpstr>1С-ЭПД и Доки</vt:lpstr>
      <vt:lpstr>1С-ЭПД и Доки</vt:lpstr>
      <vt:lpstr>1С-ЭПД и Доки</vt:lpstr>
      <vt:lpstr>1С-ЭПД и Доки</vt:lpstr>
      <vt:lpstr>1С-ЭПД и Доки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Пользователь</dc:creator>
  <cp:lastModifiedBy>Блохина Елизавета</cp:lastModifiedBy>
  <cp:revision>219</cp:revision>
  <dcterms:created xsi:type="dcterms:W3CDTF">2020-01-20T06:19:00Z</dcterms:created>
  <dcterms:modified xsi:type="dcterms:W3CDTF">2026-08-13T03:56:46Z</dcterms:modified>
</cp:coreProperties>
</file>