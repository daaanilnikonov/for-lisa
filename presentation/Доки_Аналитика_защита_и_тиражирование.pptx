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Шафрановый шаблон" id="{FBFB8EBD-73BD-4F84-9F02-556D73907D89}">
          <p14:sldIdLst>
            <p14:sldId id="277"/>
            <p14:sldId id="297"/>
            <p14:sldId id="296"/>
            <p14:sldId id="278"/>
            <p14:sldId id="295"/>
            <p14:sldId id="309"/>
            <p14:sldId id="310"/>
            <p14:sldId id="319"/>
            <p14:sldId id="318"/>
            <p14:sldId id="314"/>
            <p14:sldId id="271"/>
            <p14:sldId id="261"/>
            <p14:sldId id="294"/>
            <p14:sldId id="279"/>
            <p14:sldId id="280"/>
            <p14:sldId id="290"/>
            <p14:sldId id="281"/>
            <p14:sldId id="291"/>
            <p14:sldId id="300"/>
            <p14:sldId id="298"/>
            <p14:sldId id="299"/>
            <p14:sldId id="306"/>
            <p14:sldId id="292"/>
            <p14:sldId id="293"/>
            <p14:sldId id="308"/>
            <p14:sldId id="313"/>
            <p14:sldId id="316"/>
            <p14:sldId id="303"/>
            <p14:sldId id="272"/>
            <p14:sldId id="273"/>
            <p14:sldId id="305"/>
            <p14:sldId id="304"/>
            <p14:sldId id="258"/>
            <p14:sldId id="259"/>
            <p14:sldId id="260"/>
            <p14:sldId id="282"/>
            <p14:sldId id="307"/>
            <p14:sldId id="284"/>
            <p14:sldId id="301"/>
            <p14:sldId id="285"/>
            <p14:sldId id="288"/>
            <p14:sldId id="315"/>
            <p14:sldId id="320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66"/>
    <a:srgbClr val="D64A4A"/>
    <a:srgbClr val="385E75"/>
    <a:srgbClr val="F7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6395" autoAdjust="0"/>
  </p:normalViewPr>
  <p:slideViewPr>
    <p:cSldViewPr snapToGrid="0">
      <p:cViewPr varScale="1">
        <p:scale>
          <a:sx n="101" d="100"/>
          <a:sy n="101" d="100"/>
        </p:scale>
        <p:origin x="88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406" y="-54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78FD9-E883-405F-84A7-48BE6C1C4639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83DF0-6FC0-4BAF-9BAA-AC3E7DD33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4204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1DD30-20F5-456A-A91D-5E5E2AE4E96B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D6420-324F-4B35-AE1D-31198132C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85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1592673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452140"/>
            <a:ext cx="608488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866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108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BFDCD-7D7F-4B80-B8B1-819A1E32F0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3FBD1AF-C1AA-4706-8044-A437628082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4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3BC5D02F-6A7F-488D-8863-2E7D5E916A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970EFF6-2A86-47BF-957F-C7B6C538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458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519A18-1BF8-4938-AEC3-A77314E5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D8AD4F86-5FE3-446D-8780-CDA879DFF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0593BBA2-AC45-42A4-9428-FC5859BB9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7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BFBC993-7CB7-4F97-9604-69040108A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1CA5DEB-4E80-4943-910F-68B80795D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96E871B4-AA94-4D4E-9BBB-98632F8F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2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0A5662A-3631-4B64-9763-487A6E3A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CED77CCE-A060-47D9-A7C0-7E698FE03F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4624F-C505-4ADC-B9EB-36ABDDDDD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532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16A866A-C7E4-46BE-B9A8-81C97693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EE71620-56CC-413D-BC0A-00E91094C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0E8E5EB6-08F5-41BA-A4BA-A663A9CFB4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4286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нуме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5865430" y="1129630"/>
            <a:ext cx="5415345" cy="4330604"/>
          </a:xfrm>
        </p:spPr>
        <p:txBody>
          <a:bodyPr lIns="0" tIns="0" rIns="0" bIns="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 baseline="0"/>
            </a:lvl1pPr>
          </a:lstStyle>
          <a:p>
            <a:pPr lvl="0"/>
            <a:r>
              <a:rPr lang="ru-RU" dirty="0"/>
              <a:t>Первый пункт</a:t>
            </a:r>
          </a:p>
          <a:p>
            <a:pPr lvl="0"/>
            <a:r>
              <a:rPr lang="ru-RU" dirty="0"/>
              <a:t>Второй пункт </a:t>
            </a:r>
          </a:p>
          <a:p>
            <a:pPr lvl="0"/>
            <a:r>
              <a:rPr lang="ru-RU" dirty="0"/>
              <a:t>Третий пункт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EE474C4-81A0-46FC-BFAC-275D8A40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963647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3CAE1B9-25FF-48B5-A049-B9DC3BEF1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2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маркированный спис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32A7D44-323D-47D5-A9F0-01D4A9E8A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7132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E477ECF-E540-4493-B86E-B873B16EA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6149728-8AE4-4B5A-97C2-EA2E3AC92A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272825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марки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D56FE66-88BE-40AA-AAA9-8DDD1F2AD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891219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617602DF-5256-4FDD-94C1-5B638A446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133A49C5-51F3-4E68-A259-6E5B7AC4F3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59776" y="1047774"/>
            <a:ext cx="5517823" cy="4527457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127056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справ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7697" y="762915"/>
            <a:ext cx="4943168" cy="4645025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C523A1-EB68-423D-8F90-63E750B7F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056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65238" y="3215148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01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E183D238-B879-455A-91BE-5DFBD2E39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927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 с цифрой_0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6">
            <a:extLst>
              <a:ext uri="{FF2B5EF4-FFF2-40B4-BE49-F238E27FC236}">
                <a16:creationId xmlns:a16="http://schemas.microsoft.com/office/drawing/2014/main" id="{F0DFD439-0271-4EDC-9E88-A8C8A5616F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92159" y="478202"/>
            <a:ext cx="4896950" cy="2806239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FontTx/>
              <a:buNone/>
              <a:defRPr lang="ru-RU" sz="25000" b="1" kern="1200" baseline="0" dirty="0">
                <a:solidFill>
                  <a:schemeClr val="bg1"/>
                </a:solidFill>
                <a:latin typeface="Stolzl" panose="00000500000000000000" pitchFamily="50" charset="-52"/>
                <a:ea typeface="+mj-ea"/>
                <a:cs typeface="+mj-cs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4DF25D-F3E4-4185-AB33-DAD8419C2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3820562"/>
            <a:ext cx="5948517" cy="2200826"/>
          </a:xfrm>
        </p:spPr>
        <p:txBody>
          <a:bodyPr anchor="b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02</a:t>
            </a:r>
          </a:p>
        </p:txBody>
      </p:sp>
      <p:sp>
        <p:nvSpPr>
          <p:cNvPr id="9" name="Текст 6">
            <a:extLst>
              <a:ext uri="{FF2B5EF4-FFF2-40B4-BE49-F238E27FC236}">
                <a16:creationId xmlns:a16="http://schemas.microsoft.com/office/drawing/2014/main" id="{7E9D0740-1D71-4366-99A6-C672EF2E21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52852" y="4621161"/>
            <a:ext cx="3195484" cy="1400227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7C20D37-BE6F-4F7A-B249-94EC22728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9776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03</a:t>
            </a:r>
          </a:p>
        </p:txBody>
      </p:sp>
    </p:spTree>
    <p:extLst>
      <p:ext uri="{BB962C8B-B14F-4D97-AF65-F5344CB8AC3E}">
        <p14:creationId xmlns:p14="http://schemas.microsoft.com/office/powerpoint/2010/main" val="136850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04</a:t>
            </a:r>
          </a:p>
        </p:txBody>
      </p:sp>
    </p:spTree>
    <p:extLst>
      <p:ext uri="{BB962C8B-B14F-4D97-AF65-F5344CB8AC3E}">
        <p14:creationId xmlns:p14="http://schemas.microsoft.com/office/powerpoint/2010/main" val="21896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/>
            <a:r>
              <a:rPr lang="ru-RU" dirty="0"/>
              <a:t>Описание диаграммы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84902" y="1543169"/>
            <a:ext cx="7771376" cy="417927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F821131-241D-4D09-AE09-799B2959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63282"/>
            <a:ext cx="10392696" cy="954310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F46BE731-9096-4039-BF9A-727DEA4B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07668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круговая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6343436" y="441325"/>
            <a:ext cx="4938367" cy="1552267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75071" y="441325"/>
            <a:ext cx="4973493" cy="5097156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E1FE05CB-6EF4-4FF8-B36B-867271E4E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12205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390967" y="1595563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84902" y="1595564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211C23E-56A6-4164-B8FF-F10658F2B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2573-AD9D-448A-A476-45D5ECB21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77090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80704" y="1614516"/>
            <a:ext cx="5005388" cy="406036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75CD4B1-F30F-4145-BA27-A319BB47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52264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5CEB1CE-04E3-42BD-8823-F5452F1C4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14414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Рисунка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90535" y="4965411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90535" y="1514633"/>
            <a:ext cx="4782677" cy="2890556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>
          <a:xfrm>
            <a:off x="6518788" y="1504646"/>
            <a:ext cx="4782677" cy="290054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81AEDAF-55A9-4E1C-8323-359C0D96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8FFC0EE2-1895-4B1F-A00C-1F2A313BE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42656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31546B-EEAC-45C2-AD58-2686120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54BC83B1-EA69-458C-93CC-D83700FA6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5075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53E90FC-F950-4C4B-B0F4-B43F9D7D1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5078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4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ED1720-7802-4704-90FA-E3029649512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137432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3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A4524E-AC81-4F4C-AAE2-A4D98451D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2662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6DD18E-EC18-44A1-8713-A3D5410D0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47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50" r:id="rId4"/>
    <p:sldLayoutId id="2147483694" r:id="rId5"/>
    <p:sldLayoutId id="2147483695" r:id="rId6"/>
    <p:sldLayoutId id="2147483706" r:id="rId7"/>
    <p:sldLayoutId id="2147483686" r:id="rId8"/>
    <p:sldLayoutId id="2147483704" r:id="rId9"/>
    <p:sldLayoutId id="2147483688" r:id="rId10"/>
    <p:sldLayoutId id="2147483705" r:id="rId11"/>
    <p:sldLayoutId id="2147483665" r:id="rId12"/>
    <p:sldLayoutId id="2147483677" r:id="rId13"/>
    <p:sldLayoutId id="2147483697" r:id="rId14"/>
    <p:sldLayoutId id="2147483698" r:id="rId15"/>
    <p:sldLayoutId id="2147483707" r:id="rId16"/>
    <p:sldLayoutId id="2147483672" r:id="rId17"/>
    <p:sldLayoutId id="2147483671" r:id="rId18"/>
    <p:sldLayoutId id="2147483652" r:id="rId19"/>
    <p:sldLayoutId id="2147483703" r:id="rId20"/>
    <p:sldLayoutId id="2147483675" r:id="rId21"/>
    <p:sldLayoutId id="2147483676" r:id="rId22"/>
    <p:sldLayoutId id="2147483666" r:id="rId23"/>
    <p:sldLayoutId id="2147483701" r:id="rId24"/>
    <p:sldLayoutId id="2147483684" r:id="rId2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1" kern="1200">
          <a:solidFill>
            <a:schemeClr val="bg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kern="1200">
          <a:solidFill>
            <a:schemeClr val="bg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7310" userDrawn="1">
          <p15:clr>
            <a:srgbClr val="F26B43"/>
          </p15:clr>
        </p15:guide>
        <p15:guide id="17" pos="370" userDrawn="1">
          <p15:clr>
            <a:srgbClr val="F26B43"/>
          </p15:clr>
        </p15:guide>
        <p15:guide id="20" orient="horz" pos="4042" userDrawn="1">
          <p15:clr>
            <a:srgbClr val="F26B43"/>
          </p15:clr>
        </p15:guide>
        <p15:guide id="21" orient="horz" pos="278" userDrawn="1">
          <p15:clr>
            <a:srgbClr val="F26B43"/>
          </p15:clr>
        </p15:guide>
        <p15:guide id="22" pos="551" userDrawn="1">
          <p15:clr>
            <a:srgbClr val="F26B43"/>
          </p15:clr>
        </p15:guide>
        <p15:guide id="23" pos="710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19.png"/><Relationship Id="rId5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Проект «Доки»</a:t>
            </a:r>
          </a:p>
          <a:p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Итоги 7 недель и передача в тиражирование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Аналитика для защиты проекта продаж
и передачи другой группе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 гипотезы  ·  18 подключений  ·  ЭДО + ЭПД в одном продукте  ·  оффер: 3 месяца безлимит</a:t>
            </a:r>
          </a:p>
        </p:txBody>
      </p:sp>
      <p:pic>
        <p:nvPicPr>
          <p:cNvPr id="4" name="Picture 3" descr="icon_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572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Зачем запускали проект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50876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0116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2808" y="176479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Задача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219456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Проверить, можно ли стабильно продавать «Доки» двумя понятными способами — и собрать пакет для тиражирования.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50876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01168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33488" y="176479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3488" y="219456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 недель пилота: гипотезы, скрипты, материалы для рассылки и сравнения, подключения клиентов.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374904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425196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2808" y="4005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Результат для защиты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443484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Показать цифры, выгоду для показателей ЭДО и ЭПД, что готово к передаче и как пользоваться материалами.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374904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_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25196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33488" y="4005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Для кого сейчас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443484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Защита перед продажами и передача другой группе, которая будет тиражировать подход.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Ключевые цифры за 7 недель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длительность пилота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2160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5876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проверены в поле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624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подключений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912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767677"/>
                </a:solidFill>
                <a:latin typeface="Verdana"/>
                <a:ea typeface="Verdana"/>
                <a:cs typeface="Verdana"/>
              </a:rPr>
              <a:t>общее число продаж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088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9 /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804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поровну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обе гипотезы дали результат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02920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Оффер на входе: бесплатное использование безлимитным пакетом на 3 месяца.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1. Доки по базе ЭПД (вместо 1С-ЭПД)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17320"/>
            <a:ext cx="10424160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Идея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19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Подключать «Доки» клиентам из базы ЭПД, которым не подходит решение 1С-ЭПД.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69748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07208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Кто клиент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8152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Компании из базы ЭПД, для которых 1С-ЭПД слишком узкий, тяжёлый или неудобный.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356616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675888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Почему Доки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5020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Универсальный ЭДО + при необходимости Доки.Логистика (ЭПД) — шире, чем только 1С-ЭПД.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443484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544568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Что продаём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188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Альтернативу там, где узкий логистический ЭПД не закрывает задачу клиента.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6974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9260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Итог гипотезы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33756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2336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продаж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52628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Подтверждена:
канал из базы ЭПД работает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2. Доки в скрипте с другими сервисами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71600"/>
            <a:ext cx="10424160" cy="96012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81328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Идея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Продавать «Доки» внутри одного разговора вместе с другими сервисами Форус.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Кабинет
сотрудника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Вход через HR/кадровый контур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3872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ЭДО с контрагентами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Смартвей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Командировки и поездки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4224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940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3368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Доки.
Логистика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Перевозочные документы (ЭПД)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754880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Результат: 9 продаж (50% пилота). Скрипт связки работает не хуже точечного канала.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0" y="4663440"/>
            <a:ext cx="2743200" cy="82296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80060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9 продаж
по скрипту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Сравнение двух гипотез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86968" y="1508760"/>
          <a:ext cx="104241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114800"/>
                <a:gridCol w="4114800"/>
              </a:tblGrid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Параметр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Гипотеза 1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Гипотеза 2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Суть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Доки для тех, кому не подходит 1С-ЭПД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Доки в связке сервисов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Вход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База ЭПД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Скрипт: КабС → Доки → Смартвей → Доки.Логистика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Продажи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9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9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Доля пилота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Статус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Подтверждена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Подтверждена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86968" y="50749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Вывод: оба канала дают одинаковый результат. Для тиражирования имеет смысл вести оба входа параллельно.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Выгода для показателей: ЭДО +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28016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«Доки» — это не один продукт в одном показателе. Это два контура в одной продаже.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783080"/>
            <a:ext cx="5029200" cy="23317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96596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Показатель 1 — ЭДО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4572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Доки закрывает обычный электронный
документооборот: УПД, счета, акты,
договоры. Клиент обменивается
документами с контрагентами.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83080"/>
            <a:ext cx="5166360" cy="23317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Показатель 2 — ЭПД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663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Доки.Логистика закрывает
перевозочные документы (ЭПД):
накладные, путевые — там, где
нужен логистический контур.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" y="4297680"/>
            <a:ext cx="10424160" cy="141732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480560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Почему это важно для продаж и KPI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37760"/>
            <a:ext cx="98755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Одна сделка по «Доки» может закрывать сразу два показателя — ЭДО и ЭПД. Это сильнее, чем продажа узкого 1С-ЭПД только в один контур. При тиражировании менеджеру выгодно предлагать полный контур: Доки + Доки.Логистика.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уже готово к передаче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196596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280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Скрипты продаж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Скрипт: Кабинет сотрудника → Доки → Смартвей → Доки.Логистика, плюс отработка возражений.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196596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3348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Материалы для рассылки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348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Готовые блоки и тексты для партнёрских и клиентских коммуникаций.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416052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280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Сравнение 1С-ЭПД и Доки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Когда предлагать 1С-ЭПД, а когда — Доки / Доки.Логистика. Обзор и сравнение.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_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16052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3348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КП, тарифы, шаблоны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Коммерческие предложения, тарифы, клиентские шаблоны презентаций — всё в репозитории.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 использовать материалы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23444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Простая схема для новой группы: что брать в работу и в какой момент.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69164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47088" y="1874520"/>
            <a:ext cx="502920" cy="50292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7088" y="1874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514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Выбрать вход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926080"/>
            <a:ext cx="2194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База ЭПД → Доки
или скрипт связки
КабС–Доки–Смартвей–Доки.Логистика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169164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98848" y="1874520"/>
            <a:ext cx="502920" cy="50292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874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2514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Открыть скрипт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2926080"/>
            <a:ext cx="2194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Файл скрипта в
репозитории — вести
разговор по шагам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9164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50608" y="1874520"/>
            <a:ext cx="502920" cy="50292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0608" y="1874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2514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Дать материал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926080"/>
            <a:ext cx="2194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Сравнение / КП /
шаблон презентации /
блок в рассылку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42248" y="169164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02368" y="1874520"/>
            <a:ext cx="502920" cy="50292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02368" y="1874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2514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Закрыть оффером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926080"/>
            <a:ext cx="2194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 месяца безлимит
бесплатно → подключение
→ контроль продления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206240"/>
            <a:ext cx="104241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Памятка по файлам:
• Скрипт КабС / Доки / Смартвей — вести звонок
• Сравнение 1С-ЭПД и Доки — объяснить, что выбрать клиенту
• Шаблон презентации Доки + КП / тарифы — отправить после интереса
• Блок в рассылку — для массовых касаний и партнёров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Оффер, с которым подключали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55448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Промо на входе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4389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 месяца
безлимит
бесплатно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840480"/>
            <a:ext cx="4389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 пробует сервис без оплаты пакета. Барьер входа снимается — проще закрыть первое подключение.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6420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Зачем так делали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Быстро проверить спрос и набрать практику подключений.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51460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62432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Что важно дальше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926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Отслеживать переход на платный тариф после 3 месяцев.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47472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58444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Риск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8862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Без контроля продлений «бесплатный старт» не превратится в выручку.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43484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5445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Для тиражирования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8463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Оффер оставить, но добавить KPI по оплате после пробного периода.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Выводы по проекту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1732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67335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7335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55448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Обе гипотезы подтверждены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87452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 9 продаж на каждый канал. Нет «слабого» направления — оба входа можно масштабировать.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246888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72491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72491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0604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Доки закрывает сразу два показателя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2608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ЭДО (Доки) + ЭПД (Доки.Логистика). Одна продажа сильнее узкого 1С-ЭПД по вкладу в KPI.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352044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377647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77647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65760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Пакет для тиражирования уже собран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97764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Скрипты, рассылки, сравнение, КП и шаблоны лежат в репозитории — новой группе не нужно начинать с нуля.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" y="457200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482803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82803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70916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Пилот закрыл вопрос «продаётся ли»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02920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Следующий этап — не поиск идеи, а процесс: объём, конверсия, использование и оплата после 3 месяцев.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Рекомендации для тиражирования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196596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280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Два канала сразу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Вести параллельно: (1) база ЭПД → Доки, (2) скрипт связки сервисов.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196596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3348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Продавать полный контур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348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каждой сделке закрывать ЭДО (Доки) и, где уместно, ЭПД (Доки.Логистика) — два показателя.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416052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280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Передать пакет as-is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Скрипты, сравнения, рассылки и КП — базовый набор. Идти по схеме «как использовать материалы».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_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16052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3348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Добавить контроль воронки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Фиксировать: касания → демо → подключения → использование → оплата после пробного периода.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Каких данных не хватает для полной защиты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32588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Ниже — вопросы, которые усилят защиту и передачу. Если данные есть — добавим в презентацию.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82880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96596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Воронка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2860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Сколько касаний / звонков / демо на 18 продаж? Какая конверсия по этапам?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82880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6248" y="196596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База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22860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Размер базы ЭПД и сколько контактов обработали по каждой гипотезе?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" y="310896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324612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Деньги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6616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Средний чек, выручка сейчас и прогноз после окончания 3 бесплатных месяцев?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310896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324612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Активность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56616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Сколько из 18 реально начали отправлять документы?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" y="438912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452628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Отказы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8463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Типовые причины «нет» и где клиенты отваливаются чаще всего?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7648" y="438912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452628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Учёт 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48463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 сейчас фиксируют вклад сделки: только ЭДО, только ЭПД или оба показателя?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Просим принять решение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6304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783080"/>
            <a:ext cx="384048" cy="38404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6420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Признать пилот успешным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1168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18 подключений за 7 недель, обе гипотезы подтверждены поровну.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26517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971800"/>
            <a:ext cx="384048" cy="38404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7180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85292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Передать в тиражирование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004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Новой группе — пакет скриптов, материалов и двух рабочих каналов продаж.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38404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4160520"/>
            <a:ext cx="384048" cy="38404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04164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Закрепить KPI на следующий этап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8912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Подключения + вклад в ЭДО и ЭПД + переход на оплату после 3 месяцев.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1463040"/>
            <a:ext cx="2743200" cy="365760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on_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783080"/>
            <a:ext cx="1371600" cy="1371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778240" y="329184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ГОТОВО
К ПЕРЕДАЧЕ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20624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18 подключений
ЭДО + ЭПД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Forus2020">
  <a:themeElements>
    <a:clrScheme name="Форус темная">
      <a:dk1>
        <a:srgbClr val="FFFFFF"/>
      </a:dk1>
      <a:lt1>
        <a:srgbClr val="FFFFFF"/>
      </a:lt1>
      <a:dk2>
        <a:srgbClr val="000000"/>
      </a:dk2>
      <a:lt2>
        <a:srgbClr val="000000"/>
      </a:lt2>
      <a:accent1>
        <a:srgbClr val="26A6E0"/>
      </a:accent1>
      <a:accent2>
        <a:srgbClr val="3F3F3F"/>
      </a:accent2>
      <a:accent3>
        <a:srgbClr val="767677"/>
      </a:accent3>
      <a:accent4>
        <a:srgbClr val="FFFFFF"/>
      </a:accent4>
      <a:accent5>
        <a:srgbClr val="395F76"/>
      </a:accent5>
      <a:accent6>
        <a:srgbClr val="BFBFBF"/>
      </a:accent6>
      <a:hlink>
        <a:srgbClr val="26A6E0"/>
      </a:hlink>
      <a:folHlink>
        <a:srgbClr val="BFBFBF"/>
      </a:folHlink>
    </a:clrScheme>
    <a:fontScheme name="Форус_2020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 anchorCtr="0">
        <a:spAutoFit/>
      </a:bodyPr>
      <a:lstStyle>
        <a:defPP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2829</TotalTime>
  <Words>1673</Words>
  <Application>Microsoft Office PowerPoint</Application>
  <PresentationFormat>Широкоэкранный</PresentationFormat>
  <Paragraphs>330</Paragraphs>
  <Slides>44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Cambria</vt:lpstr>
      <vt:lpstr>Stolzl</vt:lpstr>
      <vt:lpstr>Verdana</vt:lpstr>
      <vt:lpstr>Тема Forus2020</vt:lpstr>
      <vt:lpstr>Темный шаблон презентации</vt:lpstr>
      <vt:lpstr>Второй вариант Название презентации</vt:lpstr>
      <vt:lpstr>Еще один вариант Название презентации</vt:lpstr>
      <vt:lpstr>Типовой лист</vt:lpstr>
      <vt:lpstr>Рабочая область   Весь контент должен заключаться в этой области экрана.  Такое зонирование позволит разместить текст и другую информацию  в максимально комфортном для восприятия месте.  Так же в макете имеются направляющие, по которым можно  выравнивать расположение объектов и не выходить за рамки. </vt:lpstr>
      <vt:lpstr>Имиджевые слайды  о компании</vt:lpstr>
      <vt:lpstr>Презентация PowerPoint</vt:lpstr>
      <vt:lpstr>Презентация PowerPoint</vt:lpstr>
      <vt:lpstr>Презентация PowerPoint</vt:lpstr>
      <vt:lpstr>Презентация PowerPoint</vt:lpstr>
      <vt:lpstr>Слайды  презентации с текстом</vt:lpstr>
      <vt:lpstr>Иерархия заголовков</vt:lpstr>
      <vt:lpstr>Что такое автоматизация</vt:lpstr>
      <vt:lpstr>Выделения и акценты в тексте</vt:lpstr>
      <vt:lpstr>Нумерованный список</vt:lpstr>
      <vt:lpstr>Нумерованный список №2</vt:lpstr>
      <vt:lpstr>Маркированный список</vt:lpstr>
      <vt:lpstr>Маркированный список №2</vt:lpstr>
      <vt:lpstr>Информация  в колонках</vt:lpstr>
      <vt:lpstr>Представление информации в трёх блоках</vt:lpstr>
      <vt:lpstr>Презентация PowerPoint</vt:lpstr>
      <vt:lpstr>Слайд с фото и блоками описания</vt:lpstr>
      <vt:lpstr>Информация с тремя колонками</vt:lpstr>
      <vt:lpstr>Информация с четырьмя колонками</vt:lpstr>
      <vt:lpstr>Как ещё можно разместить</vt:lpstr>
      <vt:lpstr>3 колонки и главная мысль</vt:lpstr>
      <vt:lpstr>Презентация PowerPoint</vt:lpstr>
      <vt:lpstr>Слайды  с фотографиями</vt:lpstr>
      <vt:lpstr>Слайд с фото или скриншотом</vt:lpstr>
      <vt:lpstr>Слайд с двумя фото или скриншотами</vt:lpstr>
      <vt:lpstr>Слайд с тремя фото или скриншотами</vt:lpstr>
      <vt:lpstr>Диаграммы, графики  и таблицы </vt:lpstr>
      <vt:lpstr>Пример круговой диаграммы</vt:lpstr>
      <vt:lpstr>Презентация PowerPoint</vt:lpstr>
      <vt:lpstr>Презентация PowerPoint</vt:lpstr>
      <vt:lpstr>Пример таблицы с выделением ключевой информации</vt:lpstr>
      <vt:lpstr>Как ещё можно изобразить таблицу</vt:lpstr>
      <vt:lpstr>Визуальные элементы Иконки, росчерки</vt:lpstr>
      <vt:lpstr>Иконки двухцветные</vt:lpstr>
      <vt:lpstr>Иконки белые</vt:lpstr>
      <vt:lpstr>Блоки для схем или важной информации</vt:lpstr>
      <vt:lpstr>3D абстрактные фигуры</vt:lpstr>
      <vt:lpstr>Изображения-объекты</vt:lpstr>
      <vt:lpstr>Благодарю 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Черепанова Виктория</cp:lastModifiedBy>
  <cp:revision>212</cp:revision>
  <dcterms:created xsi:type="dcterms:W3CDTF">2020-01-20T06:19:00Z</dcterms:created>
  <dcterms:modified xsi:type="dcterms:W3CDTF">2025-03-10T02:44:05Z</dcterms:modified>
</cp:coreProperties>
</file>