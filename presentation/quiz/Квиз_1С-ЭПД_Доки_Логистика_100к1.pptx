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77"/>
            <p14:sldId id="297"/>
            <p14:sldId id="296"/>
            <p14:sldId id="278"/>
            <p14:sldId id="295"/>
            <p14:sldId id="309"/>
            <p14:sldId id="310"/>
            <p14:sldId id="319"/>
            <p14:sldId id="318"/>
            <p14:sldId id="314"/>
            <p14:sldId id="271"/>
            <p14:sldId id="261"/>
            <p14:sldId id="294"/>
            <p14:sldId id="279"/>
            <p14:sldId id="280"/>
            <p14:sldId id="290"/>
            <p14:sldId id="281"/>
            <p14:sldId id="291"/>
            <p14:sldId id="300"/>
            <p14:sldId id="298"/>
            <p14:sldId id="299"/>
            <p14:sldId id="306"/>
            <p14:sldId id="292"/>
            <p14:sldId id="293"/>
            <p14:sldId id="308"/>
            <p14:sldId id="313"/>
            <p14:sldId id="316"/>
            <p14:sldId id="303"/>
            <p14:sldId id="272"/>
            <p14:sldId id="273"/>
            <p14:sldId id="305"/>
            <p14:sldId id="304"/>
            <p14:sldId id="258"/>
            <p14:sldId id="259"/>
            <p14:sldId id="260"/>
            <p14:sldId id="282"/>
            <p14:sldId id="307"/>
            <p14:sldId id="284"/>
            <p14:sldId id="301"/>
            <p14:sldId id="285"/>
            <p14:sldId id="288"/>
            <p14:sldId id="315"/>
            <p14:sldId id="320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66"/>
    <a:srgbClr val="D64A4A"/>
    <a:srgbClr val="385E75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6395" autoAdjust="0"/>
  </p:normalViewPr>
  <p:slideViewPr>
    <p:cSldViewPr snapToGrid="0">
      <p:cViewPr varScale="1">
        <p:scale>
          <a:sx n="101" d="100"/>
          <a:sy n="101" d="100"/>
        </p:scale>
        <p:origin x="88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1.xml"/><Relationship Id="rId11" Type="http://schemas.openxmlformats.org/officeDocument/2006/relationships/slide" Target="slide12.xml"/><Relationship Id="rId12" Type="http://schemas.openxmlformats.org/officeDocument/2006/relationships/slide" Target="slide13.xml"/><Relationship Id="rId13" Type="http://schemas.openxmlformats.org/officeDocument/2006/relationships/slide" Target="slide14.xml"/><Relationship Id="rId14" Type="http://schemas.openxmlformats.org/officeDocument/2006/relationships/slide" Target="slide15.xml"/><Relationship Id="rId15" Type="http://schemas.openxmlformats.org/officeDocument/2006/relationships/slide" Target="slide16.xml"/><Relationship Id="rId16" Type="http://schemas.openxmlformats.org/officeDocument/2006/relationships/slide" Target="slide17.xml"/><Relationship Id="rId17" Type="http://schemas.openxmlformats.org/officeDocument/2006/relationships/slide" Target="slide18.xml"/><Relationship Id="rId18" Type="http://schemas.openxmlformats.org/officeDocument/2006/relationships/slide" Target="slide19.xml"/><Relationship Id="rId19" Type="http://schemas.openxmlformats.org/officeDocument/2006/relationships/slide" Target="slide20.xml"/><Relationship Id="rId20" Type="http://schemas.openxmlformats.org/officeDocument/2006/relationships/slide" Target="slide21.xml"/><Relationship Id="rId21" Type="http://schemas.openxmlformats.org/officeDocument/2006/relationships/slide" Target="slide22.xml"/><Relationship Id="rId22" Type="http://schemas.openxmlformats.org/officeDocument/2006/relationships/slide" Target="slide23.xml"/><Relationship Id="rId23" Type="http://schemas.openxmlformats.org/officeDocument/2006/relationships/slide" Target="slide24.xml"/><Relationship Id="rId24" Type="http://schemas.openxmlformats.org/officeDocument/2006/relationships/slide" Target="slide25.xml"/><Relationship Id="rId25" Type="http://schemas.openxmlformats.org/officeDocument/2006/relationships/slide" Target="slide26.xml"/><Relationship Id="rId26" Type="http://schemas.openxmlformats.org/officeDocument/2006/relationships/slide" Target="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Квиз</a:t>
            </a:r>
          </a:p>
          <a:p>
            <a:pPr>
              <a:spcBef>
                <a:spcPts val="800"/>
              </a:spcBef>
            </a:pPr>
            <a:r>
              <a:rPr sz="3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1С-ЭПД / Доки.Логистика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Формат «100 к 1»  ·  Своя игра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5 тем  ·  25 вопросов  ·  от 10 до 100 баллов
Выберите ячейку на игровом поле — откроется вопрос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Игровое поле  ·  100 к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0972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Нажмите на баллы, чтобы открыть вопрос  ·  кнопка «К полю» вернёт обратно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81528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45736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9944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1554480"/>
            <a:ext cx="1554480" cy="7772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41448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12" name="Rounded Rectangle 11">
            <a:hlinkClick action="ppaction://hlinksldjump" r:id="rId2"/>
          </p:cNvPr>
          <p:cNvSpPr/>
          <p:nvPr/>
        </p:nvSpPr>
        <p:spPr>
          <a:xfrm>
            <a:off x="3081528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13" name="Rounded Rectangle 12">
            <a:hlinkClick action="ppaction://hlinksldjump" r:id="rId3"/>
          </p:cNvPr>
          <p:cNvSpPr/>
          <p:nvPr/>
        </p:nvSpPr>
        <p:spPr>
          <a:xfrm>
            <a:off x="4745736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409944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15" name="Rounded Rectangle 14">
            <a:hlinkClick action="ppaction://hlinksldjump" r:id="rId5"/>
          </p:cNvPr>
          <p:cNvSpPr/>
          <p:nvPr/>
        </p:nvSpPr>
        <p:spPr>
          <a:xfrm>
            <a:off x="8074152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16" name="Rounded Rectangle 15">
            <a:hlinkClick action="ppaction://hlinksldjump" r:id="rId6"/>
          </p:cNvPr>
          <p:cNvSpPr/>
          <p:nvPr/>
        </p:nvSpPr>
        <p:spPr>
          <a:xfrm>
            <a:off x="9738360" y="2441448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28416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18" name="Rounded Rectangle 17">
            <a:hlinkClick action="ppaction://hlinksldjump" r:id="rId7"/>
          </p:cNvPr>
          <p:cNvSpPr/>
          <p:nvPr/>
        </p:nvSpPr>
        <p:spPr>
          <a:xfrm>
            <a:off x="3081528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19" name="Rounded Rectangle 18">
            <a:hlinkClick action="ppaction://hlinksldjump" r:id="rId8"/>
          </p:cNvPr>
          <p:cNvSpPr/>
          <p:nvPr/>
        </p:nvSpPr>
        <p:spPr>
          <a:xfrm>
            <a:off x="4745736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20" name="Rounded Rectangle 19">
            <a:hlinkClick action="ppaction://hlinksldjump" r:id="rId9"/>
          </p:cNvPr>
          <p:cNvSpPr/>
          <p:nvPr/>
        </p:nvSpPr>
        <p:spPr>
          <a:xfrm>
            <a:off x="6409944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21" name="Rounded Rectangle 20">
            <a:hlinkClick action="ppaction://hlinksldjump" r:id="rId10"/>
          </p:cNvPr>
          <p:cNvSpPr/>
          <p:nvPr/>
        </p:nvSpPr>
        <p:spPr>
          <a:xfrm>
            <a:off x="8074152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22" name="Rounded Rectangle 21">
            <a:hlinkClick action="ppaction://hlinksldjump" r:id="rId11"/>
          </p:cNvPr>
          <p:cNvSpPr/>
          <p:nvPr/>
        </p:nvSpPr>
        <p:spPr>
          <a:xfrm>
            <a:off x="9738360" y="3328416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15384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24" name="Rounded Rectangle 23">
            <a:hlinkClick action="ppaction://hlinksldjump" r:id="rId12"/>
          </p:cNvPr>
          <p:cNvSpPr/>
          <p:nvPr/>
        </p:nvSpPr>
        <p:spPr>
          <a:xfrm>
            <a:off x="3081528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25" name="Rounded Rectangle 24">
            <a:hlinkClick action="ppaction://hlinksldjump" r:id="rId13"/>
          </p:cNvPr>
          <p:cNvSpPr/>
          <p:nvPr/>
        </p:nvSpPr>
        <p:spPr>
          <a:xfrm>
            <a:off x="4745736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26" name="Rounded Rectangle 25">
            <a:hlinkClick action="ppaction://hlinksldjump" r:id="rId14"/>
          </p:cNvPr>
          <p:cNvSpPr/>
          <p:nvPr/>
        </p:nvSpPr>
        <p:spPr>
          <a:xfrm>
            <a:off x="6409944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27" name="Rounded Rectangle 26">
            <a:hlinkClick action="ppaction://hlinksldjump" r:id="rId15"/>
          </p:cNvPr>
          <p:cNvSpPr/>
          <p:nvPr/>
        </p:nvSpPr>
        <p:spPr>
          <a:xfrm>
            <a:off x="8074152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28" name="Rounded Rectangle 27">
            <a:hlinkClick action="ppaction://hlinksldjump" r:id="rId16"/>
          </p:cNvPr>
          <p:cNvSpPr/>
          <p:nvPr/>
        </p:nvSpPr>
        <p:spPr>
          <a:xfrm>
            <a:off x="9738360" y="4215384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02352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0" name="Rounded Rectangle 29">
            <a:hlinkClick action="ppaction://hlinksldjump" r:id="rId17"/>
          </p:cNvPr>
          <p:cNvSpPr/>
          <p:nvPr/>
        </p:nvSpPr>
        <p:spPr>
          <a:xfrm>
            <a:off x="3081528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31" name="Rounded Rectangle 30">
            <a:hlinkClick action="ppaction://hlinksldjump" r:id="rId18"/>
          </p:cNvPr>
          <p:cNvSpPr/>
          <p:nvPr/>
        </p:nvSpPr>
        <p:spPr>
          <a:xfrm>
            <a:off x="4745736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32" name="Rounded Rectangle 31">
            <a:hlinkClick action="ppaction://hlinksldjump" r:id="rId19"/>
          </p:cNvPr>
          <p:cNvSpPr/>
          <p:nvPr/>
        </p:nvSpPr>
        <p:spPr>
          <a:xfrm>
            <a:off x="6409944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33" name="Rounded Rectangle 32">
            <a:hlinkClick action="ppaction://hlinksldjump" r:id="rId20"/>
          </p:cNvPr>
          <p:cNvSpPr/>
          <p:nvPr/>
        </p:nvSpPr>
        <p:spPr>
          <a:xfrm>
            <a:off x="8074152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34" name="Rounded Rectangle 33">
            <a:hlinkClick action="ppaction://hlinksldjump" r:id="rId21"/>
          </p:cNvPr>
          <p:cNvSpPr/>
          <p:nvPr/>
        </p:nvSpPr>
        <p:spPr>
          <a:xfrm>
            <a:off x="9738360" y="510235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9893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6" name="Rounded Rectangle 35">
            <a:hlinkClick action="ppaction://hlinksldjump" r:id="rId22"/>
          </p:cNvPr>
          <p:cNvSpPr/>
          <p:nvPr/>
        </p:nvSpPr>
        <p:spPr>
          <a:xfrm>
            <a:off x="3081528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37" name="Rounded Rectangle 36">
            <a:hlinkClick action="ppaction://hlinksldjump" r:id="rId23"/>
          </p:cNvPr>
          <p:cNvSpPr/>
          <p:nvPr/>
        </p:nvSpPr>
        <p:spPr>
          <a:xfrm>
            <a:off x="4745736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38" name="Rounded Rectangle 37">
            <a:hlinkClick action="ppaction://hlinksldjump" r:id="rId24"/>
          </p:cNvPr>
          <p:cNvSpPr/>
          <p:nvPr/>
        </p:nvSpPr>
        <p:spPr>
          <a:xfrm>
            <a:off x="6409944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39" name="Rounded Rectangle 38">
            <a:hlinkClick action="ppaction://hlinksldjump" r:id="rId25"/>
          </p:cNvPr>
          <p:cNvSpPr/>
          <p:nvPr/>
        </p:nvSpPr>
        <p:spPr>
          <a:xfrm>
            <a:off x="8074152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40" name="Rounded Rectangle 39">
            <a:hlinkClick action="ppaction://hlinksldjump" r:id="rId26"/>
          </p:cNvPr>
          <p:cNvSpPr/>
          <p:nvPr/>
        </p:nvSpPr>
        <p:spPr>
          <a:xfrm>
            <a:off x="9738360" y="59893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означает сокращение ЭПД?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Электронные платёжные документы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Электронные перевозочные документы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Электронные первичные документы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74336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84064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358384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Электронные перевозочные документы</a:t>
            </a:r>
          </a:p>
        </p:txBody>
      </p:sp>
      <p:sp>
        <p:nvSpPr>
          <p:cNvPr id="13" name="Rounded Rectangle 12">
            <a:hlinkClick action="ppaction://hlinksldjump" r:id="rId2"/>
          </p:cNvPr>
          <p:cNvSpPr/>
          <p:nvPr/>
        </p:nvSpPr>
        <p:spPr>
          <a:xfrm>
            <a:off x="9509760" y="4974336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такое титул?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Отдельный документ для водителя в мобильном приложении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Часть ЭПД, которая заполняется конкретным участником перевозки в определённый момент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Электронная подпись участника перевозки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37176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QR-код документа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21808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31536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705856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Часть ЭПД, которую заполняет конкретный участник перевозки в определённый момент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9509760" y="5321808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Какие участники подписывают ЭТрН?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Только грузоотправитель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Грузоотправитель, перевозчик и грузополучатель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Только перевозчик и водитель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37176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Экспедитор и водитель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21808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31536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705856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Грузоотправитель, перевозчик и грузополучатель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9509760" y="5321808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Кто такой грузоотправитель?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Организация, которая принимает груз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Организация, которая владеет грузом и нанимает перевозчика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Организация, которая предоставляет транспорт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37176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Человек, который совершает погрузку груза в ТС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21808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31536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705856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Организация, которая владеет грузом и нанимает перевозчика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9509760" y="5321808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Основы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Кто относится к основным участникам грузоперевозки?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Грузоотправитель, грузоперевозчик, грузополучатель, экспедитор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 какой даты для всех участников грузоперевозок становится обязательным использование документов в электронном виде?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1 января 2027 года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1 мая 2026 года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1 сентября 2026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37176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1 марта 2027 года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21808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31536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705856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 сентября 2026 года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9509760" y="5321808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каком случае ЭТрН не требуется?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Все участники — юридические лица или ИП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Перевозчик оказывает коммерческую услугу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Хотя бы один участник — физическое лицо или самозанятый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37176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Перевозчик нанят грузоотправителем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21808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31536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705856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Хотя бы один участник — физическое лицо или самозанятый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9509760" y="5321808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Компания доставляет собственным транспортом свой товар до покупателя. Нужно ли оформлять ЭТрН?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Да, всегда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Только если стоимость товара больше 100 000 рублей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37176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Да, если перевозка по территории РФ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21808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31536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705856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Да, если перевозка по территории РФ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9509760" y="5321808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Компания продаёт товар, а покупатель сам забирает его своим транспортом. Нужна ли ЭТрН? Почему?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ЭТрН не требуется: перевозчик совпадает с грузополучателем (самовывоз)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ЭТрН и обязательность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Назовите условия, при которых ЭТрН обязательна к оформлению с 1 сентября 2026 года.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Все участники — ЮЛ или ИП; перевозчик не является грузоотправителем и грузополучателем; перевозчик работает на коммерческой основе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Для чего водителю нужен QR-код?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Для оплаты перевозки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Для предъявления электронных перевозочных документов при проверке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Для получения путевого листа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74336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84064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358384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Для предъявления электронных перевозочных документов при проверке</a:t>
            </a:r>
          </a:p>
        </p:txBody>
      </p:sp>
      <p:sp>
        <p:nvSpPr>
          <p:cNvPr id="13" name="Rounded Rectangle 12">
            <a:hlinkClick action="ppaction://hlinksldjump" r:id="rId2"/>
          </p:cNvPr>
          <p:cNvSpPr/>
          <p:nvPr/>
        </p:nvSpPr>
        <p:spPr>
          <a:xfrm>
            <a:off x="9509760" y="4974336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такое ЭЗЗ и для чего она нужна?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Электронный заказ (заявка) — фиксирует договорённость между грузоотправителем и перевозчиком до начала перевозки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содержит электронный путевой лист (ЭПЛ)?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Сведения о грузе, отправителе и адресах погрузки/выгрузки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Данные о водителе, ТС, маршруте, медосмотре, техконтроле и пробеге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Стоимость перевозки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37176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Данные грузополучателя и грузоотправителя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21808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31536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705856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Данные о водителе, ТС, маршруте, медосмотре, техконтроле и пробеге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9509760" y="5321808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Нужен ли водителю интернет непосредственно во время проверки QR-кода на дороге?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Да, обязательно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Нет, интернет нужен для получения QR-кода, а во время проверки —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Интернет водителю не нужен вообще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74336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84064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358384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Нет, интернет нужен для получения QR-кода, а во время проверки — нет</a:t>
            </a:r>
          </a:p>
        </p:txBody>
      </p:sp>
      <p:sp>
        <p:nvSpPr>
          <p:cNvPr id="13" name="Rounded Rectangle 12">
            <a:hlinkClick action="ppaction://hlinksldjump" r:id="rId2"/>
          </p:cNvPr>
          <p:cNvSpPr/>
          <p:nvPr/>
        </p:nvSpPr>
        <p:spPr>
          <a:xfrm>
            <a:off x="9509760" y="4974336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и QR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Назовите хотя бы три сценария-исключения, при которых транспортная накладная, заказ и заявка могут оформляться на бумаге.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Военные перевозки; перевозки с иностранными юрлицами; каботаж ЕАЭС; личные нужды физлица; сбой / нет интернета в утверждённых регионах; отправитель = получатель; драгметаллы и камни и др.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чём главное отличие экспедитора от агента в контексте ЭПД?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Экспедитор всегда является перевозчиком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Экспедитор принимает груз во владение и фигурирует в ЭТрН, агент —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Агент всегда подписывает экспедиторскую расписку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37176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Отличий нет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21808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31536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705856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Экспедитор принимает груз во владение и фигурирует в ЭТрН, агент — нет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9509760" y="5321808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Поставщик обратился к экспедитору, экспедитор принял груз во владение и нанял перевозчика. Какие роли возникают у участников?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Заказчик и экспедитор подписывают экспедиторские документы; экспедитор принимает груз во владение, организует перевозку и нанимает перевозчика; в ЭТрН экспедитор фигурирует как грузоотправитель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Цепочка: заказчик → экспедитор → перевозчик → получатель. Какие электронные документы могут возникнуть у экспедитора?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Только ЭТрН и экспедиторская расписка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Экспедиторские документы, ЭЗЗ и ЭТрН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Только ЭПЛ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37176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4)  Только ЭЗЗ и ЭТрН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21808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31536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705856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Экспедиторские документы, ЭЗЗ и ЭТрН</a:t>
            </a:r>
          </a:p>
        </p:txBody>
      </p:sp>
      <p:sp>
        <p:nvSpPr>
          <p:cNvPr id="14" name="Rounded Rectangle 13">
            <a:hlinkClick action="ppaction://hlinksldjump" r:id="rId2"/>
          </p:cNvPr>
          <p:cNvSpPr/>
          <p:nvPr/>
        </p:nvSpPr>
        <p:spPr>
          <a:xfrm>
            <a:off x="9509760" y="5321808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Расставьте этапы перевозки в правильном порядке:
1) Приёмка груза получателем
2) Создание ЭТрН и отправка груза
3) Водитель в дороге
4) Создание и обработка ЭЗЗ
5) Разгрузка на складе получателя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 → 2 → 3 → 1 → 5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Экспедиция и процесс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произойдёт с необходимостью оформления ЭТрН, если грузоотправитель является одновременно грузополучателем?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1)  ЭТрН обязательна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2)  ЭТрН не оформляется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9704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3)  Можно остаться на бумаге, а можно перейти на ЭТрН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74336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84064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358384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Можно остаться на бумаге, а можно перейти на ЭТрН</a:t>
            </a:r>
          </a:p>
        </p:txBody>
      </p:sp>
      <p:sp>
        <p:nvSpPr>
          <p:cNvPr id="13" name="Rounded Rectangle 12">
            <a:hlinkClick action="ppaction://hlinksldjump" r:id="rId2"/>
          </p:cNvPr>
          <p:cNvSpPr/>
          <p:nvPr/>
        </p:nvSpPr>
        <p:spPr>
          <a:xfrm>
            <a:off x="9509760" y="4974336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необходимо для подключения 1С-ЭПД? Назовите основные требования.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Программа 1С; УКЭП и МЧД для ответственных; КриптоПро CSP с лицензией; для перевозчиков — подписание водителей через мобильное приложение или с телефона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Назовите основные шаги подключения сервиса 1С-ЭПД.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Подключить 1С-ЭДО → обменяться приглашениями с контрагентами → проверить настройку обмена ЭПД в учётной системе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 говорит: «У нас вообще нет 1С, но нам нужно работать с ЭПД». Какое решение предложить?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1С:Клиент ЭДО или Доки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чём ключевое отличие 1С-ЭПД и Доки с точки зрения сценариев работы клиента?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1С-ЭПД — типовое решение внутри конфигураций 1С. Доки работает в 1С, веб и мобильном приложении независимо и подходит клиентам без 1С, без ПК или с редко обновляемой 1С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1С-ЭПД и Доки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92640" y="411480"/>
            <a:ext cx="1554480" cy="64008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10607040" cy="2194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Клиент: «С 1 сентября нам обязательно переходить на ЭПД. С чего начать?» Дайте пошаговую рекомендацию.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149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Открытый вопрос — обсудите ответ командой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97680"/>
            <a:ext cx="850392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07408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81728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1) Проанализировать процессы  2) Выбрать ключевых контрагентов  3) Подготовить ИС  4) Подключить сервис и сделать первую отправку  5) Обучить персонал и обновить регламенты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9509760" y="4297680"/>
            <a:ext cx="1874519" cy="123444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26A6E0"/>
      </a:hlink>
      <a:folHlink>
        <a:srgbClr val="BFBFBF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2829</TotalTime>
  <Words>1673</Words>
  <Application>Microsoft Office PowerPoint</Application>
  <PresentationFormat>Широкоэкранный</PresentationFormat>
  <Paragraphs>330</Paragraphs>
  <Slides>44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Cambria</vt:lpstr>
      <vt:lpstr>Stolzl</vt:lpstr>
      <vt:lpstr>Verdana</vt:lpstr>
      <vt:lpstr>Тема Forus2020</vt:lpstr>
      <vt:lpstr>Темный шаблон презентации</vt:lpstr>
      <vt:lpstr>Второй вариант Название презентации</vt:lpstr>
      <vt:lpstr>Еще один вариант Название презентации</vt:lpstr>
      <vt:lpstr>Типовой лист</vt:lpstr>
      <vt:lpstr>Рабочая область   Весь контент должен заключаться в этой области экрана.  Такое зонирование позволит разместить текст и другую информацию  в максимально комфортном для восприятия месте.  Так же в макете имеются направляющие, по которым можно  выравнивать расположение объектов и не выходить за рамки. </vt:lpstr>
      <vt:lpstr>Имиджевые слайды  о компании</vt:lpstr>
      <vt:lpstr>Презентация PowerPoint</vt:lpstr>
      <vt:lpstr>Презентация PowerPoint</vt:lpstr>
      <vt:lpstr>Презентация PowerPoint</vt:lpstr>
      <vt:lpstr>Презентация PowerPoint</vt:lpstr>
      <vt:lpstr>Слайды  презентации с текстом</vt:lpstr>
      <vt:lpstr>Иерархия заголовков</vt:lpstr>
      <vt:lpstr>Что такое автоматизация</vt:lpstr>
      <vt:lpstr>Выделения и акценты в тексте</vt:lpstr>
      <vt:lpstr>Нумерованный список</vt:lpstr>
      <vt:lpstr>Нумерованный список №2</vt:lpstr>
      <vt:lpstr>Маркированный список</vt:lpstr>
      <vt:lpstr>Маркированный список №2</vt:lpstr>
      <vt:lpstr>Информация  в колонках</vt:lpstr>
      <vt:lpstr>Представление информации в трёх блоках</vt:lpstr>
      <vt:lpstr>Презентация PowerPoint</vt:lpstr>
      <vt:lpstr>Слайд с фото и блоками описания</vt:lpstr>
      <vt:lpstr>Информация с тремя колонками</vt:lpstr>
      <vt:lpstr>Информация с четырьмя колонками</vt:lpstr>
      <vt:lpstr>Как ещё можно разместить</vt:lpstr>
      <vt:lpstr>3 колонки и главная мысль</vt:lpstr>
      <vt:lpstr>Презентация PowerPoint</vt:lpstr>
      <vt:lpstr>Слайды  с фотографиями</vt:lpstr>
      <vt:lpstr>Слайд с фото или скриншотом</vt:lpstr>
      <vt:lpstr>Слайд с двумя фото или скриншотами</vt:lpstr>
      <vt:lpstr>Слайд с тремя фото или скриншотами</vt:lpstr>
      <vt:lpstr>Диаграммы, графики  и таблицы </vt:lpstr>
      <vt:lpstr>Пример круговой диаграммы</vt:lpstr>
      <vt:lpstr>Презентация PowerPoint</vt:lpstr>
      <vt:lpstr>Презентация PowerPoint</vt:lpstr>
      <vt:lpstr>Пример таблицы с выделением ключевой информации</vt:lpstr>
      <vt:lpstr>Как ещё можно изобразить таблицу</vt:lpstr>
      <vt:lpstr>Визуальные элементы Иконки, росчерки</vt:lpstr>
      <vt:lpstr>Иконки двухцветные</vt:lpstr>
      <vt:lpstr>Иконки белые</vt:lpstr>
      <vt:lpstr>Блоки для схем или важной информации</vt:lpstr>
      <vt:lpstr>3D абстрактные фигуры</vt:lpstr>
      <vt:lpstr>Изображения-объекты</vt:lpstr>
      <vt:lpstr>Благодарю 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Черепанова Виктория</cp:lastModifiedBy>
  <cp:revision>212</cp:revision>
  <dcterms:created xsi:type="dcterms:W3CDTF">2020-01-20T06:19:00Z</dcterms:created>
  <dcterms:modified xsi:type="dcterms:W3CDTF">2025-03-10T02:44:05Z</dcterms:modified>
</cp:coreProperties>
</file>