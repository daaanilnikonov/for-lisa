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4.xml"/><Relationship Id="rId24" Type="http://schemas.openxmlformats.org/officeDocument/2006/relationships/slide" Target="slide25.xml"/><Relationship Id="rId25" Type="http://schemas.openxmlformats.org/officeDocument/2006/relationships/slide" Target="slide26.xml"/><Relationship Id="rId26" Type="http://schemas.openxmlformats.org/officeDocument/2006/relationships/slide" Target="slide27.xml"/><Relationship Id="rId27" Type="http://schemas.openxmlformats.org/officeDocument/2006/relationships/slide" Target="slide28.xml"/><Relationship Id="rId28" Type="http://schemas.openxmlformats.org/officeDocument/2006/relationships/slide" Target="slide29.xml"/><Relationship Id="rId29" Type="http://schemas.openxmlformats.org/officeDocument/2006/relationships/slide" Target="slide30.xml"/><Relationship Id="rId30" Type="http://schemas.openxmlformats.org/officeDocument/2006/relationships/slide" Target="slide31.xml"/><Relationship Id="rId31" Type="http://schemas.openxmlformats.org/officeDocument/2006/relationships/slide" Target="slide3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Клуб продавцов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Отработка возражений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 «100 к 1»  ·  командная Своя игра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5 тем  ·  30 кейсов  ·  10 / 30 / 50 / 70 / 100 / 150
Таймер: 1,5 мин (10–50)  ·  2 мин (70–100)  ·  3 мин (150)
При неверном ответе вопрос может перейти другой команде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100 к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кейс  ·  открытые ячейки краснеют  ·  таймер по сложности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13" name="Cell_0_0">
            <a:hlinkClick action="ppaction://hlinksldjump" r:id="rId2"/>
          </p:cNvPr>
          <p:cNvSpPr/>
          <p:nvPr/>
        </p:nvSpPr>
        <p:spPr>
          <a:xfrm>
            <a:off x="274320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" action="ppaction://hlinksldjump"/>
              </a:rPr>
              <a:t>10</a:t>
            </a:r>
          </a:p>
        </p:txBody>
      </p:sp>
      <p:sp>
        <p:nvSpPr>
          <p:cNvPr id="14" name="Cell_0_1">
            <a:hlinkClick action="ppaction://hlinksldjump" r:id="rId3"/>
          </p:cNvPr>
          <p:cNvSpPr/>
          <p:nvPr/>
        </p:nvSpPr>
        <p:spPr>
          <a:xfrm>
            <a:off x="416052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" action="ppaction://hlinksldjump"/>
              </a:rPr>
              <a:t>30</a:t>
            </a:r>
          </a:p>
        </p:txBody>
      </p:sp>
      <p:sp>
        <p:nvSpPr>
          <p:cNvPr id="15" name="Cell_0_2">
            <a:hlinkClick action="ppaction://hlinksldjump" r:id="rId4"/>
          </p:cNvPr>
          <p:cNvSpPr/>
          <p:nvPr/>
        </p:nvSpPr>
        <p:spPr>
          <a:xfrm>
            <a:off x="557784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4" action="ppaction://hlinksldjump"/>
              </a:rPr>
              <a:t>50</a:t>
            </a:r>
          </a:p>
        </p:txBody>
      </p:sp>
      <p:sp>
        <p:nvSpPr>
          <p:cNvPr id="16" name="Cell_0_3">
            <a:hlinkClick action="ppaction://hlinksldjump" r:id="rId5"/>
          </p:cNvPr>
          <p:cNvSpPr/>
          <p:nvPr/>
        </p:nvSpPr>
        <p:spPr>
          <a:xfrm>
            <a:off x="699516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5" action="ppaction://hlinksldjump"/>
              </a:rPr>
              <a:t>70</a:t>
            </a:r>
          </a:p>
        </p:txBody>
      </p:sp>
      <p:sp>
        <p:nvSpPr>
          <p:cNvPr id="17" name="Cell_0_4">
            <a:hlinkClick action="ppaction://hlinksldjump" r:id="rId6"/>
          </p:cNvPr>
          <p:cNvSpPr/>
          <p:nvPr/>
        </p:nvSpPr>
        <p:spPr>
          <a:xfrm>
            <a:off x="841248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6" action="ppaction://hlinksldjump"/>
              </a:rPr>
              <a:t>100</a:t>
            </a:r>
          </a:p>
        </p:txBody>
      </p:sp>
      <p:sp>
        <p:nvSpPr>
          <p:cNvPr id="18" name="Cell_0_5">
            <a:hlinkClick action="ppaction://hlinksldjump" r:id="rId7"/>
          </p:cNvPr>
          <p:cNvSpPr/>
          <p:nvPr/>
        </p:nvSpPr>
        <p:spPr>
          <a:xfrm>
            <a:off x="982980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7" action="ppaction://hlinksldjump"/>
              </a:rPr>
              <a:t>150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72384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20" name="Cell_1_0">
            <a:hlinkClick action="ppaction://hlinksldjump" r:id="rId8"/>
          </p:cNvPr>
          <p:cNvSpPr/>
          <p:nvPr/>
        </p:nvSpPr>
        <p:spPr>
          <a:xfrm>
            <a:off x="274320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8" action="ppaction://hlinksldjump"/>
              </a:rPr>
              <a:t>10</a:t>
            </a:r>
          </a:p>
        </p:txBody>
      </p:sp>
      <p:sp>
        <p:nvSpPr>
          <p:cNvPr id="21" name="Cell_1_1">
            <a:hlinkClick action="ppaction://hlinksldjump" r:id="rId9"/>
          </p:cNvPr>
          <p:cNvSpPr/>
          <p:nvPr/>
        </p:nvSpPr>
        <p:spPr>
          <a:xfrm>
            <a:off x="416052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9" action="ppaction://hlinksldjump"/>
              </a:rPr>
              <a:t>30</a:t>
            </a:r>
          </a:p>
        </p:txBody>
      </p:sp>
      <p:sp>
        <p:nvSpPr>
          <p:cNvPr id="22" name="Cell_1_2">
            <a:hlinkClick action="ppaction://hlinksldjump" r:id="rId10"/>
          </p:cNvPr>
          <p:cNvSpPr/>
          <p:nvPr/>
        </p:nvSpPr>
        <p:spPr>
          <a:xfrm>
            <a:off x="557784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0" action="ppaction://hlinksldjump"/>
              </a:rPr>
              <a:t>50</a:t>
            </a:r>
          </a:p>
        </p:txBody>
      </p:sp>
      <p:sp>
        <p:nvSpPr>
          <p:cNvPr id="23" name="Cell_1_3">
            <a:hlinkClick action="ppaction://hlinksldjump" r:id="rId11"/>
          </p:cNvPr>
          <p:cNvSpPr/>
          <p:nvPr/>
        </p:nvSpPr>
        <p:spPr>
          <a:xfrm>
            <a:off x="699516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1" action="ppaction://hlinksldjump"/>
              </a:rPr>
              <a:t>70</a:t>
            </a:r>
          </a:p>
        </p:txBody>
      </p:sp>
      <p:sp>
        <p:nvSpPr>
          <p:cNvPr id="24" name="Cell_1_4">
            <a:hlinkClick action="ppaction://hlinksldjump" r:id="rId12"/>
          </p:cNvPr>
          <p:cNvSpPr/>
          <p:nvPr/>
        </p:nvSpPr>
        <p:spPr>
          <a:xfrm>
            <a:off x="841248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2" action="ppaction://hlinksldjump"/>
              </a:rPr>
              <a:t>100</a:t>
            </a:r>
          </a:p>
        </p:txBody>
      </p:sp>
      <p:sp>
        <p:nvSpPr>
          <p:cNvPr id="25" name="Cell_1_5">
            <a:hlinkClick action="ppaction://hlinksldjump" r:id="rId13"/>
          </p:cNvPr>
          <p:cNvSpPr/>
          <p:nvPr/>
        </p:nvSpPr>
        <p:spPr>
          <a:xfrm>
            <a:off x="982980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3" action="ppaction://hlinksldjump"/>
              </a:rPr>
              <a:t>150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77056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27" name="Cell_2_0">
            <a:hlinkClick action="ppaction://hlinksldjump" r:id="rId14"/>
          </p:cNvPr>
          <p:cNvSpPr/>
          <p:nvPr/>
        </p:nvSpPr>
        <p:spPr>
          <a:xfrm>
            <a:off x="274320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4" action="ppaction://hlinksldjump"/>
              </a:rPr>
              <a:t>10</a:t>
            </a:r>
          </a:p>
        </p:txBody>
      </p:sp>
      <p:sp>
        <p:nvSpPr>
          <p:cNvPr id="28" name="Cell_2_1">
            <a:hlinkClick action="ppaction://hlinksldjump" r:id="rId15"/>
          </p:cNvPr>
          <p:cNvSpPr/>
          <p:nvPr/>
        </p:nvSpPr>
        <p:spPr>
          <a:xfrm>
            <a:off x="416052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5" action="ppaction://hlinksldjump"/>
              </a:rPr>
              <a:t>30</a:t>
            </a:r>
          </a:p>
        </p:txBody>
      </p:sp>
      <p:sp>
        <p:nvSpPr>
          <p:cNvPr id="29" name="Cell_2_2">
            <a:hlinkClick action="ppaction://hlinksldjump" r:id="rId16"/>
          </p:cNvPr>
          <p:cNvSpPr/>
          <p:nvPr/>
        </p:nvSpPr>
        <p:spPr>
          <a:xfrm>
            <a:off x="557784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6" action="ppaction://hlinksldjump"/>
              </a:rPr>
              <a:t>50</a:t>
            </a:r>
          </a:p>
        </p:txBody>
      </p:sp>
      <p:sp>
        <p:nvSpPr>
          <p:cNvPr id="30" name="Cell_2_3">
            <a:hlinkClick action="ppaction://hlinksldjump" r:id="rId17"/>
          </p:cNvPr>
          <p:cNvSpPr/>
          <p:nvPr/>
        </p:nvSpPr>
        <p:spPr>
          <a:xfrm>
            <a:off x="699516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7" action="ppaction://hlinksldjump"/>
              </a:rPr>
              <a:t>70</a:t>
            </a:r>
          </a:p>
        </p:txBody>
      </p:sp>
      <p:sp>
        <p:nvSpPr>
          <p:cNvPr id="31" name="Cell_2_4">
            <a:hlinkClick action="ppaction://hlinksldjump" r:id="rId18"/>
          </p:cNvPr>
          <p:cNvSpPr/>
          <p:nvPr/>
        </p:nvSpPr>
        <p:spPr>
          <a:xfrm>
            <a:off x="841248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8" action="ppaction://hlinksldjump"/>
              </a:rPr>
              <a:t>100</a:t>
            </a:r>
          </a:p>
        </p:txBody>
      </p:sp>
      <p:sp>
        <p:nvSpPr>
          <p:cNvPr id="32" name="Cell_2_5">
            <a:hlinkClick action="ppaction://hlinksldjump" r:id="rId19"/>
          </p:cNvPr>
          <p:cNvSpPr/>
          <p:nvPr/>
        </p:nvSpPr>
        <p:spPr>
          <a:xfrm>
            <a:off x="982980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9" action="ppaction://hlinksldjump"/>
              </a:rPr>
              <a:t>150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681728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4" name="Cell_3_0">
            <a:hlinkClick action="ppaction://hlinksldjump" r:id="rId20"/>
          </p:cNvPr>
          <p:cNvSpPr/>
          <p:nvPr/>
        </p:nvSpPr>
        <p:spPr>
          <a:xfrm>
            <a:off x="274320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0" action="ppaction://hlinksldjump"/>
              </a:rPr>
              <a:t>10</a:t>
            </a:r>
          </a:p>
        </p:txBody>
      </p:sp>
      <p:sp>
        <p:nvSpPr>
          <p:cNvPr id="35" name="Cell_3_1">
            <a:hlinkClick action="ppaction://hlinksldjump" r:id="rId21"/>
          </p:cNvPr>
          <p:cNvSpPr/>
          <p:nvPr/>
        </p:nvSpPr>
        <p:spPr>
          <a:xfrm>
            <a:off x="416052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1" action="ppaction://hlinksldjump"/>
              </a:rPr>
              <a:t>30</a:t>
            </a:r>
          </a:p>
        </p:txBody>
      </p:sp>
      <p:sp>
        <p:nvSpPr>
          <p:cNvPr id="36" name="Cell_3_2">
            <a:hlinkClick action="ppaction://hlinksldjump" r:id="rId22"/>
          </p:cNvPr>
          <p:cNvSpPr/>
          <p:nvPr/>
        </p:nvSpPr>
        <p:spPr>
          <a:xfrm>
            <a:off x="557784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2" action="ppaction://hlinksldjump"/>
              </a:rPr>
              <a:t>50</a:t>
            </a:r>
          </a:p>
        </p:txBody>
      </p:sp>
      <p:sp>
        <p:nvSpPr>
          <p:cNvPr id="37" name="Cell_3_3">
            <a:hlinkClick action="ppaction://hlinksldjump" r:id="rId23"/>
          </p:cNvPr>
          <p:cNvSpPr/>
          <p:nvPr/>
        </p:nvSpPr>
        <p:spPr>
          <a:xfrm>
            <a:off x="699516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3" action="ppaction://hlinksldjump"/>
              </a:rPr>
              <a:t>70</a:t>
            </a:r>
          </a:p>
        </p:txBody>
      </p:sp>
      <p:sp>
        <p:nvSpPr>
          <p:cNvPr id="38" name="Cell_3_4">
            <a:hlinkClick action="ppaction://hlinksldjump" r:id="rId24"/>
          </p:cNvPr>
          <p:cNvSpPr/>
          <p:nvPr/>
        </p:nvSpPr>
        <p:spPr>
          <a:xfrm>
            <a:off x="841248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4" action="ppaction://hlinksldjump"/>
              </a:rPr>
              <a:t>100</a:t>
            </a:r>
          </a:p>
        </p:txBody>
      </p:sp>
      <p:sp>
        <p:nvSpPr>
          <p:cNvPr id="39" name="Cell_3_5">
            <a:hlinkClick action="ppaction://hlinksldjump" r:id="rId25"/>
          </p:cNvPr>
          <p:cNvSpPr/>
          <p:nvPr/>
        </p:nvSpPr>
        <p:spPr>
          <a:xfrm>
            <a:off x="982980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5" action="ppaction://hlinksldjump"/>
              </a:rPr>
              <a:t>150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48640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41" name="Cell_4_0">
            <a:hlinkClick action="ppaction://hlinksldjump" r:id="rId26"/>
          </p:cNvPr>
          <p:cNvSpPr/>
          <p:nvPr/>
        </p:nvSpPr>
        <p:spPr>
          <a:xfrm>
            <a:off x="274320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6" action="ppaction://hlinksldjump"/>
              </a:rPr>
              <a:t>10</a:t>
            </a:r>
          </a:p>
        </p:txBody>
      </p:sp>
      <p:sp>
        <p:nvSpPr>
          <p:cNvPr id="42" name="Cell_4_1">
            <a:hlinkClick action="ppaction://hlinksldjump" r:id="rId27"/>
          </p:cNvPr>
          <p:cNvSpPr/>
          <p:nvPr/>
        </p:nvSpPr>
        <p:spPr>
          <a:xfrm>
            <a:off x="416052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7" action="ppaction://hlinksldjump"/>
              </a:rPr>
              <a:t>30</a:t>
            </a:r>
          </a:p>
        </p:txBody>
      </p:sp>
      <p:sp>
        <p:nvSpPr>
          <p:cNvPr id="43" name="Cell_4_2">
            <a:hlinkClick action="ppaction://hlinksldjump" r:id="rId28"/>
          </p:cNvPr>
          <p:cNvSpPr/>
          <p:nvPr/>
        </p:nvSpPr>
        <p:spPr>
          <a:xfrm>
            <a:off x="557784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8" action="ppaction://hlinksldjump"/>
              </a:rPr>
              <a:t>50</a:t>
            </a:r>
          </a:p>
        </p:txBody>
      </p:sp>
      <p:sp>
        <p:nvSpPr>
          <p:cNvPr id="44" name="Cell_4_3">
            <a:hlinkClick action="ppaction://hlinksldjump" r:id="rId29"/>
          </p:cNvPr>
          <p:cNvSpPr/>
          <p:nvPr/>
        </p:nvSpPr>
        <p:spPr>
          <a:xfrm>
            <a:off x="699516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9" action="ppaction://hlinksldjump"/>
              </a:rPr>
              <a:t>70</a:t>
            </a:r>
          </a:p>
        </p:txBody>
      </p:sp>
      <p:sp>
        <p:nvSpPr>
          <p:cNvPr id="45" name="Cell_4_4">
            <a:hlinkClick action="ppaction://hlinksldjump" r:id="rId30"/>
          </p:cNvPr>
          <p:cNvSpPr/>
          <p:nvPr/>
        </p:nvSpPr>
        <p:spPr>
          <a:xfrm>
            <a:off x="841248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0" action="ppaction://hlinksldjump"/>
              </a:rPr>
              <a:t>100</a:t>
            </a:r>
          </a:p>
        </p:txBody>
      </p:sp>
      <p:sp>
        <p:nvSpPr>
          <p:cNvPr id="46" name="Cell_4_5">
            <a:hlinkClick action="ppaction://hlinksldjump" r:id="rId31"/>
          </p:cNvPr>
          <p:cNvSpPr/>
          <p:nvPr/>
        </p:nvSpPr>
        <p:spPr>
          <a:xfrm>
            <a:off x="982980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1" action="ppaction://hlinksldjump"/>
              </a:rPr>
              <a:t>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Сеть из трёх розничных магазинов ищет решение для учёта остатков и продаж. Собственник сам на встрече, боль понятная: расхождения по складу и ручные своды в Excel. Вы предложили 1С:Розница / УТ с небольшим проектом внедрения.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«Дорого, мы думали до 50 тысяч».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и приведите к следующему шагу покупки.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Уточнить, из чего сложилась «цифра 50 тыс.»; разложить стоимость (лицензии / работы / сопровождение); показать цену ошибки учёта на 3 магазинах; предложить MVP на одном магазине или этапность.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Производственная компания просит автоматизировать склад и цех: нужны остатки, серии, передача в производство. Есть согласованный интерес у начальника производства.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«В этом году бюджет только на железо, софт — потом».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возражение и приведите к покупке / фиксации сделки.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Связать железо и софт в один эффект (железо без учёта = полка); предложить старт с минимального контура; варианты финансирования (этапы, рассрочка, перенос части в OPEX); зафиксировать слот команды и дорожную карту «железо + 1С».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Торговая компания устала от Excel и хочет перейти на 1С:УТ: продажи, склад, взаиморасчёты. ЛПР — коммерческий директор, сравнил вас с другим интегратором.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«У конкурента нашли предложение на 40% дешевле».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сравнение и доведите до выбора вашего предложения.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Сверить состав работ «яблоко к яблоку» (объём, роли, обучение, гарантия, SLA); показать риски дешёвого внедрения; предложить ценность/этапы, а не войну скидок; дать сравнительную таблицу.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Средний оптовик готов внедрять 1С:УТ, сумма и сроки согласованы. На финале финдир меняет модель оплаты.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«Платим только после запуска в прод, без аванса и без оплаты лицензий до go-live — иначе не подписываем».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условие оплаты и приведите к подписанию договора.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Объяснить, почему лицензии и команда требуют аванса/этапов; предложить поэтапную оплату по вехам (обследование / НФТ / запуск); ограниченный пилот с понятной предоплатой; не брать 100% постфактум.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Крупный клиент хочет 1С и сопровождение на 3 года: развитие, обновления, линия поддержки. Юристы уже в сделке.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«Оплатим только если гарантируете окупаемость; иначе — штраф в договоре».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требование гарантии окупаемости и закройте сделку.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Отделить ответственность за внедрение от бизнес-ROI клиента; предложить KPI проекта (сроки, качество, SLA), а не «штраф за прибыль»; совместный расчёт эффекта; пилот с измеримыми метриками.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Финдиректор холдинга готов автоматизировать закрытие месяца на базе 1С. Без его подписи сделка не двигается.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«Покажите ROI за 6 месяцев цифрами, иначе не подпишу».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Соберите аргументацию ROI и приведите к подписанию.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Запросить исходные цифры (FTE на закрытие, ошибки, пени, дни soft close); построить модель «как есть / как будет»; консервативный сценарий на 6–12 мес.; предложить этап с быстрым эффектом (регламент + отчёты).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ООО хочет электронный документооборот, связанный с 1С: меньше бумаги и ручной разноски. Встреча прошла тепло.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«Напишите КП на почту, мы подумаем».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Не потеряйте сделку на «КП на почту» — доведите до конкретного шага.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Уточнить, что именно сравнят и с кем; предложить короткий созвон разбора КП; зафиксировать дату и критерий решения; добавить в КП следующий шаг (демо/аудит), а не «просто цены».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Оптовая компания хочет мобильных торговых агентов (заказы с планшета в 1С). Сезон высокий, отдел продаж перегружен.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«Сейчас сезон, вернёмся осенью».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Свяжите сезон с ценностью и удержите движение к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 стоимость ручных заказов именно в сезон; предложить лёгкий старт (пилотные агенты); забронировать слот внедрения на спад с предоплатой/договором сейчас.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 демо 1С:ЗУП HR и главбух «за». Вы ждёте решения.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«Надо посоветоваться с командой» — и тишина 10 дней.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Верните контакт и доведите до следующего шага покупки.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Мягкий follow-up с ценностью (не «ну как там?»); выявить, кто ещё в круге решения; предложить мини-встречу с возражениями команды; дать дедлайн по слоту/акции без давления.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Ритейл хочет онлайн-кассы + связку с 1С. Тема горячая из-за требований учёта.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«Сначала переживём проверку, потом софт».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отсрочку «после проверки» и приведите к старту.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Показать, что хаос учёта увеличивает риск на проверке; предложить минимальный контур «быстрых побед» до/параллельно проверке; развести срочное (кассы/чеки) и развитие.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 согласования цены клиент почти готов к 1С, но меняет процесс.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«Сначала сделайте бесплатный аудит всех процессов на 2 недели — и только по результатам решим, покупать или нет».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требование бесплатного аудита и приведите к оплачиваемому шагу.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Сузить аудит до 1–2 процессов / 2–3 дней; сделать его платным с зачётом в проект; дать осязаемый артефакт (карта болей + оценка); не отдавать 2 недели экспертизы «в никуда».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Стратегический клиент на финале выбора вас как интегратора 1С. Устно «всё решили».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«Старт через 9 месяцев, без предоплаты и без брони команды — просто держите нас в уме».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Зафиксируйте обязательства сторон или честно квалифицируйте отказ.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Объяснить стоимость «висящего» слота; предложить договор с отложенным стартом и небольшой фиксацией; календарный hold; иначе — вернуть в pipeline без иллюзии сделки.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Складской учёт «на коленке» в Excel тормозит отгрузки: ошибки, долгие инвентаризации. Кладовщики против перемен.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«Excel нас устраивает, привыкли».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Вскройте боль без атаки на Excel и приведите к демо/пилоту.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Вопросы про стоимость ошибок и время на сверки; кейс «одного дня отгрузки»; предложить пилот на одном складе, не «ломая всё сразу».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с филиалами хочет единую картину по остаткам и продажам. Сейчас у каждого своя локальная логика.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«У нас уже стоит 1С:Бухгалтерия — этого хватит».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Покажите границу БП и необходимость контура УТ/ERP — до продажи.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Отделить регламентированный учёт от операционного; показать, чего БП не закрывает (склады, заказы, филиалы); предложить надстройку/обмен, а не «выбросить БП».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хочет CRM + продажи, связку с 1С. Вчера был другой вендор.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«Нам нарисовали внедрение Битрикс за 2 недели».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«быстрый конкурент» и верните к осознанному выбору.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Спросить про интеграции с 1С, роли, историю, телефонию, права; показать типовые риски «за 2 недели»; предложить сравнительный сценарий под их процесс, не антирекламу.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готов купить лицензии 1С. Деньги на ПО есть, на проект — спорно.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«Только лицензии, без вашего проекта и обучения».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Продайте нужный минимум работ или безопасно отпустите в «только лицензии».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Предупредить о риске «лицензии в стол»; предложить пакет запуска (настройка + обучение 2 дней); письменно зафиксировать границы ответственности при продаже only-license.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Идёт замена текущего интегратора 1С: качество поддержки упало. Формально вас зовут в конкурс.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«Текущий подрядчик — родственник учредителя; формально выбираем вас, фактически — его».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Определите реальность сделки и найдите путь к покупке или выходу.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Квалифицировать: есть ли спонсор сильнее родственника; предложить пилот/SLA с измеримым эффектом; не демпинговать «для галочки»; при политике — вежливый выход с дверью на будущее.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Производство хочет MES-контур на базе 1С (цех, сменно-суточные задания). Технически тема живая.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«Два года назад 1С внедряли — провал, больше не хотим».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травму прошлого внедрения и откройте путь к новой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Разобрать, что именно провалилось (цели, подрядчик, данные, люди); предложить диагностику «почему снова будет иначе»; маленький пилот на одном участке с жёсткими критериями успеха.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рассматривает переход в облачную 1С (1cfresh / частное облако). IT насторожен.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«А вдруг всё упадёт в пятницу вечером?»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Снимите тревогу и доведите до пилота/договора.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SLA, резервное копирование, регламент инцидентов; кейсы доступности; план отката; предложить пилот на некритичной базе.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хочет КЭДО для кадров (заявления, приказы, подпись), интеграция с 1С:ЗУП.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«Данные сотрудников в облако не отдадим».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ИБ-возражение и предложите приемлемую схему покупки.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Варианты on-prem / контур заказчика; правовые основания обработки; разграничение доступа; пилот на одном юрлице; подключить ИБ рано.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Банк/финконтур + 1С: нужны доработки под внутренние политики. КП уже отправлено.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«ИБ не пропустит без доработок, которых у вас в КП нет».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Верните сделку в конструктив: что добавить и как продать доработки.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Запросить чек-лист ИБ; оценить gap-анализ отдельной строкой; не обещать «уже всё есть»; этап «требования ИБ» до финальной сметы.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Федеральная сеть хочет централизованную 1С. Сравнивают подрядчиков.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«Вы работаете только на Иркутск, а Первый Бит — на всю Россию: вы не потянете поддержку 24/7».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статус «локальный» и доведите до пилота/контракта.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Факты: команда, линия, регламент, партнёрская сеть, кейсы удалёнки; предложить SLA и эскалации; пилот на регионе; не оправдываться — продавать управляемость.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согласен смотреть 1С, но ставит условие входа.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«Пилот бесплатно на 3 месяца на всех базах — иначе не смотрим».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Сузьте пилот так, чтобы он продавал, а не разорял — и закройте шаг.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юрлицо / 1 процесс / 2–4 недели; критерии успеха заранее; стоимость пилота с зачётом в проект; отказ от «всех баз бесплатно».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Окологосударственный заказчик хочет 1С через закупку. Юристы жёсткие.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«В договоре — полная материальная ответственность за любой простой и утечку; иначе закупки нет».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Найдите договорную конструкцию, при которой сделка возможна.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Ограничение ответственности / страхование / исключения force majeure; зона ответственности заказчика (инфра, доступы); эскалация к своему юристу; не подписывать безлимит — предложить управляемый риск.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IT просит нормальный контур обновлений и поддержки 1С: сейчас всё держится на одном внутреннем специалисте.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«Надо согласовать с закупками, бухгалтерией и охраной труда — это на месяцы».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Превратите «согласования на месяцы» в управляемый план продажи.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Карта стейкхолдеров и их интересов; короткий one-pager под каждую роль; предложить kick-off на 30 минут со всеми; параллелить, не ждать цепочку.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Главбух хочет ускорить отчётность в 1С и явно ваш сторонник.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«Я не ЛПР, решает директор — и он недоступен».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Используйте чемпиона и доберите доступ к ЛПР / решение.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Попросить интро/слот у директора; дать главбуху «скрипт ценности» на 5 минут; письмо от вас + от неё; альтернатива — короткий созвон в окне директора.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Руководитель продаж хочет воронку и дисциплину сделок в 1С/CRM.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«IT против любого нового вендора».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блок IT и приведите к совместному решению о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Выяснить реальные страхи IT (интеграции, безопасность, нагрузка); пригласить IT на демо с их чек-листом; продавать архитектуру и сопровождение, не только «хотелки продаж».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Собственник хочет прозрачную финмодель и управленку на 1С.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«Финдир и IT тянут в разные решения и блокируют друг друга».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Сведите стороны к одному решению и движению к договору.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Фасилитирующая встреча с повесткой критериев выбора; матрица требований фин/IT; роль собственника как арбитра; PoC под общие KPI.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сути вы уже выиграли: вас хвалят, объём понятен. Но всё уходит в формальный тендер.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«По регламенту победит тот, у кого ниже цена в конверте».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Усильте неценовые критерии и сохраните шанс на победу/сделку.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Помочь заказчику заложить качество, SLA, опыт, сроки в критерии; разбить лоты; ТЗ, где демпинг опасен; параллельно — ценность для ЛПР.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778240" cy="3063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Договор почти подписан, предоплата согласована.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Возражение: «Наш внутренний спонсор уволился вчера; новый директор всё ставит на паузу».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За 48 часов спасите сделку или пересоберите цикл продажи.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877824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Срочно найти нового спонсора/влиятельных союзников; brief для нового директора (проблема→эффект→статус); предложить паузу с рамками, не исчезновение; мини-демо ценности под его KPI.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FFFFFF"/>
      </a:hlink>
      <a:folHlink>
        <a:srgbClr val="C0392B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