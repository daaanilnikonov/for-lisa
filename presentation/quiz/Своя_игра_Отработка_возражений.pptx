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Шафрановый шаблон" id="{FBFB8EBD-73BD-4F84-9F02-556D73907D89}">
          <p14:sldIdLst>
            <p14:sldId id="277"/>
            <p14:sldId id="297"/>
            <p14:sldId id="296"/>
            <p14:sldId id="278"/>
            <p14:sldId id="295"/>
            <p14:sldId id="309"/>
            <p14:sldId id="310"/>
            <p14:sldId id="319"/>
            <p14:sldId id="318"/>
            <p14:sldId id="314"/>
            <p14:sldId id="271"/>
            <p14:sldId id="261"/>
            <p14:sldId id="294"/>
            <p14:sldId id="279"/>
            <p14:sldId id="280"/>
            <p14:sldId id="290"/>
            <p14:sldId id="281"/>
            <p14:sldId id="291"/>
            <p14:sldId id="300"/>
            <p14:sldId id="298"/>
            <p14:sldId id="299"/>
            <p14:sldId id="306"/>
            <p14:sldId id="292"/>
            <p14:sldId id="293"/>
            <p14:sldId id="308"/>
            <p14:sldId id="313"/>
            <p14:sldId id="316"/>
            <p14:sldId id="303"/>
            <p14:sldId id="272"/>
            <p14:sldId id="273"/>
            <p14:sldId id="305"/>
            <p14:sldId id="304"/>
            <p14:sldId id="258"/>
            <p14:sldId id="259"/>
            <p14:sldId id="260"/>
            <p14:sldId id="282"/>
            <p14:sldId id="307"/>
            <p14:sldId id="284"/>
            <p14:sldId id="301"/>
            <p14:sldId id="285"/>
            <p14:sldId id="288"/>
            <p14:sldId id="315"/>
            <p14:sldId id="320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F66"/>
    <a:srgbClr val="D64A4A"/>
    <a:srgbClr val="385E75"/>
    <a:srgbClr val="F7D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6395" autoAdjust="0"/>
  </p:normalViewPr>
  <p:slideViewPr>
    <p:cSldViewPr snapToGrid="0">
      <p:cViewPr varScale="1">
        <p:scale>
          <a:sx n="101" d="100"/>
          <a:sy n="101" d="100"/>
        </p:scale>
        <p:origin x="882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2406" y="-54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78FD9-E883-405F-84A7-48BE6C1C4639}" type="datetimeFigureOut">
              <a:rPr lang="ru-RU" smtClean="0"/>
              <a:t>10.03.2025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83DF0-6FC0-4BAF-9BAA-AC3E7DD339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4204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F1DD30-20F5-456A-A91D-5E5E2AE4E96B}" type="datetimeFigureOut">
              <a:rPr lang="ru-RU" smtClean="0"/>
              <a:t>10.03.2025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AD6420-324F-4B35-AE1D-31198132C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850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74713" y="1592673"/>
            <a:ext cx="6084889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5452140"/>
            <a:ext cx="608488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4866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74713" y="3215147"/>
            <a:ext cx="9891610" cy="208186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5297013"/>
            <a:ext cx="989160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108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CBBFDCD-7D7F-4B80-B8B1-819A1E32F0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3215147"/>
            <a:ext cx="9891610" cy="208186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43FBD1AF-C1AA-4706-8044-A437628082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4" y="5297013"/>
            <a:ext cx="989160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5648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"/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3BC5D02F-6A7F-488D-8863-2E7D5E916A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970EFF6-2A86-47BF-957F-C7B6C538C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4582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7519A18-1BF8-4938-AEC3-A77314E50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D8AD4F86-5FE3-446D-8780-CDA879DFF7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0593BBA2-AC45-42A4-9428-FC5859BB9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776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BFBC993-7CB7-4F97-9604-69040108A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71CA5DEB-4E80-4943-910F-68B80795D7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96E871B4-AA94-4D4E-9BBB-98632F8FC5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1281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фон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B0A5662A-3631-4B64-9763-487A6E3AD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CED77CCE-A060-47D9-A7C0-7E698FE03F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84624F-C505-4ADC-B9EB-36ABDDDDD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5321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фон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16A866A-C7E4-46BE-B9A8-81C97693C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6EE71620-56CC-413D-BC0A-00E91094C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0E8E5EB6-08F5-41BA-A4BA-A663A9CFB4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42865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нумерованный список в 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5865430" y="1129630"/>
            <a:ext cx="5415345" cy="4330604"/>
          </a:xfrm>
        </p:spPr>
        <p:txBody>
          <a:bodyPr lIns="0" tIns="0" rIns="0" bIns="0" anchor="t" anchorCtr="0">
            <a:normAutofit/>
          </a:bodyPr>
          <a:lstStyle>
            <a:lvl1pPr marL="342900" indent="-342900">
              <a:buFont typeface="+mj-lt"/>
              <a:buAutoNum type="arabicPeriod"/>
              <a:defRPr sz="1800" b="0" baseline="0"/>
            </a:lvl1pPr>
          </a:lstStyle>
          <a:p>
            <a:pPr lvl="0"/>
            <a:r>
              <a:rPr lang="ru-RU" dirty="0"/>
              <a:t>Первый пункт</a:t>
            </a:r>
          </a:p>
          <a:p>
            <a:pPr lvl="0"/>
            <a:r>
              <a:rPr lang="ru-RU" dirty="0"/>
              <a:t>Второй пункт </a:t>
            </a:r>
          </a:p>
          <a:p>
            <a:pPr lvl="0"/>
            <a:r>
              <a:rPr lang="ru-RU" dirty="0"/>
              <a:t>Третий пункт 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EE474C4-81A0-46FC-BFAC-275D8A403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963647"/>
            <a:ext cx="4620740" cy="2467616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3CAE1B9-25FF-48B5-A049-B9DC3BEF1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276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маркированный спис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32A7D44-323D-47D5-A9F0-01D4A9E8A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7132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E477ECF-E540-4493-B86E-B873B16EA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6149728-8AE4-4B5A-97C2-EA2E3AC92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  <a:defRPr sz="1800" b="0"/>
            </a:lvl1pPr>
            <a:lvl2pPr marL="742950" indent="-285750">
              <a:buClr>
                <a:schemeClr val="accent1"/>
              </a:buClr>
              <a:buFont typeface="Verdana" panose="020B0604030504040204" pitchFamily="34" charset="0"/>
              <a:buChar char="–"/>
              <a:defRPr sz="1800" b="0"/>
            </a:lvl2pPr>
          </a:lstStyle>
          <a:p>
            <a:pPr lvl="0"/>
            <a:r>
              <a:rPr lang="ru-RU" dirty="0"/>
              <a:t>Первая позиция в списке</a:t>
            </a:r>
          </a:p>
          <a:p>
            <a:pPr lvl="0"/>
            <a:r>
              <a:rPr lang="ru-RU" dirty="0"/>
              <a:t>Вторая позиция в списке</a:t>
            </a:r>
          </a:p>
          <a:p>
            <a:pPr lvl="0"/>
            <a:r>
              <a:rPr lang="ru-RU" dirty="0"/>
              <a:t>Третья позиция в списке</a:t>
            </a:r>
          </a:p>
          <a:p>
            <a:pPr lvl="1"/>
            <a:r>
              <a:rPr lang="ru-RU" dirty="0"/>
              <a:t>Второй уровень списка</a:t>
            </a:r>
          </a:p>
          <a:p>
            <a:pPr lvl="1"/>
            <a:r>
              <a:rPr lang="ru-RU" dirty="0"/>
              <a:t>Еще строчка</a:t>
            </a:r>
          </a:p>
        </p:txBody>
      </p:sp>
    </p:spTree>
    <p:extLst>
      <p:ext uri="{BB962C8B-B14F-4D97-AF65-F5344CB8AC3E}">
        <p14:creationId xmlns:p14="http://schemas.microsoft.com/office/powerpoint/2010/main" val="2728259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маркированный список в 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D56FE66-88BE-40AA-AAA9-8DDD1F2AD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891219"/>
            <a:ext cx="4620740" cy="2467616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617602DF-5256-4FDD-94C1-5B638A446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133A49C5-51F3-4E68-A259-6E5B7AC4F3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59776" y="1047774"/>
            <a:ext cx="5517823" cy="4527457"/>
          </a:xfrm>
        </p:spPr>
        <p:txBody>
          <a:bodyPr lIns="0" tIns="0" rIns="0" bIns="0" anchor="t" anchorCtr="0">
            <a:normAutofit/>
          </a:bodyPr>
          <a:lstStyle>
            <a:lvl1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  <a:defRPr sz="1800" b="0"/>
            </a:lvl1pPr>
            <a:lvl2pPr marL="742950" indent="-285750">
              <a:buClr>
                <a:schemeClr val="accent1"/>
              </a:buClr>
              <a:buFont typeface="Verdana" panose="020B0604030504040204" pitchFamily="34" charset="0"/>
              <a:buChar char="–"/>
              <a:defRPr sz="1800" b="0"/>
            </a:lvl2pPr>
          </a:lstStyle>
          <a:p>
            <a:pPr lvl="0"/>
            <a:r>
              <a:rPr lang="ru-RU" dirty="0"/>
              <a:t>Первая позиция в списке</a:t>
            </a:r>
          </a:p>
          <a:p>
            <a:pPr lvl="0"/>
            <a:r>
              <a:rPr lang="ru-RU" dirty="0"/>
              <a:t>Вторая позиция в списке</a:t>
            </a:r>
          </a:p>
          <a:p>
            <a:pPr lvl="0"/>
            <a:r>
              <a:rPr lang="ru-RU" dirty="0"/>
              <a:t>Третья позиция в списке</a:t>
            </a:r>
          </a:p>
          <a:p>
            <a:pPr lvl="1"/>
            <a:r>
              <a:rPr lang="ru-RU" dirty="0"/>
              <a:t>Второй уровень списка</a:t>
            </a:r>
          </a:p>
          <a:p>
            <a:pPr lvl="1"/>
            <a:r>
              <a:rPr lang="ru-RU" dirty="0"/>
              <a:t>Еще строчка</a:t>
            </a:r>
          </a:p>
        </p:txBody>
      </p:sp>
    </p:spTree>
    <p:extLst>
      <p:ext uri="{BB962C8B-B14F-4D97-AF65-F5344CB8AC3E}">
        <p14:creationId xmlns:p14="http://schemas.microsoft.com/office/powerpoint/2010/main" val="1270566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справ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7697" y="762915"/>
            <a:ext cx="4943168" cy="4645025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2"/>
          <p:cNvSpPr>
            <a:spLocks noGrp="1"/>
          </p:cNvSpPr>
          <p:nvPr>
            <p:ph idx="1" hasCustomPrompt="1"/>
          </p:nvPr>
        </p:nvSpPr>
        <p:spPr>
          <a:xfrm>
            <a:off x="6381135" y="762915"/>
            <a:ext cx="4943168" cy="4633911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C523A1-EB68-423D-8F90-63E750B7F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0566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65238" y="3215148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01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E183D238-B879-455A-91BE-5DFBD2E39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9279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 с цифрой_0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6">
            <a:extLst>
              <a:ext uri="{FF2B5EF4-FFF2-40B4-BE49-F238E27FC236}">
                <a16:creationId xmlns:a16="http://schemas.microsoft.com/office/drawing/2014/main" id="{F0DFD439-0271-4EDC-9E88-A8C8A5616F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92159" y="478202"/>
            <a:ext cx="4896950" cy="2806239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buFontTx/>
              <a:buNone/>
              <a:defRPr lang="ru-RU" sz="25000" b="1" kern="1200" baseline="0" dirty="0">
                <a:solidFill>
                  <a:schemeClr val="bg1"/>
                </a:solidFill>
                <a:latin typeface="Stolzl" panose="00000500000000000000" pitchFamily="50" charset="-52"/>
                <a:ea typeface="+mj-ea"/>
                <a:cs typeface="+mj-cs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94DF25D-F3E4-4185-AB33-DAD8419C2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3820562"/>
            <a:ext cx="5948517" cy="2200826"/>
          </a:xfrm>
        </p:spPr>
        <p:txBody>
          <a:bodyPr anchor="b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02</a:t>
            </a:r>
          </a:p>
        </p:txBody>
      </p:sp>
      <p:sp>
        <p:nvSpPr>
          <p:cNvPr id="9" name="Текст 6">
            <a:extLst>
              <a:ext uri="{FF2B5EF4-FFF2-40B4-BE49-F238E27FC236}">
                <a16:creationId xmlns:a16="http://schemas.microsoft.com/office/drawing/2014/main" id="{7E9D0740-1D71-4366-99A6-C672EF2E21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52852" y="4621161"/>
            <a:ext cx="3195484" cy="1400227"/>
          </a:xfrm>
        </p:spPr>
        <p:txBody>
          <a:bodyPr lIns="0" tIns="0" rIns="0" bIns="0" anchor="b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47C20D37-BE6F-4F7A-B249-94EC22728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97763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397B02E-0E06-4105-94D2-12E74FD1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6021388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1E35BC-10AD-412F-9067-A83FD57EC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2988811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03</a:t>
            </a:r>
          </a:p>
        </p:txBody>
      </p:sp>
    </p:spTree>
    <p:extLst>
      <p:ext uri="{BB962C8B-B14F-4D97-AF65-F5344CB8AC3E}">
        <p14:creationId xmlns:p14="http://schemas.microsoft.com/office/powerpoint/2010/main" val="1368503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зделитель_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397B02E-0E06-4105-94D2-12E74FD1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6021388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1E35BC-10AD-412F-9067-A83FD57EC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2988811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04</a:t>
            </a:r>
          </a:p>
        </p:txBody>
      </p:sp>
    </p:spTree>
    <p:extLst>
      <p:ext uri="{BB962C8B-B14F-4D97-AF65-F5344CB8AC3E}">
        <p14:creationId xmlns:p14="http://schemas.microsoft.com/office/powerpoint/2010/main" val="218966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иаграмм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8835461" y="1534625"/>
            <a:ext cx="2442137" cy="4179272"/>
          </a:xfrm>
        </p:spPr>
        <p:txBody>
          <a:bodyPr anchor="ctr" anchorCtr="0">
            <a:normAutofit/>
          </a:bodyPr>
          <a:lstStyle>
            <a:lvl1pPr>
              <a:defRPr sz="1400" b="0"/>
            </a:lvl1pPr>
            <a:lvl4pPr>
              <a:defRPr/>
            </a:lvl4pPr>
          </a:lstStyle>
          <a:p>
            <a:pPr lvl="0"/>
            <a:r>
              <a:rPr lang="ru-RU" dirty="0"/>
              <a:t>Описание диаграммы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84902" y="1543169"/>
            <a:ext cx="7771376" cy="4179273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F821131-241D-4D09-AE09-799B29595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63282"/>
            <a:ext cx="10392696" cy="954310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F46BE731-9096-4039-BF9A-727DEA4B2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0766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круговая диаграмм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6343436" y="441325"/>
            <a:ext cx="4938367" cy="1552267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75071" y="441325"/>
            <a:ext cx="4973493" cy="5097156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idx="1" hasCustomPrompt="1"/>
          </p:nvPr>
        </p:nvSpPr>
        <p:spPr>
          <a:xfrm>
            <a:off x="6341806" y="2298393"/>
            <a:ext cx="4940197" cy="324008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E1FE05CB-6EF4-4FF8-B36B-867271E4E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12205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390967" y="1595563"/>
            <a:ext cx="4886631" cy="4045156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84902" y="1595564"/>
            <a:ext cx="4886631" cy="4045156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11C23E-56A6-4164-B8FF-F10658F2B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7F2573-AD9D-448A-A476-45D5ECB21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77090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0" y="2489588"/>
            <a:ext cx="5196348" cy="31852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880704" y="1614516"/>
            <a:ext cx="5005388" cy="4060364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6096000" y="1614516"/>
            <a:ext cx="5196348" cy="7159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75CD4B1-F30F-4145-BA27-A319BB47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52264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5CEB1CE-04E3-42BD-8823-F5452F1C4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14414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Рисунка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90535" y="4965411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890535" y="1514633"/>
            <a:ext cx="4782677" cy="2890556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890535" y="4536785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4" name="Текст 3"/>
          <p:cNvSpPr>
            <a:spLocks noGrp="1"/>
          </p:cNvSpPr>
          <p:nvPr>
            <p:ph type="body" sz="half" idx="16"/>
          </p:nvPr>
        </p:nvSpPr>
        <p:spPr>
          <a:xfrm>
            <a:off x="6518788" y="4965410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Рисунок 8"/>
          <p:cNvSpPr>
            <a:spLocks noGrp="1"/>
          </p:cNvSpPr>
          <p:nvPr>
            <p:ph type="pic" sz="quarter" idx="17"/>
          </p:nvPr>
        </p:nvSpPr>
        <p:spPr>
          <a:xfrm>
            <a:off x="6518788" y="1504646"/>
            <a:ext cx="4782677" cy="2900543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518788" y="4536784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981AEDAF-55A9-4E1C-8323-359C0D961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8FFC0EE2-1895-4B1F-A00C-1F2A313BE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42656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3"/>
          <p:cNvSpPr>
            <a:spLocks noGrp="1"/>
          </p:cNvSpPr>
          <p:nvPr>
            <p:ph type="body" sz="half" idx="2"/>
          </p:nvPr>
        </p:nvSpPr>
        <p:spPr>
          <a:xfrm>
            <a:off x="891280" y="5127584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891280" y="4594184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6"/>
          </p:nvPr>
        </p:nvSpPr>
        <p:spPr>
          <a:xfrm>
            <a:off x="888105" y="1527246"/>
            <a:ext cx="4931385" cy="3004751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0" name="Текст 3"/>
          <p:cNvSpPr>
            <a:spLocks noGrp="1"/>
          </p:cNvSpPr>
          <p:nvPr>
            <p:ph type="body" sz="half" idx="17"/>
          </p:nvPr>
        </p:nvSpPr>
        <p:spPr>
          <a:xfrm>
            <a:off x="6349420" y="5115850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349420" y="4582450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7" name="Объект 3"/>
          <p:cNvSpPr>
            <a:spLocks noGrp="1"/>
          </p:cNvSpPr>
          <p:nvPr>
            <p:ph sz="half" idx="19"/>
          </p:nvPr>
        </p:nvSpPr>
        <p:spPr>
          <a:xfrm>
            <a:off x="6346213" y="1514593"/>
            <a:ext cx="4931385" cy="3004751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131546B-EEAC-45C2-AD58-2686120E4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54BC83B1-EA69-458C-93CC-D83700FA6A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25075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53E90FC-F950-4C4B-B0F4-B43F9D7D1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50781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следн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3429000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4" y="4588768"/>
            <a:ext cx="3770313" cy="628650"/>
          </a:xfrm>
        </p:spPr>
        <p:txBody>
          <a:bodyPr>
            <a:normAutofit/>
          </a:bodyPr>
          <a:lstStyle>
            <a:lvl1pPr>
              <a:defRPr sz="1800" b="0" baseline="0"/>
            </a:lvl1pPr>
          </a:lstStyle>
          <a:p>
            <a:pPr lvl="0"/>
            <a:r>
              <a:rPr lang="ru-RU" dirty="0"/>
              <a:t>Телефон / эл. почта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CED1720-7802-4704-90FA-E302964951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5137432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следн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3" y="3429000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4588768"/>
            <a:ext cx="3770313" cy="628650"/>
          </a:xfrm>
        </p:spPr>
        <p:txBody>
          <a:bodyPr>
            <a:normAutofit/>
          </a:bodyPr>
          <a:lstStyle>
            <a:lvl1pPr>
              <a:defRPr sz="1800" b="0" baseline="0"/>
            </a:lvl1pPr>
          </a:lstStyle>
          <a:p>
            <a:pPr lvl="0"/>
            <a:r>
              <a:rPr lang="ru-RU" dirty="0"/>
              <a:t>Телефон / эл. почта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EA4524E-AC81-4F4C-AAE2-A4D98451D4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67526620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47800" y="1376363"/>
            <a:ext cx="4252913" cy="463391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456363" y="1376363"/>
            <a:ext cx="4287836" cy="4633912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6DD18E-EC18-44A1-8713-A3D5410D0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2474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50" r:id="rId4"/>
    <p:sldLayoutId id="2147483694" r:id="rId5"/>
    <p:sldLayoutId id="2147483695" r:id="rId6"/>
    <p:sldLayoutId id="2147483706" r:id="rId7"/>
    <p:sldLayoutId id="2147483686" r:id="rId8"/>
    <p:sldLayoutId id="2147483704" r:id="rId9"/>
    <p:sldLayoutId id="2147483688" r:id="rId10"/>
    <p:sldLayoutId id="2147483705" r:id="rId11"/>
    <p:sldLayoutId id="2147483665" r:id="rId12"/>
    <p:sldLayoutId id="2147483677" r:id="rId13"/>
    <p:sldLayoutId id="2147483697" r:id="rId14"/>
    <p:sldLayoutId id="2147483698" r:id="rId15"/>
    <p:sldLayoutId id="2147483707" r:id="rId16"/>
    <p:sldLayoutId id="2147483672" r:id="rId17"/>
    <p:sldLayoutId id="2147483671" r:id="rId18"/>
    <p:sldLayoutId id="2147483652" r:id="rId19"/>
    <p:sldLayoutId id="2147483703" r:id="rId20"/>
    <p:sldLayoutId id="2147483675" r:id="rId21"/>
    <p:sldLayoutId id="2147483676" r:id="rId22"/>
    <p:sldLayoutId id="2147483666" r:id="rId23"/>
    <p:sldLayoutId id="2147483701" r:id="rId24"/>
    <p:sldLayoutId id="2147483684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1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b="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310" userDrawn="1">
          <p15:clr>
            <a:srgbClr val="F26B43"/>
          </p15:clr>
        </p15:guide>
        <p15:guide id="17" pos="370" userDrawn="1">
          <p15:clr>
            <a:srgbClr val="F26B43"/>
          </p15:clr>
        </p15:guide>
        <p15:guide id="20" orient="horz" pos="4042" userDrawn="1">
          <p15:clr>
            <a:srgbClr val="F26B43"/>
          </p15:clr>
        </p15:guide>
        <p15:guide id="21" orient="horz" pos="278" userDrawn="1">
          <p15:clr>
            <a:srgbClr val="F26B43"/>
          </p15:clr>
        </p15:guide>
        <p15:guide id="22" pos="551" userDrawn="1">
          <p15:clr>
            <a:srgbClr val="F26B43"/>
          </p15:clr>
        </p15:guide>
        <p15:guide id="23" pos="710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1.xml"/><Relationship Id="rId11" Type="http://schemas.openxmlformats.org/officeDocument/2006/relationships/slide" Target="slide12.xml"/><Relationship Id="rId12" Type="http://schemas.openxmlformats.org/officeDocument/2006/relationships/slide" Target="slide13.xml"/><Relationship Id="rId13" Type="http://schemas.openxmlformats.org/officeDocument/2006/relationships/slide" Target="slide14.xml"/><Relationship Id="rId14" Type="http://schemas.openxmlformats.org/officeDocument/2006/relationships/slide" Target="slide15.xml"/><Relationship Id="rId15" Type="http://schemas.openxmlformats.org/officeDocument/2006/relationships/slide" Target="slide16.xml"/><Relationship Id="rId16" Type="http://schemas.openxmlformats.org/officeDocument/2006/relationships/slide" Target="slide17.xml"/><Relationship Id="rId17" Type="http://schemas.openxmlformats.org/officeDocument/2006/relationships/slide" Target="slide18.xml"/><Relationship Id="rId18" Type="http://schemas.openxmlformats.org/officeDocument/2006/relationships/slide" Target="slide19.xml"/><Relationship Id="rId19" Type="http://schemas.openxmlformats.org/officeDocument/2006/relationships/slide" Target="slide20.xml"/><Relationship Id="rId20" Type="http://schemas.openxmlformats.org/officeDocument/2006/relationships/slide" Target="slide21.xml"/><Relationship Id="rId21" Type="http://schemas.openxmlformats.org/officeDocument/2006/relationships/slide" Target="slide2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Relationship Id="rId3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Relationship Id="rId3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Relationship Id="rId3" Type="http://schemas.openxmlformats.org/officeDocument/2006/relationships/slide" Target="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Relationship Id="rId3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Клуб продавцов</a:t>
            </a:r>
          </a:p>
          <a:p>
            <a:pPr>
              <a:spcBef>
                <a:spcPts val="800"/>
              </a:spcBef>
            </a:pPr>
            <a:r>
              <a:rPr sz="3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Отработка возражений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Формат «Своя игра»  ·  командная работа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3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5 тем  ·  30 кейсов  ·  10 / 30 / 50 / 70 / 100 / 150
Таймер: 1,5 мин (10–50)  ·  2 мин (70–100)  ·  3 мин (150)
При неверном ответе вопрос может перейти другой команде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Игровое поле  ·  Своя игра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Клик по баллам → кейс  ·  открытые ячейки краснеют  ·  таймер по сложности  ·  «К полю» — назад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788920" cy="804672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Тема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4136" y="1417320"/>
            <a:ext cx="1874519" cy="804672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76671" y="1417320"/>
            <a:ext cx="1874519" cy="804672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79206" y="1417320"/>
            <a:ext cx="1874519" cy="804672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81741" y="1417320"/>
            <a:ext cx="1874519" cy="804672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31720"/>
            <a:ext cx="2788920" cy="804672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Цена и бюджет</a:t>
            </a:r>
          </a:p>
        </p:txBody>
      </p:sp>
      <p:sp>
        <p:nvSpPr>
          <p:cNvPr id="11" name="Cell_0_0">
            <a:hlinkClick action="ppaction://hlinksldjump" r:id="rId2"/>
          </p:cNvPr>
          <p:cNvSpPr/>
          <p:nvPr/>
        </p:nvSpPr>
        <p:spPr>
          <a:xfrm>
            <a:off x="3374136" y="23317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" action="ppaction://hlinksldjump"/>
              </a:rPr>
              <a:t>30</a:t>
            </a:r>
          </a:p>
        </p:txBody>
      </p:sp>
      <p:sp>
        <p:nvSpPr>
          <p:cNvPr id="12" name="Cell_0_1">
            <a:hlinkClick action="ppaction://hlinksldjump" r:id="rId3"/>
          </p:cNvPr>
          <p:cNvSpPr/>
          <p:nvPr/>
        </p:nvSpPr>
        <p:spPr>
          <a:xfrm>
            <a:off x="5376671" y="23317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3" action="ppaction://hlinksldjump"/>
              </a:rPr>
              <a:t>70</a:t>
            </a:r>
          </a:p>
        </p:txBody>
      </p:sp>
      <p:sp>
        <p:nvSpPr>
          <p:cNvPr id="13" name="Cell_0_2">
            <a:hlinkClick action="ppaction://hlinksldjump" r:id="rId4"/>
          </p:cNvPr>
          <p:cNvSpPr/>
          <p:nvPr/>
        </p:nvSpPr>
        <p:spPr>
          <a:xfrm>
            <a:off x="7379206" y="23317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4" action="ppaction://hlinksldjump"/>
              </a:rPr>
              <a:t>100</a:t>
            </a:r>
          </a:p>
        </p:txBody>
      </p:sp>
      <p:sp>
        <p:nvSpPr>
          <p:cNvPr id="14" name="Cell_0_3">
            <a:hlinkClick action="ppaction://hlinksldjump" r:id="rId5"/>
          </p:cNvPr>
          <p:cNvSpPr/>
          <p:nvPr/>
        </p:nvSpPr>
        <p:spPr>
          <a:xfrm>
            <a:off x="9381741" y="23317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5" action="ppaction://hlinksldjump"/>
              </a:rPr>
              <a:t>150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46120"/>
            <a:ext cx="2788920" cy="804672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 сейчас / подумаем</a:t>
            </a:r>
          </a:p>
        </p:txBody>
      </p:sp>
      <p:sp>
        <p:nvSpPr>
          <p:cNvPr id="16" name="Cell_1_0">
            <a:hlinkClick action="ppaction://hlinksldjump" r:id="rId6"/>
          </p:cNvPr>
          <p:cNvSpPr/>
          <p:nvPr/>
        </p:nvSpPr>
        <p:spPr>
          <a:xfrm>
            <a:off x="3374136" y="32461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6" action="ppaction://hlinksldjump"/>
              </a:rPr>
              <a:t>30</a:t>
            </a:r>
          </a:p>
        </p:txBody>
      </p:sp>
      <p:sp>
        <p:nvSpPr>
          <p:cNvPr id="17" name="Cell_1_1">
            <a:hlinkClick action="ppaction://hlinksldjump" r:id="rId7"/>
          </p:cNvPr>
          <p:cNvSpPr/>
          <p:nvPr/>
        </p:nvSpPr>
        <p:spPr>
          <a:xfrm>
            <a:off x="5376671" y="32461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7" action="ppaction://hlinksldjump"/>
              </a:rPr>
              <a:t>70</a:t>
            </a:r>
          </a:p>
        </p:txBody>
      </p:sp>
      <p:sp>
        <p:nvSpPr>
          <p:cNvPr id="18" name="Cell_1_2">
            <a:hlinkClick action="ppaction://hlinksldjump" r:id="rId8"/>
          </p:cNvPr>
          <p:cNvSpPr/>
          <p:nvPr/>
        </p:nvSpPr>
        <p:spPr>
          <a:xfrm>
            <a:off x="7379206" y="32461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8" action="ppaction://hlinksldjump"/>
              </a:rPr>
              <a:t>100</a:t>
            </a:r>
          </a:p>
        </p:txBody>
      </p:sp>
      <p:sp>
        <p:nvSpPr>
          <p:cNvPr id="19" name="Cell_1_3">
            <a:hlinkClick action="ppaction://hlinksldjump" r:id="rId9"/>
          </p:cNvPr>
          <p:cNvSpPr/>
          <p:nvPr/>
        </p:nvSpPr>
        <p:spPr>
          <a:xfrm>
            <a:off x="9381741" y="32461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9" action="ppaction://hlinksldjump"/>
              </a:rPr>
              <a:t>150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160520"/>
            <a:ext cx="2788920" cy="804672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Уже есть компания / конкурент</a:t>
            </a:r>
          </a:p>
        </p:txBody>
      </p:sp>
      <p:sp>
        <p:nvSpPr>
          <p:cNvPr id="21" name="Cell_2_0">
            <a:hlinkClick action="ppaction://hlinksldjump" r:id="rId10"/>
          </p:cNvPr>
          <p:cNvSpPr/>
          <p:nvPr/>
        </p:nvSpPr>
        <p:spPr>
          <a:xfrm>
            <a:off x="3374136" y="41605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0" action="ppaction://hlinksldjump"/>
              </a:rPr>
              <a:t>30</a:t>
            </a:r>
          </a:p>
        </p:txBody>
      </p:sp>
      <p:sp>
        <p:nvSpPr>
          <p:cNvPr id="22" name="Cell_2_1">
            <a:hlinkClick action="ppaction://hlinksldjump" r:id="rId11"/>
          </p:cNvPr>
          <p:cNvSpPr/>
          <p:nvPr/>
        </p:nvSpPr>
        <p:spPr>
          <a:xfrm>
            <a:off x="5376671" y="41605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1" action="ppaction://hlinksldjump"/>
              </a:rPr>
              <a:t>70</a:t>
            </a:r>
          </a:p>
        </p:txBody>
      </p:sp>
      <p:sp>
        <p:nvSpPr>
          <p:cNvPr id="23" name="Cell_2_2">
            <a:hlinkClick action="ppaction://hlinksldjump" r:id="rId12"/>
          </p:cNvPr>
          <p:cNvSpPr/>
          <p:nvPr/>
        </p:nvSpPr>
        <p:spPr>
          <a:xfrm>
            <a:off x="7379206" y="41605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2" action="ppaction://hlinksldjump"/>
              </a:rPr>
              <a:t>100</a:t>
            </a:r>
          </a:p>
        </p:txBody>
      </p:sp>
      <p:sp>
        <p:nvSpPr>
          <p:cNvPr id="24" name="Cell_2_3">
            <a:hlinkClick action="ppaction://hlinksldjump" r:id="rId13"/>
          </p:cNvPr>
          <p:cNvSpPr/>
          <p:nvPr/>
        </p:nvSpPr>
        <p:spPr>
          <a:xfrm>
            <a:off x="9381741" y="41605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3" action="ppaction://hlinksldjump"/>
              </a:rPr>
              <a:t>150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074920"/>
            <a:ext cx="2788920" cy="804672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Риски и доверие</a:t>
            </a:r>
          </a:p>
        </p:txBody>
      </p:sp>
      <p:sp>
        <p:nvSpPr>
          <p:cNvPr id="26" name="Cell_3_0">
            <a:hlinkClick action="ppaction://hlinksldjump" r:id="rId14"/>
          </p:cNvPr>
          <p:cNvSpPr/>
          <p:nvPr/>
        </p:nvSpPr>
        <p:spPr>
          <a:xfrm>
            <a:off x="3374136" y="50749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4" action="ppaction://hlinksldjump"/>
              </a:rPr>
              <a:t>30</a:t>
            </a:r>
          </a:p>
        </p:txBody>
      </p:sp>
      <p:sp>
        <p:nvSpPr>
          <p:cNvPr id="27" name="Cell_3_1">
            <a:hlinkClick action="ppaction://hlinksldjump" r:id="rId15"/>
          </p:cNvPr>
          <p:cNvSpPr/>
          <p:nvPr/>
        </p:nvSpPr>
        <p:spPr>
          <a:xfrm>
            <a:off x="5376671" y="50749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5" action="ppaction://hlinksldjump"/>
              </a:rPr>
              <a:t>70</a:t>
            </a:r>
          </a:p>
        </p:txBody>
      </p:sp>
      <p:sp>
        <p:nvSpPr>
          <p:cNvPr id="28" name="Cell_3_2">
            <a:hlinkClick action="ppaction://hlinksldjump" r:id="rId16"/>
          </p:cNvPr>
          <p:cNvSpPr/>
          <p:nvPr/>
        </p:nvSpPr>
        <p:spPr>
          <a:xfrm>
            <a:off x="7379206" y="50749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6" action="ppaction://hlinksldjump"/>
              </a:rPr>
              <a:t>100</a:t>
            </a:r>
          </a:p>
        </p:txBody>
      </p:sp>
      <p:sp>
        <p:nvSpPr>
          <p:cNvPr id="29" name="Cell_3_3">
            <a:hlinkClick action="ppaction://hlinksldjump" r:id="rId17"/>
          </p:cNvPr>
          <p:cNvSpPr/>
          <p:nvPr/>
        </p:nvSpPr>
        <p:spPr>
          <a:xfrm>
            <a:off x="9381741" y="50749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7" action="ppaction://hlinksldjump"/>
              </a:rPr>
              <a:t>150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989320"/>
            <a:ext cx="2788920" cy="804672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ЛПР</a:t>
            </a:r>
          </a:p>
        </p:txBody>
      </p:sp>
      <p:sp>
        <p:nvSpPr>
          <p:cNvPr id="31" name="Cell_4_0">
            <a:hlinkClick action="ppaction://hlinksldjump" r:id="rId18"/>
          </p:cNvPr>
          <p:cNvSpPr/>
          <p:nvPr/>
        </p:nvSpPr>
        <p:spPr>
          <a:xfrm>
            <a:off x="3374136" y="59893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8" action="ppaction://hlinksldjump"/>
              </a:rPr>
              <a:t>30</a:t>
            </a:r>
          </a:p>
        </p:txBody>
      </p:sp>
      <p:sp>
        <p:nvSpPr>
          <p:cNvPr id="32" name="Cell_4_1">
            <a:hlinkClick action="ppaction://hlinksldjump" r:id="rId19"/>
          </p:cNvPr>
          <p:cNvSpPr/>
          <p:nvPr/>
        </p:nvSpPr>
        <p:spPr>
          <a:xfrm>
            <a:off x="5376671" y="59893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9" action="ppaction://hlinksldjump"/>
              </a:rPr>
              <a:t>70</a:t>
            </a:r>
          </a:p>
        </p:txBody>
      </p:sp>
      <p:sp>
        <p:nvSpPr>
          <p:cNvPr id="33" name="Cell_4_2">
            <a:hlinkClick action="ppaction://hlinksldjump" r:id="rId20"/>
          </p:cNvPr>
          <p:cNvSpPr/>
          <p:nvPr/>
        </p:nvSpPr>
        <p:spPr>
          <a:xfrm>
            <a:off x="7379206" y="59893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0" action="ppaction://hlinksldjump"/>
              </a:rPr>
              <a:t>100</a:t>
            </a:r>
          </a:p>
        </p:txBody>
      </p:sp>
      <p:sp>
        <p:nvSpPr>
          <p:cNvPr id="34" name="Cell_4_3">
            <a:hlinkClick action="ppaction://hlinksldjump" r:id="rId21"/>
          </p:cNvPr>
          <p:cNvSpPr/>
          <p:nvPr/>
        </p:nvSpPr>
        <p:spPr>
          <a:xfrm>
            <a:off x="9381741" y="59893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1" action="ppaction://hlinksldjump"/>
              </a:rPr>
              <a:t>150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Цена и бюджет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Зачем платить за КП, программа уже куплена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Клиент: ООО «Северный свет», опт стройматериалов, УСН, выручка ~25 млн ₽/год, 9 сотрудников. Локальная 1С:Бухгалтерия ПРОФ куплена год назад.
Боль: Обновления ставят «когда получится». Перед сдачей отчётности бухгалтер 1–2 дня ловит ошибки форм. Нет единого канала консультаций: вопросы решают через знакомых и форумы.
С кем говорим: Главный бухгалтер (ЛВР). Интерес: сдать отчётность без штрафов и ночных правок. Директор — ЛПР по бюджету.
Предложение: 1С:КП ПРОФ на 12 мес — 68 400 ₽ (обновления + сервисы + консультации) + при необходимости 2 часа линии на аудит базы (7 320 ₽).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«Программу мы уже купили. 68 тысяч за „поддержку“ — дорого. Обошлись бы без этого.»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возражение на фактах и цифрах и предложите целевой шаг к сделке.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КП — не «повторная покупка программы», а легальные обновления под изменения законодательства + сервисы, без которых ПРОФ со временем отстаёт по формам отчётности.
- Для бухгалтера ценность КП ПРОФ: актуальные формы, 1С-Отчётность из программы, методические материалы, консультации — меньше ручных правок перед сдачей.
- Считаем альтернативу: разовые вызовы специалиста (час 3 660 ₽) + отдельная покупка отчётности/проверки контрагентов часто сопоставимы или дороже пакета. В учебном примере «экономный» Базовый + докупка сервисов вышла ~71 884 ₽ против ~68 400 ₽ за КП ПРОФ — при меньшем наборе удобств.
- Если бюджет жёсткий на старте — КП ПРОФ на 6 мес (36 307 ₽) закрыть квартал отчётности, затем продлить по факту пользы.
Целевой шаг: Согласовать с директором КП ПРОФ 6 или 12 мес и дату первого обновления/подключения 1С-Отчётности на этой неделе.
Не говорить: - «Без КП программа сразу сломается» (давление).
- Скидка «» без объяснения состава сервисов.
- Спор «вы обязаны» вместо языка рисков отчётности.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Цена и бюджет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Базовая дешевле — зачем ПРОФ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Клиент: ИП + одно ООО на одном собственнике, услуги + мелкая торговля, 6 человек. Сейчас учёт частично у внешнего бухгалтера, хотят свою 1С:Бухгалтерия.
Боль: Два юрлица, бухгалтер и руководитель хотят смотреть базу одновременно. Внешний бухгалтер просит доступ «с вечера», собственник — «утром». Плюс нужна выгрузка в банк и проверка контрагентов без ручного набора реквизитов.
С кем говорим: Собственник (ЛПР). Бухгалтер на аутсорсе (ЛВР): боится сложной программы.
Предложение: 1С:Бухгалтерия ПРОФ (23 000 ₽) + КП ПРОФ 12 мес (68 400 ₽) вместо Базовой (4 900 ₽).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«Базовая за 4 900 — и хватит. ПРОФ в пять раз дороже, зачем переплачивать?»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возражение на фактах и цифрах и предложите целевой шаг к сделке.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Плюсы Базовой честно: низкая цена, простота, один пользователь, типовые задачи микробизнеса.
Почему здесь ПРОФ:
- несколько пользователей (бухгалтер + собственник);
- несколько организаций в одной базе с общими справочниками — не две отдельные «закрытые» базы как в Базовой;
- можно позже доработать/интегрировать; веб-доступ.
В Базовой второй пользователь и единая база на два юрлица не решаются — придётся плодить базы и терять контроль.
КП ПРОФ усиливает плюс продукта: отчётность, автозаполнение контрагентов, консультации — то, ради чего ПРОФ покупают «в работу», а не «в стол».
Целевой шаг: Показать 15-мин демо: две организации в одной базе + два пользователя; выставить счёт на БП ПРОФ + КП 6/12.
Не говорить: - Обесценить Базовую («она плохая»).
- 
- родать Базовую «а ПРОФ потом», зная про двух пользователей уже сейчас.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Цена и бюджет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УТ ПРОФ + КП не влезают в бюджет квартала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Клиент: ООО, дистрибуция хозтоваров, 2 склада, 5 менеджеров, оборот ~40 млн ₽/год.
Боль: Заказы в почте, остатки в одной таблице у завсклада, отгрузки срываются из‑за двойных резервов. Нужна единая воронка продаж и склад.
С кем говорим: Коммерческий директор (ЛПР по операционке). Финансовый — ЛВР по бюджету IT.
Предложение: 1С:УТ ПРОФ (39 700 ₽) + КП ПРОФ 12 (68 400 ₽) + внедрение ядра 24 ч (72 000 ₽) + 4 ч консультаций (14 640 ₽) ≈ 194 740 ₽.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«В квартале на автоматизацию максимум 150 тысяч. Либо режьте, либо в следующем году.»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возражение на фактах и цифрах и предложите целевой шаг к сделке.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Плюсы УТ ПРОФ под боль: CRM/продажи, закупки, склад в одном контуре, много пользователей, интеграции (в отличие от УТ Базовой — 1 пользователь и «коробочный» минимум).
КП ПРОФ — обновления и сопровождение, чтобы контур не «завис» после запуска.
Режем этап, не ценность:
- УТ ПРОФ + КП 6 мес (36 307 ₽) + внедрение 18 ч (54 000 ₽) + 3 ч консультаций (10 980 ₽) ≈ 140 987 ₽.
- Этап 2 (аналитика, доп. склады) — следующий квартал.
Не предлагаем УТ Базовую: 5 менеджеров одновременно в Базовой не работают.
Целевой шаг: Утвердить ТЗ этапа 1 на 1 стр. и счёт ≤150 000 ₽ с датой старта в квартале.
Не говорить: - «Без полного внедрения смысла нет».
- Обещание «всё за 150» без урезания scope.
- Продажа УТ «чтобы влезло в бюджет».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Цена и бюджет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150</a:t>
            </a:r>
          </a:p>
        </p:txBody>
      </p:sp>
      <p:pic>
        <p:nvPicPr>
          <p:cNvPr id="5" name="Picture 4" descr="timer_18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КП ПРОФ дороже Базового — возьмём Техно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Клиент: ООО «ТехноСервис», ремонт оборудования + ЗИП, 20 сотрудников. Локальная 1С:УНФ ПРОФ, сопровождения нет.
Боль: Сдают отчётность из 1С, работают с ЭДО, проверяют поставщиков, раз в неделю вопросы на линию. Свой IT на полставки обновляет «на выходных».
С кем говорим: Директор (ЛПР). Главный бухгалтер (ЛВР). IT (ЛВР).
Предложение: КП ПРОФ 12 мес — 68 400 ₽ (вместо КП Базовый)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«Нам сказали, есть КП Базовый подешевле. Зачем ПРОФ?»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возражение на фактах и цифрах и предложите целевой шаг к сделке.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Сравнение по фактам из обучения:
Плюс УНФ ПРОФ как продукта: единое окно для услуг+склад+деньги; КП ПРОФ не даёт «новой программе», а раскрывает её сервисами (отчётность, ЭДО, контрагенты, архив).
Если взять Базовый и докупить отчётность+контрагента+часы — в примере обучения выходит дороже и хуже по удобству, чем сразу ПРОФ (~71,9 тыс. vs ~68,4 тыс.).
Целевой шаг: Таблица «Базовый + ваши сервисы vs ПРОФ» на 1 стр. → решение директора до конца недели, договор КП ПРОФ.
Не говорить: - «Базовый — для бедных».
- Скрытие, что услуги партнёра по установке обновлений в Базовом оплачиваются отдельно.
- Навязывание отраслевых/КОРП-тарифов.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3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8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 сейчас / подумаем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После отчётности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Клиент: ООО на УСН, производство упаковки, 12 человек. 1С:Бухгалтерия Базовая, один пользователь — бухгалтер.
Боль: Перед отчётностью бухгалтер сидит сверхурочно: не хватает второго доступа для помощника, вопросы по заполнению закрывают через чаты.
С кем говорим: Главный бухгалтер (ЛВР, блокирует сроки). Директор (ЛПР) — «не мешайте сдаче».
Предложение: Апгрейд до БП ПРОФ (23 000 ₽) + КП ПРОФ 6 мес (36 307 ₽) + 4 ч консультаций на перенос (14 640 ₽). Старт работ сразу.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«Сейчас некогда. После 25-го подумаем.»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возражение на фактах и цифрах и предложите целевой шаг к сделке.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В продукт до сдачи не лезем.
- Сейчас можно: договор, оплата ПРОФ+КПчек-лист переноса
- Плюс ПРОФ для их боли: второй пользователь к следующему периоду, единые правила, КП ПРОФ — актуальные формы и линия без форумов.
- Базовая хороша для «один бухгалтер / одно юрлицо», но помощник + рост = потолок Базовой.
Целевой шаг: Договор подписываем сегодня, а дату старта работ назначаем после отчётности; предоплата за лицензии и комплект поддержки (1С:КП).
Не говорить: - Давление «акция сгорит».
- Внедрение в боевую базу до сдачи.
- Уход без конкретной даты.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 сейчас / подумаем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Надо обсудить с партнёром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Клиент: Два партнёра, 2 магазина фермерских продуктов. Кассы разрозненные.
Боль: Разные прайсы, инвентаризация 3–4 часа на точку, нет единых остатков.
С кем говорим: Партнёр А (закупки) на встрече. Партнёр Б (финансы) — ЛПР, в мессенджере.
Предложение: 1С:Розница ПРОФ (23 000 ₽) + КП ПРОФ 12 (68 400 ₽) + настройка 12 ч (36 000 ₽)
или Фреш Розница 12 мес (18 100 ₽) + те же работы (если хотят облако без локального).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«Нам надо подумать и обсудить с партнёром. Напишем.»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возражение на фактах и цифрах и предложите целевой шаг к сделке.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Плюсы Розницы ПРОФ: несколько магазинов в одной логике, пользователей, РИБ/сеть, акции и аналитика — против Базовой (1 магазин / 1 пользователь / без распределённых баз).
- КП ПРОФ: обновления , консультации, сервисы.
Целевой шаг: Созвон с обоими партнёрами на этой неделе + КП с пилотом 1 точки.
Не говорить: - «Ваш партнёр не разбирается».
- «Решите сегодня».
- Длинное КП без созвона.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 сейчас / подумаем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После сезона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Клиент: Опт сезонного товара, пик осень–зима, 4 менеджера продаж.
Боль: В сезон резервы в чатах, срывы отгрузок. Вне сезона «терпимо» — решение откладывают.
С кем говорим: РОП (ЛВР). Директор (ЛПР): «после сезона».
Предложение: 1С:УТ ПРОФ (39 700 ₽) + КП ПРОФ 12 (68 400 ₽) + внедрение 30 ч до следующего пика.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«Сейчас сезон, некогда. После Нового года вернёмся.»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возражение на фактах и цифрах и предложите целевой шаг к сделке.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Тяжёлый запуск в пик — риск, согласны.
- Сейчас: поставка УТ ПРОФ + КП, проектирование НСИ, обучение 2 пользователей на копии (8–10 ч). Продуктив — с фиксированной даты (напр. 15 января).
- Плюсы УТ ПРОФ: единые заказы/склад/взаимки, многопользовательский режим, CRM — то, чего не даст «потерпеть до следующего сезона» на таблицах.
- КП ПРОФ нужен, чтобы к сезону контур был на актуальных релизах.
Целевой шаг: Договор с двумя этапами и датами; оплата лицензии+КП+проектирования сейчас.
Не говорить: - Обвинение «сами виноваты в срывах».
- «Напишите в феврале» без обязательств.
- Обещание «с нуля за две недели в январе».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 сейчас / подумаем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150</a:t>
            </a:r>
          </a:p>
        </p:txBody>
      </p:sp>
      <p:pic>
        <p:nvPicPr>
          <p:cNvPr id="5" name="Picture 4" descr="timer_18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Сами потыкаем УНФ, КП потом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Клиент: Мебель на заказ, салон + цех, 22 сотрудника. Спецификации в файлах.
Боль: В цех уходит неверная комплектация, переделки бьют по марже.
С кем говорим: Директор производства (ЛВР). Коммерческий директор (ЛПР).
Предложение: 1С:УНФ ПРОФ (30 600 ₽) + КП ПРОФ 6 (36 307 ₽) + обследование 6 ч + внедрение минимума «заказ → производство → акт».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«Купим УНФ, сами разберёмся. КП и внедрение — потом, когда поймём.»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возражение на фактах и цифрах и предложите целевой шаг к сделке.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Плюсы УНФ ПРОФ: «всё в одном» для торговли+услуг+лёгкого производства, ОПиУ/ДДС, CRM, несколько пользователей, доработки — в отличие от Базовой (1 пользователь, без доработок, одна организация).
- Без обследования «потыкать» = риск, что не настроят заказ-наряды и вернутся в файлы.
- КП ПРОФ с первого дня: обновления, консультации по типовым сценариям, сервисы — дешевле, чем тушить ошибки после сдачи/отгрузки.
- Минимальный пакет: 1С:УНФ ПРОФ + комплект поддержки ПРОФ на 6 месяцев + платное обследование на 6 часов (21 960 ₽). По итогам обследования принимаем совместное решение — продолжаем работы по доработкам или останавливаемся на этом этапе.
Целевой шаг: Счёт на УНФ ПРОФ + КП 6 + обследование; через 5 р.д. — защита сметы внедрения.
Не говорить: - «В УНФ из коробки всё под мебель».
- Продажа только коробки без границ этапа.
- Навязывание 30 ч доработок до обследования.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3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8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Уже есть компания / конкурент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Нас ведёт другой партнёр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Клиент: Клининговая компания, 15 сотрудников. БП ПРОФ, КП неактивен / на паузе.
Боль: Ответ текущего сопровождения — 1–2 дня. Бухгалтер сдаёт отчётность в стрессе.
С кем говорим: Главный бухгалтер (ЛВР). Директор (ЛПР по цене).
Предложение: КП ПРОФ 12 мес (68 400 ₽) у нас + 6 ч аудита базы (21 960 ₽).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«У нас уже есть франчайзи. Зачем менять? Они и КП продлят.»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возражение на фактах и цифрах и предложите целевой шаг к сделке.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Менять подрядчика только ради смены — не нужно. Давайте сравним условия поддержки и содержание комплекта поддержки ПРОФ:
как быстро отвечают на заявки;
кто именно выполняет обновления;
что входит в поддержку: отчётность, работа с контрагентами, электронный документооборот (ЭДО);
как фиксируются и контролируются задачи.
Плюс: возможности продукта «Бухгалтерия ПРОФ» раскрываются полностью только при живом сопровождении. Без него актуальные формы отчётности и сервисы портала и тарифа не работают в полную силу.
Предлагаем пилот: 3 часа аудита базы (10 980 ₽). По результатам аудита вы принимаете решение — где продлевать комплект поддержки.
Целевой шаг: Пилот 3 ч + критерии выбора партнёра на продление КП ПРОФ.
Не говорить: - Охаивание текущего партнёра.
- Демпинг «мы официальнее».
- Скидка КП без сервиса.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Уже есть компания / конкурент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Конкурент дал смету дешевле на УТ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Клиент: Опт крепежа, 3 менеджера + склад.
Боль: Прайсы по каналам путаются, взаимки не бьются с отгрузками.
С кем говорим: Снабженец/совместитель IT (ЛВР). Коммерческий директор (ЛПР).
Предложение: УТ ПРОФ (39 700 ₽) + КП ПРОФ 6 (36 307 ₽) + внедрение 24 ч (72 000 ₽) ≈ 148 007 ₽.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«Другие дали смету дешевле тысяч на 40.»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возражение на фактах и цифрах и предложите целевой шаг к сделке.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Лицензия УТ ПРОФ — одна полка; экономия почти всегда в часах и составе.
- Сверяем: версия точно ПРОФ (не Базовая)? Есть ли КП? Миграция остатков? Обучение? Границы этапа?
- Плюсы УТ ПРОФ, которые должны быть в обоих КП: много пользователей, ценообразование/CRM, склад, обмен с Бухгалтерией.
- Готовы сузить этап 1 до сопоставимых часов или оставить 24 ч и явно перечислить риски, которые снимаем.
Целевой шаг: Сопоставимое КП «яблоко к яблоку» на 1 стр. + созвон 20 минут.
Не говорить: - «Они обманывают».
- Автоскидка 40 тыс. без изменения scope.
- Подмена ПРОФ на Базовую ради цены.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Уже есть компания / конкурент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Есть свой программист — КП не нужен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Клиент: 2 магазина электротоваров. Розница ПРОФ локально, КП не продлевали ~1,5 года. «Всё чинит знакомый».
Боль: После изменений по чекам магазин 2–3 дня в ручном режиме, пока программист чинит.
С кем говорим: Собственник (ЛПР). Программист (сильный ЛВР).
Предложение: КП ПРОФ 12 (68 400 ₽) + 8 ч на безопасное обновление (29 280 ₽). Доработки — по желанию у программиста по правилам поддержки.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«Зачем КП, если есть программист? Он и обновит дешевле.»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возражение на фактах и цифрах и предложите целевой шаг к сделке.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Программист силён в доработках; КП ПРОФ закрывает другое: легальные обновления конфигурации, сервисы, консультации по типовому.
- Плюсы Розницы ПРОФ (сеть, акции, оборудование, маркировка) держатся на актуальных релизах — без КП обновлять «как получится» = простой точки.
- Модель: КП + типовое — у партнёра; кастом — у программиста без ломания поддержки.
- Альтернатива: Фреш Розница 12 (18 100 ₽) — обновления на стороне сервиса, если готовы к облаку.
Целевой шаг: Созвон втроём 30 мин: правила обновлений → КП ПРОФ или Фреш.
Не говорить: - «Ваш программист — проблема».
- Запрет любых доработок «только мы».
- Страшилки без условий поддержки.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Уже есть компания / конкурент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150</a:t>
            </a:r>
          </a:p>
        </p:txBody>
      </p:sp>
      <p:pic>
        <p:nvPicPr>
          <p:cNvPr id="5" name="Picture 4" descr="timer_18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Другие внедрят УНФ „под ключ за 3 недели“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Клиент: Транспортно-экспедиционная фирма, ~28 сотрудников. Нужны рейсы/акты в одном контуре с учётом (в т.ч. подготовка к требованиям ЭПД).
Боль: Документы в разных местах, сверки вручную, страх не успеть к новым требованиям.
С кем говорим: Директор (ЛПР). IT (ЛВР). Главный бухгалтер (ЛВР).
Предложение: УНФ ПРОФ (30 600 ₽) + КП ПРОФ 12 (68 400 ₽) + внедрение минимума 36 ч + обследование ЭПД-контура 8 ч.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«Другие обещают УНФ под ключ за 3 недели и дешевле.»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возражение на фактах и цифрах и предложите целевой шаг к сделке.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Плюсы УНФ ПРОФ: услуги+документы+деньги+лёгкая логистика в одной базе, много пользователей, отчёты для директора — но не «волшебная кнопка ЭПД за 3 недели».
- Сравниваем приёмку, не слоган: какие сценарии сданы (рейс → документ → учёт).
- КП ПРОФ: сопровождение и обновления на дистанции закона/сервисов.
- Можем сделать минимальный контур за ~3 недели, ЭПД — отдельным этапом после обследования. КОРП/тяжёлые ERP не предлагаем — не сегмент.
Целевой шаг: Встреча с участием IT-специалиста и главного бухгалтера: согласуем критерии готовности минимального контура и выбираем подрядчика по условиям приёмки.
Не говорить: - Обещание «ЭПД и всё под ключ за 3 недели».
- Охаивание конкурента без разбора сметы.
- Игнор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3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8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Риски и доверие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А вдруг КП не окупится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Клиент: Микробизнес, ООО на УСН, 4 сотрудника. Рассматривают БП Базовая или старт сразу с сервисами.
Боль: Аутсорсер собирает банк и остатки «с слов», собственник не видит взаимки. Хотят простую 1С и сдачу отчётности без сюрпризов.
С кем говорим: Собственник (ЛПР). Бухгалтер-аутсорс (ЛВР).
Предложение: Вариант А: БП Базовая (4 900 ₽) — если реально 1 пользователь и одно юрлицо.
Вариант Б: Фреш БП ПРОФ 6 мес (30 259 ₽) — облако с обновлениями в тарифе.
Вариант В: локальная БП ПРОФ + КП ПРОФ 6.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«Боюсь платить за КП/подписку — вдруг не пригодится.»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возражение на фактах и цифрах и предложите целевой шаг к сделке.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Сначала честно выбираем версию по плюсам: Базовая = дёшево и просто при 1 пользователе; ПРОФ/Фреш — если нужен доступ двоим или запас на рост.
- КП/ИТС окупается на избежанных ошибках отчётности и часах, не на «ощущении». Критерии на 6 мес: сдана отчётность, подключён нужный сервис (отчётность/контрагент), 1–2 консультации использованы.
- Для Базовой логика сопровождения другая, чем для ПРОФ: не продаём «КОРП-историю», говорим языком микробизнеса.
Целевой шаг: 2 часа диагностики (7 320 ₽) → выбор Базовая / Fresh / ПРОФ+КП → счёт на 6 мес горизонта.
Не говорить: - Гарантия «точно понравится / вернём деньги всегда».
- Навязывание КП ПРОФ при явной Базовой потребности без объяснения.
- Давление на аутсорсера.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Риски и доверие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Доработки снимут с поддержки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Клиент: Средний опт. УТ ПРОФ + активный интерес к доработке статусов заказа. КП обсуждается / есть.
Боль: Менеджеры обходят систему чатами — не хватает статусов. Директор не видит воронку.
С кем говорим: IT (ЛВР, главный страх). Директор (ЛПР).
Предложение: Оценка на копии 3 ч + доработки через расширения до 12 ч + КП ПРОФ для обновляемости.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«После доработок нельзя обновляться. Не хотим рискнуть.»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возражение на фактах и цифрах и предложите целевой шаг к сделке.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Плюс УТ ПРОФ как раз в том, что доработки разрешены (в Базовой — нельзя). Риск — не в факте доработки, а в «правках в лоб».
- Снимаем риск: расширения/внешние формы, тест обновления на копии, документ состава.
- КП ПРОФ = канал обновлений и консультаций, чтобы доработки жили рядом с типовым контуром.
- Сначала 3–5 ч попытки типовыми средствами — код только если не хватит.
Целевой шаг: Оценка на копии с вердиктом «типовыми / расширение / изменение» → затем часы.
Не говорить: - «Дорабатывайте как хотите».
- «На поддержку никогда не влияет».
- Игнор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Риски и доверие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Нам уже обещали сроки по Рознице — не верим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Клиент: 3 магазина, хотят Розница ПРОФ.
Боль: Инвентаризации расходятся, перемещения между точками долгие, акции вручную.
С кем говорим: Операционный директор (ЛПР). Завмаги (сопротивление).
Предложение: Розница ПРОФ (23 000 ₽) + КП ПРОФ 6 (36 307 ₽) + внедрение 24 ч, пилот 1 магазин → тираж.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«Обещали „за месяц“ — вышло полгода и кассы падали. Не верим.»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возражение на фактах и цифрах и предложите целевой шаг к сделке.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Плюсы Розницы ПРОФ: несколько точек, много кассиров, централизованные цены/акции, РИБ — против Базовой (одна точка, один пользователь).
- Риск простоя снимаем этапностью и приёмкой пилота 5 р.д., не обещанием «всем сразу».
- КП ПРОФ на старте — обновления и консультации в первую неделю после запуска.
- В договоре — этапы и что считаем инцидентом.
Целевой шаг: Договор «1 магазин → приёмка → тираж» + КП ПРОФ 6.
Не говорить: - «У нас такого не бывает».
- Запуск сразу на 3 магазинах.
- Скрытые работы.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Риски и доверие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150</a:t>
            </a:r>
          </a:p>
        </p:txBody>
      </p:sp>
      <p:pic>
        <p:nvPicPr>
          <p:cNvPr id="5" name="Picture 4" descr="timer_18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Облако vs локаль — боимся данных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Клиент: Опт, 30 сотрудников. Смотрят Фреш УНФ ПРОФ 12 мес vs локальная УНФ ПРОФ + КП.
Боль: Клиентская база в личных почтах менеджеров; при увольнениях теряют историю. Нужна единая УНФ.
С кем говорим: Директор (ЛПР). Юрист (ЛВР). IT-фрилансер (ЛВР).
Предложение: А) Fresh УНФ ПРОФ 12 — 57 000 ₽ + внедрение.
Б) Локальная УНФ ПРОФ 30 600 + КП ПРОФ 12 68 400 + внедрение + регламент бэкапов.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«Если утечёт из облака — кто виноват? Лучше локально.»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возражение на фактах и цифрах и предложите целевой шаг к сделке.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Плюсы 1С:УНФ ПРОФ одинаковы и для локальной, и для облачной версии: единые заказы, деньги, CRM, права пользователей. Это лечит боль с клиентской базой в личных почтах менеджеров — неважно, где стоит программа.
Разница между моделями:
Fresh (облако) — обновления и доступность уже включены в тариф;
локальная версия + КП ПРОФ — обновления, сервисы, архив и линия консультаций по договору поддержки.
Стоимость владения за 12 месяцев (только программное обеспечение):
Fresh — 57 000 ₽;
локальная — 30 600 + 68 400 ≈ 99 000 ₽ (плюс свои резервные копии).
В договоре прописываем: матрицу прав доступа (таблица, в которой наглядно расписано: кто из сотрудников и к каким данным или разделам программы имеет доступ и что именно может делать.), соглашение о неразглашении, зоны ответственности. Тяжёлые корпоративные контуры (КОРП, ERP) не предлагаем — это не ваш сегмент.
Целевой шаг: Встреча на 1 час с юристом и IT-специалистом клиента. Разбираем чек-лист рисков: где хранятся данные, кто имеет доступ, что происходит при увольнении сотрудника, как делаются резервные копии, кто отвечает за утечку. По итогам клиент выбирает модель — облако или локальная версия. Затем подписываем договор
Не говорить: - «В облаке утечек не бывает».
- Отказ обсуждать ответственность.
- Навязывание только Fresh «потому что модно».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3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8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ЛПР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Я только собираю информацию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Клиент: Малый опт. Бухгалтер на БП Базовая, упёрлись в 1 пользователя и права.
Боль: Нельзя дать менеджеру сверки без полного доступа; звонки «пришлите акт сверки».
С кем говорим: Главный бухгалтер (ЛВР). Директор — ЛПР, отсутствует.
Предложение: Апгрейд БП ПРОФ (23 000 ₽) + КП ПРОФ 6 (36 307 ₽) + 3 ч настройки прав (10 980 ₽).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«Решение принимает директор, я не могу согласовать.»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возражение на фактах и цифрах и предложите целевой шаг к сделке.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Бухгалтер — ключевой ЛВР учёта.
- 1 стр. для директора: ограничение Базовой (1 пользователь, нельзя гибко раздать права как в ПРОФ) → ПРОФ + КП (обновления, консультации) → сумма ~70 287 ₽ → срок.
- Плюсы ПРОФ формулируем языком директора: меньше звонков на сверки, контроль доступа, запас на рост.
Целевой шаг: Согласовать текст с бухгалтером и слот 15 мин с директором / его комментарий до конца недели.
Не говорить: - Обход бухгалтера.
- «Продавите директора».
- КП на 10 стр. без сумм.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ЛПР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Директор сказал нет, а складу нужно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Клиент: Склад + продажи, инициатива начальника склада.
Боль: Резервы не держатся, отгрузки с ошибками.
С кем говорим: Начальник склада (ЛВР). Директор ранее: «дорого, не сейчас».
Предложение: УТ ПРОФ (39 700 ₽) + КП ПРОФ 6 (36 307 ₽) + внедрение склада/заказов 16 ч (48 000 ₽) ≈ 124 007 ₽.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«Директор уже сказал „нет“. Я ничего не могу.»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возражение на фактах и цифрах и предложите целевой шаг к сделке.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Не просим «продавить». Даём язык директора: 5 кейсов пересорта в рублях за месяц + стоимость этапа + плюсы УТ ПРОФ (резервы, склад, много пользователей — Базовая УТ складской команде не подойдёт).
- КП ПРОФ — чтобы после запуска остатки не «отстали» по релизам/консультациям.
- Можно урезать пилот до 10–12 ч только резервы/остатки.
Целевой шаг: Собрать 5 примеров потерь за 30 дней → 20 минут с директором на экономику.
Не говорить: - «Директор неэффективный».
- Тайные переговоры против ЛПР.
- Обещания складу вне этапа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ЛПР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Без визы IT не согласуем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Клиент: 2 юрлица, розница+опт. Нужны Розница ПРОФ + обмен в БП ПРОФ, плюс КП.
Боль: Продажи закрываются поздно, в бухгалтерию документы доезжают вручную.
С кем говорим: Главный бухгалтер (инициатор). IT (обязательный ЛВР). Директор (ЛПР бюджета).
Предложение: Розница ПРОФ (23 000) + БП ПРОФ (23 000) + КП ПРОФ 12 (68 400) на основной контур сопровождения + обмен/внедрение 28 ч (84 000) + 4 ч консультаций.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«Без одобрения IT ничего не согласуем. IT: „напишите ТЗ и ждите“.»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возражение на фактах и цифрах и предложите целевой шаг к сделке.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IT — правильный ЛВР по архитектуре. Короткое ТЗ: базы, пользователи, обмен, бэкапы, кто админ.
- Плюсы ПРОФ-версий: многопользовательский режим, обмен, возможность донастройки — Базовые версии сеть/обменный контур не вытянут.
- КП ПРОФ — обновления обоих контуров и консультации после обмена.
- Техпресейл 2 ч (7 320 ₽) для IT → виза «технически ок» → директор.
Целевой шаг: Созвон IT+бухгалтер+мы → смета с письменным или устным подтверждением  IT на стол директору.
Не говорить: - Обход IT.
- ТЗ на 40 страниц сразу.
- «Обмен и так заведётся».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ЛПР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150</a:t>
            </a:r>
          </a:p>
        </p:txBody>
      </p:sp>
      <p:pic>
        <p:nvPicPr>
          <p:cNvPr id="5" name="Picture 4" descr="timer_18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Собственник занят, всё через „менеджера проекта“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Клиент: 2 ООО: услуги + материалы. Нужны УНФ ПРОФ + КП ПРОФ + внедрение + часы обучения.
Боль: Нет маржи по проектам, скидки без контроля.
С кем говорим: Менеджер проекта клиента (фильтр/ЛВР). Собственник — ЛПР. РОП и бухгалтер — пользователи.
Предложение: УНФ ПРОФ (30 600) + КП ПРОФ 12 (68 400) + внедрение 32 ч (96 000) + 8 ч консультаций (29 280) ≈ 224 280 ₽.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«Собственник занят. Передайте мне материалы, согласую когда получится. Договор без него не подпишу.»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возражение на фактах и цифрах и предложите целевой шаг к сделке.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Принимаем роль фильтра, не отдаём сделку в чёрный ящик.
- 1 стр. + 5 слайдов для собственника: боль маржи → плюсы УНФ ПРОФ (ОПиУ/ДДС, CRM, несколько юрлиц в одной базе — против Базовой) → КП ПРОФ как страховка обновлений и сервисов → этапы и сумма.
- Облегчённый вход: УНФ ПРОФ + КП 6 + обследование 8 ч сейчас; внедрение — после go собственника.
- Просим критерии решения и слот 20 минут.
Целевой шаг: Договариваемся о встрече с собственником (20 минут) или получаем от менеджера проекта письменные критерии, по которым собственник скажет «да». Если ни то, ни другое не получается — фиксируем конкретную дату следующего контакта, чтобы сделка не зависла в статусе «почти продали».
Не говорить: - Давление на фильтра.
- Личные скидки в обход собственника.
- Толстый договор без краткого обоснования.
Шпаргалка ведущему
Зачитать п.1–5 → 3–5 мин командам (ответ + анти-примеры) → обсуждение → эталон п.6–8.
Спросить: какая роль у собеседника и кого не хватает?
Всегда опираться на плюсы Базовая vs ПРОФ и на ценность КП/ИТС (обновления, консультации, сервисы).
Не предлагать КОРП.
Без манипуляций: цифры, этапы, даты, целевой шаг к договору/счёту.
Быстрые якоря из обучения ИТС
КП = обновления + консультации + сервисы, срок 1/3/6/12/24 мес.
Бухгалтеру — законность и время; руководителю — риски и непрерывность; IT — обновления и база знаний.
КП Базовый — «чтобы программа была легально актуальной»; КП ПРОФ — «чтобы бизнесу было удобно работать в 1С».
Отдельная докупка сервисов при Базовом тарифе часто дороже и неудобнее, чем сразу КП ПРОФ.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3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8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theme/theme1.xml><?xml version="1.0" encoding="utf-8"?>
<a:theme xmlns:a="http://schemas.openxmlformats.org/drawingml/2006/main" name="Тема Forus2020">
  <a:themeElements>
    <a:clrScheme name="Форус темная">
      <a:dk1>
        <a:srgbClr val="FFFFFF"/>
      </a:dk1>
      <a:lt1>
        <a:srgbClr val="FFFFFF"/>
      </a:lt1>
      <a:dk2>
        <a:srgbClr val="000000"/>
      </a:dk2>
      <a:lt2>
        <a:srgbClr val="000000"/>
      </a:lt2>
      <a:accent1>
        <a:srgbClr val="26A6E0"/>
      </a:accent1>
      <a:accent2>
        <a:srgbClr val="3F3F3F"/>
      </a:accent2>
      <a:accent3>
        <a:srgbClr val="767677"/>
      </a:accent3>
      <a:accent4>
        <a:srgbClr val="FFFFFF"/>
      </a:accent4>
      <a:accent5>
        <a:srgbClr val="395F76"/>
      </a:accent5>
      <a:accent6>
        <a:srgbClr val="BFBFBF"/>
      </a:accent6>
      <a:hlink>
        <a:srgbClr val="FFFFFF"/>
      </a:hlink>
      <a:folHlink>
        <a:srgbClr val="C0392B"/>
      </a:folHlink>
    </a:clrScheme>
    <a:fontScheme name="Форус_2020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 anchor="ctr" anchorCtr="0">
        <a:spAutoFit/>
      </a:bodyPr>
      <a:lstStyle>
        <a:defPPr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FF"/>
      </a:hlink>
      <a:folHlink>
        <a:srgbClr val="C0392B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FF"/>
      </a:hlink>
      <a:folHlink>
        <a:srgbClr val="C0392B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2829</TotalTime>
  <Words>1673</Words>
  <Application>Microsoft Office PowerPoint</Application>
  <PresentationFormat>Широкоэкранный</PresentationFormat>
  <Paragraphs>330</Paragraphs>
  <Slides>44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50" baseType="lpstr">
      <vt:lpstr>Arial</vt:lpstr>
      <vt:lpstr>Calibri</vt:lpstr>
      <vt:lpstr>Cambria</vt:lpstr>
      <vt:lpstr>Stolzl</vt:lpstr>
      <vt:lpstr>Verdana</vt:lpstr>
      <vt:lpstr>Тема Forus2020</vt:lpstr>
      <vt:lpstr>Темный шаблон презентации</vt:lpstr>
      <vt:lpstr>Второй вариант Название презентации</vt:lpstr>
      <vt:lpstr>Еще один вариант Название презентации</vt:lpstr>
      <vt:lpstr>Типовой лист</vt:lpstr>
      <vt:lpstr>Рабочая область   Весь контент должен заключаться в этой области экрана.  Такое зонирование позволит разместить текст и другую информацию  в максимально комфортном для восприятия месте.  Так же в макете имеются направляющие, по которым можно  выравнивать расположение объектов и не выходить за рамки. </vt:lpstr>
      <vt:lpstr>Имиджевые слайды  о компании</vt:lpstr>
      <vt:lpstr>Презентация PowerPoint</vt:lpstr>
      <vt:lpstr>Презентация PowerPoint</vt:lpstr>
      <vt:lpstr>Презентация PowerPoint</vt:lpstr>
      <vt:lpstr>Презентация PowerPoint</vt:lpstr>
      <vt:lpstr>Слайды  презентации с текстом</vt:lpstr>
      <vt:lpstr>Иерархия заголовков</vt:lpstr>
      <vt:lpstr>Что такое автоматизация</vt:lpstr>
      <vt:lpstr>Выделения и акценты в тексте</vt:lpstr>
      <vt:lpstr>Нумерованный список</vt:lpstr>
      <vt:lpstr>Нумерованный список №2</vt:lpstr>
      <vt:lpstr>Маркированный список</vt:lpstr>
      <vt:lpstr>Маркированный список №2</vt:lpstr>
      <vt:lpstr>Информация  в колонках</vt:lpstr>
      <vt:lpstr>Представление информации в трёх блоках</vt:lpstr>
      <vt:lpstr>Презентация PowerPoint</vt:lpstr>
      <vt:lpstr>Слайд с фото и блоками описания</vt:lpstr>
      <vt:lpstr>Информация с тремя колонками</vt:lpstr>
      <vt:lpstr>Информация с четырьмя колонками</vt:lpstr>
      <vt:lpstr>Как ещё можно разместить</vt:lpstr>
      <vt:lpstr>3 колонки и главная мысль</vt:lpstr>
      <vt:lpstr>Презентация PowerPoint</vt:lpstr>
      <vt:lpstr>Слайды  с фотографиями</vt:lpstr>
      <vt:lpstr>Слайд с фото или скриншотом</vt:lpstr>
      <vt:lpstr>Слайд с двумя фото или скриншотами</vt:lpstr>
      <vt:lpstr>Слайд с тремя фото или скриншотами</vt:lpstr>
      <vt:lpstr>Диаграммы, графики  и таблицы </vt:lpstr>
      <vt:lpstr>Пример круговой диаграммы</vt:lpstr>
      <vt:lpstr>Презентация PowerPoint</vt:lpstr>
      <vt:lpstr>Презентация PowerPoint</vt:lpstr>
      <vt:lpstr>Пример таблицы с выделением ключевой информации</vt:lpstr>
      <vt:lpstr>Как ещё можно изобразить таблицу</vt:lpstr>
      <vt:lpstr>Визуальные элементы Иконки, росчерки</vt:lpstr>
      <vt:lpstr>Иконки двухцветные</vt:lpstr>
      <vt:lpstr>Иконки белые</vt:lpstr>
      <vt:lpstr>Блоки для схем или важной информации</vt:lpstr>
      <vt:lpstr>3D абстрактные фигуры</vt:lpstr>
      <vt:lpstr>Изображения-объекты</vt:lpstr>
      <vt:lpstr>Благодарю 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Черепанова Виктория</cp:lastModifiedBy>
  <cp:revision>212</cp:revision>
  <dcterms:created xsi:type="dcterms:W3CDTF">2020-01-20T06:19:00Z</dcterms:created>
  <dcterms:modified xsi:type="dcterms:W3CDTF">2025-03-10T02:44:05Z</dcterms:modified>
</cp:coreProperties>
</file>