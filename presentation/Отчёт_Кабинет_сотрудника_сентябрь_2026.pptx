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1418492" cy="502920"/>
          </a:xfrm>
          <a:prstGeom prst="rect">
            <a:avLst/>
          </a:prstGeom>
        </p:spPr>
      </p:pic>
      <p:pic>
        <p:nvPicPr>
          <p:cNvPr id="7" name="Picture 6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-91440"/>
            <a:ext cx="3383280" cy="112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554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Рабочая группа  ·  сентябрь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Отчёт по проработке
«1С:Кабинет сотрудника»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1828800" cy="9144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Базы, конверсии проработки и результаты менеджеров.
Кейсы продажи и пилота + выводы: что двигает клиента к покупке.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1389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Период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4406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01.09 — 29.09.2026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02920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51389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Менеджеры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54406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Софья · Данил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502920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1389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Звонков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54406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1 374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502920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51389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Продаж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54406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pic>
        <p:nvPicPr>
          <p:cNvPr id="24" name="Picture 23" descr="wav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" y="5989320"/>
            <a:ext cx="2926080" cy="975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6" name="Picture 5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1. Итоги месяца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Сентябрь в цифрах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657600" cy="9144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Звонков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1 374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прозвон по базам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9164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91640"/>
            <a:ext cx="3657600" cy="9144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965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Успешных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дозвон/диалог · 44,6%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9164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691640"/>
            <a:ext cx="3657600" cy="9144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965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 сделку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интерес · 2,8%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65760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657600"/>
            <a:ext cx="3657600" cy="9144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Записей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97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37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на демо / подключение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65760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657600"/>
            <a:ext cx="3657600" cy="9144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Демо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297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937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фактически проведено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65760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657600"/>
            <a:ext cx="3657600" cy="9144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Продаж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297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937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закрыто в сентябре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73952"/>
            <a:ext cx="8412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рабочая группа  ·  1С:Кабинет сотрудника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6" name="Picture 5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2. Базы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Что прорабатывали и какие конверсии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Данные из «КС аналитика (4).xlsx» за сентябрь. Конверсии: успешный / звонок → сделка / звонок → запись / сделка → демо / запись.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56032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2560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920240"/>
            <a:ext cx="86868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2024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Звонки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20240"/>
            <a:ext cx="86868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92024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Успешн.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920240"/>
            <a:ext cx="82296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92024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Сделка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920240"/>
            <a:ext cx="82296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92024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Запись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920240"/>
            <a:ext cx="73152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Демо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920240"/>
            <a:ext cx="86868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92024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Усп/зв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920240"/>
            <a:ext cx="82296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92024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Сд/зв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1920240"/>
            <a:ext cx="86868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192024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Зап/сд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920240"/>
            <a:ext cx="96012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920240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Демо/зап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267712"/>
            <a:ext cx="25603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267712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Холодка транспорт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2267712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226771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2267712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226771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346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2267712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26771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2267712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226771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267712"/>
            <a:ext cx="7315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267712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2267712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226771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54,3%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2267712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226771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3,0%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2267712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23960" y="226771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5,3%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2267712"/>
            <a:ext cx="9601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2267712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615184"/>
            <a:ext cx="25603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2615184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ЗУП ПРОФ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2615184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2615184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86200" y="2615184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86200" y="2615184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2615184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2615184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2615184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77840" y="2615184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2615184"/>
            <a:ext cx="7315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261518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2615184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0" y="2615184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28,8%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2615184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01000" y="2615184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5,3%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23960" y="2615184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23960" y="2615184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25,0%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92640" y="2615184"/>
            <a:ext cx="9601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0" y="2615184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66,7%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2962656"/>
            <a:ext cx="25603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" y="2962656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ЗУП базовые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2962656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17520" y="2962656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138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86200" y="2962656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86200" y="2962656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80" y="2962656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0" y="2962656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77840" y="2962656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0" y="2962656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2962656"/>
            <a:ext cx="7315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0" y="296265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0" y="2962656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32320" y="2962656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41,3%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01000" y="2962656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01000" y="2962656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2,2%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23960" y="2962656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23960" y="2962656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66,7%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92640" y="2962656"/>
            <a:ext cx="9601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92640" y="2962656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50,0%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3310128"/>
            <a:ext cx="25603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0352" y="3310128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отвалов / отвал КС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17520" y="3310128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17520" y="331012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86200" y="3310128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86200" y="331012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54880" y="3310128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54880" y="3310128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577840" y="3310128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577840" y="3310128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00800" y="3310128"/>
            <a:ext cx="7315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0" y="331012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32320" y="3310128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32320" y="331012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28,7%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001000" y="3310128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001000" y="3310128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4,0%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823960" y="3310128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823960" y="331012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92640" y="3310128"/>
            <a:ext cx="9601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92640" y="3310128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3657600"/>
            <a:ext cx="25603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0352" y="3657600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Сделки (донабор)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017520" y="3657600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017520" y="365760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886200" y="3657600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886200" y="365760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54880" y="3657600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54880" y="365760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577840" y="3657600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577840" y="365760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400800" y="3657600"/>
            <a:ext cx="7315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00800" y="36576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132320" y="3657600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132320" y="365760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43,8%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657600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001000" y="365760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823960" y="3657600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823960" y="365760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692640" y="3657600"/>
            <a:ext cx="9601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92640" y="3657600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200,0%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7200" y="4005072"/>
            <a:ext cx="25603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30352" y="4005072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канбана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017520" y="4005072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017520" y="400507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68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886200" y="4005072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886200" y="400507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754880" y="4005072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754880" y="400507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577840" y="4005072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577840" y="400507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00800" y="4005072"/>
            <a:ext cx="7315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00800" y="4005072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132320" y="4005072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132320" y="400507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39,7%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001000" y="4005072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001000" y="400507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23960" y="4005072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823960" y="400507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92640" y="4005072"/>
            <a:ext cx="9601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692640" y="4005072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200,0%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57200" y="4352544"/>
            <a:ext cx="25603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0352" y="4352544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ЗУП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017520" y="4352544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017520" y="4352544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886200" y="4352544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886200" y="4352544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754880" y="4352544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754880" y="4352544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577840" y="4352544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577840" y="4352544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0" y="4352544"/>
            <a:ext cx="7315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00800" y="43525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132320" y="4352544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132320" y="4352544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33,3%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001000" y="4352544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001000" y="4352544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2,2%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23960" y="4352544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823960" y="4352544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100,0%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692640" y="4352544"/>
            <a:ext cx="9601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692640" y="4352544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57200" y="4700016"/>
            <a:ext cx="25603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30352" y="4700016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вебинаров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017520" y="4700016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017520" y="4700016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19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886200" y="4700016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886200" y="4700016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754880" y="4700016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754880" y="4700016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577840" y="4700016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577840" y="4700016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00800" y="4700016"/>
            <a:ext cx="7315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400800" y="470001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132320" y="4700016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132320" y="4700016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42,1%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01000" y="4700016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01000" y="4700016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823960" y="4700016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823960" y="4700016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692640" y="4700016"/>
            <a:ext cx="9601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692640" y="4700016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7200" y="5047488"/>
            <a:ext cx="25603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30352" y="5047488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Пилот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3017520" y="5047488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017520" y="504748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19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886200" y="5047488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886200" y="504748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754880" y="5047488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4754880" y="5047488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577840" y="5047488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577840" y="5047488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400800" y="5047488"/>
            <a:ext cx="7315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400800" y="504748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132320" y="5047488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132320" y="504748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47,4%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001000" y="5047488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001000" y="5047488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823960" y="5047488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823960" y="5047488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692640" y="5047488"/>
            <a:ext cx="9601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692640" y="5047488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57200" y="5394960"/>
            <a:ext cx="25603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30352" y="5394960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ЗУП КОРП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017520" y="5394960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017520" y="539496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18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886200" y="5394960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886200" y="539496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754880" y="5394960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754880" y="539496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577840" y="5394960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577840" y="539496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6400800" y="5394960"/>
            <a:ext cx="7315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400800" y="539496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132320" y="5394960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132320" y="539496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44,4%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001000" y="5394960"/>
            <a:ext cx="82296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001000" y="5394960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823960" y="5394960"/>
            <a:ext cx="86868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823960" y="5394960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692640" y="5394960"/>
            <a:ext cx="960120" cy="347472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692640" y="5394960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57200" y="5742432"/>
            <a:ext cx="25603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30352" y="5742432"/>
            <a:ext cx="24871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общепит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3017520" y="5742432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017520" y="574243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18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886200" y="5742432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886200" y="574243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4754880" y="5742432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4754880" y="574243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577840" y="5742432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5577840" y="574243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6400800" y="5742432"/>
            <a:ext cx="7315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6400800" y="5742432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132320" y="5742432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132320" y="574243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66,7%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8001000" y="5742432"/>
            <a:ext cx="82296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001000" y="5742432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0,0%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8823960" y="5742432"/>
            <a:ext cx="8686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823960" y="5742432"/>
            <a:ext cx="868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692640" y="5742432"/>
            <a:ext cx="9601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692640" y="5742432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—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Лидеры по объёму: холодка транспорт, ЗУП ПРОФ, ЗУП базовые. По воронке к демо лучше отработали ЗУП ПРОФ и канбан/донабор сделок.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457200" y="6473952"/>
            <a:ext cx="8412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рабочая группа  ·  1С:Кабинет сотрудника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6" name="Picture 5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3. Фокус по базам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Где сентябрь дал движение к демо и продаже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5623560" cy="2103120"/>
          </a:xfrm>
          <a:prstGeom prst="roundRect">
            <a:avLst>
              <a:gd name="adj" fmla="val 1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ЗУП ПРОФ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Звонки 226  ·  успешн. 65  ·  сделки 12  ·  записи 3  ·  демо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Конверсия в сделку: 5,3%   ·   запись из сделки: 25,0%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Клиенты ЗУП, ранее сегментированные по ИТС. Отсюда вышла продажа ООО «СМ».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623560" cy="210312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Холодка транспорт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860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Звонки 637  ·  успешн. 346  ·  сделки 19  ·  записи 1  ·  демо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974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Конверсия в сделку: 3,0%   ·   запись из сделки: 5,3%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6324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Самый большой объём прозвона. Много диалогов, узкое горлышко в запись на демо.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5623560" cy="210312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ЗУП базовые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720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Звонки 138  ·  успешн. 57  ·  сделки 3  ·  записи 2  ·  демо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Конверсия в сделку: 2,2%   ·   запись из сделки: 66,7%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Средний объём, есть записи и демо — база продолжает давать встречи.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931920"/>
            <a:ext cx="5623560" cy="210312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1148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Канбан + сделки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5720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Звонки 141  ·  успешн. 59  ·  сделки 0  ·  записи 2  ·  демо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834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Конверсия в сделку: 0,0%   ·   запись из сделки: 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34924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Донабор и прогрев уже тёплых контактов: демо без большого прозвона «вхолостую».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8412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рабочая группа  ·  1С:Кабинет сотрудника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6" name="Picture 5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4. Менеджеры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Эффективность и результативность за сентябрь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Записи / проведено / счета / пилоты / продажи — фактические показатели сентября. Звонки — из таблицы аналитики.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65960"/>
            <a:ext cx="5623560" cy="416052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5623560" cy="10972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Оглоблина Софья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Звонков (таблица)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788920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860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72968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Записей на демо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172968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Проведено демо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557016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41064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Выставлено счетов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941064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Пилот (3 мес.)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325112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09160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Продаж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09160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1 продажа в сентябре — ООО «СМ» (10 кабинетов)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965960"/>
            <a:ext cx="5623560" cy="416052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965960"/>
            <a:ext cx="5623560" cy="10972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2402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Кургузов Данил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788920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Звонков (таблица)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788920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172968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Записей на демо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172968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557016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Проведено демо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557016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941064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Выставлено счетов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941064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25112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Пилот (3 мес.)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4325112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709160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Продаж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709160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2120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Стабильный набор демо; пилотов и продаж в сентябре пока нет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473952"/>
            <a:ext cx="8412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рабочая группа  ·  1С:Кабинет сотрудника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6" name="Picture 5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5. Кейс продажи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ООО «СМ» — 10 кабинетов после демо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Клиент: ООО «СМ»  ·  ИНН 3801102232  ·  Источник: база ЗУП ПРОФ (сегмент по ИТС)  ·  Менеджер: Оглоблина Софья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11247120" cy="1170432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09728" cy="11704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4144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Как вышли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15768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Заход к бухгалтеру по ранее купленному ЗУП: уточнили, как идёт работа с программой, напомнили про неизрасходованные услуги при покупке. Бухгалтер о них не знала. Рассказали про бесплатную демонстрацию Кабинета сотрудника — КЭДО внутри 1С, меньше бумаги. Тема заинтересовала, но занимается кадровая служба; попросили оставить контакты (были сложности с телефонией). Отправили письмо — бухгалтер передала кадровикам, и уже кадры сами вышли на связь.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11247120" cy="1170432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09728" cy="11704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2160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Работа с кадрами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95928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Кадровики написали, что хотят подключить КЭДО. Сначала перепутали с демо-периодом Смартвея и просили «попробовать 7 дней». Уточнили: доступна бесплатная демонстрация. Клиент согласился на демо.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92040"/>
            <a:ext cx="11247120" cy="1170432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09728" cy="11704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0176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Демо и решение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76088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На встрече — две сотрудницы: молодая специалистка (основной контакт) и более старшая ЛПР. Показали возможности сервиса и сценарии КЭДО. По итогам ЛПР сразу: «Давай купим 10 кабинетов». Решение подтверждено на демонстрации. Запись демо сохранена. В сентябре — оплата.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8412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рабочая группа  ·  1С:Кабинет сотрудника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6" name="Picture 5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6. Кейс пилота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ООО «ЦЗ» (Центр зрения) — согласие на пилот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Клиент: ООО «ЦЗ» · Центр зрения · Долгая проработка · Есть сотрудники · Интерес к ЭДО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09728" cy="11155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4144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Контекст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157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Клиента обрабатывали долго. Уже был пробный период, но попользоваться сервисом по-настоящему не успели — поэтому интерес не «закрылся», а остался открытым.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09728" cy="11155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7588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Что цепляет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5020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 компании есть сотрудники, которым нужен кадровый контур. Нравится идея электронного документооборота: меньше бумаги, понятные процессы, автоматизация.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0060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109728" cy="11155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1032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Почему пилот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8464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На пилот согласились именно потому, что на демо / в пробном периоде не успели «прожить» сервис руками. Сервис интересен — нужен спокойный срок, чтобы проверить в работе и принять решение о покупке.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8412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рабочая группа  ·  1С:Кабинет сотрудника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6" name="Picture 5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7. Выводы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Что двигает клиента купить Кабинет сотрудника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По кейсам ООО «СМ» (продажа) и ООО «ЦЗ» (пилот). Общее: интерес к автоматизации и электронным процессам.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Уже «болит» бумага / кадры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Есть сотрудники и живой кадровый контур. Клиент чувствует рутину заявлений, подписей, согласований — и ищет, как упростить.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92024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574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Тяга к ЭДО и автоматизации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2608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Не спорят с идеей «всё в электронном виде». Готовы слушать сервис, который встраивается в 1С и не ломает привычный учёт.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92024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574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Понять ценность на себе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2608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Решение зреет после живого контакта: демо у «СМ», пилот у «ЦЗ». Если не успели попробовать — оставляют дверь открытой через пилот.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6908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2628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Правильный ЛПР внутри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У «СМ» бухгалтер открыла дверь, купили кадры/ЛПР на демо. Нужно рано выяснять: кто реально решает по КЭДО и кадрам.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06908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2062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2628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Повод связаться без «холода»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07492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Напоминание про неизрасходованные услуги ЗУП, прошлое касание, долгая проработка — снижают барьер и дают право на разговор про Кабинет.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06908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2062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52628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Низкий риск следующего шага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7492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Бесплатное демо или пилот на 3 месяца — безопасный способ «пожить» в сервисе до оплаты. Это и есть мост от интереса к решению.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8412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рабочая группа  ·  1С:Кабинет сотрудника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