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/>
        <p:txBody>
          <a:bodyPr/>
          <a:lstStyle/>
          <a:p/>
        </p:txBody>
      </p:sp>
      <p:sp>
        <p:nvSpPr>
          <p:cNvPr id="3" name="Vertical Text Placeholder 2"/>
          <p:cNvSpPr>
            <a:spLocks noGrp="1"/>
          </p:cNvSpPr>
          <p:nvPr>
            <p:ph type="body" idx="1" orient="vert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EC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for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11480"/>
            <a:ext cx="1418492" cy="502920"/>
          </a:xfrm>
          <a:prstGeom prst="rect">
            <a:avLst/>
          </a:prstGeom>
        </p:spPr>
      </p:pic>
      <p:pic>
        <p:nvPicPr>
          <p:cNvPr id="7" name="Picture 6" descr="wave_t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0" y="-91440"/>
            <a:ext cx="3383280" cy="1127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155448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395F75"/>
                </a:solidFill>
                <a:latin typeface="Verdana"/>
                <a:ea typeface="Verdana"/>
                <a:cs typeface="Verdana"/>
              </a:rPr>
              <a:t>Рабочая группа  ·  сентябрь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65960"/>
            <a:ext cx="10972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Отчёт по проработке
«1С:Кабинет сотрудника»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520440"/>
            <a:ext cx="1828800" cy="91440"/>
          </a:xfrm>
          <a:prstGeom prst="rect">
            <a:avLst/>
          </a:prstGeom>
          <a:solidFill>
            <a:srgbClr val="FEC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79476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C5C5C"/>
                </a:solidFill>
                <a:latin typeface="Verdana"/>
                <a:ea typeface="Verdana"/>
                <a:cs typeface="Verdana"/>
              </a:rPr>
              <a:t>Базы, конверсии проработки и результаты менеджеров.
Отдельные слайды — кейс успешной продажи и место под кейс пилота.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029200"/>
            <a:ext cx="2697480" cy="1051560"/>
          </a:xfrm>
          <a:prstGeom prst="roundRect">
            <a:avLst>
              <a:gd name="adj" fmla="val 10000"/>
            </a:avLst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5138928"/>
            <a:ext cx="2377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95F75"/>
                </a:solidFill>
                <a:latin typeface="Verdana"/>
                <a:ea typeface="Verdana"/>
                <a:cs typeface="Verdana"/>
              </a:rPr>
              <a:t>Период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5440680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01.09 — 29.09.2026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74720" y="5029200"/>
            <a:ext cx="2697480" cy="1051560"/>
          </a:xfrm>
          <a:prstGeom prst="roundRect">
            <a:avLst>
              <a:gd name="adj" fmla="val 10000"/>
            </a:avLst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39312" y="5138928"/>
            <a:ext cx="2377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95F75"/>
                </a:solidFill>
                <a:latin typeface="Verdana"/>
                <a:ea typeface="Verdana"/>
                <a:cs typeface="Verdana"/>
              </a:rPr>
              <a:t>Менеджеры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9312" y="5440680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Софья · Данил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5029200"/>
            <a:ext cx="2697480" cy="1051560"/>
          </a:xfrm>
          <a:prstGeom prst="roundRect">
            <a:avLst>
              <a:gd name="adj" fmla="val 10000"/>
            </a:avLst>
          </a:prstGeom>
          <a:solidFill>
            <a:srgbClr val="FEC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5138928"/>
            <a:ext cx="2377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Звонков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2" y="5440680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1 374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0" y="5029200"/>
            <a:ext cx="2697480" cy="1051560"/>
          </a:xfrm>
          <a:prstGeom prst="roundRect">
            <a:avLst>
              <a:gd name="adj" fmla="val 10000"/>
            </a:avLst>
          </a:prstGeom>
          <a:solidFill>
            <a:srgbClr val="FEC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08592" y="5138928"/>
            <a:ext cx="2377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Продаж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08592" y="5440680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1</a:t>
            </a:r>
          </a:p>
        </p:txBody>
      </p:sp>
      <p:pic>
        <p:nvPicPr>
          <p:cNvPr id="24" name="Picture 23" descr="wave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37160" y="5989320"/>
            <a:ext cx="2926080" cy="9753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/>
        <p:txBody>
          <a:bodyPr/>
          <a:lstStyle/>
          <a:p/>
        </p:txBody>
      </p:sp>
      <p:sp>
        <p:nvSpPr>
          <p:cNvPr id="3" name="Vertical Text Placeholder 2"/>
          <p:cNvSpPr>
            <a:spLocks noGrp="1"/>
          </p:cNvSpPr>
          <p:nvPr>
            <p:ph type="body" idx="1" orient="vert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-for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1168"/>
            <a:ext cx="980049" cy="347472"/>
          </a:xfrm>
          <a:prstGeom prst="rect">
            <a:avLst/>
          </a:prstGeom>
        </p:spPr>
      </p:pic>
      <p:pic>
        <p:nvPicPr>
          <p:cNvPr id="6" name="Picture 5" descr="wave_t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920" y="-45720"/>
            <a:ext cx="2651760" cy="883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58368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395F75"/>
                </a:solidFill>
                <a:latin typeface="Verdana"/>
                <a:ea typeface="Verdana"/>
                <a:cs typeface="Verdana"/>
              </a:rPr>
              <a:t>1. Итоги месяца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896112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Сентябрь в цифрах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89888"/>
            <a:ext cx="1234440" cy="64008"/>
          </a:xfrm>
          <a:prstGeom prst="rect">
            <a:avLst/>
          </a:prstGeom>
          <a:solidFill>
            <a:srgbClr val="FEC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" y="1691640"/>
            <a:ext cx="3657600" cy="1783080"/>
          </a:xfrm>
          <a:prstGeom prst="roundRect">
            <a:avLst>
              <a:gd name="adj" fmla="val 10000"/>
            </a:avLst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691640"/>
            <a:ext cx="3657600" cy="91440"/>
          </a:xfrm>
          <a:prstGeom prst="rect">
            <a:avLst/>
          </a:prstGeom>
          <a:solidFill>
            <a:srgbClr val="FEC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965960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395F75"/>
                </a:solidFill>
                <a:latin typeface="Verdana"/>
                <a:ea typeface="Verdana"/>
                <a:cs typeface="Verdana"/>
              </a:rPr>
              <a:t>Звонков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331720"/>
            <a:ext cx="3200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1 374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971800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Verdana"/>
                <a:ea typeface="Verdana"/>
                <a:cs typeface="Verdana"/>
              </a:rPr>
              <a:t>прозвон по базам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80" y="1691640"/>
            <a:ext cx="3657600" cy="1783080"/>
          </a:xfrm>
          <a:prstGeom prst="roundRect">
            <a:avLst>
              <a:gd name="adj" fmla="val 10000"/>
            </a:avLst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97680" y="1691640"/>
            <a:ext cx="3657600" cy="91440"/>
          </a:xfrm>
          <a:prstGeom prst="rect">
            <a:avLst/>
          </a:prstGeom>
          <a:solidFill>
            <a:srgbClr val="FEC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26280" y="1965960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395F75"/>
                </a:solidFill>
                <a:latin typeface="Verdana"/>
                <a:ea typeface="Verdana"/>
                <a:cs typeface="Verdana"/>
              </a:rPr>
              <a:t>Успешных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331720"/>
            <a:ext cx="3200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613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6280" y="2971800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Verdana"/>
                <a:ea typeface="Verdana"/>
                <a:cs typeface="Verdana"/>
              </a:rPr>
              <a:t>дозвон/диалог · 44,6%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60" y="1691640"/>
            <a:ext cx="3657600" cy="1783080"/>
          </a:xfrm>
          <a:prstGeom prst="roundRect">
            <a:avLst>
              <a:gd name="adj" fmla="val 10000"/>
            </a:avLst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38160" y="1691640"/>
            <a:ext cx="3657600" cy="91440"/>
          </a:xfrm>
          <a:prstGeom prst="rect">
            <a:avLst/>
          </a:prstGeom>
          <a:solidFill>
            <a:srgbClr val="FEC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66760" y="1965960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395F75"/>
                </a:solidFill>
                <a:latin typeface="Verdana"/>
                <a:ea typeface="Verdana"/>
                <a:cs typeface="Verdana"/>
              </a:rPr>
              <a:t>В сделку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2331720"/>
            <a:ext cx="3200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39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2971800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Verdana"/>
                <a:ea typeface="Verdana"/>
                <a:cs typeface="Verdana"/>
              </a:rPr>
              <a:t>интерес · 2,8%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3657600"/>
            <a:ext cx="3657600" cy="1783080"/>
          </a:xfrm>
          <a:prstGeom prst="roundRect">
            <a:avLst>
              <a:gd name="adj" fmla="val 10000"/>
            </a:avLst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3657600"/>
            <a:ext cx="3657600" cy="91440"/>
          </a:xfrm>
          <a:prstGeom prst="rect">
            <a:avLst/>
          </a:prstGeom>
          <a:solidFill>
            <a:srgbClr val="FEC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3931920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395F75"/>
                </a:solidFill>
                <a:latin typeface="Verdana"/>
                <a:ea typeface="Verdana"/>
                <a:cs typeface="Verdana"/>
              </a:rPr>
              <a:t>Записей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4297680"/>
            <a:ext cx="3200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4937760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Verdana"/>
                <a:ea typeface="Verdana"/>
                <a:cs typeface="Verdana"/>
              </a:rPr>
              <a:t>на демо / подключение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97680" y="3657600"/>
            <a:ext cx="3657600" cy="1783080"/>
          </a:xfrm>
          <a:prstGeom prst="roundRect">
            <a:avLst>
              <a:gd name="adj" fmla="val 10000"/>
            </a:avLst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297680" y="3657600"/>
            <a:ext cx="3657600" cy="91440"/>
          </a:xfrm>
          <a:prstGeom prst="rect">
            <a:avLst/>
          </a:prstGeom>
          <a:solidFill>
            <a:srgbClr val="FEC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26280" y="3931920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395F75"/>
                </a:solidFill>
                <a:latin typeface="Verdana"/>
                <a:ea typeface="Verdana"/>
                <a:cs typeface="Verdana"/>
              </a:rPr>
              <a:t>Демо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26280" y="4297680"/>
            <a:ext cx="3200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26280" y="4937760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Verdana"/>
                <a:ea typeface="Verdana"/>
                <a:cs typeface="Verdana"/>
              </a:rPr>
              <a:t>фактически проведено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38160" y="3657600"/>
            <a:ext cx="3657600" cy="1783080"/>
          </a:xfrm>
          <a:prstGeom prst="roundRect">
            <a:avLst>
              <a:gd name="adj" fmla="val 10000"/>
            </a:avLst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138160" y="3657600"/>
            <a:ext cx="3657600" cy="91440"/>
          </a:xfrm>
          <a:prstGeom prst="rect">
            <a:avLst/>
          </a:prstGeom>
          <a:solidFill>
            <a:srgbClr val="FEC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66760" y="3931920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395F75"/>
                </a:solidFill>
                <a:latin typeface="Verdana"/>
                <a:ea typeface="Verdana"/>
                <a:cs typeface="Verdana"/>
              </a:rPr>
              <a:t>Продаж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4297680"/>
            <a:ext cx="3200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66760" y="4937760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Verdana"/>
                <a:ea typeface="Verdana"/>
                <a:cs typeface="Verdana"/>
              </a:rPr>
              <a:t>закрыто в сентябре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EC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7200" y="6473952"/>
            <a:ext cx="8412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Verdana"/>
                <a:ea typeface="Verdana"/>
                <a:cs typeface="Verdana"/>
              </a:rPr>
              <a:t>ГК Форус  ·  рабочая группа  ·  1С:Кабинет сотрудника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24160" y="6473952"/>
            <a:ext cx="12801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5C5C5C"/>
                </a:solidFill>
                <a:latin typeface="Verdana"/>
                <a:ea typeface="Verdana"/>
                <a:cs typeface="Verdana"/>
              </a:rPr>
              <a:t>2 /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/>
        <p:txBody>
          <a:bodyPr/>
          <a:lstStyle/>
          <a:p/>
        </p:txBody>
      </p:sp>
      <p:sp>
        <p:nvSpPr>
          <p:cNvPr id="3" name="Vertical Text Placeholder 2"/>
          <p:cNvSpPr>
            <a:spLocks noGrp="1"/>
          </p:cNvSpPr>
          <p:nvPr>
            <p:ph type="body" idx="1" orient="vert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-for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1168"/>
            <a:ext cx="980049" cy="347472"/>
          </a:xfrm>
          <a:prstGeom prst="rect">
            <a:avLst/>
          </a:prstGeom>
        </p:spPr>
      </p:pic>
      <p:pic>
        <p:nvPicPr>
          <p:cNvPr id="6" name="Picture 5" descr="wave_t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920" y="-45720"/>
            <a:ext cx="2651760" cy="883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58368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395F75"/>
                </a:solidFill>
                <a:latin typeface="Verdana"/>
                <a:ea typeface="Verdana"/>
                <a:cs typeface="Verdana"/>
              </a:rPr>
              <a:t>2. Базы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896112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Что прорабатывали и какие конверсии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89888"/>
            <a:ext cx="1234440" cy="64008"/>
          </a:xfrm>
          <a:prstGeom prst="rect">
            <a:avLst/>
          </a:prstGeom>
          <a:solidFill>
            <a:srgbClr val="FEC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50876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Verdana"/>
                <a:ea typeface="Verdana"/>
                <a:cs typeface="Verdana"/>
              </a:rPr>
              <a:t>Данные из «КС аналитика (4).xlsx» за сентябрь. Конверсии: успешный / звонок → сделка / звонок → запись / сделка → демо / запись.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920240"/>
            <a:ext cx="2560320" cy="347472"/>
          </a:xfrm>
          <a:prstGeom prst="rect">
            <a:avLst/>
          </a:prstGeom>
          <a:solidFill>
            <a:srgbClr val="FEC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920240"/>
            <a:ext cx="256032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База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920240"/>
            <a:ext cx="868680" cy="347472"/>
          </a:xfrm>
          <a:prstGeom prst="rect">
            <a:avLst/>
          </a:prstGeom>
          <a:solidFill>
            <a:srgbClr val="FEC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17520" y="1920240"/>
            <a:ext cx="8686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Звонки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86200" y="1920240"/>
            <a:ext cx="868680" cy="347472"/>
          </a:xfrm>
          <a:prstGeom prst="rect">
            <a:avLst/>
          </a:prstGeom>
          <a:solidFill>
            <a:srgbClr val="FEC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86200" y="1920240"/>
            <a:ext cx="8686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Успешн.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54880" y="1920240"/>
            <a:ext cx="822960" cy="347472"/>
          </a:xfrm>
          <a:prstGeom prst="rect">
            <a:avLst/>
          </a:prstGeom>
          <a:solidFill>
            <a:srgbClr val="FEC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0" y="1920240"/>
            <a:ext cx="82296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Сделка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577840" y="1920240"/>
            <a:ext cx="822960" cy="347472"/>
          </a:xfrm>
          <a:prstGeom prst="rect">
            <a:avLst/>
          </a:prstGeom>
          <a:solidFill>
            <a:srgbClr val="FEC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77840" y="1920240"/>
            <a:ext cx="82296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Запись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1920240"/>
            <a:ext cx="731520" cy="347472"/>
          </a:xfrm>
          <a:prstGeom prst="rect">
            <a:avLst/>
          </a:prstGeom>
          <a:solidFill>
            <a:srgbClr val="FEC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1920240"/>
            <a:ext cx="73152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Демо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32320" y="1920240"/>
            <a:ext cx="868680" cy="347472"/>
          </a:xfrm>
          <a:prstGeom prst="rect">
            <a:avLst/>
          </a:prstGeom>
          <a:solidFill>
            <a:srgbClr val="FEC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0" y="1920240"/>
            <a:ext cx="8686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Усп/зв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1000" y="1920240"/>
            <a:ext cx="822960" cy="347472"/>
          </a:xfrm>
          <a:prstGeom prst="rect">
            <a:avLst/>
          </a:prstGeom>
          <a:solidFill>
            <a:srgbClr val="FEC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01000" y="1920240"/>
            <a:ext cx="82296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Сд/зв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823960" y="1920240"/>
            <a:ext cx="868680" cy="347472"/>
          </a:xfrm>
          <a:prstGeom prst="rect">
            <a:avLst/>
          </a:prstGeom>
          <a:solidFill>
            <a:srgbClr val="FEC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23960" y="1920240"/>
            <a:ext cx="8686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Зап/сд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92640" y="1920240"/>
            <a:ext cx="960120" cy="347472"/>
          </a:xfrm>
          <a:prstGeom prst="rect">
            <a:avLst/>
          </a:prstGeom>
          <a:solidFill>
            <a:srgbClr val="FEC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92640" y="1920240"/>
            <a:ext cx="96012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Демо/зап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2267712"/>
            <a:ext cx="2560320" cy="347472"/>
          </a:xfrm>
          <a:prstGeom prst="rect">
            <a:avLst/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0352" y="2267712"/>
            <a:ext cx="248716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Холодка транспорт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017520" y="2267712"/>
            <a:ext cx="868680" cy="347472"/>
          </a:xfrm>
          <a:prstGeom prst="rect">
            <a:avLst/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17520" y="2267712"/>
            <a:ext cx="8686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637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886200" y="2267712"/>
            <a:ext cx="868680" cy="347472"/>
          </a:xfrm>
          <a:prstGeom prst="rect">
            <a:avLst/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886200" y="2267712"/>
            <a:ext cx="8686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346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754880" y="2267712"/>
            <a:ext cx="822960" cy="347472"/>
          </a:xfrm>
          <a:prstGeom prst="rect">
            <a:avLst/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54880" y="2267712"/>
            <a:ext cx="82296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19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577840" y="2267712"/>
            <a:ext cx="822960" cy="347472"/>
          </a:xfrm>
          <a:prstGeom prst="rect">
            <a:avLst/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577840" y="2267712"/>
            <a:ext cx="82296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0" y="2267712"/>
            <a:ext cx="731520" cy="347472"/>
          </a:xfrm>
          <a:prstGeom prst="rect">
            <a:avLst/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0" y="2267712"/>
            <a:ext cx="73152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132320" y="2267712"/>
            <a:ext cx="868680" cy="347472"/>
          </a:xfrm>
          <a:prstGeom prst="rect">
            <a:avLst/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132320" y="2267712"/>
            <a:ext cx="8686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54,3%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001000" y="2267712"/>
            <a:ext cx="822960" cy="347472"/>
          </a:xfrm>
          <a:prstGeom prst="rect">
            <a:avLst/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001000" y="2267712"/>
            <a:ext cx="82296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3,0%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823960" y="2267712"/>
            <a:ext cx="868680" cy="347472"/>
          </a:xfrm>
          <a:prstGeom prst="rect">
            <a:avLst/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823960" y="2267712"/>
            <a:ext cx="8686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5,3%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692640" y="2267712"/>
            <a:ext cx="960120" cy="347472"/>
          </a:xfrm>
          <a:prstGeom prst="rect">
            <a:avLst/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692640" y="2267712"/>
            <a:ext cx="96012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0,0%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7200" y="2615184"/>
            <a:ext cx="2560320" cy="347472"/>
          </a:xfrm>
          <a:prstGeom prst="rect">
            <a:avLst/>
          </a:prstGeom>
          <a:solidFill>
            <a:srgbClr val="FFF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30352" y="2615184"/>
            <a:ext cx="248716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ЗУП ПРОФ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017520" y="2615184"/>
            <a:ext cx="868680" cy="347472"/>
          </a:xfrm>
          <a:prstGeom prst="rect">
            <a:avLst/>
          </a:prstGeom>
          <a:solidFill>
            <a:srgbClr val="FFF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17520" y="2615184"/>
            <a:ext cx="8686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226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886200" y="2615184"/>
            <a:ext cx="868680" cy="347472"/>
          </a:xfrm>
          <a:prstGeom prst="rect">
            <a:avLst/>
          </a:prstGeom>
          <a:solidFill>
            <a:srgbClr val="FFF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886200" y="2615184"/>
            <a:ext cx="8686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65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754880" y="2615184"/>
            <a:ext cx="822960" cy="347472"/>
          </a:xfrm>
          <a:prstGeom prst="rect">
            <a:avLst/>
          </a:prstGeom>
          <a:solidFill>
            <a:srgbClr val="FFF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754880" y="2615184"/>
            <a:ext cx="82296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12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577840" y="2615184"/>
            <a:ext cx="822960" cy="347472"/>
          </a:xfrm>
          <a:prstGeom prst="rect">
            <a:avLst/>
          </a:prstGeom>
          <a:solidFill>
            <a:srgbClr val="FFF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577840" y="2615184"/>
            <a:ext cx="82296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400800" y="2615184"/>
            <a:ext cx="731520" cy="347472"/>
          </a:xfrm>
          <a:prstGeom prst="rect">
            <a:avLst/>
          </a:prstGeom>
          <a:solidFill>
            <a:srgbClr val="FFF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0" y="2615184"/>
            <a:ext cx="73152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2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132320" y="2615184"/>
            <a:ext cx="868680" cy="347472"/>
          </a:xfrm>
          <a:prstGeom prst="rect">
            <a:avLst/>
          </a:prstGeom>
          <a:solidFill>
            <a:srgbClr val="FFF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132320" y="2615184"/>
            <a:ext cx="8686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28,8%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001000" y="2615184"/>
            <a:ext cx="822960" cy="347472"/>
          </a:xfrm>
          <a:prstGeom prst="rect">
            <a:avLst/>
          </a:prstGeom>
          <a:solidFill>
            <a:srgbClr val="FFF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001000" y="2615184"/>
            <a:ext cx="82296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5,3%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823960" y="2615184"/>
            <a:ext cx="868680" cy="347472"/>
          </a:xfrm>
          <a:prstGeom prst="rect">
            <a:avLst/>
          </a:prstGeom>
          <a:solidFill>
            <a:srgbClr val="FFF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823960" y="2615184"/>
            <a:ext cx="8686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25,0%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692640" y="2615184"/>
            <a:ext cx="960120" cy="347472"/>
          </a:xfrm>
          <a:prstGeom prst="rect">
            <a:avLst/>
          </a:prstGeom>
          <a:solidFill>
            <a:srgbClr val="FFF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692640" y="2615184"/>
            <a:ext cx="96012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66,7%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57200" y="2962656"/>
            <a:ext cx="2560320" cy="347472"/>
          </a:xfrm>
          <a:prstGeom prst="rect">
            <a:avLst/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30352" y="2962656"/>
            <a:ext cx="248716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ЗУП базовые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017520" y="2962656"/>
            <a:ext cx="868680" cy="347472"/>
          </a:xfrm>
          <a:prstGeom prst="rect">
            <a:avLst/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17520" y="2962656"/>
            <a:ext cx="8686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138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886200" y="2962656"/>
            <a:ext cx="868680" cy="347472"/>
          </a:xfrm>
          <a:prstGeom prst="rect">
            <a:avLst/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886200" y="2962656"/>
            <a:ext cx="8686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57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754880" y="2962656"/>
            <a:ext cx="822960" cy="347472"/>
          </a:xfrm>
          <a:prstGeom prst="rect">
            <a:avLst/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754880" y="2962656"/>
            <a:ext cx="82296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3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577840" y="2962656"/>
            <a:ext cx="822960" cy="347472"/>
          </a:xfrm>
          <a:prstGeom prst="rect">
            <a:avLst/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577840" y="2962656"/>
            <a:ext cx="82296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2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400800" y="2962656"/>
            <a:ext cx="731520" cy="347472"/>
          </a:xfrm>
          <a:prstGeom prst="rect">
            <a:avLst/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400800" y="2962656"/>
            <a:ext cx="73152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1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132320" y="2962656"/>
            <a:ext cx="868680" cy="347472"/>
          </a:xfrm>
          <a:prstGeom prst="rect">
            <a:avLst/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132320" y="2962656"/>
            <a:ext cx="8686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41,3%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001000" y="2962656"/>
            <a:ext cx="822960" cy="347472"/>
          </a:xfrm>
          <a:prstGeom prst="rect">
            <a:avLst/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001000" y="2962656"/>
            <a:ext cx="82296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2,2%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823960" y="2962656"/>
            <a:ext cx="868680" cy="347472"/>
          </a:xfrm>
          <a:prstGeom prst="rect">
            <a:avLst/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823960" y="2962656"/>
            <a:ext cx="8686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66,7%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9692640" y="2962656"/>
            <a:ext cx="960120" cy="347472"/>
          </a:xfrm>
          <a:prstGeom prst="rect">
            <a:avLst/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9692640" y="2962656"/>
            <a:ext cx="96012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50,0%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57200" y="3310128"/>
            <a:ext cx="2560320" cy="347472"/>
          </a:xfrm>
          <a:prstGeom prst="rect">
            <a:avLst/>
          </a:prstGeom>
          <a:solidFill>
            <a:srgbClr val="FFF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30352" y="3310128"/>
            <a:ext cx="248716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База отвалов / отвал КС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017520" y="3310128"/>
            <a:ext cx="868680" cy="347472"/>
          </a:xfrm>
          <a:prstGeom prst="rect">
            <a:avLst/>
          </a:prstGeom>
          <a:solidFill>
            <a:srgbClr val="FFF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017520" y="3310128"/>
            <a:ext cx="8686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101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886200" y="3310128"/>
            <a:ext cx="868680" cy="347472"/>
          </a:xfrm>
          <a:prstGeom prst="rect">
            <a:avLst/>
          </a:prstGeom>
          <a:solidFill>
            <a:srgbClr val="FFF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886200" y="3310128"/>
            <a:ext cx="8686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29</a:t>
            </a:r>
          </a:p>
        </p:txBody>
      </p:sp>
      <p:sp>
        <p:nvSpPr>
          <p:cNvPr id="97" name="Rectangle 96"/>
          <p:cNvSpPr/>
          <p:nvPr/>
        </p:nvSpPr>
        <p:spPr>
          <a:xfrm>
            <a:off x="4754880" y="3310128"/>
            <a:ext cx="822960" cy="347472"/>
          </a:xfrm>
          <a:prstGeom prst="rect">
            <a:avLst/>
          </a:prstGeom>
          <a:solidFill>
            <a:srgbClr val="FFF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754880" y="3310128"/>
            <a:ext cx="82296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4</a:t>
            </a:r>
          </a:p>
        </p:txBody>
      </p:sp>
      <p:sp>
        <p:nvSpPr>
          <p:cNvPr id="99" name="Rectangle 98"/>
          <p:cNvSpPr/>
          <p:nvPr/>
        </p:nvSpPr>
        <p:spPr>
          <a:xfrm>
            <a:off x="5577840" y="3310128"/>
            <a:ext cx="822960" cy="347472"/>
          </a:xfrm>
          <a:prstGeom prst="rect">
            <a:avLst/>
          </a:prstGeom>
          <a:solidFill>
            <a:srgbClr val="FFF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5577840" y="3310128"/>
            <a:ext cx="82296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0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6400800" y="3310128"/>
            <a:ext cx="731520" cy="347472"/>
          </a:xfrm>
          <a:prstGeom prst="rect">
            <a:avLst/>
          </a:prstGeom>
          <a:solidFill>
            <a:srgbClr val="FFF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6400800" y="3310128"/>
            <a:ext cx="73152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0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7132320" y="3310128"/>
            <a:ext cx="868680" cy="347472"/>
          </a:xfrm>
          <a:prstGeom prst="rect">
            <a:avLst/>
          </a:prstGeom>
          <a:solidFill>
            <a:srgbClr val="FFF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7132320" y="3310128"/>
            <a:ext cx="8686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28,7%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8001000" y="3310128"/>
            <a:ext cx="822960" cy="347472"/>
          </a:xfrm>
          <a:prstGeom prst="rect">
            <a:avLst/>
          </a:prstGeom>
          <a:solidFill>
            <a:srgbClr val="FFF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8001000" y="3310128"/>
            <a:ext cx="82296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4,0%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8823960" y="3310128"/>
            <a:ext cx="868680" cy="347472"/>
          </a:xfrm>
          <a:prstGeom prst="rect">
            <a:avLst/>
          </a:prstGeom>
          <a:solidFill>
            <a:srgbClr val="FFF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8823960" y="3310128"/>
            <a:ext cx="8686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0,0%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9692640" y="3310128"/>
            <a:ext cx="960120" cy="347472"/>
          </a:xfrm>
          <a:prstGeom prst="rect">
            <a:avLst/>
          </a:prstGeom>
          <a:solidFill>
            <a:srgbClr val="FFF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9692640" y="3310128"/>
            <a:ext cx="96012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—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457200" y="3657600"/>
            <a:ext cx="2560320" cy="347472"/>
          </a:xfrm>
          <a:prstGeom prst="rect">
            <a:avLst/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30352" y="3657600"/>
            <a:ext cx="248716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Сделки (донабор)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017520" y="3657600"/>
            <a:ext cx="868680" cy="347472"/>
          </a:xfrm>
          <a:prstGeom prst="rect">
            <a:avLst/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017520" y="3657600"/>
            <a:ext cx="8686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73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3886200" y="3657600"/>
            <a:ext cx="868680" cy="347472"/>
          </a:xfrm>
          <a:prstGeom prst="rect">
            <a:avLst/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3886200" y="3657600"/>
            <a:ext cx="8686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32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4754880" y="3657600"/>
            <a:ext cx="822960" cy="347472"/>
          </a:xfrm>
          <a:prstGeom prst="rect">
            <a:avLst/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4754880" y="3657600"/>
            <a:ext cx="82296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0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5577840" y="3657600"/>
            <a:ext cx="822960" cy="347472"/>
          </a:xfrm>
          <a:prstGeom prst="rect">
            <a:avLst/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5577840" y="3657600"/>
            <a:ext cx="82296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1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6400800" y="3657600"/>
            <a:ext cx="731520" cy="347472"/>
          </a:xfrm>
          <a:prstGeom prst="rect">
            <a:avLst/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6400800" y="3657600"/>
            <a:ext cx="73152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2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7132320" y="3657600"/>
            <a:ext cx="868680" cy="347472"/>
          </a:xfrm>
          <a:prstGeom prst="rect">
            <a:avLst/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7132320" y="3657600"/>
            <a:ext cx="8686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43,8%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8001000" y="3657600"/>
            <a:ext cx="822960" cy="347472"/>
          </a:xfrm>
          <a:prstGeom prst="rect">
            <a:avLst/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8001000" y="3657600"/>
            <a:ext cx="82296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0,0%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8823960" y="3657600"/>
            <a:ext cx="868680" cy="347472"/>
          </a:xfrm>
          <a:prstGeom prst="rect">
            <a:avLst/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8823960" y="3657600"/>
            <a:ext cx="8686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—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692640" y="3657600"/>
            <a:ext cx="960120" cy="347472"/>
          </a:xfrm>
          <a:prstGeom prst="rect">
            <a:avLst/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692640" y="3657600"/>
            <a:ext cx="96012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200,0%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457200" y="4005072"/>
            <a:ext cx="2560320" cy="347472"/>
          </a:xfrm>
          <a:prstGeom prst="rect">
            <a:avLst/>
          </a:prstGeom>
          <a:solidFill>
            <a:srgbClr val="FFF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530352" y="4005072"/>
            <a:ext cx="248716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База канбана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3017520" y="4005072"/>
            <a:ext cx="868680" cy="347472"/>
          </a:xfrm>
          <a:prstGeom prst="rect">
            <a:avLst/>
          </a:prstGeom>
          <a:solidFill>
            <a:srgbClr val="FFF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3017520" y="4005072"/>
            <a:ext cx="8686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68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3886200" y="4005072"/>
            <a:ext cx="868680" cy="347472"/>
          </a:xfrm>
          <a:prstGeom prst="rect">
            <a:avLst/>
          </a:prstGeom>
          <a:solidFill>
            <a:srgbClr val="FFF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3886200" y="4005072"/>
            <a:ext cx="8686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27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4754880" y="4005072"/>
            <a:ext cx="822960" cy="347472"/>
          </a:xfrm>
          <a:prstGeom prst="rect">
            <a:avLst/>
          </a:prstGeom>
          <a:solidFill>
            <a:srgbClr val="FFF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4754880" y="4005072"/>
            <a:ext cx="82296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0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5577840" y="4005072"/>
            <a:ext cx="822960" cy="347472"/>
          </a:xfrm>
          <a:prstGeom prst="rect">
            <a:avLst/>
          </a:prstGeom>
          <a:solidFill>
            <a:srgbClr val="FFF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5577840" y="4005072"/>
            <a:ext cx="82296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1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6400800" y="4005072"/>
            <a:ext cx="731520" cy="347472"/>
          </a:xfrm>
          <a:prstGeom prst="rect">
            <a:avLst/>
          </a:prstGeom>
          <a:solidFill>
            <a:srgbClr val="FFF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400800" y="4005072"/>
            <a:ext cx="73152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2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7132320" y="4005072"/>
            <a:ext cx="868680" cy="347472"/>
          </a:xfrm>
          <a:prstGeom prst="rect">
            <a:avLst/>
          </a:prstGeom>
          <a:solidFill>
            <a:srgbClr val="FFF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7132320" y="4005072"/>
            <a:ext cx="8686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39,7%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8001000" y="4005072"/>
            <a:ext cx="822960" cy="347472"/>
          </a:xfrm>
          <a:prstGeom prst="rect">
            <a:avLst/>
          </a:prstGeom>
          <a:solidFill>
            <a:srgbClr val="FFF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8001000" y="4005072"/>
            <a:ext cx="82296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0,0%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823960" y="4005072"/>
            <a:ext cx="868680" cy="347472"/>
          </a:xfrm>
          <a:prstGeom prst="rect">
            <a:avLst/>
          </a:prstGeom>
          <a:solidFill>
            <a:srgbClr val="FFF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823960" y="4005072"/>
            <a:ext cx="8686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—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9692640" y="4005072"/>
            <a:ext cx="960120" cy="347472"/>
          </a:xfrm>
          <a:prstGeom prst="rect">
            <a:avLst/>
          </a:prstGeom>
          <a:solidFill>
            <a:srgbClr val="FFF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9692640" y="4005072"/>
            <a:ext cx="96012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200,0%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457200" y="4352544"/>
            <a:ext cx="2560320" cy="347472"/>
          </a:xfrm>
          <a:prstGeom prst="rect">
            <a:avLst/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530352" y="4352544"/>
            <a:ext cx="248716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База ЗУП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3017520" y="4352544"/>
            <a:ext cx="868680" cy="347472"/>
          </a:xfrm>
          <a:prstGeom prst="rect">
            <a:avLst/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3017520" y="4352544"/>
            <a:ext cx="8686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45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3886200" y="4352544"/>
            <a:ext cx="868680" cy="347472"/>
          </a:xfrm>
          <a:prstGeom prst="rect">
            <a:avLst/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3886200" y="4352544"/>
            <a:ext cx="8686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15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4754880" y="4352544"/>
            <a:ext cx="822960" cy="347472"/>
          </a:xfrm>
          <a:prstGeom prst="rect">
            <a:avLst/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4754880" y="4352544"/>
            <a:ext cx="82296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1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5577840" y="4352544"/>
            <a:ext cx="822960" cy="347472"/>
          </a:xfrm>
          <a:prstGeom prst="rect">
            <a:avLst/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5577840" y="4352544"/>
            <a:ext cx="82296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1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6400800" y="4352544"/>
            <a:ext cx="731520" cy="347472"/>
          </a:xfrm>
          <a:prstGeom prst="rect">
            <a:avLst/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6400800" y="4352544"/>
            <a:ext cx="73152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0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7132320" y="4352544"/>
            <a:ext cx="868680" cy="347472"/>
          </a:xfrm>
          <a:prstGeom prst="rect">
            <a:avLst/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7132320" y="4352544"/>
            <a:ext cx="8686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33,3%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8001000" y="4352544"/>
            <a:ext cx="822960" cy="347472"/>
          </a:xfrm>
          <a:prstGeom prst="rect">
            <a:avLst/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8001000" y="4352544"/>
            <a:ext cx="82296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2,2%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8823960" y="4352544"/>
            <a:ext cx="868680" cy="347472"/>
          </a:xfrm>
          <a:prstGeom prst="rect">
            <a:avLst/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8823960" y="4352544"/>
            <a:ext cx="8686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100,0%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9692640" y="4352544"/>
            <a:ext cx="960120" cy="347472"/>
          </a:xfrm>
          <a:prstGeom prst="rect">
            <a:avLst/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9692640" y="4352544"/>
            <a:ext cx="96012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0,0%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457200" y="4700016"/>
            <a:ext cx="2560320" cy="347472"/>
          </a:xfrm>
          <a:prstGeom prst="rect">
            <a:avLst/>
          </a:prstGeom>
          <a:solidFill>
            <a:srgbClr val="FFF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530352" y="4700016"/>
            <a:ext cx="248716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База вебинаров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3017520" y="4700016"/>
            <a:ext cx="868680" cy="347472"/>
          </a:xfrm>
          <a:prstGeom prst="rect">
            <a:avLst/>
          </a:prstGeom>
          <a:solidFill>
            <a:srgbClr val="FFF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3017520" y="4700016"/>
            <a:ext cx="8686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19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3886200" y="4700016"/>
            <a:ext cx="868680" cy="347472"/>
          </a:xfrm>
          <a:prstGeom prst="rect">
            <a:avLst/>
          </a:prstGeom>
          <a:solidFill>
            <a:srgbClr val="FFF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3886200" y="4700016"/>
            <a:ext cx="8686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8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4754880" y="4700016"/>
            <a:ext cx="822960" cy="347472"/>
          </a:xfrm>
          <a:prstGeom prst="rect">
            <a:avLst/>
          </a:prstGeom>
          <a:solidFill>
            <a:srgbClr val="FFF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4754880" y="4700016"/>
            <a:ext cx="82296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0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5577840" y="4700016"/>
            <a:ext cx="822960" cy="347472"/>
          </a:xfrm>
          <a:prstGeom prst="rect">
            <a:avLst/>
          </a:prstGeom>
          <a:solidFill>
            <a:srgbClr val="FFF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5577840" y="4700016"/>
            <a:ext cx="82296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0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6400800" y="4700016"/>
            <a:ext cx="731520" cy="347472"/>
          </a:xfrm>
          <a:prstGeom prst="rect">
            <a:avLst/>
          </a:prstGeom>
          <a:solidFill>
            <a:srgbClr val="FFF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400800" y="4700016"/>
            <a:ext cx="73152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0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7132320" y="4700016"/>
            <a:ext cx="868680" cy="347472"/>
          </a:xfrm>
          <a:prstGeom prst="rect">
            <a:avLst/>
          </a:prstGeom>
          <a:solidFill>
            <a:srgbClr val="FFF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7132320" y="4700016"/>
            <a:ext cx="8686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42,1%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001000" y="4700016"/>
            <a:ext cx="822960" cy="347472"/>
          </a:xfrm>
          <a:prstGeom prst="rect">
            <a:avLst/>
          </a:prstGeom>
          <a:solidFill>
            <a:srgbClr val="FFF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8001000" y="4700016"/>
            <a:ext cx="82296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0,0%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8823960" y="4700016"/>
            <a:ext cx="868680" cy="347472"/>
          </a:xfrm>
          <a:prstGeom prst="rect">
            <a:avLst/>
          </a:prstGeom>
          <a:solidFill>
            <a:srgbClr val="FFF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8823960" y="4700016"/>
            <a:ext cx="8686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—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9692640" y="4700016"/>
            <a:ext cx="960120" cy="347472"/>
          </a:xfrm>
          <a:prstGeom prst="rect">
            <a:avLst/>
          </a:prstGeom>
          <a:solidFill>
            <a:srgbClr val="FFF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9692640" y="4700016"/>
            <a:ext cx="96012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—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457200" y="5047488"/>
            <a:ext cx="2560320" cy="347472"/>
          </a:xfrm>
          <a:prstGeom prst="rect">
            <a:avLst/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530352" y="5047488"/>
            <a:ext cx="248716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Пилот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3017520" y="5047488"/>
            <a:ext cx="868680" cy="347472"/>
          </a:xfrm>
          <a:prstGeom prst="rect">
            <a:avLst/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3017520" y="5047488"/>
            <a:ext cx="8686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19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3886200" y="5047488"/>
            <a:ext cx="868680" cy="347472"/>
          </a:xfrm>
          <a:prstGeom prst="rect">
            <a:avLst/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3886200" y="5047488"/>
            <a:ext cx="8686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9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4754880" y="5047488"/>
            <a:ext cx="822960" cy="347472"/>
          </a:xfrm>
          <a:prstGeom prst="rect">
            <a:avLst/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4754880" y="5047488"/>
            <a:ext cx="82296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0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5577840" y="5047488"/>
            <a:ext cx="822960" cy="347472"/>
          </a:xfrm>
          <a:prstGeom prst="rect">
            <a:avLst/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5577840" y="5047488"/>
            <a:ext cx="82296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0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6400800" y="5047488"/>
            <a:ext cx="731520" cy="347472"/>
          </a:xfrm>
          <a:prstGeom prst="rect">
            <a:avLst/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6400800" y="5047488"/>
            <a:ext cx="73152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0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7132320" y="5047488"/>
            <a:ext cx="868680" cy="347472"/>
          </a:xfrm>
          <a:prstGeom prst="rect">
            <a:avLst/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7132320" y="5047488"/>
            <a:ext cx="8686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47,4%</a:t>
            </a:r>
          </a:p>
        </p:txBody>
      </p:sp>
      <p:sp>
        <p:nvSpPr>
          <p:cNvPr id="205" name="Rectangle 204"/>
          <p:cNvSpPr/>
          <p:nvPr/>
        </p:nvSpPr>
        <p:spPr>
          <a:xfrm>
            <a:off x="8001000" y="5047488"/>
            <a:ext cx="822960" cy="347472"/>
          </a:xfrm>
          <a:prstGeom prst="rect">
            <a:avLst/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8001000" y="5047488"/>
            <a:ext cx="82296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0,0%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8823960" y="5047488"/>
            <a:ext cx="868680" cy="347472"/>
          </a:xfrm>
          <a:prstGeom prst="rect">
            <a:avLst/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8823960" y="5047488"/>
            <a:ext cx="8686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—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9692640" y="5047488"/>
            <a:ext cx="960120" cy="347472"/>
          </a:xfrm>
          <a:prstGeom prst="rect">
            <a:avLst/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9692640" y="5047488"/>
            <a:ext cx="96012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—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457200" y="5394960"/>
            <a:ext cx="2560320" cy="347472"/>
          </a:xfrm>
          <a:prstGeom prst="rect">
            <a:avLst/>
          </a:prstGeom>
          <a:solidFill>
            <a:srgbClr val="FFF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530352" y="5394960"/>
            <a:ext cx="248716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ЗУП КОРП</a:t>
            </a:r>
          </a:p>
        </p:txBody>
      </p:sp>
      <p:sp>
        <p:nvSpPr>
          <p:cNvPr id="213" name="Rectangle 212"/>
          <p:cNvSpPr/>
          <p:nvPr/>
        </p:nvSpPr>
        <p:spPr>
          <a:xfrm>
            <a:off x="3017520" y="5394960"/>
            <a:ext cx="868680" cy="347472"/>
          </a:xfrm>
          <a:prstGeom prst="rect">
            <a:avLst/>
          </a:prstGeom>
          <a:solidFill>
            <a:srgbClr val="FFF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3017520" y="5394960"/>
            <a:ext cx="8686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18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3886200" y="5394960"/>
            <a:ext cx="868680" cy="347472"/>
          </a:xfrm>
          <a:prstGeom prst="rect">
            <a:avLst/>
          </a:prstGeom>
          <a:solidFill>
            <a:srgbClr val="FFF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3886200" y="5394960"/>
            <a:ext cx="8686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8</a:t>
            </a:r>
          </a:p>
        </p:txBody>
      </p:sp>
      <p:sp>
        <p:nvSpPr>
          <p:cNvPr id="217" name="Rectangle 216"/>
          <p:cNvSpPr/>
          <p:nvPr/>
        </p:nvSpPr>
        <p:spPr>
          <a:xfrm>
            <a:off x="4754880" y="5394960"/>
            <a:ext cx="822960" cy="347472"/>
          </a:xfrm>
          <a:prstGeom prst="rect">
            <a:avLst/>
          </a:prstGeom>
          <a:solidFill>
            <a:srgbClr val="FFF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TextBox 217"/>
          <p:cNvSpPr txBox="1"/>
          <p:nvPr/>
        </p:nvSpPr>
        <p:spPr>
          <a:xfrm>
            <a:off x="4754880" y="5394960"/>
            <a:ext cx="82296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0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5577840" y="5394960"/>
            <a:ext cx="822960" cy="347472"/>
          </a:xfrm>
          <a:prstGeom prst="rect">
            <a:avLst/>
          </a:prstGeom>
          <a:solidFill>
            <a:srgbClr val="FFF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5577840" y="5394960"/>
            <a:ext cx="82296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0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6400800" y="5394960"/>
            <a:ext cx="731520" cy="347472"/>
          </a:xfrm>
          <a:prstGeom prst="rect">
            <a:avLst/>
          </a:prstGeom>
          <a:solidFill>
            <a:srgbClr val="FFF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6400800" y="5394960"/>
            <a:ext cx="73152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0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7132320" y="5394960"/>
            <a:ext cx="868680" cy="347472"/>
          </a:xfrm>
          <a:prstGeom prst="rect">
            <a:avLst/>
          </a:prstGeom>
          <a:solidFill>
            <a:srgbClr val="FFF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7132320" y="5394960"/>
            <a:ext cx="8686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44,4%</a:t>
            </a:r>
          </a:p>
        </p:txBody>
      </p:sp>
      <p:sp>
        <p:nvSpPr>
          <p:cNvPr id="225" name="Rectangle 224"/>
          <p:cNvSpPr/>
          <p:nvPr/>
        </p:nvSpPr>
        <p:spPr>
          <a:xfrm>
            <a:off x="8001000" y="5394960"/>
            <a:ext cx="822960" cy="347472"/>
          </a:xfrm>
          <a:prstGeom prst="rect">
            <a:avLst/>
          </a:prstGeom>
          <a:solidFill>
            <a:srgbClr val="FFF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TextBox 225"/>
          <p:cNvSpPr txBox="1"/>
          <p:nvPr/>
        </p:nvSpPr>
        <p:spPr>
          <a:xfrm>
            <a:off x="8001000" y="5394960"/>
            <a:ext cx="82296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0,0%</a:t>
            </a:r>
          </a:p>
        </p:txBody>
      </p:sp>
      <p:sp>
        <p:nvSpPr>
          <p:cNvPr id="227" name="Rectangle 226"/>
          <p:cNvSpPr/>
          <p:nvPr/>
        </p:nvSpPr>
        <p:spPr>
          <a:xfrm>
            <a:off x="8823960" y="5394960"/>
            <a:ext cx="868680" cy="347472"/>
          </a:xfrm>
          <a:prstGeom prst="rect">
            <a:avLst/>
          </a:prstGeom>
          <a:solidFill>
            <a:srgbClr val="FFF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TextBox 227"/>
          <p:cNvSpPr txBox="1"/>
          <p:nvPr/>
        </p:nvSpPr>
        <p:spPr>
          <a:xfrm>
            <a:off x="8823960" y="5394960"/>
            <a:ext cx="8686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—</a:t>
            </a:r>
          </a:p>
        </p:txBody>
      </p:sp>
      <p:sp>
        <p:nvSpPr>
          <p:cNvPr id="229" name="Rectangle 228"/>
          <p:cNvSpPr/>
          <p:nvPr/>
        </p:nvSpPr>
        <p:spPr>
          <a:xfrm>
            <a:off x="9692640" y="5394960"/>
            <a:ext cx="960120" cy="347472"/>
          </a:xfrm>
          <a:prstGeom prst="rect">
            <a:avLst/>
          </a:prstGeom>
          <a:solidFill>
            <a:srgbClr val="FFF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TextBox 229"/>
          <p:cNvSpPr txBox="1"/>
          <p:nvPr/>
        </p:nvSpPr>
        <p:spPr>
          <a:xfrm>
            <a:off x="9692640" y="5394960"/>
            <a:ext cx="96012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—</a:t>
            </a:r>
          </a:p>
        </p:txBody>
      </p:sp>
      <p:sp>
        <p:nvSpPr>
          <p:cNvPr id="231" name="Rectangle 230"/>
          <p:cNvSpPr/>
          <p:nvPr/>
        </p:nvSpPr>
        <p:spPr>
          <a:xfrm>
            <a:off x="457200" y="5742432"/>
            <a:ext cx="2560320" cy="347472"/>
          </a:xfrm>
          <a:prstGeom prst="rect">
            <a:avLst/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530352" y="5742432"/>
            <a:ext cx="248716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База общепит</a:t>
            </a:r>
          </a:p>
        </p:txBody>
      </p:sp>
      <p:sp>
        <p:nvSpPr>
          <p:cNvPr id="233" name="Rectangle 232"/>
          <p:cNvSpPr/>
          <p:nvPr/>
        </p:nvSpPr>
        <p:spPr>
          <a:xfrm>
            <a:off x="3017520" y="5742432"/>
            <a:ext cx="868680" cy="347472"/>
          </a:xfrm>
          <a:prstGeom prst="rect">
            <a:avLst/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TextBox 233"/>
          <p:cNvSpPr txBox="1"/>
          <p:nvPr/>
        </p:nvSpPr>
        <p:spPr>
          <a:xfrm>
            <a:off x="3017520" y="5742432"/>
            <a:ext cx="8686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18</a:t>
            </a:r>
          </a:p>
        </p:txBody>
      </p:sp>
      <p:sp>
        <p:nvSpPr>
          <p:cNvPr id="235" name="Rectangle 234"/>
          <p:cNvSpPr/>
          <p:nvPr/>
        </p:nvSpPr>
        <p:spPr>
          <a:xfrm>
            <a:off x="3886200" y="5742432"/>
            <a:ext cx="868680" cy="347472"/>
          </a:xfrm>
          <a:prstGeom prst="rect">
            <a:avLst/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TextBox 235"/>
          <p:cNvSpPr txBox="1"/>
          <p:nvPr/>
        </p:nvSpPr>
        <p:spPr>
          <a:xfrm>
            <a:off x="3886200" y="5742432"/>
            <a:ext cx="8686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12</a:t>
            </a:r>
          </a:p>
        </p:txBody>
      </p:sp>
      <p:sp>
        <p:nvSpPr>
          <p:cNvPr id="237" name="Rectangle 236"/>
          <p:cNvSpPr/>
          <p:nvPr/>
        </p:nvSpPr>
        <p:spPr>
          <a:xfrm>
            <a:off x="4754880" y="5742432"/>
            <a:ext cx="822960" cy="347472"/>
          </a:xfrm>
          <a:prstGeom prst="rect">
            <a:avLst/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TextBox 237"/>
          <p:cNvSpPr txBox="1"/>
          <p:nvPr/>
        </p:nvSpPr>
        <p:spPr>
          <a:xfrm>
            <a:off x="4754880" y="5742432"/>
            <a:ext cx="82296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0</a:t>
            </a:r>
          </a:p>
        </p:txBody>
      </p:sp>
      <p:sp>
        <p:nvSpPr>
          <p:cNvPr id="239" name="Rectangle 238"/>
          <p:cNvSpPr/>
          <p:nvPr/>
        </p:nvSpPr>
        <p:spPr>
          <a:xfrm>
            <a:off x="5577840" y="5742432"/>
            <a:ext cx="822960" cy="347472"/>
          </a:xfrm>
          <a:prstGeom prst="rect">
            <a:avLst/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TextBox 239"/>
          <p:cNvSpPr txBox="1"/>
          <p:nvPr/>
        </p:nvSpPr>
        <p:spPr>
          <a:xfrm>
            <a:off x="5577840" y="5742432"/>
            <a:ext cx="82296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0</a:t>
            </a:r>
          </a:p>
        </p:txBody>
      </p:sp>
      <p:sp>
        <p:nvSpPr>
          <p:cNvPr id="241" name="Rectangle 240"/>
          <p:cNvSpPr/>
          <p:nvPr/>
        </p:nvSpPr>
        <p:spPr>
          <a:xfrm>
            <a:off x="6400800" y="5742432"/>
            <a:ext cx="731520" cy="347472"/>
          </a:xfrm>
          <a:prstGeom prst="rect">
            <a:avLst/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TextBox 241"/>
          <p:cNvSpPr txBox="1"/>
          <p:nvPr/>
        </p:nvSpPr>
        <p:spPr>
          <a:xfrm>
            <a:off x="6400800" y="5742432"/>
            <a:ext cx="73152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0</a:t>
            </a:r>
          </a:p>
        </p:txBody>
      </p:sp>
      <p:sp>
        <p:nvSpPr>
          <p:cNvPr id="243" name="Rectangle 242"/>
          <p:cNvSpPr/>
          <p:nvPr/>
        </p:nvSpPr>
        <p:spPr>
          <a:xfrm>
            <a:off x="7132320" y="5742432"/>
            <a:ext cx="868680" cy="347472"/>
          </a:xfrm>
          <a:prstGeom prst="rect">
            <a:avLst/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TextBox 243"/>
          <p:cNvSpPr txBox="1"/>
          <p:nvPr/>
        </p:nvSpPr>
        <p:spPr>
          <a:xfrm>
            <a:off x="7132320" y="5742432"/>
            <a:ext cx="8686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66,7%</a:t>
            </a:r>
          </a:p>
        </p:txBody>
      </p:sp>
      <p:sp>
        <p:nvSpPr>
          <p:cNvPr id="245" name="Rectangle 244"/>
          <p:cNvSpPr/>
          <p:nvPr/>
        </p:nvSpPr>
        <p:spPr>
          <a:xfrm>
            <a:off x="8001000" y="5742432"/>
            <a:ext cx="822960" cy="347472"/>
          </a:xfrm>
          <a:prstGeom prst="rect">
            <a:avLst/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TextBox 245"/>
          <p:cNvSpPr txBox="1"/>
          <p:nvPr/>
        </p:nvSpPr>
        <p:spPr>
          <a:xfrm>
            <a:off x="8001000" y="5742432"/>
            <a:ext cx="82296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0,0%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8823960" y="5742432"/>
            <a:ext cx="868680" cy="347472"/>
          </a:xfrm>
          <a:prstGeom prst="rect">
            <a:avLst/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8823960" y="5742432"/>
            <a:ext cx="8686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—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9692640" y="5742432"/>
            <a:ext cx="960120" cy="347472"/>
          </a:xfrm>
          <a:prstGeom prst="rect">
            <a:avLst/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9692640" y="5742432"/>
            <a:ext cx="96012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—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395F75"/>
                </a:solidFill>
                <a:latin typeface="Verdana"/>
                <a:ea typeface="Verdana"/>
                <a:cs typeface="Verdana"/>
              </a:rPr>
              <a:t>Лидеры по объёму: холодка транспорт, ЗУП ПРОФ, ЗУП базовые. По воронке к демо лучше отработали ЗУП ПРОФ и канбан/донабор сделок.</a:t>
            </a:r>
          </a:p>
        </p:txBody>
      </p:sp>
      <p:sp>
        <p:nvSpPr>
          <p:cNvPr id="252" name="Rectangle 25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EC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TextBox 252"/>
          <p:cNvSpPr txBox="1"/>
          <p:nvPr/>
        </p:nvSpPr>
        <p:spPr>
          <a:xfrm>
            <a:off x="457200" y="6473952"/>
            <a:ext cx="8412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Verdana"/>
                <a:ea typeface="Verdana"/>
                <a:cs typeface="Verdana"/>
              </a:rPr>
              <a:t>ГК Форус  ·  рабочая группа  ·  1С:Кабинет сотрудника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424160" y="6473952"/>
            <a:ext cx="12801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5C5C5C"/>
                </a:solidFill>
                <a:latin typeface="Verdana"/>
                <a:ea typeface="Verdana"/>
                <a:cs typeface="Verdana"/>
              </a:rPr>
              <a:t>3 /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/>
        <p:txBody>
          <a:bodyPr/>
          <a:lstStyle/>
          <a:p/>
        </p:txBody>
      </p:sp>
      <p:sp>
        <p:nvSpPr>
          <p:cNvPr id="3" name="Vertical Text Placeholder 2"/>
          <p:cNvSpPr>
            <a:spLocks noGrp="1"/>
          </p:cNvSpPr>
          <p:nvPr>
            <p:ph type="body" idx="1" orient="vert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-for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1168"/>
            <a:ext cx="980049" cy="347472"/>
          </a:xfrm>
          <a:prstGeom prst="rect">
            <a:avLst/>
          </a:prstGeom>
        </p:spPr>
      </p:pic>
      <p:pic>
        <p:nvPicPr>
          <p:cNvPr id="6" name="Picture 5" descr="wave_t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920" y="-45720"/>
            <a:ext cx="2651760" cy="883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58368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395F75"/>
                </a:solidFill>
                <a:latin typeface="Verdana"/>
                <a:ea typeface="Verdana"/>
                <a:cs typeface="Verdana"/>
              </a:rPr>
              <a:t>3. Фокус по базам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896112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Где сентябрь дал движение к демо и продаже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89888"/>
            <a:ext cx="1234440" cy="64008"/>
          </a:xfrm>
          <a:prstGeom prst="rect">
            <a:avLst/>
          </a:prstGeom>
          <a:solidFill>
            <a:srgbClr val="FEC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" y="1645920"/>
            <a:ext cx="5623560" cy="2103120"/>
          </a:xfrm>
          <a:prstGeom prst="roundRect">
            <a:avLst>
              <a:gd name="adj" fmla="val 10000"/>
            </a:avLst>
          </a:prstGeom>
          <a:solidFill>
            <a:srgbClr val="FEC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82880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ЗУП ПРОФ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28600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395F75"/>
                </a:solidFill>
                <a:latin typeface="Verdana"/>
                <a:ea typeface="Verdana"/>
                <a:cs typeface="Verdana"/>
              </a:rPr>
              <a:t>Звонки 226  ·  успешн. 65  ·  сделки 12  ·  записи 3  ·  демо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69748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Verdana"/>
                <a:ea typeface="Verdana"/>
                <a:cs typeface="Verdana"/>
              </a:rPr>
              <a:t>Конверсия в сделку: 5,3%   ·   запись из сделки: 25,0%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063240"/>
            <a:ext cx="5212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Клиенты ЗУП, ранее сегментированные по ИТС. Отсюда вышла продажа ООО «СМ».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645920"/>
            <a:ext cx="5623560" cy="2103120"/>
          </a:xfrm>
          <a:prstGeom prst="roundRect">
            <a:avLst>
              <a:gd name="adj" fmla="val 10000"/>
            </a:avLst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182880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Холодка транспорт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28600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395F75"/>
                </a:solidFill>
                <a:latin typeface="Verdana"/>
                <a:ea typeface="Verdana"/>
                <a:cs typeface="Verdana"/>
              </a:rPr>
              <a:t>Звонки 637  ·  успешн. 346  ·  сделки 19  ·  записи 1  ·  демо 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269748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Verdana"/>
                <a:ea typeface="Verdana"/>
                <a:cs typeface="Verdana"/>
              </a:rPr>
              <a:t>Конверсия в сделку: 3,0%   ·   запись из сделки: 5,3%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3063240"/>
            <a:ext cx="5212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Самый большой объём прозвона. Много диалогов, узкое горлышко в запись на демо.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931920"/>
            <a:ext cx="5623560" cy="2103120"/>
          </a:xfrm>
          <a:prstGeom prst="roundRect">
            <a:avLst>
              <a:gd name="adj" fmla="val 10000"/>
            </a:avLst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11480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ЗУП базовые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57200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395F75"/>
                </a:solidFill>
                <a:latin typeface="Verdana"/>
                <a:ea typeface="Verdana"/>
                <a:cs typeface="Verdana"/>
              </a:rPr>
              <a:t>Звонки 138  ·  успешн. 57  ·  сделки 3  ·  записи 2  ·  демо 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498348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Verdana"/>
                <a:ea typeface="Verdana"/>
                <a:cs typeface="Verdana"/>
              </a:rPr>
              <a:t>Конверсия в сделку: 2,2%   ·   запись из сделки: 66,7%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5349240"/>
            <a:ext cx="5212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Средний объём, есть записи и демо — база продолжает давать встречи.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09360" y="3931920"/>
            <a:ext cx="5623560" cy="2103120"/>
          </a:xfrm>
          <a:prstGeom prst="roundRect">
            <a:avLst>
              <a:gd name="adj" fmla="val 10000"/>
            </a:avLst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37960" y="411480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Канбан + сделки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60" y="457200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395F75"/>
                </a:solidFill>
                <a:latin typeface="Verdana"/>
                <a:ea typeface="Verdana"/>
                <a:cs typeface="Verdana"/>
              </a:rPr>
              <a:t>Звонки 141  ·  успешн. 59  ·  сделки 0  ·  записи 2  ·  демо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7960" y="498348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Verdana"/>
                <a:ea typeface="Verdana"/>
                <a:cs typeface="Verdana"/>
              </a:rPr>
              <a:t>Конверсия в сделку: 0,0%   ·   запись из сделки: 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37960" y="5349240"/>
            <a:ext cx="5212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Донабор и прогрев уже тёплых контактов: демо без большого прозвона «вхолостую».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EC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6473952"/>
            <a:ext cx="8412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Verdana"/>
                <a:ea typeface="Verdana"/>
                <a:cs typeface="Verdana"/>
              </a:rPr>
              <a:t>ГК Форус  ·  рабочая группа  ·  1С:Кабинет сотрудника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24160" y="6473952"/>
            <a:ext cx="12801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5C5C5C"/>
                </a:solidFill>
                <a:latin typeface="Verdana"/>
                <a:ea typeface="Verdana"/>
                <a:cs typeface="Verdana"/>
              </a:rPr>
              <a:t>4 /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/>
        <p:txBody>
          <a:bodyPr/>
          <a:lstStyle/>
          <a:p/>
        </p:txBody>
      </p:sp>
      <p:sp>
        <p:nvSpPr>
          <p:cNvPr id="3" name="Vertical Text Placeholder 2"/>
          <p:cNvSpPr>
            <a:spLocks noGrp="1"/>
          </p:cNvSpPr>
          <p:nvPr>
            <p:ph type="body" idx="1" orient="vert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-for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1168"/>
            <a:ext cx="980049" cy="347472"/>
          </a:xfrm>
          <a:prstGeom prst="rect">
            <a:avLst/>
          </a:prstGeom>
        </p:spPr>
      </p:pic>
      <p:pic>
        <p:nvPicPr>
          <p:cNvPr id="6" name="Picture 5" descr="wave_t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920" y="-45720"/>
            <a:ext cx="2651760" cy="883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58368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395F75"/>
                </a:solidFill>
                <a:latin typeface="Verdana"/>
                <a:ea typeface="Verdana"/>
                <a:cs typeface="Verdana"/>
              </a:rPr>
              <a:t>4. Менеджеры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896112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Эффективность и результативность за сентябрь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89888"/>
            <a:ext cx="1234440" cy="64008"/>
          </a:xfrm>
          <a:prstGeom prst="rect">
            <a:avLst/>
          </a:prstGeom>
          <a:solidFill>
            <a:srgbClr val="FEC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50876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Verdana"/>
                <a:ea typeface="Verdana"/>
                <a:cs typeface="Verdana"/>
              </a:rPr>
              <a:t>Записи / проведено / счета / пилоты / продажи — фактические показатели сентября. Звонки — из таблицы аналитики.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965960"/>
            <a:ext cx="5623560" cy="4160520"/>
          </a:xfrm>
          <a:prstGeom prst="roundRect">
            <a:avLst>
              <a:gd name="adj" fmla="val 10000"/>
            </a:avLst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1965960"/>
            <a:ext cx="5623560" cy="109728"/>
          </a:xfrm>
          <a:prstGeom prst="rect">
            <a:avLst/>
          </a:prstGeom>
          <a:solidFill>
            <a:srgbClr val="FEC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240280"/>
            <a:ext cx="5029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Оглоблина Софья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788920"/>
            <a:ext cx="329184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5C5C5C"/>
                </a:solidFill>
                <a:latin typeface="Verdana"/>
                <a:ea typeface="Verdana"/>
                <a:cs typeface="Verdana"/>
              </a:rPr>
              <a:t>Звонков (таблица)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2788920"/>
            <a:ext cx="164592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6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860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172968"/>
            <a:ext cx="329184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5C5C5C"/>
                </a:solidFill>
                <a:latin typeface="Verdana"/>
                <a:ea typeface="Verdana"/>
                <a:cs typeface="Verdana"/>
              </a:rPr>
              <a:t>Записей на демо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3172968"/>
            <a:ext cx="164592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6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557016"/>
            <a:ext cx="329184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5C5C5C"/>
                </a:solidFill>
                <a:latin typeface="Verdana"/>
                <a:ea typeface="Verdana"/>
                <a:cs typeface="Verdana"/>
              </a:rPr>
              <a:t>Проведено демо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3557016"/>
            <a:ext cx="164592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6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941064"/>
            <a:ext cx="329184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5C5C5C"/>
                </a:solidFill>
                <a:latin typeface="Verdana"/>
                <a:ea typeface="Verdana"/>
                <a:cs typeface="Verdana"/>
              </a:rPr>
              <a:t>Выставлено счетов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3941064"/>
            <a:ext cx="164592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6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4325112"/>
            <a:ext cx="329184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5C5C5C"/>
                </a:solidFill>
                <a:latin typeface="Verdana"/>
                <a:ea typeface="Verdana"/>
                <a:cs typeface="Verdana"/>
              </a:rPr>
              <a:t>Пилот (3 мес.)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4325112"/>
            <a:ext cx="164592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6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709160"/>
            <a:ext cx="329184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5C5C5C"/>
                </a:solidFill>
                <a:latin typeface="Verdana"/>
                <a:ea typeface="Verdana"/>
                <a:cs typeface="Verdana"/>
              </a:rPr>
              <a:t>Продаж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4709160"/>
            <a:ext cx="164592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6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212080"/>
            <a:ext cx="5029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395F75"/>
                </a:solidFill>
                <a:latin typeface="Verdana"/>
                <a:ea typeface="Verdana"/>
                <a:cs typeface="Verdana"/>
              </a:rPr>
              <a:t>1 продажа в сентябре — ООО «СМ» (10 кабинетов)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09360" y="1965960"/>
            <a:ext cx="5623560" cy="4160520"/>
          </a:xfrm>
          <a:prstGeom prst="roundRect">
            <a:avLst>
              <a:gd name="adj" fmla="val 10000"/>
            </a:avLst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09360" y="1965960"/>
            <a:ext cx="5623560" cy="109728"/>
          </a:xfrm>
          <a:prstGeom prst="rect">
            <a:avLst/>
          </a:prstGeom>
          <a:solidFill>
            <a:srgbClr val="FEC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0" y="2240280"/>
            <a:ext cx="5029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Кургузов Данил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2788920"/>
            <a:ext cx="329184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5C5C5C"/>
                </a:solidFill>
                <a:latin typeface="Verdana"/>
                <a:ea typeface="Verdana"/>
                <a:cs typeface="Verdana"/>
              </a:rPr>
              <a:t>Звонков (таблица)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66960" y="2788920"/>
            <a:ext cx="164592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6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514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3172968"/>
            <a:ext cx="329184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5C5C5C"/>
                </a:solidFill>
                <a:latin typeface="Verdana"/>
                <a:ea typeface="Verdana"/>
                <a:cs typeface="Verdana"/>
              </a:rPr>
              <a:t>Записей на демо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66960" y="3172968"/>
            <a:ext cx="164592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6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29400" y="3557016"/>
            <a:ext cx="329184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5C5C5C"/>
                </a:solidFill>
                <a:latin typeface="Verdana"/>
                <a:ea typeface="Verdana"/>
                <a:cs typeface="Verdana"/>
              </a:rPr>
              <a:t>Проведено демо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66960" y="3557016"/>
            <a:ext cx="164592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6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29400" y="3941064"/>
            <a:ext cx="329184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5C5C5C"/>
                </a:solidFill>
                <a:latin typeface="Verdana"/>
                <a:ea typeface="Verdana"/>
                <a:cs typeface="Verdana"/>
              </a:rPr>
              <a:t>Выставлено счетов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66960" y="3941064"/>
            <a:ext cx="164592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6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4325112"/>
            <a:ext cx="329184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5C5C5C"/>
                </a:solidFill>
                <a:latin typeface="Verdana"/>
                <a:ea typeface="Verdana"/>
                <a:cs typeface="Verdana"/>
              </a:rPr>
              <a:t>Пилот (3 мес.)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66960" y="4325112"/>
            <a:ext cx="164592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6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29400" y="4709160"/>
            <a:ext cx="329184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5C5C5C"/>
                </a:solidFill>
                <a:latin typeface="Verdana"/>
                <a:ea typeface="Verdana"/>
                <a:cs typeface="Verdana"/>
              </a:rPr>
              <a:t>Продаж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66960" y="4709160"/>
            <a:ext cx="164592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6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0" y="5212080"/>
            <a:ext cx="5029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395F75"/>
                </a:solidFill>
                <a:latin typeface="Verdana"/>
                <a:ea typeface="Verdana"/>
                <a:cs typeface="Verdana"/>
              </a:rPr>
              <a:t>Стабильный набор демо; пилотов и продаж в сентябре пока нет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EC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6473952"/>
            <a:ext cx="8412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Verdana"/>
                <a:ea typeface="Verdana"/>
                <a:cs typeface="Verdana"/>
              </a:rPr>
              <a:t>ГК Форус  ·  рабочая группа  ·  1С:Кабинет сотрудника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424160" y="6473952"/>
            <a:ext cx="12801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5C5C5C"/>
                </a:solidFill>
                <a:latin typeface="Verdana"/>
                <a:ea typeface="Verdana"/>
                <a:cs typeface="Verdana"/>
              </a:rPr>
              <a:t>5 /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/>
        <p:txBody>
          <a:bodyPr/>
          <a:lstStyle/>
          <a:p/>
        </p:txBody>
      </p:sp>
      <p:sp>
        <p:nvSpPr>
          <p:cNvPr id="3" name="Vertical Text Placeholder 2"/>
          <p:cNvSpPr>
            <a:spLocks noGrp="1"/>
          </p:cNvSpPr>
          <p:nvPr>
            <p:ph type="body" idx="1" orient="vert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-for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1168"/>
            <a:ext cx="980049" cy="347472"/>
          </a:xfrm>
          <a:prstGeom prst="rect">
            <a:avLst/>
          </a:prstGeom>
        </p:spPr>
      </p:pic>
      <p:pic>
        <p:nvPicPr>
          <p:cNvPr id="6" name="Picture 5" descr="wave_t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920" y="-45720"/>
            <a:ext cx="2651760" cy="883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58368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395F75"/>
                </a:solidFill>
                <a:latin typeface="Verdana"/>
                <a:ea typeface="Verdana"/>
                <a:cs typeface="Verdana"/>
              </a:rPr>
              <a:t>5. Кейс продажи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896112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ООО «СМ» — 10 кабинетов после демо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89888"/>
            <a:ext cx="1234440" cy="64008"/>
          </a:xfrm>
          <a:prstGeom prst="rect">
            <a:avLst/>
          </a:prstGeom>
          <a:solidFill>
            <a:srgbClr val="FEC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" y="1554480"/>
            <a:ext cx="11247120" cy="640080"/>
          </a:xfrm>
          <a:prstGeom prst="roundRect">
            <a:avLst>
              <a:gd name="adj" fmla="val 8000"/>
            </a:avLst>
          </a:prstGeom>
          <a:solidFill>
            <a:srgbClr val="FEC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627632"/>
            <a:ext cx="10972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Клиент: ООО «СМ»  ·  ИНН 3801102232  ·  Источник: база ЗУП ПРОФ (сегмент по ИТС)  ·  Менеджер: Оглоблина Софья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31720"/>
            <a:ext cx="11247120" cy="1170432"/>
          </a:xfrm>
          <a:prstGeom prst="roundRect">
            <a:avLst>
              <a:gd name="adj" fmla="val 8000"/>
            </a:avLst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331720"/>
            <a:ext cx="109728" cy="1170432"/>
          </a:xfrm>
          <a:prstGeom prst="rect">
            <a:avLst/>
          </a:prstGeom>
          <a:solidFill>
            <a:srgbClr val="FEC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441448"/>
            <a:ext cx="10698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395F75"/>
                </a:solidFill>
                <a:latin typeface="Verdana"/>
                <a:ea typeface="Verdana"/>
                <a:cs typeface="Verdana"/>
              </a:rPr>
              <a:t>Как вышли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715768"/>
            <a:ext cx="106984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Заход к бухгалтеру по ранее купленному ЗУП: уточнили, как идёт работа с программой, напомнили про неизрасходованные услуги при покупке. Бухгалтер о них не знала. Рассказали про бесплатную демонстрацию Кабинета сотрудника — КЭДО внутри 1С, меньше бумаги. Тема заинтересовала, но занимается кадровая служба; попросили оставить контакты (были сложности с телефонией). Отправили письмо — бухгалтер передала кадровикам, и уже кадры сами вышли на связь.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611880"/>
            <a:ext cx="11247120" cy="1170432"/>
          </a:xfrm>
          <a:prstGeom prst="roundRect">
            <a:avLst>
              <a:gd name="adj" fmla="val 8000"/>
            </a:avLst>
          </a:prstGeom>
          <a:solidFill>
            <a:srgbClr val="FFF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611880"/>
            <a:ext cx="109728" cy="1170432"/>
          </a:xfrm>
          <a:prstGeom prst="rect">
            <a:avLst/>
          </a:prstGeom>
          <a:solidFill>
            <a:srgbClr val="FEC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721608"/>
            <a:ext cx="10698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395F75"/>
                </a:solidFill>
                <a:latin typeface="Verdana"/>
                <a:ea typeface="Verdana"/>
                <a:cs typeface="Verdana"/>
              </a:rPr>
              <a:t>Работа с кадрами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995928"/>
            <a:ext cx="106984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Кадровики написали, что хотят подключить КЭДО. Сначала перепутали с демо-периодом Смартвея и просили «попробовать 7 дней». Уточнили: доступна бесплатная демонстрация. Клиент согласился на демо.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892040"/>
            <a:ext cx="11247120" cy="1170432"/>
          </a:xfrm>
          <a:prstGeom prst="roundRect">
            <a:avLst>
              <a:gd name="adj" fmla="val 8000"/>
            </a:avLst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892040"/>
            <a:ext cx="109728" cy="1170432"/>
          </a:xfrm>
          <a:prstGeom prst="rect">
            <a:avLst/>
          </a:prstGeom>
          <a:solidFill>
            <a:srgbClr val="FEC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001768"/>
            <a:ext cx="10698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395F75"/>
                </a:solidFill>
                <a:latin typeface="Verdana"/>
                <a:ea typeface="Verdana"/>
                <a:cs typeface="Verdana"/>
              </a:rPr>
              <a:t>Демо и решение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276088"/>
            <a:ext cx="106984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На встрече — две сотрудницы: молодая специалистка (основной контакт) и более старшая ЛПР. Показали возможности сервиса и сценарии КЭДО. По итогам ЛПР сразу: «Давай купим 10 кабинетов». Решение подтверждено на демонстрации. Запись демо сохранена. В сентябре — оплата.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EC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6473952"/>
            <a:ext cx="8412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Verdana"/>
                <a:ea typeface="Verdana"/>
                <a:cs typeface="Verdana"/>
              </a:rPr>
              <a:t>ГК Форус  ·  рабочая группа  ·  1С:Кабинет сотрудника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24160" y="6473952"/>
            <a:ext cx="12801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5C5C5C"/>
                </a:solidFill>
                <a:latin typeface="Verdana"/>
                <a:ea typeface="Verdana"/>
                <a:cs typeface="Verdana"/>
              </a:rPr>
              <a:t>6 /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/>
        <p:txBody>
          <a:bodyPr/>
          <a:lstStyle/>
          <a:p/>
        </p:txBody>
      </p:sp>
      <p:sp>
        <p:nvSpPr>
          <p:cNvPr id="3" name="Vertical Text Placeholder 2"/>
          <p:cNvSpPr>
            <a:spLocks noGrp="1"/>
          </p:cNvSpPr>
          <p:nvPr>
            <p:ph type="body" idx="1" orient="vert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-for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1168"/>
            <a:ext cx="980049" cy="347472"/>
          </a:xfrm>
          <a:prstGeom prst="rect">
            <a:avLst/>
          </a:prstGeom>
        </p:spPr>
      </p:pic>
      <p:pic>
        <p:nvPicPr>
          <p:cNvPr id="6" name="Picture 5" descr="wave_t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920" y="-45720"/>
            <a:ext cx="2651760" cy="883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58368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395F75"/>
                </a:solidFill>
                <a:latin typeface="Verdana"/>
                <a:ea typeface="Verdana"/>
                <a:cs typeface="Verdana"/>
              </a:rPr>
              <a:t>6. Кейс пилота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896112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Успешный пилот — слайд-заготовка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89888"/>
            <a:ext cx="1234440" cy="64008"/>
          </a:xfrm>
          <a:prstGeom prst="rect">
            <a:avLst/>
          </a:prstGeom>
          <a:solidFill>
            <a:srgbClr val="FEC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" y="1737360"/>
            <a:ext cx="11247120" cy="4297680"/>
          </a:xfrm>
          <a:prstGeom prst="roundRect">
            <a:avLst>
              <a:gd name="adj" fmla="val 10000"/>
            </a:avLst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737360"/>
            <a:ext cx="11247120" cy="109728"/>
          </a:xfrm>
          <a:prstGeom prst="rect">
            <a:avLst/>
          </a:prstGeom>
          <a:solidFill>
            <a:srgbClr val="FEC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19456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Описание кейса успешного пилота будет добавлено позже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26080"/>
            <a:ext cx="94183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C5C5C"/>
                </a:solidFill>
                <a:latin typeface="Verdana"/>
                <a:ea typeface="Verdana"/>
                <a:cs typeface="Verdana"/>
              </a:rPr>
              <a:t>Сюда перенесём:
• клиента и источник базы
• как договорились о пилоте на 3 месяца
• что показали / подключили
• чем пилот подтвердил ценность и какой следующий шаг к покупке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00400" y="5120640"/>
            <a:ext cx="5760720" cy="640080"/>
          </a:xfrm>
          <a:prstGeom prst="roundRect">
            <a:avLst>
              <a:gd name="adj" fmla="val 10000"/>
            </a:avLst>
          </a:prstGeom>
          <a:solidFill>
            <a:srgbClr val="FEC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0" y="5120640"/>
            <a:ext cx="57607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Статус: ждём текст кейса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EC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473952"/>
            <a:ext cx="8412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Verdana"/>
                <a:ea typeface="Verdana"/>
                <a:cs typeface="Verdana"/>
              </a:rPr>
              <a:t>ГК Форус  ·  рабочая группа  ·  1С:Кабинет сотрудника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0" y="6473952"/>
            <a:ext cx="12801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5C5C5C"/>
                </a:solidFill>
                <a:latin typeface="Verdana"/>
                <a:ea typeface="Verdana"/>
                <a:cs typeface="Verdana"/>
              </a:rPr>
              <a:t>7 /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