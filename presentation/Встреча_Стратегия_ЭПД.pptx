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4" d="100"/>
          <a:sy n="74" d="100"/>
        </p:scale>
        <p:origin x="101" y="499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30" Type="http://schemas.openxmlformats.org/officeDocument/2006/relationships/presProps" Target="presProps.xml"/><Relationship Id="rId31" Type="http://schemas.openxmlformats.org/officeDocument/2006/relationships/tableStyles" Target="tableStyles.xml"/><Relationship Id="rId32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46175" y="1405860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6176" y="4520265"/>
            <a:ext cx="6084888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46175" y="1405860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6176" y="4520265"/>
            <a:ext cx="6084888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74713" y="1386195"/>
            <a:ext cx="9364508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74714" y="4500600"/>
            <a:ext cx="6070701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 символ шафран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700714" y="1376363"/>
            <a:ext cx="5040312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5700714" y="4490768"/>
            <a:ext cx="5040312" cy="747982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/>
              <a:t>Должность / отдел</a:t>
            </a:r>
            <a:endParaRPr/>
          </a:p>
        </p:txBody>
      </p: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700712" y="5633342"/>
            <a:ext cx="1387475" cy="491923"/>
          </a:xfrm>
          <a:prstGeom prst="rect">
            <a:avLst/>
          </a:prstGeom>
        </p:spPr>
      </p:pic>
      <p:sp>
        <p:nvSpPr>
          <p:cNvPr id="25" name="Полилиния 24"/>
          <p:cNvSpPr/>
          <p:nvPr userDrawn="1"/>
        </p:nvSpPr>
        <p:spPr bwMode="auto">
          <a:xfrm>
            <a:off x="0" y="0"/>
            <a:ext cx="4838701" cy="6858000"/>
          </a:xfrm>
          <a:custGeom>
            <a:avLst/>
            <a:gdLst>
              <a:gd name="connsiteX0" fmla="*/ 786539 w 4838701"/>
              <a:gd name="connsiteY0" fmla="*/ 2133598 h 6858000"/>
              <a:gd name="connsiteX1" fmla="*/ 1639821 w 4838701"/>
              <a:gd name="connsiteY1" fmla="*/ 3171823 h 6858000"/>
              <a:gd name="connsiteX2" fmla="*/ 786539 w 4838701"/>
              <a:gd name="connsiteY2" fmla="*/ 4210048 h 6858000"/>
              <a:gd name="connsiteX3" fmla="*/ 57218 w 4838701"/>
              <a:gd name="connsiteY3" fmla="*/ 3751468 h 6858000"/>
              <a:gd name="connsiteX4" fmla="*/ 0 w 4838701"/>
              <a:gd name="connsiteY4" fmla="*/ 3604516 h 6858000"/>
              <a:gd name="connsiteX5" fmla="*/ 0 w 4838701"/>
              <a:gd name="connsiteY5" fmla="*/ 2740664 h 6858000"/>
              <a:gd name="connsiteX6" fmla="*/ 57218 w 4838701"/>
              <a:gd name="connsiteY6" fmla="*/ 2594690 h 6858000"/>
              <a:gd name="connsiteX7" fmla="*/ 786539 w 4838701"/>
              <a:gd name="connsiteY7" fmla="*/ 2133598 h 6858000"/>
              <a:gd name="connsiteX8" fmla="*/ 0 w 4838701"/>
              <a:gd name="connsiteY8" fmla="*/ 0 h 6858000"/>
              <a:gd name="connsiteX9" fmla="*/ 758686 w 4838701"/>
              <a:gd name="connsiteY9" fmla="*/ 0 h 6858000"/>
              <a:gd name="connsiteX10" fmla="*/ 710008 w 4838701"/>
              <a:gd name="connsiteY10" fmla="*/ 64545 h 6858000"/>
              <a:gd name="connsiteX11" fmla="*/ 305440 w 4838701"/>
              <a:gd name="connsiteY11" fmla="*/ 610601 h 6858000"/>
              <a:gd name="connsiteX12" fmla="*/ 311674 w 4838701"/>
              <a:gd name="connsiteY12" fmla="*/ 838097 h 6858000"/>
              <a:gd name="connsiteX13" fmla="*/ 498139 w 4838701"/>
              <a:gd name="connsiteY13" fmla="*/ 1004391 h 6858000"/>
              <a:gd name="connsiteX14" fmla="*/ 758973 w 4838701"/>
              <a:gd name="connsiteY14" fmla="*/ 1014827 h 6858000"/>
              <a:gd name="connsiteX15" fmla="*/ 1953325 w 4838701"/>
              <a:gd name="connsiteY15" fmla="*/ 0 h 6858000"/>
              <a:gd name="connsiteX16" fmla="*/ 3191959 w 4838701"/>
              <a:gd name="connsiteY16" fmla="*/ 0 h 6858000"/>
              <a:gd name="connsiteX17" fmla="*/ 3225359 w 4838701"/>
              <a:gd name="connsiteY17" fmla="*/ 22255 h 6858000"/>
              <a:gd name="connsiteX18" fmla="*/ 4838701 w 4838701"/>
              <a:gd name="connsiteY18" fmla="*/ 3185326 h 6858000"/>
              <a:gd name="connsiteX19" fmla="*/ 2324833 w 4838701"/>
              <a:gd name="connsiteY19" fmla="*/ 6828634 h 6858000"/>
              <a:gd name="connsiteX20" fmla="*/ 2239107 w 4838701"/>
              <a:gd name="connsiteY20" fmla="*/ 6858000 h 6858000"/>
              <a:gd name="connsiteX21" fmla="*/ 0 w 4838701"/>
              <a:gd name="connsiteY21" fmla="*/ 6858000 h 6858000"/>
              <a:gd name="connsiteX22" fmla="*/ 0 w 4838701"/>
              <a:gd name="connsiteY22" fmla="*/ 4907035 h 6858000"/>
              <a:gd name="connsiteX23" fmla="*/ 128075 w 4838701"/>
              <a:gd name="connsiteY23" fmla="*/ 4949125 h 6858000"/>
              <a:gd name="connsiteX24" fmla="*/ 789714 w 4838701"/>
              <a:gd name="connsiteY24" fmla="*/ 5029199 h 6858000"/>
              <a:gd name="connsiteX25" fmla="*/ 2711383 w 4838701"/>
              <a:gd name="connsiteY25" fmla="*/ 3169443 h 6858000"/>
              <a:gd name="connsiteX26" fmla="*/ 789714 w 4838701"/>
              <a:gd name="connsiteY26" fmla="*/ 1309687 h 6858000"/>
              <a:gd name="connsiteX27" fmla="*/ 142223 w 4838701"/>
              <a:gd name="connsiteY27" fmla="*/ 1396835 h 6858000"/>
              <a:gd name="connsiteX28" fmla="*/ 0 w 4838701"/>
              <a:gd name="connsiteY28" fmla="*/ 14447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838701" h="6858000" fill="norm" stroke="1" extrusionOk="0">
                <a:moveTo>
                  <a:pt x="786539" y="2133598"/>
                </a:moveTo>
                <a:cubicBezTo>
                  <a:pt x="1340344" y="2120898"/>
                  <a:pt x="1639821" y="2598427"/>
                  <a:pt x="1639821" y="3171823"/>
                </a:cubicBezTo>
                <a:cubicBezTo>
                  <a:pt x="1639821" y="3745219"/>
                  <a:pt x="1340344" y="4213223"/>
                  <a:pt x="786539" y="4210048"/>
                </a:cubicBezTo>
                <a:cubicBezTo>
                  <a:pt x="440411" y="4208064"/>
                  <a:pt x="193629" y="4026986"/>
                  <a:pt x="57218" y="3751468"/>
                </a:cubicBezTo>
                <a:lnTo>
                  <a:pt x="0" y="3604516"/>
                </a:lnTo>
                <a:lnTo>
                  <a:pt x="0" y="2740664"/>
                </a:lnTo>
                <a:lnTo>
                  <a:pt x="57218" y="2594690"/>
                </a:lnTo>
                <a:cubicBezTo>
                  <a:pt x="193629" y="2321125"/>
                  <a:pt x="440411" y="2141536"/>
                  <a:pt x="786539" y="2133598"/>
                </a:cubicBezTo>
                <a:close/>
                <a:moveTo>
                  <a:pt x="0" y="0"/>
                </a:moveTo>
                <a:lnTo>
                  <a:pt x="758686" y="0"/>
                </a:lnTo>
                <a:lnTo>
                  <a:pt x="710008" y="64545"/>
                </a:lnTo>
                <a:cubicBezTo>
                  <a:pt x="563598" y="260963"/>
                  <a:pt x="423636" y="452191"/>
                  <a:pt x="305440" y="610601"/>
                </a:cubicBezTo>
                <a:cubicBezTo>
                  <a:pt x="254203" y="666596"/>
                  <a:pt x="255679" y="786860"/>
                  <a:pt x="311674" y="838097"/>
                </a:cubicBezTo>
                <a:lnTo>
                  <a:pt x="498139" y="1004391"/>
                </a:lnTo>
                <a:cubicBezTo>
                  <a:pt x="577945" y="1079440"/>
                  <a:pt x="669636" y="1082728"/>
                  <a:pt x="758973" y="1014827"/>
                </a:cubicBezTo>
                <a:lnTo>
                  <a:pt x="1953325" y="0"/>
                </a:lnTo>
                <a:lnTo>
                  <a:pt x="3191959" y="0"/>
                </a:lnTo>
                <a:lnTo>
                  <a:pt x="3225359" y="22255"/>
                </a:lnTo>
                <a:cubicBezTo>
                  <a:pt x="4201760" y="725220"/>
                  <a:pt x="4838701" y="1879968"/>
                  <a:pt x="4838701" y="3185326"/>
                </a:cubicBezTo>
                <a:cubicBezTo>
                  <a:pt x="4838701" y="4858863"/>
                  <a:pt x="3791789" y="6284847"/>
                  <a:pt x="2324833" y="6828634"/>
                </a:cubicBezTo>
                <a:lnTo>
                  <a:pt x="2239107" y="6858000"/>
                </a:lnTo>
                <a:lnTo>
                  <a:pt x="0" y="6858000"/>
                </a:lnTo>
                <a:lnTo>
                  <a:pt x="0" y="4907035"/>
                </a:lnTo>
                <a:lnTo>
                  <a:pt x="128075" y="4949125"/>
                </a:lnTo>
                <a:cubicBezTo>
                  <a:pt x="324783" y="5002829"/>
                  <a:pt x="545177" y="5030985"/>
                  <a:pt x="789714" y="5029199"/>
                </a:cubicBezTo>
                <a:cubicBezTo>
                  <a:pt x="2093910" y="5019674"/>
                  <a:pt x="2711383" y="4196558"/>
                  <a:pt x="2711383" y="3169443"/>
                </a:cubicBezTo>
                <a:cubicBezTo>
                  <a:pt x="2711383" y="2142328"/>
                  <a:pt x="2055809" y="1300162"/>
                  <a:pt x="789714" y="1309687"/>
                </a:cubicBezTo>
                <a:cubicBezTo>
                  <a:pt x="552321" y="1311473"/>
                  <a:pt x="336392" y="1341862"/>
                  <a:pt x="142223" y="1396835"/>
                </a:cubicBezTo>
                <a:lnTo>
                  <a:pt x="0" y="14447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текс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Заголовок и текс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Заголовок и текс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Заголовок и текст с фоном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нумерованный список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2114" y="1598615"/>
            <a:ext cx="10412361" cy="4080312"/>
          </a:xfrm>
        </p:spPr>
        <p:txBody>
          <a:bodyPr lIns="36000" tIns="36000" rIns="36000" bIns="3600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/>
            </a:lvl1pPr>
          </a:lstStyle>
          <a:p>
            <a:pPr lvl="0">
              <a:defRPr/>
            </a:pPr>
            <a:r>
              <a:rPr lang="ru-RU"/>
              <a:t>Первый пункт</a:t>
            </a:r>
            <a:endParaRPr/>
          </a:p>
          <a:p>
            <a:pPr lvl="0">
              <a:defRPr/>
            </a:pPr>
            <a:r>
              <a:rPr lang="ru-RU"/>
              <a:t>Второй пункт </a:t>
            </a:r>
            <a:endParaRPr/>
          </a:p>
          <a:p>
            <a:pPr lvl="0">
              <a:defRPr/>
            </a:pPr>
            <a:r>
              <a:rPr lang="ru-RU"/>
              <a:t>Третий пункт </a:t>
            </a:r>
            <a:endParaRPr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Заголовок и нумерованный список в 2 колонки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865430" y="1129630"/>
            <a:ext cx="5415345" cy="4330604"/>
          </a:xfrm>
        </p:spPr>
        <p:txBody>
          <a:bodyPr lIns="36000" tIns="36000" rIns="36000" bIns="3600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/>
            </a:lvl1pPr>
          </a:lstStyle>
          <a:p>
            <a:pPr lvl="0">
              <a:defRPr/>
            </a:pPr>
            <a:r>
              <a:rPr lang="ru-RU"/>
              <a:t>Первый пункт</a:t>
            </a:r>
            <a:endParaRPr/>
          </a:p>
          <a:p>
            <a:pPr lvl="0">
              <a:defRPr/>
            </a:pPr>
            <a:r>
              <a:rPr lang="ru-RU"/>
              <a:t>Второй пункт </a:t>
            </a:r>
            <a:endParaRPr/>
          </a:p>
          <a:p>
            <a:pPr lvl="0">
              <a:defRPr/>
            </a:pPr>
            <a:r>
              <a:rPr lang="ru-RU"/>
              <a:t>Третий пункт </a:t>
            </a:r>
            <a:endParaRPr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74713" y="963647"/>
            <a:ext cx="4620740" cy="2467616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маркированный список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4902" y="1550099"/>
            <a:ext cx="10392696" cy="4172342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 typeface="+mj-lt"/>
              <a:buNone/>
              <a:defRPr sz="1800" b="0"/>
            </a:lvl1pPr>
          </a:lstStyle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Первая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Вторая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Третья, но немаловажная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Четвертая позиция в списке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400" b="0"/>
              <a:t> </a:t>
            </a:r>
            <a:r>
              <a:rPr lang="ru-RU" sz="1600" b="0"/>
              <a:t>Второй уровень списка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600" b="0"/>
              <a:t> Ещё одна строчка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7132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Заголовок и маркированный список в 2 колонки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759776" y="1047774"/>
            <a:ext cx="5517821" cy="460028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 typeface="+mj-lt"/>
              <a:buNone/>
              <a:defRPr sz="1800" b="0"/>
            </a:lvl1pPr>
          </a:lstStyle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Первая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Вторая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Третья, но немаловажная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Четвертая позиция в списке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400" b="0"/>
              <a:t> </a:t>
            </a:r>
            <a:r>
              <a:rPr lang="ru-RU" sz="1600" b="0"/>
              <a:t>Второй уровень списка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600" b="0"/>
              <a:t> Ещё одна строчка</a:t>
            </a:r>
            <a:endParaRPr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74713" y="891219"/>
            <a:ext cx="4620740" cy="2467616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объект справ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67697" y="762915"/>
            <a:ext cx="4943168" cy="4645025"/>
          </a:xfrm>
        </p:spPr>
        <p:txBody>
          <a:bodyPr anchor="ctr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1376363"/>
            <a:ext cx="10579509" cy="4645025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01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_02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Страница разделитель 0</a:t>
            </a:r>
            <a:r>
              <a:rPr lang="en-US"/>
              <a:t>2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5914931" y="832620"/>
            <a:ext cx="4718608" cy="44355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998299" y="5424845"/>
            <a:ext cx="3200800" cy="226472"/>
          </a:xfrm>
          <a:prstGeom prst="rect">
            <a:avLst/>
          </a:prstGeom>
        </p:spPr>
      </p:pic>
      <p:sp>
        <p:nvSpPr>
          <p:cNvPr id="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Разделитель_02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Страница разделитель 03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6228784" y="934114"/>
            <a:ext cx="4812258" cy="452361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629800" y="5248056"/>
            <a:ext cx="2963437" cy="209677"/>
          </a:xfrm>
          <a:prstGeom prst="rect">
            <a:avLst/>
          </a:prstGeom>
        </p:spPr>
      </p:pic>
      <p:sp>
        <p:nvSpPr>
          <p:cNvPr id="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04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05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06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диаграмм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>
              <a:defRPr/>
            </a:pPr>
            <a:r>
              <a:rPr lang="ru-RU"/>
              <a:t>Описание диаграммы</a:t>
            </a:r>
            <a:endParaRPr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 bwMode="auto">
          <a:xfrm>
            <a:off x="884902" y="1543169"/>
            <a:ext cx="7771376" cy="4179273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63282"/>
            <a:ext cx="10392696" cy="954310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круговая диаграмм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 bwMode="auto">
          <a:xfrm>
            <a:off x="6343436" y="441325"/>
            <a:ext cx="4938367" cy="1552267"/>
          </a:xfrm>
        </p:spPr>
        <p:txBody>
          <a:bodyPr anchor="ctr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 bwMode="auto">
          <a:xfrm>
            <a:off x="875071" y="441325"/>
            <a:ext cx="4973493" cy="5097156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ва объект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390967" y="1595563"/>
            <a:ext cx="4886630" cy="4045156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84902" y="1595564"/>
            <a:ext cx="4886630" cy="4045156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Рисунок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 bwMode="auto">
          <a:xfrm>
            <a:off x="880704" y="1614516"/>
            <a:ext cx="5005388" cy="4060364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52264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 Рисунка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90535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 bwMode="auto">
          <a:xfrm>
            <a:off x="890535" y="1514633"/>
            <a:ext cx="4782677" cy="2890556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 bwMode="auto"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6518788" y="1504646"/>
            <a:ext cx="4782677" cy="2900543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 bwMode="auto"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Объект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 bwMode="auto"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 bwMode="auto"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 bwMode="auto"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 bwMode="auto"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следни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56007" y="3429000"/>
            <a:ext cx="6084888" cy="1133788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156007" y="4588768"/>
            <a:ext cx="3770313" cy="62865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Телефон / эл. почта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56006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pPr>
              <a:defRPr/>
            </a:pPr>
            <a:r>
              <a:rPr lang="ru-RU"/>
              <a:t>Благодарю 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следни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56006" y="3429000"/>
            <a:ext cx="6084888" cy="1133788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156006" y="4588768"/>
            <a:ext cx="3770313" cy="62865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Телефон / эл. почта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56006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pPr>
              <a:defRPr/>
            </a:pPr>
            <a:r>
              <a:rPr lang="ru-RU"/>
              <a:t>Благодарю 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36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>
        <a:lnSpc>
          <a:spcPct val="90000"/>
        </a:lnSpc>
        <a:spcBef>
          <a:spcPts val="500"/>
        </a:spcBef>
        <a:buFont typeface="Arial"/>
        <a:buNone/>
        <a:defRPr sz="1800" b="1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>
        <a:lnSpc>
          <a:spcPct val="90000"/>
        </a:lnSpc>
        <a:spcBef>
          <a:spcPts val="500"/>
        </a:spcBef>
        <a:buFont typeface="Arial"/>
        <a:buNone/>
        <a:defRPr sz="1800" b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>
        <a:lnSpc>
          <a:spcPct val="90000"/>
        </a:lnSpc>
        <a:spcBef>
          <a:spcPts val="500"/>
        </a:spcBef>
        <a:buFont typeface="Arial"/>
        <a:buNone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>
        <a:lnSpc>
          <a:spcPct val="90000"/>
        </a:lnSpc>
        <a:spcBef>
          <a:spcPts val="500"/>
        </a:spcBef>
        <a:buFont typeface="Arial"/>
        <a:buNone/>
        <a:defRPr sz="1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Стратегия ЭПД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2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Очная встреча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ЦСВ   ·   ЦП   ·   ЦКС   ·   СМАК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Блохина Елизавета, Юнусова Юлиана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группа продуктового запуска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607040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Цель сегодняшней встречи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73152" cy="19659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9728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4892040" cy="38404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Аудитория и конкуренты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4873752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Синхронизировать понимание целевой аудитории и конкурентной среды.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481328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481328"/>
            <a:ext cx="73152" cy="19659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64208"/>
            <a:ext cx="109728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48256"/>
            <a:ext cx="4892040" cy="38404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УТП двух направлений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05456"/>
            <a:ext cx="4873752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Сформировать уникальное предложение для маленьких перевозчиков и генераторов трафика.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93592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593592"/>
            <a:ext cx="73152" cy="19659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76472"/>
            <a:ext cx="109728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4892040" cy="38404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Критерии генераторов трафика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4873752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Определить, кого считаем таким клиентом среди наших клиентов и на общем рынке.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593592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593592"/>
            <a:ext cx="73152" cy="19659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76472"/>
            <a:ext cx="109728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60520"/>
            <a:ext cx="4892040" cy="38404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План и ответственность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17720"/>
            <a:ext cx="4873752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Зафиксировать план действий и зоны ответственности по проекту.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Как идём по встрече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Повестка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394960" cy="950976"/>
          </a:xfrm>
          <a:prstGeom prst="roundRect">
            <a:avLst>
              <a:gd name="adj" fmla="val 10000"/>
            </a:avLst>
          </a:prstGeom>
          <a:solidFill>
            <a:srgbClr val="FBF6EA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17320"/>
            <a:ext cx="566928" cy="950976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4517136" cy="8046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Анализ конкурентов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Гурков · выжимка реестра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59735"/>
            <a:ext cx="5394960" cy="950976"/>
          </a:xfrm>
          <a:prstGeom prst="roundRect">
            <a:avLst>
              <a:gd name="adj" fmla="val 10000"/>
            </a:avLst>
          </a:prstGeom>
          <a:solidFill>
            <a:srgbClr val="FBF6EA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459735"/>
            <a:ext cx="566928" cy="950976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51175"/>
            <a:ext cx="4517136" cy="8046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Актуальный анализ целевой аудитории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Блохина, Юнусова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502150"/>
            <a:ext cx="539496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502150"/>
            <a:ext cx="566928" cy="950976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93590"/>
            <a:ext cx="4517136" cy="8046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Генераторы трафика: определение и критерии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44565"/>
            <a:ext cx="539496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544565"/>
            <a:ext cx="566928" cy="950976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36005"/>
            <a:ext cx="4517136" cy="8046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Формирование УТП для обоих направлений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539496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417320"/>
            <a:ext cx="566928" cy="950976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1508760"/>
            <a:ext cx="4517136" cy="8046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Анализ отвалов и проблем сервиса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59735"/>
            <a:ext cx="5394960" cy="950976"/>
          </a:xfrm>
          <a:prstGeom prst="roundRect">
            <a:avLst>
              <a:gd name="adj" fmla="val 10000"/>
            </a:avLst>
          </a:prstGeom>
          <a:solidFill>
            <a:srgbClr val="FBF6EA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459735"/>
            <a:ext cx="566928" cy="950976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551175"/>
            <a:ext cx="4517136" cy="8046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Обновлённая стратегия рекламной кампании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Лопатенко, Блохина, Юнусова, Савинская, Крутиков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02150"/>
            <a:ext cx="539496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502150"/>
            <a:ext cx="566928" cy="950976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593590"/>
            <a:ext cx="4517136" cy="8046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Дальнейшие шаги развития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44565"/>
            <a:ext cx="539496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544565"/>
            <a:ext cx="566928" cy="950976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636005"/>
            <a:ext cx="4517136" cy="804672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Зоны ответственности по ведению проекта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Гурков  ·  реестр операторов ИС ЭПД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Анализ конкурентов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965960"/>
          </a:xfrm>
          <a:prstGeom prst="rect">
            <a:avLst/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100584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1545336"/>
            <a:ext cx="406908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Цена входа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4892040" cy="12801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Бесплатно только ЭПД Лайт: нет модуля 1С и мобильного приложения. Платный минимум — DropCat, 4 500 ₽ за 1 000 титулов. Контур — 6 500, Сбер — 7 000.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41732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417320"/>
            <a:ext cx="73152" cy="19659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63624"/>
            <a:ext cx="100584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1545336"/>
            <a:ext cx="406908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1С-ЭПД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4892040" cy="12801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5 000 ₽ за 1 000 титулов и 250 000 ₽ за 100 000. На большом пакете дешевле Контура и Доки, на одном уровне с Такскомом. Веб-версии нет, только 1С:Фреш. API есть.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29584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29584"/>
            <a:ext cx="73152" cy="1965960"/>
          </a:xfrm>
          <a:prstGeom prst="rect">
            <a:avLst/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75888"/>
            <a:ext cx="100584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657600"/>
            <a:ext cx="406908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892040" cy="12801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Тот же оператор, Калуга Астрал. Веб, 1С и мобильное есть, API нет. Пакета на 1 000 титулов нет. С 5 000 титулов дороже 1С-ЭПД: 24 500 против 22 500.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529584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3529584"/>
            <a:ext cx="73152" cy="1965960"/>
          </a:xfrm>
          <a:prstGeom prst="rect">
            <a:avLst/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675888"/>
            <a:ext cx="100584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657600"/>
            <a:ext cx="406908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Чем берут другие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96512"/>
            <a:ext cx="4892040" cy="12801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Контур — Диадок и TMS, партнёры OZON и DPD. DropCat — Госключ и тест на 100 дней. Saby — УКЭП в телефоне и Деловые линии. Сбер — ГигаЧат.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Гурков  ·  1С-ЭПД и ближайшие операторы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Цены пакетов, ₽ в год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789920" cy="420624"/>
          </a:xfrm>
          <a:prstGeom prst="rect">
            <a:avLst/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2057400" cy="420624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Сервис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389888"/>
            <a:ext cx="1600200" cy="420624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1 000 титулов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89888"/>
            <a:ext cx="1874520" cy="420624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100 000 титулов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89888"/>
            <a:ext cx="4892040" cy="420624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Чем отличается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10512"/>
            <a:ext cx="1078992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20391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1С-ЭПД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10512"/>
            <a:ext cx="15819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10512"/>
            <a:ext cx="185623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250 000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10512"/>
            <a:ext cx="487375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Модуль 1С и API. Веб только во Фреше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231136"/>
            <a:ext cx="1078992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31136"/>
            <a:ext cx="20391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231136"/>
            <a:ext cx="15819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нет в реестре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31136"/>
            <a:ext cx="185623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320 000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31136"/>
            <a:ext cx="487375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Веб есть, API нет. Тот же оператор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51760"/>
            <a:ext cx="10789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651760"/>
            <a:ext cx="20391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Контур.Логистика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651760"/>
            <a:ext cx="15819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6 500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51760"/>
            <a:ext cx="185623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400 000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51760"/>
            <a:ext cx="487375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Диадок, TMS, тест 30 дней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072384"/>
            <a:ext cx="10789920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072384"/>
            <a:ext cx="20391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DropCat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072384"/>
            <a:ext cx="15819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4 500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072384"/>
            <a:ext cx="185623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200 000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072384"/>
            <a:ext cx="487375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Госключ, тест 100 дней и 100 документов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493008"/>
            <a:ext cx="10789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493008"/>
            <a:ext cx="20391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Такском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493008"/>
            <a:ext cx="15819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5 000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493008"/>
            <a:ext cx="185623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250 000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493008"/>
            <a:ext cx="487375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Тот же ценовой коридор, что у 1С-ЭПД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913632"/>
            <a:ext cx="10789920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913632"/>
            <a:ext cx="20391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Saby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913632"/>
            <a:ext cx="15819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5 000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913632"/>
            <a:ext cx="185623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индивидуально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913632"/>
            <a:ext cx="487375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УКЭП в телефоне, Деловые линии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334256"/>
            <a:ext cx="10789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334256"/>
            <a:ext cx="20391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Сбер2B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4334256"/>
            <a:ext cx="15819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7 000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334256"/>
            <a:ext cx="185623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индивидуально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334256"/>
            <a:ext cx="487375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ГигаЧат, экспедиторские документы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754880"/>
            <a:ext cx="10789920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754880"/>
            <a:ext cx="20391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ЭПД Лайт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754880"/>
            <a:ext cx="158191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бесплатно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754880"/>
            <a:ext cx="185623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бесплатно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754880"/>
            <a:ext cx="4873752" cy="420624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Нет модуля 1С и мобильного приложения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" y="5532120"/>
            <a:ext cx="1069848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Источник — реестр операторов ИС ЭПД. LeraData только с индивидуальными ценами. АТИ-Доки и НТЦ СТЭК в файле без характеристик.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777240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Вопрос повестки   ·  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066543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9875520" cy="2651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Актуальный анализ целевой аудитории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8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Блохина, Юнусова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Актуальный анализ  ·  Блохина, Юнусова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Два направления целевой аудитории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789920" cy="5029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 рабочей постановке зафиксированы два контура. Цифры ниже есть только по маленьким перевозчикам.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349240" cy="3429000"/>
          </a:xfrm>
          <a:prstGeom prst="roundRect">
            <a:avLst>
              <a:gd name="adj" fmla="val 6000"/>
            </a:avLst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331720"/>
            <a:ext cx="182880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26080"/>
            <a:ext cx="4709160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Маленькие перевозчики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749040"/>
            <a:ext cx="470916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TAM  ·  SAM  ·  SOM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251960"/>
            <a:ext cx="4709160" cy="9601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6E4EC"/>
                </a:solidFill>
                <a:latin typeface="Verdana"/>
                <a:ea typeface="Verdana"/>
                <a:cs typeface="Verdana"/>
              </a:rPr>
              <a:t>Рынок, пять городов с наибольшим индексом интереса и наша текущая база. Этот контур разбираем на следующих слайдах.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11680"/>
            <a:ext cx="534924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2011680"/>
            <a:ext cx="5349240" cy="7315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182880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26080"/>
            <a:ext cx="4709160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Генераторы трафика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749040"/>
            <a:ext cx="470916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Анализ клиентов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251960"/>
            <a:ext cx="4709160" cy="9601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Направление названо. Определения, критериев и цифр в исходных слайдах нет — их фиксируем отдельным вопросом повестки.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Актуальный анализ  ·  Блохина, Юнусова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TAM–SAM–SOM. Маленькие перевозчики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3529584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3529584" cy="91440"/>
          </a:xfrm>
          <a:prstGeom prst="rect">
            <a:avLst/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00784"/>
            <a:ext cx="3090672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975104"/>
            <a:ext cx="3090672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Весь рынок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50592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200 тыс.+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90672"/>
            <a:ext cx="3090672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перевозчиков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3566160"/>
            <a:ext cx="640080" cy="32004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730752"/>
            <a:ext cx="3090672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Объём рынка на текущий момент.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553712"/>
            <a:ext cx="3090672" cy="7315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К ГИС ЭПД подключено 25 тыс.
по неподтверждённым источникам.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444752"/>
            <a:ext cx="3529584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1444752"/>
            <a:ext cx="3529584" cy="9144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00784"/>
            <a:ext cx="3090672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75104"/>
            <a:ext cx="3090672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Где спрос заметнее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50592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90672"/>
            <a:ext cx="3090672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городов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566160"/>
            <a:ext cx="640080" cy="32004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730752"/>
            <a:ext cx="3090672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Наибольший индекс интереса: Красноярск, Новосибирск, Екатеринбург, Самара, Челябинск.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53712"/>
            <a:ext cx="3090672" cy="7315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 сумме — 57 721.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444752"/>
            <a:ext cx="3529584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444752"/>
            <a:ext cx="3529584" cy="91440"/>
          </a:xfrm>
          <a:prstGeom prst="rect">
            <a:avLst/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1700784"/>
            <a:ext cx="3090672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SOM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1975104"/>
            <a:ext cx="3090672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Наша база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450592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090672"/>
            <a:ext cx="3090672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текущих клиентов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6" y="3566160"/>
            <a:ext cx="640080" cy="32004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3730752"/>
            <a:ext cx="3090672" cy="77724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Анализ действующей базы. Это контур, от которого считаем достижимое.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4553712"/>
            <a:ext cx="3090672" cy="7315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Как эти 245 распределены по городам, в исходных слайдах не указано.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5532120"/>
            <a:ext cx="10607040" cy="38404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 исходной формулировке: «подключено 25 тыс. рублей». Источник не подтверждён — на встрече уточняем единицу.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SAM  ·  города с наибольшим индексом интереса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Пять городов: объём рынка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51560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Объёмы взяты как есть. Доли — от суммы пяти городов, это не доля Форус.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20116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Челябинск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020823"/>
            <a:ext cx="5623560" cy="27432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20" y="2020823"/>
            <a:ext cx="5623560" cy="274320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874519"/>
            <a:ext cx="15544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23 286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874519"/>
            <a:ext cx="13258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40,3%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14599"/>
            <a:ext cx="20116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Новосибирск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660903"/>
            <a:ext cx="5623560" cy="27432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2660903"/>
            <a:ext cx="2734741" cy="274320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514599"/>
            <a:ext cx="15544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11 324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14599"/>
            <a:ext cx="13258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19,6%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54679"/>
            <a:ext cx="20116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Самара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300983"/>
            <a:ext cx="5623560" cy="27432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88920" y="3300983"/>
            <a:ext cx="2705520" cy="274320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154679"/>
            <a:ext cx="15544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11 203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154679"/>
            <a:ext cx="13258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19,4%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94759"/>
            <a:ext cx="20116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Красноярск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941063"/>
            <a:ext cx="5623560" cy="27432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88920" y="3941063"/>
            <a:ext cx="2197163" cy="274320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3794759"/>
            <a:ext cx="15544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9 098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794759"/>
            <a:ext cx="13258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15,8%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434839"/>
            <a:ext cx="20116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Екатеринбург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4581143"/>
            <a:ext cx="5623560" cy="27432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88920" y="4581143"/>
            <a:ext cx="678613" cy="274320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434839"/>
            <a:ext cx="15544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2 810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434839"/>
            <a:ext cx="1325880" cy="566928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4,9%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193792"/>
            <a:ext cx="6583680" cy="51206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Итого по пяти городам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57 721 перевозчиков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230368"/>
            <a:ext cx="3657600" cy="45720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Челябинск — около 40% объёма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Актуальный анализ  ·  что уже видно и что ещё открыто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Как читаем эти цифры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69037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91056"/>
            <a:ext cx="64008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572768"/>
            <a:ext cx="580644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Рынок шире, чем подключение к ГИС ЭПД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920240"/>
            <a:ext cx="5806440" cy="6766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200 тыс.+ перевозчиков на рынке и 25 тыс. подключённых к ГИС ЭПД. Вторую цифру берём осторожно: источник не подтверждён, в исходнике единица записана как рубли.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98064"/>
            <a:ext cx="69037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44368"/>
            <a:ext cx="64008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2926080"/>
            <a:ext cx="580644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Рабочий фокус SAM — пять городов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273552"/>
            <a:ext cx="5806440" cy="6766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Красноярск, Новосибирск, Екатеринбург, Самара и Челябинск. Суммарный объём: 57 721 перевозчиков. Больше всего в Челябинске, меньше всего в Екатеринбурге.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51376"/>
            <a:ext cx="69037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97680"/>
            <a:ext cx="64008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279392"/>
            <a:ext cx="580644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Достижимая база сегодня — 245 клиентов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626864"/>
            <a:ext cx="5806440" cy="6766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Это SOM из исходных слайдов. Долю в пяти городах считать рано: география этих клиентов не разложена.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444752"/>
            <a:ext cx="3767328" cy="3968496"/>
          </a:xfrm>
          <a:prstGeom prst="roundRect">
            <a:avLst>
              <a:gd name="adj" fmla="val 6000"/>
            </a:avLst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2" y="1645920"/>
            <a:ext cx="3246120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Открыто на обсуждение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D6E4EC"/>
                </a:solidFill>
                <a:latin typeface="Verdana"/>
                <a:ea typeface="Verdana"/>
                <a:cs typeface="Verdana"/>
              </a:rPr>
              <a:t>ответов в цифрах нет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2496312"/>
            <a:ext cx="36576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496312"/>
            <a:ext cx="2926080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Подтвердить 25 тыс. и единицу измерения по ГИС ЭПД.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3182112"/>
            <a:ext cx="36576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82112"/>
            <a:ext cx="2926080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Разложить 245 клиентов по пяти городам.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867912"/>
            <a:ext cx="36576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867912"/>
            <a:ext cx="2926080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заходим в эти города.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4553712"/>
            <a:ext cx="36576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553712"/>
            <a:ext cx="2926080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для нас генератор трафика и по каким критериям — следующий вопрос повестки.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777240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Вопрос повестки   ·  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066543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9875520" cy="2651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Генераторы трафика: кто это для нас и по каким критериям мы их определяем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8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777240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Вопрос повестки   ·  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066543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9875520" cy="2651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Формирование УТП для обоих направлений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8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777240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Вопрос повестки   ·  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066543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9875520" cy="2651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Анализ отвалов и проблем сервиса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8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Гипотезы  ·  Лопатенко, Блохина, Юнусова, Савинская, Крутиков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Рекламная кампания на перевозчиков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67208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457200" cy="822960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589788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773936"/>
            <a:ext cx="589788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Уже в законе, верит в отсрочку до марта или ещё не работает.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04288"/>
            <a:ext cx="67208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457200" cy="822960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95728"/>
            <a:ext cx="589788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Где показываем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688336"/>
            <a:ext cx="589788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Реклама по запросам, визитам сайтов и софта.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18688"/>
            <a:ext cx="67208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218688"/>
            <a:ext cx="457200" cy="822960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310128"/>
            <a:ext cx="589788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Что объясняем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02736"/>
            <a:ext cx="589788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Почему, зачем и на каких условиях переходить.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33088"/>
            <a:ext cx="67208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133088"/>
            <a:ext cx="457200" cy="822960"/>
          </a:xfrm>
          <a:prstGeom prst="rect">
            <a:avLst/>
          </a:prstGeom>
          <a:noFill/>
        </p:spPr>
        <p:txBody>
          <a:bodyPr wrap="square" lIns="0" rIns="0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24528"/>
            <a:ext cx="589788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Целевое действие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517136"/>
            <a:ext cx="5897880" cy="365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 схеме не заполнено: его фиксируем на встрече.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389888"/>
            <a:ext cx="3977639" cy="3566160"/>
          </a:xfrm>
          <a:prstGeom prst="roundRect">
            <a:avLst>
              <a:gd name="adj" fmla="val 6000"/>
            </a:avLst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1536192"/>
            <a:ext cx="3566160" cy="5029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Кастдев · Витя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6E4EC"/>
                </a:solidFill>
                <a:latin typeface="Verdana"/>
                <a:ea typeface="Verdana"/>
                <a:cs typeface="Verdana"/>
              </a:rPr>
              <a:t>что выясняем до креатива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2212848"/>
            <a:ext cx="320040" cy="45720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212848"/>
            <a:ext cx="3246120" cy="5029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пришёл к ЭТрН и на что опирался, выбирая оператора.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724912"/>
            <a:ext cx="320040" cy="45720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724912"/>
            <a:ext cx="3246120" cy="5029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Крупный заказчик сказал или выбирал сам.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3236976"/>
            <a:ext cx="320040" cy="45720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236976"/>
            <a:ext cx="3246120" cy="5029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Если сказал — какая выгода выбрать именно этого оператора.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749040"/>
            <a:ext cx="320040" cy="45720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749040"/>
            <a:ext cx="3246120" cy="5029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перешёл на ЭПД.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4261104"/>
            <a:ext cx="320040" cy="45720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A817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261104"/>
            <a:ext cx="3246120" cy="50292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Знает ли, что закон уже в силе. Постановление — не отсрочка.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138928"/>
            <a:ext cx="10424160" cy="502920"/>
          </a:xfrm>
          <a:prstGeom prst="rect">
            <a:avLst/>
          </a:prstGeom>
          <a:noFill/>
        </p:spPr>
        <p:txBody>
          <a:bodyPr wrap="square" lIns="18288" rIns="18288" tIns="36576" bIns="36576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Ограничение схемы: страница сейчас настроена на отправителя, не на перевозчика.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9601200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Гипотезы кампании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Три сегмента перевозчиков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329184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На схеме сегмент один: перевозчик между DNS и покупателем-юриком.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3529584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3529584" cy="73152"/>
          </a:xfrm>
          <a:prstGeom prst="rect">
            <a:avLst/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83664"/>
            <a:ext cx="3163824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Гипотеза 1а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57984"/>
            <a:ext cx="3163824" cy="8686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Уже работает и знает, что закон вступил в силу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1810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Почему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3756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Выгодная цена. На УСН можно без 1С.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89534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Зачем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11480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Крупный заказчик может не дать заказы.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7258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Важно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89204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На дороге перевозчика не штрафуют. Это не значит, что закон перенесли.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700784"/>
            <a:ext cx="3529584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2544" y="1700784"/>
            <a:ext cx="3529584" cy="73152"/>
          </a:xfrm>
          <a:prstGeom prst="rect">
            <a:avLst/>
          </a:prstGeom>
          <a:solidFill>
            <a:srgbClr val="395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1883664"/>
            <a:ext cx="3163824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Гипотеза 1б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157984"/>
            <a:ext cx="3163824" cy="8686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Знает закон, но считает, что его отсрочили до марта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11810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Почему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333756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Закон уже действует. На схеме: штрафы более 3–5 раз без ЭТрН.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89534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Зачем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411480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Тот же риск потерять заказы крупного заказчика.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67258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Важно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489204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Отсутствие штрафа на дороге закон не переносит.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700784"/>
            <a:ext cx="3529584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700784"/>
            <a:ext cx="3529584" cy="7315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883664"/>
            <a:ext cx="3163824" cy="256032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Гипотеза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3163824" cy="8686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Ещё не работает. Хочет заказы крупного заказчика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11810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Оффер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33756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Как пройти требования, почему сейчас, а не в марте, кейс, цена, как подключить.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89534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Почему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11480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Выгодная цена. На УСН можно без 1С.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672584"/>
            <a:ext cx="3163824" cy="219456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Зачем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92040"/>
            <a:ext cx="3163824" cy="64008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Не попасть под требования по ЭТрН и ЭДО и остаться без заказов.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777240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Вопрос повестки   ·   07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066543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9875520" cy="2651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Дальнейшие шаги развития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8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7772400" cy="292608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860A"/>
                </a:solidFill>
                <a:latin typeface="Verdana"/>
                <a:ea typeface="Verdana"/>
                <a:cs typeface="Verdana"/>
              </a:rPr>
              <a:t>Вопрос повестки   ·   08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066543"/>
            <a:ext cx="1051560" cy="502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7712"/>
            <a:ext cx="9875520" cy="2651760"/>
          </a:xfrm>
          <a:prstGeom prst="rect">
            <a:avLst/>
          </a:prstGeom>
          <a:noFill/>
        </p:spPr>
        <p:txBody>
          <a:bodyPr wrap="square" lIns="18288" rIns="18288" tIns="36576" bIns="36576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Зоны ответственности по ведению проекта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8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весь состав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Блохина Елизавета</a:t>
            </a:r>
          </a:p>
          <a:p>
            <a:r>
              <a:rPr sz="1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Юнусова Юлиана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5C656E"/>
                </a:solidFill>
                <a:latin typeface="Verdana"/>
                <a:ea typeface="Verdana"/>
                <a:cs typeface="Verdana"/>
              </a:rPr>
              <a:t>группа продуктового запуска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1400" b="0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info@forus.ru</a:t>
            </a:r>
          </a:p>
          <a:p>
            <a:r>
              <a:rPr sz="1400" b="0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www.forus.ru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Фиксируем</a:t>
            </a:r>
          </a:p>
          <a:p>
            <a:pPr>
              <a:spcBef>
                <a:spcPts val="200"/>
              </a:spcBef>
            </a:pPr>
            <a:r>
              <a:rPr sz="3200" b="1" i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решения встречи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Forus2020">
  <a:themeElements>
    <a:clrScheme name="Фору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CF68"/>
      </a:accent1>
      <a:accent2>
        <a:srgbClr val="395F75"/>
      </a:accent2>
      <a:accent3>
        <a:srgbClr val="A5A5A5"/>
      </a:accent3>
      <a:accent4>
        <a:srgbClr val="D74949"/>
      </a:accent4>
      <a:accent5>
        <a:srgbClr val="5B9BD5"/>
      </a:accent5>
      <a:accent6>
        <a:srgbClr val="00715D"/>
      </a:accent6>
      <a:hlink>
        <a:srgbClr val="0563C1"/>
      </a:hlink>
      <a:folHlink>
        <a:srgbClr val="954F72"/>
      </a:folHlink>
    </a:clrScheme>
    <a:fontScheme name="Форус_2020">
      <a:majorFont>
        <a:latin typeface="Verdana"/>
        <a:ea typeface="Liberation Sans"/>
        <a:cs typeface="Liberation Sans"/>
      </a:majorFont>
      <a:minorFont>
        <a:latin typeface="Verdana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Широкоэкранный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ЭПД. Очная встреча</dc:title>
  <dc:subject>Цель встречи, анализ целевой аудитории, повестка</dc:subject>
  <dc:creator>Блохина Елизавета, Юнусова Юлиана</dc:creator>
  <cp:keywords/>
  <dc:description/>
  <dc:identifier/>
  <dc:language/>
  <cp:lastModifiedBy>Блохина Елизавета</cp:lastModifiedBy>
  <cp:revision>147</cp:revision>
  <dcterms:created xsi:type="dcterms:W3CDTF">2020-01-20T06:19:00Z</dcterms:created>
  <dcterms:modified xsi:type="dcterms:W3CDTF">2026-10-22T02:16:16Z</dcterms:modified>
  <cp:category/>
  <cp:contentStatus/>
  <cp:version/>
</cp:coreProperties>
</file>