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for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11480"/>
            <a:ext cx="1418492" cy="502920"/>
          </a:xfrm>
          <a:prstGeom prst="rect">
            <a:avLst/>
          </a:prstGeom>
        </p:spPr>
      </p:pic>
      <p:pic>
        <p:nvPicPr>
          <p:cNvPr id="5" name="Picture 4" descr="wave_t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-91440"/>
            <a:ext cx="3383280" cy="112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1554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95F75"/>
                </a:solidFill>
                <a:latin typeface="Verdana"/>
                <a:ea typeface="Verdana"/>
                <a:cs typeface="Verdana"/>
              </a:rPr>
              <a:t>Группа продуктового запуска  ·  август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10972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Работа с сервисом
«1С:Кабинет сотрудника»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520440"/>
            <a:ext cx="1828800" cy="91440"/>
          </a:xfrm>
          <a:prstGeom prst="rect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84048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C5C5C"/>
                </a:solidFill>
                <a:latin typeface="Verdana"/>
                <a:ea typeface="Verdana"/>
                <a:cs typeface="Verdana"/>
              </a:rPr>
              <a:t>Статус проекта: карта работы, готовые материалы,
гипотезы в проверке и фактическая воронка по базам.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212080"/>
            <a:ext cx="3200400" cy="960120"/>
          </a:xfrm>
          <a:prstGeom prst="roundRect">
            <a:avLst>
              <a:gd name="adj" fmla="val 10000"/>
            </a:avLst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321808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95F75"/>
                </a:solidFill>
                <a:latin typeface="Verdana"/>
                <a:ea typeface="Verdana"/>
                <a:cs typeface="Verdana"/>
              </a:rPr>
              <a:t>Период факта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596128"/>
            <a:ext cx="2926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23.07 — 24.08.2026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23360" y="5212080"/>
            <a:ext cx="3383280" cy="960120"/>
          </a:xfrm>
          <a:prstGeom prst="roundRect">
            <a:avLst>
              <a:gd name="adj" fmla="val 10000"/>
            </a:avLst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0" y="5321808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95F75"/>
                </a:solidFill>
                <a:latin typeface="Verdana"/>
                <a:ea typeface="Verdana"/>
                <a:cs typeface="Verdana"/>
              </a:rPr>
              <a:t>Команда на линии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5596128"/>
            <a:ext cx="3108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Юлиана · Соня · Данил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5212080"/>
            <a:ext cx="3931920" cy="960120"/>
          </a:xfrm>
          <a:prstGeom prst="roundRect">
            <a:avLst>
              <a:gd name="adj" fmla="val 10000"/>
            </a:avLst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532180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Прозвонено за период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5596128"/>
            <a:ext cx="3657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1 084 звонка</a:t>
            </a:r>
          </a:p>
        </p:txBody>
      </p:sp>
      <p:pic>
        <p:nvPicPr>
          <p:cNvPr id="19" name="Picture 18" descr="wave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37160" y="5989320"/>
            <a:ext cx="2926080" cy="975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for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1168"/>
            <a:ext cx="980049" cy="347472"/>
          </a:xfrm>
          <a:prstGeom prst="rect">
            <a:avLst/>
          </a:prstGeom>
        </p:spPr>
      </p:pic>
      <p:pic>
        <p:nvPicPr>
          <p:cNvPr id="4" name="Picture 3" descr="wave_t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-45720"/>
            <a:ext cx="2651760" cy="883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8368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95F75"/>
                </a:solidFill>
                <a:latin typeface="Verdana"/>
                <a:ea typeface="Verdana"/>
                <a:cs typeface="Verdana"/>
              </a:rPr>
              <a:t>Содержание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9611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О чём этот отчёт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1234440" cy="64008"/>
          </a:xfrm>
          <a:prstGeom prst="rect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691640"/>
            <a:ext cx="11247120" cy="658368"/>
          </a:xfrm>
          <a:prstGeom prst="roundRect">
            <a:avLst>
              <a:gd name="adj" fmla="val 8000"/>
            </a:avLst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01368"/>
            <a:ext cx="731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E8B43A"/>
                </a:solidFill>
                <a:latin typeface="Verdana"/>
                <a:ea typeface="Verdana"/>
                <a:cs typeface="Verdan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764792"/>
            <a:ext cx="2926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Проект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764792"/>
            <a:ext cx="6858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C5C5C"/>
                </a:solidFill>
                <a:latin typeface="Verdana"/>
                <a:ea typeface="Verdana"/>
                <a:cs typeface="Verdana"/>
              </a:rPr>
              <a:t>Зачем запускаем Кабинет сотрудника и как устроена группа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23160"/>
            <a:ext cx="11247120" cy="658368"/>
          </a:xfrm>
          <a:prstGeom prst="roundRect">
            <a:avLst>
              <a:gd name="adj" fmla="val 8000"/>
            </a:avLst>
          </a:prstGeom>
          <a:solidFill>
            <a:srgbClr val="FFF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532888"/>
            <a:ext cx="731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E8B43A"/>
                </a:solidFill>
                <a:latin typeface="Verdana"/>
                <a:ea typeface="Verdana"/>
                <a:cs typeface="Verdan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496312"/>
            <a:ext cx="2926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Карта проекта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496312"/>
            <a:ext cx="6858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C5C5C"/>
                </a:solidFill>
                <a:latin typeface="Verdana"/>
                <a:ea typeface="Verdana"/>
                <a:cs typeface="Verdana"/>
              </a:rPr>
              <a:t>Четыре контура работы: свои, холод, семинары, связка продуктов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154680"/>
            <a:ext cx="11247120" cy="658368"/>
          </a:xfrm>
          <a:prstGeom prst="roundRect">
            <a:avLst>
              <a:gd name="adj" fmla="val 8000"/>
            </a:avLst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264408"/>
            <a:ext cx="731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E8B43A"/>
                </a:solidFill>
                <a:latin typeface="Verdana"/>
                <a:ea typeface="Verdana"/>
                <a:cs typeface="Verdan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227832"/>
            <a:ext cx="2926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Материалы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227832"/>
            <a:ext cx="6858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C5C5C"/>
                </a:solidFill>
                <a:latin typeface="Verdana"/>
                <a:ea typeface="Verdana"/>
                <a:cs typeface="Verdana"/>
              </a:rPr>
              <a:t>Что уже собрано: КП, скрипты, регламент, модель, аналитика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886200"/>
            <a:ext cx="11247120" cy="658368"/>
          </a:xfrm>
          <a:prstGeom prst="roundRect">
            <a:avLst>
              <a:gd name="adj" fmla="val 8000"/>
            </a:avLst>
          </a:prstGeom>
          <a:solidFill>
            <a:srgbClr val="FFF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995928"/>
            <a:ext cx="731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E8B43A"/>
                </a:solidFill>
                <a:latin typeface="Verdana"/>
                <a:ea typeface="Verdana"/>
                <a:cs typeface="Verdana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959352"/>
            <a:ext cx="2926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Гипотезы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959352"/>
            <a:ext cx="6858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C5C5C"/>
                </a:solidFill>
                <a:latin typeface="Verdana"/>
                <a:ea typeface="Verdana"/>
                <a:cs typeface="Verdana"/>
              </a:rPr>
              <a:t>Четыре проверяемых ставки — формулировка, цель, как смотрим факт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617720"/>
            <a:ext cx="11247120" cy="658368"/>
          </a:xfrm>
          <a:prstGeom prst="roundRect">
            <a:avLst>
              <a:gd name="adj" fmla="val 8000"/>
            </a:avLst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727448"/>
            <a:ext cx="731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E8B43A"/>
                </a:solidFill>
                <a:latin typeface="Verdana"/>
                <a:ea typeface="Verdana"/>
                <a:cs typeface="Verdana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4690872"/>
            <a:ext cx="2926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Воронка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4690872"/>
            <a:ext cx="6858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C5C5C"/>
                </a:solidFill>
                <a:latin typeface="Verdana"/>
                <a:ea typeface="Verdana"/>
                <a:cs typeface="Verdana"/>
              </a:rPr>
              <a:t>Звонки, успешные, сделки, записи и демо по базам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349240"/>
            <a:ext cx="11247120" cy="658368"/>
          </a:xfrm>
          <a:prstGeom prst="roundRect">
            <a:avLst>
              <a:gd name="adj" fmla="val 8000"/>
            </a:avLst>
          </a:prstGeom>
          <a:solidFill>
            <a:srgbClr val="FFF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458968"/>
            <a:ext cx="731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E8B43A"/>
                </a:solidFill>
                <a:latin typeface="Verdana"/>
                <a:ea typeface="Verdana"/>
                <a:cs typeface="Verdana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5422392"/>
            <a:ext cx="2926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Кейсы демо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5422392"/>
            <a:ext cx="6858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C5C5C"/>
                </a:solidFill>
                <a:latin typeface="Verdana"/>
                <a:ea typeface="Verdana"/>
                <a:cs typeface="Verdana"/>
              </a:rPr>
              <a:t>Место под результаты проведённых демонстраций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6473952"/>
            <a:ext cx="7772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C5C5C"/>
                </a:solidFill>
                <a:latin typeface="Verdana"/>
                <a:ea typeface="Verdana"/>
                <a:cs typeface="Verdana"/>
              </a:rPr>
              <a:t>ГК Форус  ·  группа продуктового запуска  ·  1С:Кабинет сотрудника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24160" y="6473952"/>
            <a:ext cx="1280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C5C5C"/>
                </a:solidFill>
                <a:latin typeface="Verdana"/>
                <a:ea typeface="Verdana"/>
                <a:cs typeface="Verdana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for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1168"/>
            <a:ext cx="980049" cy="347472"/>
          </a:xfrm>
          <a:prstGeom prst="rect">
            <a:avLst/>
          </a:prstGeom>
        </p:spPr>
      </p:pic>
      <p:pic>
        <p:nvPicPr>
          <p:cNvPr id="4" name="Picture 3" descr="wave_t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-45720"/>
            <a:ext cx="2651760" cy="883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8368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95F75"/>
                </a:solidFill>
                <a:latin typeface="Verdana"/>
                <a:ea typeface="Verdana"/>
                <a:cs typeface="Verdana"/>
              </a:rPr>
              <a:t>1. Описание проекта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9611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Сервис, который закрывает рутину кадров и бухгалтерии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1234440" cy="64008"/>
          </a:xfrm>
          <a:prstGeom prst="rect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691640"/>
            <a:ext cx="6949440" cy="4434840"/>
          </a:xfrm>
          <a:prstGeom prst="roundRect">
            <a:avLst>
              <a:gd name="adj" fmla="val 8000"/>
            </a:avLst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874519"/>
            <a:ext cx="6492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95F75"/>
                </a:solidFill>
                <a:latin typeface="Verdana"/>
                <a:ea typeface="Verdana"/>
                <a:cs typeface="Verdana"/>
              </a:rPr>
              <a:t>Что продаём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40280"/>
            <a:ext cx="64922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«1С:Кабинет сотрудника» — облачный КЭДО в экосистеме 1С: заявления, отпуска, расчётные листки по ст. 136 ТК РФ, подпись, согласования и мобильный доступ. Клиенту не нужно менять учётную систему.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822191"/>
            <a:ext cx="128016" cy="128016"/>
          </a:xfrm>
          <a:prstGeom prst="rect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749039"/>
            <a:ext cx="6217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Для клиента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005071"/>
            <a:ext cx="6217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Verdana"/>
                <a:ea typeface="Verdana"/>
                <a:cs typeface="Verdana"/>
              </a:rPr>
              <a:t>Меньше бумаги и ручных заявок, прозрачный кадровый контур, юридически значимый обмен.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4535423"/>
            <a:ext cx="128016" cy="128016"/>
          </a:xfrm>
          <a:prstGeom prst="rect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462271"/>
            <a:ext cx="6217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Для Форус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718303"/>
            <a:ext cx="6217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Verdana"/>
                <a:ea typeface="Verdana"/>
                <a:cs typeface="Verdana"/>
              </a:rPr>
              <a:t>Допродажа в действующую базу ИТС/ЗУП и вход в новые компании через понятный сервис.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5248655"/>
            <a:ext cx="128016" cy="128016"/>
          </a:xfrm>
          <a:prstGeom prst="rect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175503"/>
            <a:ext cx="6217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Почему сейчас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5"/>
            <a:ext cx="6217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Verdana"/>
                <a:ea typeface="Verdana"/>
                <a:cs typeface="Verdana"/>
              </a:rPr>
              <a:t>Рынок уже требует КЭДО, но порог входа высокий — мы снимаем его демо и настройкой.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20" y="1691640"/>
            <a:ext cx="4114800" cy="443484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18120" y="1920240"/>
            <a:ext cx="3703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ECF68"/>
                </a:solidFill>
                <a:latin typeface="Verdana"/>
                <a:ea typeface="Verdana"/>
                <a:cs typeface="Verdana"/>
              </a:rPr>
              <a:t>Группа запуска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20" y="2331720"/>
            <a:ext cx="37033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Не «просто отдел продаж», а контур проверки гипотез: кто берёт сервис, с каким оффером и из какой базы.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20" y="365760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ECF68"/>
                </a:solidFill>
                <a:latin typeface="Verdana"/>
                <a:ea typeface="Verdana"/>
                <a:cs typeface="Verdana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3657600"/>
            <a:ext cx="21945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EEEEEE"/>
                </a:solidFill>
                <a:latin typeface="Verdana"/>
                <a:ea typeface="Verdana"/>
                <a:cs typeface="Verdana"/>
              </a:rPr>
              <a:t>менеджера на линии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8120" y="416052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ECF68"/>
                </a:solidFill>
                <a:latin typeface="Verdana"/>
                <a:ea typeface="Verdana"/>
                <a:cs typeface="Verdan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4160520"/>
            <a:ext cx="21945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EEEEEE"/>
                </a:solidFill>
                <a:latin typeface="Verdana"/>
                <a:ea typeface="Verdana"/>
                <a:cs typeface="Verdana"/>
              </a:rPr>
              <a:t>гипотезы в работе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8120" y="466344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ECF68"/>
                </a:solidFill>
                <a:latin typeface="Verdana"/>
                <a:ea typeface="Verdana"/>
                <a:cs typeface="Verdana"/>
              </a:rPr>
              <a:t>2 300+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4663440"/>
            <a:ext cx="21945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EEEEEE"/>
                </a:solidFill>
                <a:latin typeface="Verdana"/>
                <a:ea typeface="Verdana"/>
                <a:cs typeface="Verdana"/>
              </a:rPr>
              <a:t>ИНН целевой холодной базы по ОКВЭД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8120" y="516636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ECF68"/>
                </a:solidFill>
                <a:latin typeface="Verdana"/>
                <a:ea typeface="Verdana"/>
                <a:cs typeface="Verdana"/>
              </a:rPr>
              <a:t>1 084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0" y="5166360"/>
            <a:ext cx="21945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EEEEEE"/>
                </a:solidFill>
                <a:latin typeface="Verdana"/>
                <a:ea typeface="Verdana"/>
                <a:cs typeface="Verdana"/>
              </a:rPr>
              <a:t>звонка в факте за месяц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6473952"/>
            <a:ext cx="7772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C5C5C"/>
                </a:solidFill>
                <a:latin typeface="Verdana"/>
                <a:ea typeface="Verdana"/>
                <a:cs typeface="Verdana"/>
              </a:rPr>
              <a:t>ГК Форус  ·  группа продуктового запуска  ·  1С:Кабинет сотрудника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24160" y="6473952"/>
            <a:ext cx="1280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C5C5C"/>
                </a:solidFill>
                <a:latin typeface="Verdana"/>
                <a:ea typeface="Verdana"/>
                <a:cs typeface="Verdana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for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1168"/>
            <a:ext cx="980049" cy="347472"/>
          </a:xfrm>
          <a:prstGeom prst="rect">
            <a:avLst/>
          </a:prstGeom>
        </p:spPr>
      </p:pic>
      <p:pic>
        <p:nvPicPr>
          <p:cNvPr id="4" name="Picture 3" descr="wave_t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-45720"/>
            <a:ext cx="2651760" cy="883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8368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95F75"/>
                </a:solidFill>
                <a:latin typeface="Verdana"/>
                <a:ea typeface="Verdana"/>
                <a:cs typeface="Verdana"/>
              </a:rPr>
              <a:t>1. Карта проекта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9611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Как устроена ежедневная работа группы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1234440" cy="64008"/>
          </a:xfrm>
          <a:prstGeom prst="rect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72768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C5C5C"/>
                </a:solidFill>
                <a:latin typeface="Verdana"/>
                <a:ea typeface="Verdana"/>
                <a:cs typeface="Verdana"/>
              </a:rPr>
              <a:t>Карта дня менеджеров + четыре контура касания. Воронка общая: прозвон → успешный контакт → сделка → запись → демо → продажа.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03120"/>
            <a:ext cx="2788920" cy="3246120"/>
          </a:xfrm>
          <a:prstGeom prst="roundRect">
            <a:avLst>
              <a:gd name="adj" fmla="val 8000"/>
            </a:avLst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103120"/>
            <a:ext cx="2788920" cy="109728"/>
          </a:xfrm>
          <a:prstGeom prst="rect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2331720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B43A"/>
                </a:solidFill>
                <a:latin typeface="Verdana"/>
                <a:ea typeface="Verdana"/>
                <a:cs typeface="Verdana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697480"/>
            <a:ext cx="2468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Свои клиенты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3291840"/>
            <a:ext cx="2468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95F75"/>
                </a:solidFill>
                <a:latin typeface="Verdana"/>
                <a:ea typeface="Verdana"/>
                <a:cs typeface="Verdana"/>
              </a:rPr>
              <a:t>ЗУП, КП, канбан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3840480"/>
            <a:ext cx="24688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Verdana"/>
                <a:ea typeface="Verdana"/>
                <a:cs typeface="Verdana"/>
              </a:rPr>
              <a:t>Оффер: «это уже входит в тариф ИТС ПРОФ» — демо без барьера цены.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3280" y="2103120"/>
            <a:ext cx="2788920" cy="3246120"/>
          </a:xfrm>
          <a:prstGeom prst="roundRect">
            <a:avLst>
              <a:gd name="adj" fmla="val 8000"/>
            </a:avLst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83280" y="2103120"/>
            <a:ext cx="2788920" cy="109728"/>
          </a:xfrm>
          <a:prstGeom prst="rect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7872" y="2331720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B43A"/>
                </a:solidFill>
                <a:latin typeface="Verdana"/>
                <a:ea typeface="Verdana"/>
                <a:cs typeface="Verdana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47872" y="2697480"/>
            <a:ext cx="2468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Холод · ОКВЭД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7872" y="3291840"/>
            <a:ext cx="2468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95F75"/>
                </a:solidFill>
                <a:latin typeface="Verdana"/>
                <a:ea typeface="Verdana"/>
                <a:cs typeface="Verdana"/>
              </a:rPr>
              <a:t>вахта, общепит, производство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47872" y="3840480"/>
            <a:ext cx="24688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Verdana"/>
                <a:ea typeface="Verdana"/>
                <a:cs typeface="Verdana"/>
              </a:rPr>
              <a:t>Берём только фирмы с подходящим видом деятельности из модели ICP.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2103120"/>
            <a:ext cx="2788920" cy="3246120"/>
          </a:xfrm>
          <a:prstGeom prst="roundRect">
            <a:avLst>
              <a:gd name="adj" fmla="val 8000"/>
            </a:avLst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2103120"/>
            <a:ext cx="2788920" cy="109728"/>
          </a:xfrm>
          <a:prstGeom prst="rect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2331720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B43A"/>
                </a:solidFill>
                <a:latin typeface="Verdana"/>
                <a:ea typeface="Verdana"/>
                <a:cs typeface="Verdana"/>
              </a:rPr>
              <a:t>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3952" y="2697480"/>
            <a:ext cx="2468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Семинары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3952" y="3291840"/>
            <a:ext cx="2468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95F75"/>
                </a:solidFill>
                <a:latin typeface="Verdana"/>
                <a:ea typeface="Verdana"/>
                <a:cs typeface="Verdana"/>
              </a:rPr>
              <a:t>вебинары, заявки с сайта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3952" y="3840480"/>
            <a:ext cx="24688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Verdana"/>
                <a:ea typeface="Verdana"/>
                <a:cs typeface="Verdana"/>
              </a:rPr>
              <a:t>Тёплый след: отвечаем на вопросы, закрепляем пользу, ведём в демо.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35440" y="2103120"/>
            <a:ext cx="2788920" cy="3246120"/>
          </a:xfrm>
          <a:prstGeom prst="roundRect">
            <a:avLst>
              <a:gd name="adj" fmla="val 8000"/>
            </a:avLst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235440" y="2103120"/>
            <a:ext cx="2788920" cy="109728"/>
          </a:xfrm>
          <a:prstGeom prst="rect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00032" y="2331720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B43A"/>
                </a:solidFill>
                <a:latin typeface="Verdana"/>
                <a:ea typeface="Verdana"/>
                <a:cs typeface="Verdana"/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2697480"/>
            <a:ext cx="2468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Связка продуктов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3291840"/>
            <a:ext cx="2468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95F75"/>
                </a:solidFill>
                <a:latin typeface="Verdana"/>
                <a:ea typeface="Verdana"/>
                <a:cs typeface="Verdana"/>
              </a:rPr>
              <a:t>ДОКИ Логистика + КЭДО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00032" y="3840480"/>
            <a:ext cx="24688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Verdana"/>
                <a:ea typeface="Verdana"/>
                <a:cs typeface="Verdana"/>
              </a:rPr>
              <a:t>Кабинет как продолжение документооборота, а не отдельная «ещё одна подписка».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53212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FF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650992"/>
            <a:ext cx="10972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Операционный слой: «Карта дня» (чеклист и доска каждого менеджера), регламент после записи на демо, свод «КС аналитика» по трём листам.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473952"/>
            <a:ext cx="7772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C5C5C"/>
                </a:solidFill>
                <a:latin typeface="Verdana"/>
                <a:ea typeface="Verdana"/>
                <a:cs typeface="Verdana"/>
              </a:rPr>
              <a:t>ГК Форус  ·  группа продуктового запуска  ·  1С:Кабинет сотрудника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24160" y="6473952"/>
            <a:ext cx="1280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C5C5C"/>
                </a:solidFill>
                <a:latin typeface="Verdana"/>
                <a:ea typeface="Verdana"/>
                <a:cs typeface="Verdana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for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1168"/>
            <a:ext cx="980049" cy="347472"/>
          </a:xfrm>
          <a:prstGeom prst="rect">
            <a:avLst/>
          </a:prstGeom>
        </p:spPr>
      </p:pic>
      <p:pic>
        <p:nvPicPr>
          <p:cNvPr id="4" name="Picture 3" descr="wave_t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-45720"/>
            <a:ext cx="2651760" cy="883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8368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95F75"/>
                </a:solidFill>
                <a:latin typeface="Verdana"/>
                <a:ea typeface="Verdana"/>
                <a:cs typeface="Verdana"/>
              </a:rPr>
              <a:t>2. Что уже сделано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9611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Пакет материалов, на котором едет линия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1234440" cy="64008"/>
          </a:xfrm>
          <a:prstGeom prst="rect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691640"/>
            <a:ext cx="3657600" cy="4617720"/>
          </a:xfrm>
          <a:prstGeom prst="roundRect">
            <a:avLst>
              <a:gd name="adj" fmla="val 8000"/>
            </a:avLst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691640"/>
            <a:ext cx="3657600" cy="640080"/>
          </a:xfrm>
          <a:prstGeom prst="rect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83080"/>
            <a:ext cx="3291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Клиенту в руки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514600"/>
            <a:ext cx="292608" cy="292608"/>
          </a:xfrm>
          <a:prstGeom prst="ellipse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514600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496312"/>
            <a:ext cx="2880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Листовка «Кабинет сотрудника»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081528"/>
            <a:ext cx="292608" cy="292608"/>
          </a:xfrm>
          <a:prstGeom prst="ellipse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81528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063240"/>
            <a:ext cx="2880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КП на внедрение КЭДО (только КС)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648456"/>
            <a:ext cx="292608" cy="292608"/>
          </a:xfrm>
          <a:prstGeom prst="ellipse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648456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630168"/>
            <a:ext cx="2880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КП-пакет 750 кабинетов + акция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215384"/>
            <a:ext cx="292608" cy="292608"/>
          </a:xfrm>
          <a:prstGeom prst="ellipse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215384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197096"/>
            <a:ext cx="2880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Преддемонстрация для МПП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4782312"/>
            <a:ext cx="292608" cy="292608"/>
          </a:xfrm>
          <a:prstGeom prst="ellipse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4782312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4764024"/>
            <a:ext cx="2880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Памятка после оплаты пакета</a:t>
            </a:r>
          </a:p>
        </p:txBody>
      </p:sp>
      <p:sp>
        <p:nvSpPr>
          <p:cNvPr id="26" name="Oval 25"/>
          <p:cNvSpPr/>
          <p:nvPr/>
        </p:nvSpPr>
        <p:spPr>
          <a:xfrm>
            <a:off x="658368" y="5349240"/>
            <a:ext cx="292608" cy="292608"/>
          </a:xfrm>
          <a:prstGeom prst="ellipse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5349240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5330952"/>
            <a:ext cx="2880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Листовка акции «Больше, чем кешбэк»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97680" y="1691640"/>
            <a:ext cx="3657600" cy="4617720"/>
          </a:xfrm>
          <a:prstGeom prst="roundRect">
            <a:avLst>
              <a:gd name="adj" fmla="val 8000"/>
            </a:avLst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97680" y="1691640"/>
            <a:ext cx="3657600" cy="640080"/>
          </a:xfrm>
          <a:prstGeom prst="rect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80560" y="1783080"/>
            <a:ext cx="3291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Менеджеру на линию</a:t>
            </a:r>
          </a:p>
        </p:txBody>
      </p:sp>
      <p:sp>
        <p:nvSpPr>
          <p:cNvPr id="32" name="Oval 31"/>
          <p:cNvSpPr/>
          <p:nvPr/>
        </p:nvSpPr>
        <p:spPr>
          <a:xfrm>
            <a:off x="4498848" y="2514600"/>
            <a:ext cx="292608" cy="292608"/>
          </a:xfrm>
          <a:prstGeom prst="ellipse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98848" y="2514600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92040" y="2496312"/>
            <a:ext cx="2880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Скрипт КабС / ДОКИ / Смартвей</a:t>
            </a:r>
          </a:p>
        </p:txBody>
      </p:sp>
      <p:sp>
        <p:nvSpPr>
          <p:cNvPr id="35" name="Oval 34"/>
          <p:cNvSpPr/>
          <p:nvPr/>
        </p:nvSpPr>
        <p:spPr>
          <a:xfrm>
            <a:off x="4498848" y="3081528"/>
            <a:ext cx="292608" cy="292608"/>
          </a:xfrm>
          <a:prstGeom prst="ellipse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98848" y="3081528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92040" y="3063240"/>
            <a:ext cx="2880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Регламент после записи на демо</a:t>
            </a:r>
          </a:p>
        </p:txBody>
      </p:sp>
      <p:sp>
        <p:nvSpPr>
          <p:cNvPr id="38" name="Oval 37"/>
          <p:cNvSpPr/>
          <p:nvPr/>
        </p:nvSpPr>
        <p:spPr>
          <a:xfrm>
            <a:off x="4498848" y="3648456"/>
            <a:ext cx="292608" cy="292608"/>
          </a:xfrm>
          <a:prstGeom prst="ellipse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98848" y="3648456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92040" y="3630168"/>
            <a:ext cx="2880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Мастерская по КС (июнь 2026)</a:t>
            </a:r>
          </a:p>
        </p:txBody>
      </p:sp>
      <p:sp>
        <p:nvSpPr>
          <p:cNvPr id="41" name="Oval 40"/>
          <p:cNvSpPr/>
          <p:nvPr/>
        </p:nvSpPr>
        <p:spPr>
          <a:xfrm>
            <a:off x="4498848" y="4215384"/>
            <a:ext cx="292608" cy="292608"/>
          </a:xfrm>
          <a:prstGeom prst="ellipse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98848" y="4215384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92040" y="4197096"/>
            <a:ext cx="2880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Квиз 1С-ЭПД · Доки · Логистика</a:t>
            </a:r>
          </a:p>
        </p:txBody>
      </p:sp>
      <p:sp>
        <p:nvSpPr>
          <p:cNvPr id="44" name="Oval 43"/>
          <p:cNvSpPr/>
          <p:nvPr/>
        </p:nvSpPr>
        <p:spPr>
          <a:xfrm>
            <a:off x="4498848" y="4782312"/>
            <a:ext cx="292608" cy="292608"/>
          </a:xfrm>
          <a:prstGeom prst="ellipse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98848" y="4782312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92040" y="4764024"/>
            <a:ext cx="2880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Карта дня группы запуска</a:t>
            </a:r>
          </a:p>
        </p:txBody>
      </p:sp>
      <p:sp>
        <p:nvSpPr>
          <p:cNvPr id="47" name="Oval 46"/>
          <p:cNvSpPr/>
          <p:nvPr/>
        </p:nvSpPr>
        <p:spPr>
          <a:xfrm>
            <a:off x="4498848" y="5349240"/>
            <a:ext cx="292608" cy="292608"/>
          </a:xfrm>
          <a:prstGeom prst="ellipse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498848" y="5349240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92040" y="5330952"/>
            <a:ext cx="2880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Блок-схема воронки работы с клиентом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138160" y="1691640"/>
            <a:ext cx="3657600" cy="4617720"/>
          </a:xfrm>
          <a:prstGeom prst="roundRect">
            <a:avLst>
              <a:gd name="adj" fmla="val 8000"/>
            </a:avLst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138160" y="1691640"/>
            <a:ext cx="3657600" cy="640080"/>
          </a:xfrm>
          <a:prstGeom prst="rect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321040" y="1783080"/>
            <a:ext cx="3291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Управление и экономика</a:t>
            </a:r>
          </a:p>
        </p:txBody>
      </p:sp>
      <p:sp>
        <p:nvSpPr>
          <p:cNvPr id="53" name="Oval 52"/>
          <p:cNvSpPr/>
          <p:nvPr/>
        </p:nvSpPr>
        <p:spPr>
          <a:xfrm>
            <a:off x="8339328" y="2514600"/>
            <a:ext cx="292608" cy="292608"/>
          </a:xfrm>
          <a:prstGeom prst="ellipse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39328" y="2514600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32520" y="2496312"/>
            <a:ext cx="2880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Свод «КС аналитика» (3 менеджера)</a:t>
            </a:r>
          </a:p>
        </p:txBody>
      </p:sp>
      <p:sp>
        <p:nvSpPr>
          <p:cNvPr id="56" name="Oval 55"/>
          <p:cNvSpPr/>
          <p:nvPr/>
        </p:nvSpPr>
        <p:spPr>
          <a:xfrm>
            <a:off x="8339328" y="3081528"/>
            <a:ext cx="292608" cy="292608"/>
          </a:xfrm>
          <a:prstGeom prst="ellipse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339328" y="3081528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732520" y="3063240"/>
            <a:ext cx="2880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Инвестиционная модель и план 3/5/7</a:t>
            </a:r>
          </a:p>
        </p:txBody>
      </p:sp>
      <p:sp>
        <p:nvSpPr>
          <p:cNvPr id="59" name="Oval 58"/>
          <p:cNvSpPr/>
          <p:nvPr/>
        </p:nvSpPr>
        <p:spPr>
          <a:xfrm>
            <a:off x="8339328" y="3648456"/>
            <a:ext cx="292608" cy="292608"/>
          </a:xfrm>
          <a:prstGeom prst="ellipse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339328" y="3648456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732520" y="3630168"/>
            <a:ext cx="2880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Целевая база ОКВЭД: 2 306 ИНН</a:t>
            </a:r>
          </a:p>
        </p:txBody>
      </p:sp>
      <p:sp>
        <p:nvSpPr>
          <p:cNvPr id="62" name="Oval 61"/>
          <p:cNvSpPr/>
          <p:nvPr/>
        </p:nvSpPr>
        <p:spPr>
          <a:xfrm>
            <a:off x="8339328" y="4215384"/>
            <a:ext cx="292608" cy="292608"/>
          </a:xfrm>
          <a:prstGeom prst="ellipse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339328" y="4215384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732520" y="4197096"/>
            <a:ext cx="2880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Экономика перехода на КЭДО</a:t>
            </a:r>
          </a:p>
        </p:txBody>
      </p:sp>
      <p:sp>
        <p:nvSpPr>
          <p:cNvPr id="65" name="Oval 64"/>
          <p:cNvSpPr/>
          <p:nvPr/>
        </p:nvSpPr>
        <p:spPr>
          <a:xfrm>
            <a:off x="8339328" y="4782312"/>
            <a:ext cx="292608" cy="292608"/>
          </a:xfrm>
          <a:prstGeom prst="ellipse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339328" y="4782312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732520" y="4764024"/>
            <a:ext cx="2880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Прайсы и линейка кабинетов</a:t>
            </a:r>
          </a:p>
        </p:txBody>
      </p:sp>
      <p:sp>
        <p:nvSpPr>
          <p:cNvPr id="68" name="Oval 67"/>
          <p:cNvSpPr/>
          <p:nvPr/>
        </p:nvSpPr>
        <p:spPr>
          <a:xfrm>
            <a:off x="8339328" y="5349240"/>
            <a:ext cx="292608" cy="292608"/>
          </a:xfrm>
          <a:prstGeom prst="ellipse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339328" y="5349240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732520" y="5330952"/>
            <a:ext cx="2880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Пилот «благодарность + тест-драйв»</a:t>
            </a:r>
          </a:p>
        </p:txBody>
      </p:sp>
      <p:sp>
        <p:nvSpPr>
          <p:cNvPr id="71" name="Rectangle 70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7200" y="6473952"/>
            <a:ext cx="7772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C5C5C"/>
                </a:solidFill>
                <a:latin typeface="Verdana"/>
                <a:ea typeface="Verdana"/>
                <a:cs typeface="Verdana"/>
              </a:rPr>
              <a:t>ГК Форус  ·  группа продуктового запуска  ·  1С:Кабинет сотрудника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424160" y="6473952"/>
            <a:ext cx="1280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C5C5C"/>
                </a:solidFill>
                <a:latin typeface="Verdana"/>
                <a:ea typeface="Verdana"/>
                <a:cs typeface="Verdana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for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1168"/>
            <a:ext cx="980049" cy="347472"/>
          </a:xfrm>
          <a:prstGeom prst="rect">
            <a:avLst/>
          </a:prstGeom>
        </p:spPr>
      </p:pic>
      <p:pic>
        <p:nvPicPr>
          <p:cNvPr id="4" name="Picture 3" descr="wave_t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-45720"/>
            <a:ext cx="2651760" cy="883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8368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95F75"/>
                </a:solidFill>
                <a:latin typeface="Verdana"/>
                <a:ea typeface="Verdana"/>
                <a:cs typeface="Verdana"/>
              </a:rPr>
              <a:t>3. Гипотезы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9611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Четыре ставки, которые сейчас проверяем звонками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1234440" cy="64008"/>
          </a:xfrm>
          <a:prstGeom prst="rect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691640"/>
            <a:ext cx="5669280" cy="2103120"/>
          </a:xfrm>
          <a:prstGeom prst="roundRect">
            <a:avLst>
              <a:gd name="adj" fmla="val 8000"/>
            </a:avLst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691640"/>
            <a:ext cx="128016" cy="2103120"/>
          </a:xfrm>
          <a:prstGeom prst="rect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856232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8B43A"/>
                </a:solidFill>
                <a:latin typeface="Verdana"/>
                <a:ea typeface="Verdana"/>
                <a:cs typeface="Verdana"/>
              </a:rPr>
              <a:t>H1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1874520"/>
            <a:ext cx="3931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95F75"/>
                </a:solidFill>
                <a:latin typeface="Verdana"/>
                <a:ea typeface="Verdana"/>
                <a:cs typeface="Verdana"/>
              </a:rPr>
              <a:t>Свои · ИТС ПРОФ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286000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+15%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377440"/>
            <a:ext cx="2834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Verdana"/>
                <a:ea typeface="Verdana"/>
                <a:cs typeface="Verdana"/>
              </a:rPr>
              <a:t>к конверсии в запись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834640"/>
            <a:ext cx="50292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Если предлагаем демо формулировкой «у вас это входит в тариф ИТС ПРОФ», запись растёт.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691640"/>
            <a:ext cx="5669280" cy="2103120"/>
          </a:xfrm>
          <a:prstGeom prst="roundRect">
            <a:avLst>
              <a:gd name="adj" fmla="val 8000"/>
            </a:avLst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691640"/>
            <a:ext cx="128016" cy="2103120"/>
          </a:xfrm>
          <a:prstGeom prst="rect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1856232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8B43A"/>
                </a:solidFill>
                <a:latin typeface="Verdana"/>
                <a:ea typeface="Verdana"/>
                <a:cs typeface="Verdana"/>
              </a:rPr>
              <a:t>H2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1874520"/>
            <a:ext cx="3931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95F75"/>
                </a:solidFill>
                <a:latin typeface="Verdana"/>
                <a:ea typeface="Verdana"/>
                <a:cs typeface="Verdana"/>
              </a:rPr>
              <a:t>Холод · ОКВЭД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2286000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выше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2377440"/>
            <a:ext cx="2834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Verdana"/>
                <a:ea typeface="Verdana"/>
                <a:cs typeface="Verdana"/>
              </a:rPr>
              <a:t>конверсия в сделку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834640"/>
            <a:ext cx="50292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Если берём только фирмы с целевыми ОКВЭД (торговля, производство, вахта, общепит…), сделки идут чаще.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977640"/>
            <a:ext cx="5669280" cy="2103120"/>
          </a:xfrm>
          <a:prstGeom prst="roundRect">
            <a:avLst>
              <a:gd name="adj" fmla="val 8000"/>
            </a:avLst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977640"/>
            <a:ext cx="128016" cy="2103120"/>
          </a:xfrm>
          <a:prstGeom prst="rect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142232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8B43A"/>
                </a:solidFill>
                <a:latin typeface="Verdana"/>
                <a:ea typeface="Verdana"/>
                <a:cs typeface="Verdana"/>
              </a:rPr>
              <a:t>H3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4160520"/>
            <a:ext cx="3931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95F75"/>
                </a:solidFill>
                <a:latin typeface="Verdana"/>
                <a:ea typeface="Verdana"/>
                <a:cs typeface="Verdana"/>
              </a:rPr>
              <a:t>Холод · связка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572000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до 15%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4663440"/>
            <a:ext cx="2834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Verdana"/>
                <a:ea typeface="Verdana"/>
                <a:cs typeface="Verdana"/>
              </a:rPr>
              <a:t>конверсия в сделку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120640"/>
            <a:ext cx="50292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Если продаём ДОКИ Логистика + КЭДО Кабинет сотрудника пакетом, вероятность сделки выше.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3977640"/>
            <a:ext cx="5669280" cy="2103120"/>
          </a:xfrm>
          <a:prstGeom prst="roundRect">
            <a:avLst>
              <a:gd name="adj" fmla="val 8000"/>
            </a:avLst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09360" y="3977640"/>
            <a:ext cx="128016" cy="2103120"/>
          </a:xfrm>
          <a:prstGeom prst="rect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0" y="4142232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8B43A"/>
                </a:solidFill>
                <a:latin typeface="Verdana"/>
                <a:ea typeface="Verdana"/>
                <a:cs typeface="Verdana"/>
              </a:rPr>
              <a:t>H4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4160520"/>
            <a:ext cx="3931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95F75"/>
                </a:solidFill>
                <a:latin typeface="Verdana"/>
                <a:ea typeface="Verdana"/>
                <a:cs typeface="Verdana"/>
              </a:rPr>
              <a:t>Семинары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4572000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+10%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0" y="4663440"/>
            <a:ext cx="2834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Verdana"/>
                <a:ea typeface="Verdana"/>
                <a:cs typeface="Verdana"/>
              </a:rPr>
              <a:t>к конверсии vs первый обзвон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5120640"/>
            <a:ext cx="50292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Если после семинара даём пользу и закрываем вопросы — клиент «залояливается», конверсия выше холодного первого звонка.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6473952"/>
            <a:ext cx="7772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C5C5C"/>
                </a:solidFill>
                <a:latin typeface="Verdana"/>
                <a:ea typeface="Verdana"/>
                <a:cs typeface="Verdana"/>
              </a:rPr>
              <a:t>ГК Форус  ·  группа продуктового запуска  ·  1С:Кабинет сотрудника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24160" y="6473952"/>
            <a:ext cx="1280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C5C5C"/>
                </a:solidFill>
                <a:latin typeface="Verdana"/>
                <a:ea typeface="Verdana"/>
                <a:cs typeface="Verdana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for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1168"/>
            <a:ext cx="980049" cy="347472"/>
          </a:xfrm>
          <a:prstGeom prst="rect">
            <a:avLst/>
          </a:prstGeom>
        </p:spPr>
      </p:pic>
      <p:pic>
        <p:nvPicPr>
          <p:cNvPr id="4" name="Picture 3" descr="wave_t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-45720"/>
            <a:ext cx="2651760" cy="883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8368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95F75"/>
                </a:solidFill>
                <a:latin typeface="Verdana"/>
                <a:ea typeface="Verdana"/>
                <a:cs typeface="Verdana"/>
              </a:rPr>
              <a:t>3. Гипотезы · свои клиенты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9611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H1 ИТС ПРОФ и H4 база семинаров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1234440" cy="64008"/>
          </a:xfrm>
          <a:prstGeom prst="rect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691640"/>
            <a:ext cx="11247120" cy="2240280"/>
          </a:xfrm>
          <a:prstGeom prst="roundRect">
            <a:avLst>
              <a:gd name="adj" fmla="val 8000"/>
            </a:avLst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82880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8B43A"/>
                </a:solidFill>
                <a:latin typeface="Verdana"/>
                <a:ea typeface="Verdana"/>
                <a:cs typeface="Verdana"/>
              </a:rPr>
              <a:t>H1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47088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База наших клиентов  ·  «входит в тариф ИТС ПРОФ»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2402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Если предлагаем демо Кабинета сотрудника через причину «у вас это уже входит в тариф ИТС ПРОФ», конверсия в запись на демо растёт на 15% относительно обычного обзвона своих.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926080"/>
            <a:ext cx="3566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95F75"/>
                </a:solidFill>
                <a:latin typeface="Verdana"/>
                <a:ea typeface="Verdana"/>
                <a:cs typeface="Verdana"/>
              </a:rPr>
              <a:t>Как проверяем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182112"/>
            <a:ext cx="3566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C5C5C"/>
                </a:solidFill>
                <a:latin typeface="Verdana"/>
                <a:ea typeface="Verdana"/>
                <a:cs typeface="Verdana"/>
              </a:rPr>
              <a:t>ЗУП + КП + канбан — контур своих. Смотрим долю записей от успешных и от сделок.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926080"/>
            <a:ext cx="3566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95F75"/>
                </a:solidFill>
                <a:latin typeface="Verdana"/>
                <a:ea typeface="Verdana"/>
                <a:cs typeface="Verdana"/>
              </a:rPr>
              <a:t>Факт периода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3182112"/>
            <a:ext cx="3566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C5C5C"/>
                </a:solidFill>
                <a:latin typeface="Verdana"/>
                <a:ea typeface="Verdana"/>
                <a:cs typeface="Verdana"/>
              </a:rPr>
              <a:t>227 прозвонов · 27 в сделку (11,9%) · 10 записей · 8 демо. Запись от сделок: 37%.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2926080"/>
            <a:ext cx="3566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95F75"/>
                </a:solidFill>
                <a:latin typeface="Verdana"/>
                <a:ea typeface="Verdana"/>
                <a:cs typeface="Verdana"/>
              </a:rPr>
              <a:t>Цель H1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3182112"/>
            <a:ext cx="3566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C5C5C"/>
                </a:solidFill>
                <a:latin typeface="Verdana"/>
                <a:ea typeface="Verdana"/>
                <a:cs typeface="Verdana"/>
              </a:rPr>
              <a:t>+15% к конверсии в запись. Сравниваем с первым касанием без оффера ИТС.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114800"/>
            <a:ext cx="11247120" cy="2148840"/>
          </a:xfrm>
          <a:prstGeom prst="roundRect">
            <a:avLst>
              <a:gd name="adj" fmla="val 8000"/>
            </a:avLst>
          </a:prstGeom>
          <a:solidFill>
            <a:srgbClr val="FFF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25196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8B43A"/>
                </a:solidFill>
                <a:latin typeface="Verdana"/>
                <a:ea typeface="Verdana"/>
                <a:cs typeface="Verdana"/>
              </a:rPr>
              <a:t>H4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270248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База наших клиентов с семинаров  ·  польза и ответы на вопросы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634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Если после семинара/вебинара даём пользу и закрываем вопросы, клиент закрепляется за Форус, а конверсия выше на 10%, чем при первом обзвоне холодной или «неразогретой» своей базы.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303520"/>
            <a:ext cx="3566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95F75"/>
                </a:solidFill>
                <a:latin typeface="Verdana"/>
                <a:ea typeface="Verdana"/>
                <a:cs typeface="Verdana"/>
              </a:rPr>
              <a:t>Как проверяем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559552"/>
            <a:ext cx="3566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C5C5C"/>
                </a:solidFill>
                <a:latin typeface="Verdana"/>
                <a:ea typeface="Verdana"/>
                <a:cs typeface="Verdana"/>
              </a:rPr>
              <a:t>База вебинаров + заявки с сайта vs первый обзвон прочих контуров.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5303520"/>
            <a:ext cx="3566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95F75"/>
                </a:solidFill>
                <a:latin typeface="Verdana"/>
                <a:ea typeface="Verdana"/>
                <a:cs typeface="Verdana"/>
              </a:rPr>
              <a:t>Факт периода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5559552"/>
            <a:ext cx="3566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C5C5C"/>
                </a:solidFill>
                <a:latin typeface="Verdana"/>
                <a:ea typeface="Verdana"/>
                <a:cs typeface="Verdana"/>
              </a:rPr>
              <a:t>302 прозвона · 17 в сделку (5,6%) · 1 запись · 1 демо. Контакт тёплый, запись пока редкая.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1000" y="5303520"/>
            <a:ext cx="3566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95F75"/>
                </a:solidFill>
                <a:latin typeface="Verdana"/>
                <a:ea typeface="Verdana"/>
                <a:cs typeface="Verdana"/>
              </a:rPr>
              <a:t>Цель H4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5559552"/>
            <a:ext cx="3566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C5C5C"/>
                </a:solidFill>
                <a:latin typeface="Verdana"/>
                <a:ea typeface="Verdana"/>
                <a:cs typeface="Verdana"/>
              </a:rPr>
              <a:t>Конверсия на 10% выше, чем при первом обзвоне. Нужен хвост после демо, чтобы честно сравнить.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473952"/>
            <a:ext cx="7772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C5C5C"/>
                </a:solidFill>
                <a:latin typeface="Verdana"/>
                <a:ea typeface="Verdana"/>
                <a:cs typeface="Verdana"/>
              </a:rPr>
              <a:t>ГК Форус  ·  группа продуктового запуска  ·  1С:Кабинет сотрудника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24160" y="6473952"/>
            <a:ext cx="1280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C5C5C"/>
                </a:solidFill>
                <a:latin typeface="Verdana"/>
                <a:ea typeface="Verdana"/>
                <a:cs typeface="Verdana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for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1168"/>
            <a:ext cx="980049" cy="347472"/>
          </a:xfrm>
          <a:prstGeom prst="rect">
            <a:avLst/>
          </a:prstGeom>
        </p:spPr>
      </p:pic>
      <p:pic>
        <p:nvPicPr>
          <p:cNvPr id="4" name="Picture 3" descr="wave_t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-45720"/>
            <a:ext cx="2651760" cy="883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8368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95F75"/>
                </a:solidFill>
                <a:latin typeface="Verdana"/>
                <a:ea typeface="Verdana"/>
                <a:cs typeface="Verdana"/>
              </a:rPr>
              <a:t>3. Гипотезы · холодная база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9611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H2 целевые ОКВЭД и H3 связка ДОКИ + КЭДО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1234440" cy="64008"/>
          </a:xfrm>
          <a:prstGeom prst="rect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691640"/>
            <a:ext cx="11247120" cy="2286000"/>
          </a:xfrm>
          <a:prstGeom prst="roundRect">
            <a:avLst>
              <a:gd name="adj" fmla="val 8000"/>
            </a:avLst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82880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8B43A"/>
                </a:solidFill>
                <a:latin typeface="Verdana"/>
                <a:ea typeface="Verdana"/>
                <a:cs typeface="Verdana"/>
              </a:rPr>
              <a:t>H2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47088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Холодная база  ·  только компании с подходящими ОКВЭД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24028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Если продаём Кабинет сотрудника фирмам из ICP-среза, конверсия в сделку выше, чем по «любому холодку». Срез модели: 2 306 ИНН, горячих (≥22 чел.) — 349.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78892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95F75"/>
                </a:solidFill>
                <a:latin typeface="Verdana"/>
                <a:ea typeface="Verdana"/>
                <a:cs typeface="Verdana"/>
              </a:rPr>
              <a:t>ОКВЭД: торговля 45–47 · производство 10–33 · стройка 41–43 · транспорт/склад 49, 52 · HoReCa 55–56 · недвижимость 68 · кадры 78 · охрана/админ. 80–82 · финансы, IT, образование, медицина.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2461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Verdana"/>
                <a:ea typeface="Verdana"/>
                <a:cs typeface="Verdana"/>
              </a:rPr>
              <a:t>Факт контура (вахта + общепит + холодка общепит + производство + новая КС): 553 прозвона · 25 в сделку (4,5%) · 1 запись · 2 демо. Сделки есть, запись на демо — узкое место.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60520"/>
            <a:ext cx="11247120" cy="2103120"/>
          </a:xfrm>
          <a:prstGeom prst="roundRect">
            <a:avLst>
              <a:gd name="adj" fmla="val 8000"/>
            </a:avLst>
          </a:prstGeom>
          <a:solidFill>
            <a:srgbClr val="FFF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2976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8B43A"/>
                </a:solidFill>
                <a:latin typeface="Verdana"/>
                <a:ea typeface="Verdana"/>
                <a:cs typeface="Verdana"/>
              </a:rPr>
              <a:t>H3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315968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Холодная база  ·  связка «ДОКИ Логистика + КЭДО Кабинет сотрудника»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7091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Если предлагаем клиенту не один сервис, а связку документооборота логистики и кадрового КЭДО, вероятность довести до сделки растёт, цель — конверсия в сделку до 15%.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3949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Verdana"/>
                <a:ea typeface="Verdana"/>
                <a:cs typeface="Verdana"/>
              </a:rPr>
              <a:t>Как проверяем: оффер связки на холодных с логистическим/производственным профилем и на переданных контактах. Скрипт КабС+ДОКИ уже есть. В факте периода отдельный тег связки ещё копится — фиксируем в аналитике как отдельный источник.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7772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C5C5C"/>
                </a:solidFill>
                <a:latin typeface="Verdana"/>
                <a:ea typeface="Verdana"/>
                <a:cs typeface="Verdana"/>
              </a:rPr>
              <a:t>ГК Форус  ·  группа продуктового запуска  ·  1С:Кабинет сотрудника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6473952"/>
            <a:ext cx="1280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C5C5C"/>
                </a:solidFill>
                <a:latin typeface="Verdana"/>
                <a:ea typeface="Verdana"/>
                <a:cs typeface="Verdana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for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1168"/>
            <a:ext cx="980049" cy="347472"/>
          </a:xfrm>
          <a:prstGeom prst="rect">
            <a:avLst/>
          </a:prstGeom>
        </p:spPr>
      </p:pic>
      <p:pic>
        <p:nvPicPr>
          <p:cNvPr id="4" name="Picture 3" descr="wave_t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-45720"/>
            <a:ext cx="2651760" cy="883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8368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95F75"/>
                </a:solidFill>
                <a:latin typeface="Verdana"/>
                <a:ea typeface="Verdana"/>
                <a:cs typeface="Verdana"/>
              </a:rPr>
              <a:t>4. Показатели по базам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9611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Воронка за 23.07–24.08.2026 · три менеджера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1234440" cy="64008"/>
          </a:xfrm>
          <a:prstGeom prst="rect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691640"/>
            <a:ext cx="1847088" cy="1691640"/>
          </a:xfrm>
          <a:prstGeom prst="roundRect">
            <a:avLst>
              <a:gd name="adj" fmla="val 10000"/>
            </a:avLst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166420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1 084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68880"/>
            <a:ext cx="16642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395F75"/>
                </a:solidFill>
                <a:latin typeface="Verdana"/>
                <a:ea typeface="Verdana"/>
                <a:cs typeface="Verdana"/>
              </a:rPr>
              <a:t>прозвонено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834640"/>
            <a:ext cx="16642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C5C5C"/>
                </a:solidFill>
                <a:latin typeface="Verdana"/>
                <a:ea typeface="Verdana"/>
                <a:cs typeface="Verdana"/>
              </a:rPr>
              <a:t>100%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95728" y="1691640"/>
            <a:ext cx="1847088" cy="1691640"/>
          </a:xfrm>
          <a:prstGeom prst="roundRect">
            <a:avLst>
              <a:gd name="adj" fmla="val 10000"/>
            </a:avLst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87168" y="1828800"/>
            <a:ext cx="166420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483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87168" y="2468880"/>
            <a:ext cx="16642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395F75"/>
                </a:solidFill>
                <a:latin typeface="Verdana"/>
                <a:ea typeface="Verdana"/>
                <a:cs typeface="Verdana"/>
              </a:rPr>
              <a:t>успешных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87168" y="2834640"/>
            <a:ext cx="16642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C5C5C"/>
                </a:solidFill>
                <a:latin typeface="Verdana"/>
                <a:ea typeface="Verdana"/>
                <a:cs typeface="Verdana"/>
              </a:rPr>
              <a:t>44,6%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4256" y="1691640"/>
            <a:ext cx="1847088" cy="1691640"/>
          </a:xfrm>
          <a:prstGeom prst="roundRect">
            <a:avLst>
              <a:gd name="adj" fmla="val 10000"/>
            </a:avLst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25696" y="1828800"/>
            <a:ext cx="166420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70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25696" y="2468880"/>
            <a:ext cx="16642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395F75"/>
                </a:solidFill>
                <a:latin typeface="Verdana"/>
                <a:ea typeface="Verdana"/>
                <a:cs typeface="Verdana"/>
              </a:rPr>
              <a:t>в сделку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25696" y="2834640"/>
            <a:ext cx="16642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C5C5C"/>
                </a:solidFill>
                <a:latin typeface="Verdana"/>
                <a:ea typeface="Verdana"/>
                <a:cs typeface="Verdana"/>
              </a:rPr>
              <a:t>6,5%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2784" y="1691640"/>
            <a:ext cx="1847088" cy="1691640"/>
          </a:xfrm>
          <a:prstGeom prst="roundRect">
            <a:avLst>
              <a:gd name="adj" fmla="val 10000"/>
            </a:avLst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64224" y="1828800"/>
            <a:ext cx="166420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4224" y="2468880"/>
            <a:ext cx="16642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395F75"/>
                </a:solidFill>
                <a:latin typeface="Verdana"/>
                <a:ea typeface="Verdana"/>
                <a:cs typeface="Verdana"/>
              </a:rPr>
              <a:t>записей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4224" y="2834640"/>
            <a:ext cx="16642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C5C5C"/>
                </a:solidFill>
                <a:latin typeface="Verdana"/>
                <a:ea typeface="Verdana"/>
                <a:cs typeface="Verdana"/>
              </a:rPr>
              <a:t>1,1%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11312" y="1691640"/>
            <a:ext cx="1847088" cy="1691640"/>
          </a:xfrm>
          <a:prstGeom prst="roundRect">
            <a:avLst>
              <a:gd name="adj" fmla="val 10000"/>
            </a:avLst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02752" y="1828800"/>
            <a:ext cx="166420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2752" y="2468880"/>
            <a:ext cx="16642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395F75"/>
                </a:solidFill>
                <a:latin typeface="Verdana"/>
                <a:ea typeface="Verdana"/>
                <a:cs typeface="Verdana"/>
              </a:rPr>
              <a:t>демо провели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2752" y="2834640"/>
            <a:ext cx="16642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C5C5C"/>
                </a:solidFill>
                <a:latin typeface="Verdana"/>
                <a:ea typeface="Verdana"/>
                <a:cs typeface="Verdana"/>
              </a:rPr>
              <a:t>1,0%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149840" y="1691640"/>
            <a:ext cx="1847088" cy="1691640"/>
          </a:xfrm>
          <a:prstGeom prst="roundRect">
            <a:avLst>
              <a:gd name="adj" fmla="val 10000"/>
            </a:avLst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41280" y="1828800"/>
            <a:ext cx="166420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0" y="2468880"/>
            <a:ext cx="16642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395F75"/>
                </a:solidFill>
                <a:latin typeface="Verdana"/>
                <a:ea typeface="Verdana"/>
                <a:cs typeface="Verdana"/>
              </a:rPr>
              <a:t>продаж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0" y="2834640"/>
            <a:ext cx="16642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C5C5C"/>
                </a:solidFill>
                <a:latin typeface="Verdana"/>
                <a:ea typeface="Verdana"/>
                <a:cs typeface="Verdana"/>
              </a:rPr>
              <a:t>пока 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356616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Кто набрал цифру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3977639"/>
            <a:ext cx="11247120" cy="38404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3977639"/>
            <a:ext cx="30175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Менеджер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74720" y="3977639"/>
            <a:ext cx="1645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Прозвонено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0640" y="3977639"/>
            <a:ext cx="1645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Успешных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3977639"/>
            <a:ext cx="1645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 сделку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3977639"/>
            <a:ext cx="1645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Записи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0" y="3977639"/>
            <a:ext cx="1645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Демо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4361688"/>
            <a:ext cx="11247120" cy="502920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4361688"/>
            <a:ext cx="2834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Юлиана Юнусова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74720" y="4361688"/>
            <a:ext cx="1645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114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20640" y="4361688"/>
            <a:ext cx="1645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60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66560" y="4361688"/>
            <a:ext cx="1645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24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12480" y="4361688"/>
            <a:ext cx="1645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58400" y="4361688"/>
            <a:ext cx="1645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4864608"/>
            <a:ext cx="11247120" cy="502920"/>
          </a:xfrm>
          <a:prstGeom prst="rect">
            <a:avLst/>
          </a:prstGeom>
          <a:solidFill>
            <a:srgbClr val="FFF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4864608"/>
            <a:ext cx="2834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Соня Оглоблина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74720" y="4864608"/>
            <a:ext cx="1645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555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120640" y="4864608"/>
            <a:ext cx="1645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238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66560" y="4864608"/>
            <a:ext cx="1645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29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12480" y="4864608"/>
            <a:ext cx="1645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58400" y="4864608"/>
            <a:ext cx="1645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5367528"/>
            <a:ext cx="11247120" cy="502920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" y="5367528"/>
            <a:ext cx="2834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Данил Кургузов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74720" y="5367528"/>
            <a:ext cx="1645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415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120640" y="5367528"/>
            <a:ext cx="1645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185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66560" y="5367528"/>
            <a:ext cx="1645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12480" y="5367528"/>
            <a:ext cx="1645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058400" y="5367528"/>
            <a:ext cx="1645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57200" y="6473952"/>
            <a:ext cx="7772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C5C5C"/>
                </a:solidFill>
                <a:latin typeface="Verdana"/>
                <a:ea typeface="Verdana"/>
                <a:cs typeface="Verdana"/>
              </a:rPr>
              <a:t>ГК Форус  ·  группа продуктового запуска  ·  1С:Кабинет сотрудника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424160" y="6473952"/>
            <a:ext cx="1280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C5C5C"/>
                </a:solidFill>
                <a:latin typeface="Verdana"/>
                <a:ea typeface="Verdana"/>
                <a:cs typeface="Verdana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for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1168"/>
            <a:ext cx="980049" cy="347472"/>
          </a:xfrm>
          <a:prstGeom prst="rect">
            <a:avLst/>
          </a:prstGeom>
        </p:spPr>
      </p:pic>
      <p:pic>
        <p:nvPicPr>
          <p:cNvPr id="4" name="Picture 3" descr="wave_t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-45720"/>
            <a:ext cx="2651760" cy="883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8368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95F75"/>
                </a:solidFill>
                <a:latin typeface="Verdana"/>
                <a:ea typeface="Verdana"/>
                <a:cs typeface="Verdana"/>
              </a:rPr>
              <a:t>4. Показатели по базам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9611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Откуда пришли звонки — и что из этого вышло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1234440" cy="64008"/>
          </a:xfrm>
          <a:prstGeom prst="rect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64208"/>
            <a:ext cx="10789920" cy="34747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664208"/>
            <a:ext cx="235915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Источник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1664208"/>
            <a:ext cx="1371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Прозвон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664208"/>
            <a:ext cx="1371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Успешн.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664208"/>
            <a:ext cx="1371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Сделка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664208"/>
            <a:ext cx="1371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Запись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1664208"/>
            <a:ext cx="1371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Демо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1664208"/>
            <a:ext cx="14630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Сделка 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011680"/>
            <a:ext cx="10789920" cy="34747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2011680"/>
            <a:ext cx="235915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База ЗУП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2011680"/>
            <a:ext cx="1371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91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2011680"/>
            <a:ext cx="1371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46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2011680"/>
            <a:ext cx="1371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2011680"/>
            <a:ext cx="1371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2011680"/>
            <a:ext cx="1371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2011680"/>
            <a:ext cx="14630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11,0%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2359152"/>
            <a:ext cx="107899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2359152"/>
            <a:ext cx="235915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База КП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2359152"/>
            <a:ext cx="1371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2359152"/>
            <a:ext cx="1371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60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60" y="2359152"/>
            <a:ext cx="1371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2359152"/>
            <a:ext cx="1371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2359152"/>
            <a:ext cx="1371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66960" y="2359152"/>
            <a:ext cx="14630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13,7%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2706624"/>
            <a:ext cx="10789920" cy="34747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2706624"/>
            <a:ext cx="235915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База канбана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08960" y="2706624"/>
            <a:ext cx="1371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0560" y="2706624"/>
            <a:ext cx="1371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52160" y="2706624"/>
            <a:ext cx="1371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0" y="2706624"/>
            <a:ext cx="1371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60" y="2706624"/>
            <a:ext cx="1371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66960" y="2706624"/>
            <a:ext cx="14630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0%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3054096"/>
            <a:ext cx="107899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9808" y="3054096"/>
            <a:ext cx="235915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База вебинаров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08960" y="3054096"/>
            <a:ext cx="1371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298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80560" y="3054096"/>
            <a:ext cx="1371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132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52160" y="3054096"/>
            <a:ext cx="1371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23760" y="3054096"/>
            <a:ext cx="1371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95360" y="3054096"/>
            <a:ext cx="1371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66960" y="3054096"/>
            <a:ext cx="14630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4,4%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" y="3401568"/>
            <a:ext cx="10789920" cy="34747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49808" y="3401568"/>
            <a:ext cx="235915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Заявка с сайта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108960" y="3401568"/>
            <a:ext cx="1371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80560" y="3401568"/>
            <a:ext cx="1371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852160" y="3401568"/>
            <a:ext cx="1371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23760" y="3401568"/>
            <a:ext cx="1371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95360" y="3401568"/>
            <a:ext cx="1371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966960" y="3401568"/>
            <a:ext cx="14630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100%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0080" y="3749040"/>
            <a:ext cx="107899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49808" y="3749040"/>
            <a:ext cx="235915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База вахта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108960" y="3749040"/>
            <a:ext cx="1371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125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480560" y="3749040"/>
            <a:ext cx="1371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34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852160" y="3749040"/>
            <a:ext cx="1371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223760" y="3749040"/>
            <a:ext cx="1371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595360" y="3749040"/>
            <a:ext cx="1371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966960" y="3749040"/>
            <a:ext cx="14630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0,8%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40080" y="4096512"/>
            <a:ext cx="10789920" cy="34747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49808" y="4096512"/>
            <a:ext cx="235915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База общепит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108960" y="4096512"/>
            <a:ext cx="1371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266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480560" y="4096512"/>
            <a:ext cx="1371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124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852160" y="4096512"/>
            <a:ext cx="1371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223760" y="4096512"/>
            <a:ext cx="1371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595360" y="4096512"/>
            <a:ext cx="1371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966960" y="4096512"/>
            <a:ext cx="14630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4,9%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40080" y="4443984"/>
            <a:ext cx="107899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49808" y="4443984"/>
            <a:ext cx="235915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Холодка общепит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108960" y="4443984"/>
            <a:ext cx="1371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31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480560" y="4443984"/>
            <a:ext cx="1371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852160" y="4443984"/>
            <a:ext cx="1371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223760" y="4443984"/>
            <a:ext cx="1371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595360" y="4443984"/>
            <a:ext cx="1371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966960" y="4443984"/>
            <a:ext cx="14630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9,7%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40080" y="4791456"/>
            <a:ext cx="10789920" cy="34747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49808" y="4791456"/>
            <a:ext cx="235915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База производства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108960" y="4791456"/>
            <a:ext cx="1371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123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480560" y="4791456"/>
            <a:ext cx="1371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54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852160" y="4791456"/>
            <a:ext cx="1371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8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4791456"/>
            <a:ext cx="1371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595360" y="4791456"/>
            <a:ext cx="1371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966960" y="4791456"/>
            <a:ext cx="14630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6,5%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40080" y="5138928"/>
            <a:ext cx="107899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49808" y="5138928"/>
            <a:ext cx="235915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Новая КС / прочие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108960" y="5138928"/>
            <a:ext cx="1371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480560" y="5138928"/>
            <a:ext cx="1371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5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852160" y="5138928"/>
            <a:ext cx="1371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223760" y="5138928"/>
            <a:ext cx="1371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595360" y="5138928"/>
            <a:ext cx="1371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966960" y="5138928"/>
            <a:ext cx="14630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10%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40080" y="5486400"/>
            <a:ext cx="10789920" cy="347472"/>
          </a:xfrm>
          <a:prstGeom prst="rect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49808" y="5486400"/>
            <a:ext cx="235915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Итого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108960" y="5486400"/>
            <a:ext cx="1371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1 084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480560" y="5486400"/>
            <a:ext cx="1371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483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852160" y="5486400"/>
            <a:ext cx="1371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70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223760" y="5486400"/>
            <a:ext cx="1371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595360" y="5486400"/>
            <a:ext cx="1371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966960" y="5486400"/>
            <a:ext cx="14630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6,5%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57200" y="5989320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Verdana"/>
                <a:ea typeface="Verdana"/>
                <a:cs typeface="Verdana"/>
              </a:rPr>
              <a:t>Узкое место воронки — не контакт, а запись и проведение демо. КП и ЗУП дают лучшую сделку; общепит и вебинары дают объём прозвона.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457200" y="6473952"/>
            <a:ext cx="7772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C5C5C"/>
                </a:solidFill>
                <a:latin typeface="Verdana"/>
                <a:ea typeface="Verdana"/>
                <a:cs typeface="Verdana"/>
              </a:rPr>
              <a:t>ГК Форус  ·  группа продуктового запуска  ·  1С:Кабинет сотрудника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424160" y="6473952"/>
            <a:ext cx="1280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C5C5C"/>
                </a:solidFill>
                <a:latin typeface="Verdana"/>
                <a:ea typeface="Verdana"/>
                <a:cs typeface="Verdana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for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1168"/>
            <a:ext cx="980049" cy="347472"/>
          </a:xfrm>
          <a:prstGeom prst="rect">
            <a:avLst/>
          </a:prstGeom>
        </p:spPr>
      </p:pic>
      <p:pic>
        <p:nvPicPr>
          <p:cNvPr id="4" name="Picture 3" descr="wave_t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-45720"/>
            <a:ext cx="2651760" cy="883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8368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95F75"/>
                </a:solidFill>
                <a:latin typeface="Verdana"/>
                <a:ea typeface="Verdana"/>
                <a:cs typeface="Verdana"/>
              </a:rPr>
              <a:t>5. Кейсы с демонстраций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9611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Сюда вписываем результаты живых демо — блок оставлен пустым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1234440" cy="64008"/>
          </a:xfrm>
          <a:prstGeom prst="rect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72768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C5C5C"/>
                </a:solidFill>
                <a:latin typeface="Verdana"/>
                <a:ea typeface="Verdana"/>
                <a:cs typeface="Verdana"/>
              </a:rPr>
              <a:t>За период проведено 11 демо. Ниже — шаблон карточки: клиент, что показали, чем закончилось.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057400"/>
            <a:ext cx="3657600" cy="4160520"/>
          </a:xfrm>
          <a:prstGeom prst="roundRect">
            <a:avLst>
              <a:gd name="adj" fmla="val 8000"/>
            </a:avLst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057400"/>
            <a:ext cx="3657600" cy="502920"/>
          </a:xfrm>
          <a:prstGeom prst="rect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121408"/>
            <a:ext cx="3291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Кейс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97480"/>
            <a:ext cx="3200400" cy="3246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A9A9A"/>
                </a:solidFill>
                <a:latin typeface="Verdana"/>
                <a:ea typeface="Verdana"/>
                <a:cs typeface="Verdana"/>
              </a:rPr>
              <a:t>Клиент / ИНН
Дата и менеджер
Что смотрели на демо
Результат и возражения
Следующий шаг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2057400"/>
            <a:ext cx="3657600" cy="4160520"/>
          </a:xfrm>
          <a:prstGeom prst="roundRect">
            <a:avLst>
              <a:gd name="adj" fmla="val 8000"/>
            </a:avLst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2057400"/>
            <a:ext cx="3657600" cy="502920"/>
          </a:xfrm>
          <a:prstGeom prst="rect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2121408"/>
            <a:ext cx="3291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Кейс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697480"/>
            <a:ext cx="3200400" cy="3246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A9A9A"/>
                </a:solidFill>
                <a:latin typeface="Verdana"/>
                <a:ea typeface="Verdana"/>
                <a:cs typeface="Verdana"/>
              </a:rPr>
              <a:t>Клиент / ИНН
Дата и менеджер
Что смотрели на демо
Результат и возражения
Следующий шаг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2057400"/>
            <a:ext cx="3657600" cy="4160520"/>
          </a:xfrm>
          <a:prstGeom prst="roundRect">
            <a:avLst>
              <a:gd name="adj" fmla="val 8000"/>
            </a:avLst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2057400"/>
            <a:ext cx="3657600" cy="502920"/>
          </a:xfrm>
          <a:prstGeom prst="rect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2121408"/>
            <a:ext cx="3291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Кейс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697480"/>
            <a:ext cx="3200400" cy="3246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A9A9A"/>
                </a:solidFill>
                <a:latin typeface="Verdana"/>
                <a:ea typeface="Verdana"/>
                <a:cs typeface="Verdana"/>
              </a:rPr>
              <a:t>Клиент / ИНН
Дата и менеджер
Что смотрели на демо
Результат и возражения
Следующий шаг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473952"/>
            <a:ext cx="7772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C5C5C"/>
                </a:solidFill>
                <a:latin typeface="Verdana"/>
                <a:ea typeface="Verdana"/>
                <a:cs typeface="Verdana"/>
              </a:rPr>
              <a:t>ГК Форус  ·  группа продуктового запуска  ·  1С:Кабинет сотрудника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473952"/>
            <a:ext cx="1280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C5C5C"/>
                </a:solidFill>
                <a:latin typeface="Verdana"/>
                <a:ea typeface="Verdana"/>
                <a:cs typeface="Verdana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for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1168"/>
            <a:ext cx="980049" cy="347472"/>
          </a:xfrm>
          <a:prstGeom prst="rect">
            <a:avLst/>
          </a:prstGeom>
        </p:spPr>
      </p:pic>
      <p:pic>
        <p:nvPicPr>
          <p:cNvPr id="4" name="Picture 3" descr="wave_t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-45720"/>
            <a:ext cx="2651760" cy="883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8368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95F75"/>
                </a:solidFill>
                <a:latin typeface="Verdana"/>
                <a:ea typeface="Verdana"/>
                <a:cs typeface="Verdana"/>
              </a:rPr>
              <a:t>Дальше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9611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Что усиливаем после этого среза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1234440" cy="64008"/>
          </a:xfrm>
          <a:prstGeom prst="rect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691640"/>
            <a:ext cx="11247120" cy="960120"/>
          </a:xfrm>
          <a:prstGeom prst="roundRect">
            <a:avLst>
              <a:gd name="adj" fmla="val 8000"/>
            </a:avLst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691640"/>
            <a:ext cx="960120" cy="960120"/>
          </a:xfrm>
          <a:prstGeom prst="rect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91640"/>
            <a:ext cx="9601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828800"/>
            <a:ext cx="9692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Дожать запись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167128"/>
            <a:ext cx="9692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C5C5C"/>
                </a:solidFill>
                <a:latin typeface="Verdana"/>
                <a:ea typeface="Verdana"/>
                <a:cs typeface="Verdana"/>
              </a:rPr>
              <a:t>Сделки уже есть (70), записей 12. Скрипт H1 «входит в ИТС ПРОФ» — на каждую сделку своих.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743200"/>
            <a:ext cx="11247120" cy="960120"/>
          </a:xfrm>
          <a:prstGeom prst="roundRect">
            <a:avLst>
              <a:gd name="adj" fmla="val 8000"/>
            </a:avLst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743200"/>
            <a:ext cx="960120" cy="960120"/>
          </a:xfrm>
          <a:prstGeom prst="rect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743200"/>
            <a:ext cx="9601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2880360"/>
            <a:ext cx="9692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Пометить связку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218688"/>
            <a:ext cx="9692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C5C5C"/>
                </a:solidFill>
                <a:latin typeface="Verdana"/>
                <a:ea typeface="Verdana"/>
                <a:cs typeface="Verdana"/>
              </a:rPr>
              <a:t>Выделить в аналитике источник «ДОКИ + КС», иначе H3 невозможно честно закрыть.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794760"/>
            <a:ext cx="11247120" cy="960120"/>
          </a:xfrm>
          <a:prstGeom prst="roundRect">
            <a:avLst>
              <a:gd name="adj" fmla="val 8000"/>
            </a:avLst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794760"/>
            <a:ext cx="960120" cy="960120"/>
          </a:xfrm>
          <a:prstGeom prst="rect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794760"/>
            <a:ext cx="9601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3931920"/>
            <a:ext cx="9692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Собрать кейсы демо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4270248"/>
            <a:ext cx="9692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C5C5C"/>
                </a:solidFill>
                <a:latin typeface="Verdana"/>
                <a:ea typeface="Verdana"/>
                <a:cs typeface="Verdana"/>
              </a:rPr>
              <a:t>11 встреч уже прошло — заполняем три карточки на предыдущем слайде.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846319"/>
            <a:ext cx="11247120" cy="960120"/>
          </a:xfrm>
          <a:prstGeom prst="roundRect">
            <a:avLst>
              <a:gd name="adj" fmla="val 8000"/>
            </a:avLst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846319"/>
            <a:ext cx="960120" cy="960120"/>
          </a:xfrm>
          <a:prstGeom prst="rect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846319"/>
            <a:ext cx="9601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4983479"/>
            <a:ext cx="9692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Сравнить контуры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5321807"/>
            <a:ext cx="9692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C5C5C"/>
                </a:solidFill>
                <a:latin typeface="Verdana"/>
                <a:ea typeface="Verdana"/>
                <a:cs typeface="Verdana"/>
              </a:rPr>
              <a:t>H4: вебинары vs первый обзвон. H2: целевой ОКВЭД vs нецелевой холод.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473952"/>
            <a:ext cx="7772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C5C5C"/>
                </a:solidFill>
                <a:latin typeface="Verdana"/>
                <a:ea typeface="Verdana"/>
                <a:cs typeface="Verdana"/>
              </a:rPr>
              <a:t>ГК Форус  ·  группа продуктового запуска  ·  1С:Кабинет сотрудника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24160" y="6473952"/>
            <a:ext cx="1280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C5C5C"/>
                </a:solidFill>
                <a:latin typeface="Verdana"/>
                <a:ea typeface="Verdana"/>
                <a:cs typeface="Verdana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