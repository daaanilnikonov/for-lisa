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forus.png"/>
          <p:cNvPicPr>
            <a:picLocks noChangeAspect="1"/>
          </p:cNvPicPr>
          <p:nvPr/>
        </p:nvPicPr>
        <p:blipFill>
          <a:blip r:embed="rId2"/>
          <a:stretch>
            <a:fillRect/>
          </a:stretch>
        </p:blipFill>
        <p:spPr>
          <a:xfrm>
            <a:off x="640080" y="411480"/>
            <a:ext cx="1418492" cy="502920"/>
          </a:xfrm>
          <a:prstGeom prst="rect">
            <a:avLst/>
          </a:prstGeom>
        </p:spPr>
      </p:pic>
      <p:pic>
        <p:nvPicPr>
          <p:cNvPr id="5" name="Picture 4" descr="wave_tr.png"/>
          <p:cNvPicPr>
            <a:picLocks noChangeAspect="1"/>
          </p:cNvPicPr>
          <p:nvPr/>
        </p:nvPicPr>
        <p:blipFill>
          <a:blip r:embed="rId3"/>
          <a:stretch>
            <a:fillRect/>
          </a:stretch>
        </p:blipFill>
        <p:spPr>
          <a:xfrm>
            <a:off x="8961120" y="-91440"/>
            <a:ext cx="3383280" cy="1127760"/>
          </a:xfrm>
          <a:prstGeom prst="rect">
            <a:avLst/>
          </a:prstGeom>
        </p:spPr>
      </p:pic>
      <p:sp>
        <p:nvSpPr>
          <p:cNvPr id="6" name="TextBox 5"/>
          <p:cNvSpPr txBox="1"/>
          <p:nvPr/>
        </p:nvSpPr>
        <p:spPr>
          <a:xfrm>
            <a:off x="640080" y="1554480"/>
            <a:ext cx="10515600" cy="320040"/>
          </a:xfrm>
          <a:prstGeom prst="rect">
            <a:avLst/>
          </a:prstGeom>
          <a:noFill/>
        </p:spPr>
        <p:txBody>
          <a:bodyPr wrap="square" anchor="t">
            <a:spAutoFit/>
          </a:bodyPr>
          <a:lstStyle/>
          <a:p>
            <a:pPr algn="l"/>
            <a:r>
              <a:rPr sz="1400" b="1">
                <a:solidFill>
                  <a:srgbClr val="395F75"/>
                </a:solidFill>
                <a:latin typeface="Verdana"/>
                <a:ea typeface="Verdana"/>
                <a:cs typeface="Verdana"/>
              </a:rPr>
              <a:t>Рабочая группа  ·  август 2026</a:t>
            </a:r>
          </a:p>
        </p:txBody>
      </p:sp>
      <p:sp>
        <p:nvSpPr>
          <p:cNvPr id="7" name="TextBox 6"/>
          <p:cNvSpPr txBox="1"/>
          <p:nvPr/>
        </p:nvSpPr>
        <p:spPr>
          <a:xfrm>
            <a:off x="640080" y="1965960"/>
            <a:ext cx="10972800" cy="1371600"/>
          </a:xfrm>
          <a:prstGeom prst="rect">
            <a:avLst/>
          </a:prstGeom>
          <a:noFill/>
        </p:spPr>
        <p:txBody>
          <a:bodyPr wrap="square" anchor="t">
            <a:spAutoFit/>
          </a:bodyPr>
          <a:lstStyle/>
          <a:p>
            <a:pPr algn="l"/>
            <a:r>
              <a:rPr sz="3600" b="1">
                <a:solidFill>
                  <a:srgbClr val="1A1A1A"/>
                </a:solidFill>
                <a:latin typeface="Verdana"/>
                <a:ea typeface="Verdana"/>
                <a:cs typeface="Verdana"/>
              </a:rPr>
              <a:t>Как мы продаём
«1С:Кабинет сотрудника»</a:t>
            </a:r>
          </a:p>
        </p:txBody>
      </p:sp>
      <p:sp>
        <p:nvSpPr>
          <p:cNvPr id="8" name="Rectangle 7"/>
          <p:cNvSpPr/>
          <p:nvPr/>
        </p:nvSpPr>
        <p:spPr>
          <a:xfrm>
            <a:off x="640080" y="3520440"/>
            <a:ext cx="1828800" cy="9144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840480"/>
            <a:ext cx="10058400" cy="1051560"/>
          </a:xfrm>
          <a:prstGeom prst="rect">
            <a:avLst/>
          </a:prstGeom>
          <a:noFill/>
        </p:spPr>
        <p:txBody>
          <a:bodyPr wrap="square" anchor="t">
            <a:spAutoFit/>
          </a:bodyPr>
          <a:lstStyle/>
          <a:p>
            <a:pPr algn="l"/>
            <a:r>
              <a:rPr sz="1600" b="0">
                <a:solidFill>
                  <a:srgbClr val="5C5C5C"/>
                </a:solidFill>
                <a:latin typeface="Verdana"/>
                <a:ea typeface="Verdana"/>
                <a:cs typeface="Verdana"/>
              </a:rPr>
              <a:t>Что уже сделали по плану, какие идеи проверяем звонками
и что из этого получается.</a:t>
            </a:r>
          </a:p>
        </p:txBody>
      </p:sp>
      <p:sp>
        <p:nvSpPr>
          <p:cNvPr id="10" name="Rounded Rectangle 9"/>
          <p:cNvSpPr/>
          <p:nvPr/>
        </p:nvSpPr>
        <p:spPr>
          <a:xfrm>
            <a:off x="640080" y="5212080"/>
            <a:ext cx="3200400" cy="960120"/>
          </a:xfrm>
          <a:prstGeom prst="roundRect">
            <a:avLst>
              <a:gd name="adj" fmla="val 10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321808"/>
            <a:ext cx="2926080" cy="320040"/>
          </a:xfrm>
          <a:prstGeom prst="rect">
            <a:avLst/>
          </a:prstGeom>
          <a:noFill/>
        </p:spPr>
        <p:txBody>
          <a:bodyPr wrap="square" anchor="t">
            <a:spAutoFit/>
          </a:bodyPr>
          <a:lstStyle/>
          <a:p>
            <a:pPr algn="l"/>
            <a:r>
              <a:rPr sz="1100" b="0">
                <a:solidFill>
                  <a:srgbClr val="395F75"/>
                </a:solidFill>
                <a:latin typeface="Verdana"/>
                <a:ea typeface="Verdana"/>
                <a:cs typeface="Verdana"/>
              </a:rPr>
              <a:t>Период звонков</a:t>
            </a:r>
          </a:p>
        </p:txBody>
      </p:sp>
      <p:sp>
        <p:nvSpPr>
          <p:cNvPr id="12" name="TextBox 11"/>
          <p:cNvSpPr txBox="1"/>
          <p:nvPr/>
        </p:nvSpPr>
        <p:spPr>
          <a:xfrm>
            <a:off x="822960" y="5596128"/>
            <a:ext cx="2926080" cy="411480"/>
          </a:xfrm>
          <a:prstGeom prst="rect">
            <a:avLst/>
          </a:prstGeom>
          <a:noFill/>
        </p:spPr>
        <p:txBody>
          <a:bodyPr wrap="square" anchor="t">
            <a:spAutoFit/>
          </a:bodyPr>
          <a:lstStyle/>
          <a:p>
            <a:pPr algn="l"/>
            <a:r>
              <a:rPr sz="1600" b="1">
                <a:solidFill>
                  <a:srgbClr val="1A1A1A"/>
                </a:solidFill>
                <a:latin typeface="Verdana"/>
                <a:ea typeface="Verdana"/>
                <a:cs typeface="Verdana"/>
              </a:rPr>
              <a:t>23.07 — 24.08.2026</a:t>
            </a:r>
          </a:p>
        </p:txBody>
      </p:sp>
      <p:sp>
        <p:nvSpPr>
          <p:cNvPr id="13" name="Rounded Rectangle 12"/>
          <p:cNvSpPr/>
          <p:nvPr/>
        </p:nvSpPr>
        <p:spPr>
          <a:xfrm>
            <a:off x="4023360" y="5212080"/>
            <a:ext cx="3383280" cy="960120"/>
          </a:xfrm>
          <a:prstGeom prst="roundRect">
            <a:avLst>
              <a:gd name="adj" fmla="val 10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5321808"/>
            <a:ext cx="3108960" cy="320040"/>
          </a:xfrm>
          <a:prstGeom prst="rect">
            <a:avLst/>
          </a:prstGeom>
          <a:noFill/>
        </p:spPr>
        <p:txBody>
          <a:bodyPr wrap="square" anchor="t">
            <a:spAutoFit/>
          </a:bodyPr>
          <a:lstStyle/>
          <a:p>
            <a:pPr algn="l"/>
            <a:r>
              <a:rPr sz="1100" b="0">
                <a:solidFill>
                  <a:srgbClr val="395F75"/>
                </a:solidFill>
                <a:latin typeface="Verdana"/>
                <a:ea typeface="Verdana"/>
                <a:cs typeface="Verdana"/>
              </a:rPr>
              <a:t>Кто звонит</a:t>
            </a:r>
          </a:p>
        </p:txBody>
      </p:sp>
      <p:sp>
        <p:nvSpPr>
          <p:cNvPr id="15" name="TextBox 14"/>
          <p:cNvSpPr txBox="1"/>
          <p:nvPr/>
        </p:nvSpPr>
        <p:spPr>
          <a:xfrm>
            <a:off x="4206240" y="5596128"/>
            <a:ext cx="3108960" cy="411480"/>
          </a:xfrm>
          <a:prstGeom prst="rect">
            <a:avLst/>
          </a:prstGeom>
          <a:noFill/>
        </p:spPr>
        <p:txBody>
          <a:bodyPr wrap="square" anchor="t">
            <a:spAutoFit/>
          </a:bodyPr>
          <a:lstStyle/>
          <a:p>
            <a:pPr algn="l"/>
            <a:r>
              <a:rPr sz="1600" b="1">
                <a:solidFill>
                  <a:srgbClr val="1A1A1A"/>
                </a:solidFill>
                <a:latin typeface="Verdana"/>
                <a:ea typeface="Verdana"/>
                <a:cs typeface="Verdana"/>
              </a:rPr>
              <a:t>Юлиана · Соня · Данил</a:t>
            </a:r>
          </a:p>
        </p:txBody>
      </p:sp>
      <p:sp>
        <p:nvSpPr>
          <p:cNvPr id="16" name="Rounded Rectangle 15"/>
          <p:cNvSpPr/>
          <p:nvPr/>
        </p:nvSpPr>
        <p:spPr>
          <a:xfrm>
            <a:off x="7589520" y="5212080"/>
            <a:ext cx="3931920" cy="960120"/>
          </a:xfrm>
          <a:prstGeom prst="roundRect">
            <a:avLst>
              <a:gd name="adj" fmla="val 10000"/>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5321808"/>
            <a:ext cx="3657600" cy="320040"/>
          </a:xfrm>
          <a:prstGeom prst="rect">
            <a:avLst/>
          </a:prstGeom>
          <a:noFill/>
        </p:spPr>
        <p:txBody>
          <a:bodyPr wrap="square" anchor="t">
            <a:spAutoFit/>
          </a:bodyPr>
          <a:lstStyle/>
          <a:p>
            <a:pPr algn="l"/>
            <a:r>
              <a:rPr sz="1100" b="0">
                <a:solidFill>
                  <a:srgbClr val="1A1A1A"/>
                </a:solidFill>
                <a:latin typeface="Verdana"/>
                <a:ea typeface="Verdana"/>
                <a:cs typeface="Verdana"/>
              </a:rPr>
              <a:t>Звонков за период</a:t>
            </a:r>
          </a:p>
        </p:txBody>
      </p:sp>
      <p:sp>
        <p:nvSpPr>
          <p:cNvPr id="18" name="TextBox 17"/>
          <p:cNvSpPr txBox="1"/>
          <p:nvPr/>
        </p:nvSpPr>
        <p:spPr>
          <a:xfrm>
            <a:off x="7772400" y="5596128"/>
            <a:ext cx="3657600" cy="411480"/>
          </a:xfrm>
          <a:prstGeom prst="rect">
            <a:avLst/>
          </a:prstGeom>
          <a:noFill/>
        </p:spPr>
        <p:txBody>
          <a:bodyPr wrap="square" anchor="t">
            <a:spAutoFit/>
          </a:bodyPr>
          <a:lstStyle/>
          <a:p>
            <a:pPr algn="l"/>
            <a:r>
              <a:rPr sz="1600" b="1">
                <a:solidFill>
                  <a:srgbClr val="1A1A1A"/>
                </a:solidFill>
                <a:latin typeface="Verdana"/>
                <a:ea typeface="Verdana"/>
                <a:cs typeface="Verdana"/>
              </a:rPr>
              <a:t>1 084</a:t>
            </a:r>
          </a:p>
        </p:txBody>
      </p:sp>
      <p:pic>
        <p:nvPicPr>
          <p:cNvPr id="19" name="Picture 18" descr="wave_bl.png"/>
          <p:cNvPicPr>
            <a:picLocks noChangeAspect="1"/>
          </p:cNvPicPr>
          <p:nvPr/>
        </p:nvPicPr>
        <p:blipFill>
          <a:blip r:embed="rId4"/>
          <a:stretch>
            <a:fillRect/>
          </a:stretch>
        </p:blipFill>
        <p:spPr>
          <a:xfrm>
            <a:off x="-137160" y="5989320"/>
            <a:ext cx="2926080" cy="975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Содержание</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О чём этот отчёт</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1691640"/>
            <a:ext cx="11247120" cy="658368"/>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801368"/>
            <a:ext cx="731520" cy="457200"/>
          </a:xfrm>
          <a:prstGeom prst="rect">
            <a:avLst/>
          </a:prstGeom>
          <a:noFill/>
        </p:spPr>
        <p:txBody>
          <a:bodyPr wrap="square" anchor="ctr">
            <a:spAutoFit/>
          </a:bodyPr>
          <a:lstStyle/>
          <a:p>
            <a:pPr algn="l"/>
            <a:r>
              <a:rPr sz="2000" b="1">
                <a:solidFill>
                  <a:srgbClr val="E8B43A"/>
                </a:solidFill>
                <a:latin typeface="Verdana"/>
                <a:ea typeface="Verdana"/>
                <a:cs typeface="Verdana"/>
              </a:rPr>
              <a:t>01</a:t>
            </a:r>
          </a:p>
        </p:txBody>
      </p:sp>
      <p:sp>
        <p:nvSpPr>
          <p:cNvPr id="10" name="TextBox 9"/>
          <p:cNvSpPr txBox="1"/>
          <p:nvPr/>
        </p:nvSpPr>
        <p:spPr>
          <a:xfrm>
            <a:off x="1463040" y="1764792"/>
            <a:ext cx="3291840" cy="502920"/>
          </a:xfrm>
          <a:prstGeom prst="rect">
            <a:avLst/>
          </a:prstGeom>
          <a:noFill/>
        </p:spPr>
        <p:txBody>
          <a:bodyPr wrap="square" anchor="ctr">
            <a:spAutoFit/>
          </a:bodyPr>
          <a:lstStyle/>
          <a:p>
            <a:pPr algn="l"/>
            <a:r>
              <a:rPr sz="1600" b="1">
                <a:solidFill>
                  <a:srgbClr val="1A1A1A"/>
                </a:solidFill>
                <a:latin typeface="Verdana"/>
                <a:ea typeface="Verdana"/>
                <a:cs typeface="Verdana"/>
              </a:rPr>
              <a:t>Проект</a:t>
            </a:r>
          </a:p>
        </p:txBody>
      </p:sp>
      <p:sp>
        <p:nvSpPr>
          <p:cNvPr id="11" name="TextBox 10"/>
          <p:cNvSpPr txBox="1"/>
          <p:nvPr/>
        </p:nvSpPr>
        <p:spPr>
          <a:xfrm>
            <a:off x="4846320" y="1764792"/>
            <a:ext cx="6583680" cy="502920"/>
          </a:xfrm>
          <a:prstGeom prst="rect">
            <a:avLst/>
          </a:prstGeom>
          <a:noFill/>
        </p:spPr>
        <p:txBody>
          <a:bodyPr wrap="square" anchor="ctr">
            <a:spAutoFit/>
          </a:bodyPr>
          <a:lstStyle/>
          <a:p>
            <a:pPr algn="l"/>
            <a:r>
              <a:rPr sz="1300" b="0">
                <a:solidFill>
                  <a:srgbClr val="5C5C5C"/>
                </a:solidFill>
                <a:latin typeface="Verdana"/>
                <a:ea typeface="Verdana"/>
                <a:cs typeface="Verdana"/>
              </a:rPr>
              <a:t>Зачем мы запускаем Кабинет сотрудника и как устроена работа</a:t>
            </a:r>
          </a:p>
        </p:txBody>
      </p:sp>
      <p:sp>
        <p:nvSpPr>
          <p:cNvPr id="12" name="Rounded Rectangle 11"/>
          <p:cNvSpPr/>
          <p:nvPr/>
        </p:nvSpPr>
        <p:spPr>
          <a:xfrm>
            <a:off x="457200" y="2423160"/>
            <a:ext cx="11247120" cy="658368"/>
          </a:xfrm>
          <a:prstGeom prst="roundRect">
            <a:avLst>
              <a:gd name="adj" fmla="val 8000"/>
            </a:avLst>
          </a:prstGeom>
          <a:solidFill>
            <a:srgbClr val="FFF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532888"/>
            <a:ext cx="731520" cy="457200"/>
          </a:xfrm>
          <a:prstGeom prst="rect">
            <a:avLst/>
          </a:prstGeom>
          <a:noFill/>
        </p:spPr>
        <p:txBody>
          <a:bodyPr wrap="square" anchor="ctr">
            <a:spAutoFit/>
          </a:bodyPr>
          <a:lstStyle/>
          <a:p>
            <a:pPr algn="l"/>
            <a:r>
              <a:rPr sz="2000" b="1">
                <a:solidFill>
                  <a:srgbClr val="E8B43A"/>
                </a:solidFill>
                <a:latin typeface="Verdana"/>
                <a:ea typeface="Verdana"/>
                <a:cs typeface="Verdana"/>
              </a:rPr>
              <a:t>02</a:t>
            </a:r>
          </a:p>
        </p:txBody>
      </p:sp>
      <p:sp>
        <p:nvSpPr>
          <p:cNvPr id="14" name="TextBox 13"/>
          <p:cNvSpPr txBox="1"/>
          <p:nvPr/>
        </p:nvSpPr>
        <p:spPr>
          <a:xfrm>
            <a:off x="1463040" y="2496312"/>
            <a:ext cx="3291840" cy="502920"/>
          </a:xfrm>
          <a:prstGeom prst="rect">
            <a:avLst/>
          </a:prstGeom>
          <a:noFill/>
        </p:spPr>
        <p:txBody>
          <a:bodyPr wrap="square" anchor="ctr">
            <a:spAutoFit/>
          </a:bodyPr>
          <a:lstStyle/>
          <a:p>
            <a:pPr algn="l"/>
            <a:r>
              <a:rPr sz="1600" b="1">
                <a:solidFill>
                  <a:srgbClr val="1A1A1A"/>
                </a:solidFill>
                <a:latin typeface="Verdana"/>
                <a:ea typeface="Verdana"/>
                <a:cs typeface="Verdana"/>
              </a:rPr>
              <a:t>Как работаем</a:t>
            </a:r>
          </a:p>
        </p:txBody>
      </p:sp>
      <p:sp>
        <p:nvSpPr>
          <p:cNvPr id="15" name="TextBox 14"/>
          <p:cNvSpPr txBox="1"/>
          <p:nvPr/>
        </p:nvSpPr>
        <p:spPr>
          <a:xfrm>
            <a:off x="4846320" y="2496312"/>
            <a:ext cx="6583680" cy="502920"/>
          </a:xfrm>
          <a:prstGeom prst="rect">
            <a:avLst/>
          </a:prstGeom>
          <a:noFill/>
        </p:spPr>
        <p:txBody>
          <a:bodyPr wrap="square" anchor="ctr">
            <a:spAutoFit/>
          </a:bodyPr>
          <a:lstStyle/>
          <a:p>
            <a:pPr algn="l"/>
            <a:r>
              <a:rPr sz="1300" b="0">
                <a:solidFill>
                  <a:srgbClr val="5C5C5C"/>
                </a:solidFill>
                <a:latin typeface="Verdana"/>
                <a:ea typeface="Verdana"/>
                <a:cs typeface="Verdana"/>
              </a:rPr>
              <a:t>Четыре направления: свои клиенты, новые компании, семинары, два сервиса вместе</a:t>
            </a:r>
          </a:p>
        </p:txBody>
      </p:sp>
      <p:sp>
        <p:nvSpPr>
          <p:cNvPr id="16" name="Rounded Rectangle 15"/>
          <p:cNvSpPr/>
          <p:nvPr/>
        </p:nvSpPr>
        <p:spPr>
          <a:xfrm>
            <a:off x="457200" y="3154680"/>
            <a:ext cx="11247120" cy="658368"/>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264408"/>
            <a:ext cx="731520" cy="457200"/>
          </a:xfrm>
          <a:prstGeom prst="rect">
            <a:avLst/>
          </a:prstGeom>
          <a:noFill/>
        </p:spPr>
        <p:txBody>
          <a:bodyPr wrap="square" anchor="ctr">
            <a:spAutoFit/>
          </a:bodyPr>
          <a:lstStyle/>
          <a:p>
            <a:pPr algn="l"/>
            <a:r>
              <a:rPr sz="2000" b="1">
                <a:solidFill>
                  <a:srgbClr val="E8B43A"/>
                </a:solidFill>
                <a:latin typeface="Verdana"/>
                <a:ea typeface="Verdana"/>
                <a:cs typeface="Verdana"/>
              </a:rPr>
              <a:t>03</a:t>
            </a:r>
          </a:p>
        </p:txBody>
      </p:sp>
      <p:sp>
        <p:nvSpPr>
          <p:cNvPr id="18" name="TextBox 17"/>
          <p:cNvSpPr txBox="1"/>
          <p:nvPr/>
        </p:nvSpPr>
        <p:spPr>
          <a:xfrm>
            <a:off x="1463040" y="3227832"/>
            <a:ext cx="3291840" cy="502920"/>
          </a:xfrm>
          <a:prstGeom prst="rect">
            <a:avLst/>
          </a:prstGeom>
          <a:noFill/>
        </p:spPr>
        <p:txBody>
          <a:bodyPr wrap="square" anchor="ctr">
            <a:spAutoFit/>
          </a:bodyPr>
          <a:lstStyle/>
          <a:p>
            <a:pPr algn="l"/>
            <a:r>
              <a:rPr sz="1600" b="1">
                <a:solidFill>
                  <a:srgbClr val="1A1A1A"/>
                </a:solidFill>
                <a:latin typeface="Verdana"/>
                <a:ea typeface="Verdana"/>
                <a:cs typeface="Verdana"/>
              </a:rPr>
              <a:t>План проекта</a:t>
            </a:r>
          </a:p>
        </p:txBody>
      </p:sp>
      <p:sp>
        <p:nvSpPr>
          <p:cNvPr id="19" name="TextBox 18"/>
          <p:cNvSpPr txBox="1"/>
          <p:nvPr/>
        </p:nvSpPr>
        <p:spPr>
          <a:xfrm>
            <a:off x="4846320" y="3227832"/>
            <a:ext cx="6583680" cy="502920"/>
          </a:xfrm>
          <a:prstGeom prst="rect">
            <a:avLst/>
          </a:prstGeom>
          <a:noFill/>
        </p:spPr>
        <p:txBody>
          <a:bodyPr wrap="square" anchor="ctr">
            <a:spAutoFit/>
          </a:bodyPr>
          <a:lstStyle/>
          <a:p>
            <a:pPr algn="l"/>
            <a:r>
              <a:rPr sz="1300" b="0">
                <a:solidFill>
                  <a:srgbClr val="5C5C5C"/>
                </a:solidFill>
                <a:latin typeface="Verdana"/>
                <a:ea typeface="Verdana"/>
                <a:cs typeface="Verdana"/>
              </a:rPr>
              <a:t>Все задачи из плана выполнены — таблица с отметками</a:t>
            </a:r>
          </a:p>
        </p:txBody>
      </p:sp>
      <p:sp>
        <p:nvSpPr>
          <p:cNvPr id="20" name="Rounded Rectangle 19"/>
          <p:cNvSpPr/>
          <p:nvPr/>
        </p:nvSpPr>
        <p:spPr>
          <a:xfrm>
            <a:off x="457200" y="3886200"/>
            <a:ext cx="11247120" cy="658368"/>
          </a:xfrm>
          <a:prstGeom prst="roundRect">
            <a:avLst>
              <a:gd name="adj" fmla="val 8000"/>
            </a:avLst>
          </a:prstGeom>
          <a:solidFill>
            <a:srgbClr val="FFF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995928"/>
            <a:ext cx="731520" cy="457200"/>
          </a:xfrm>
          <a:prstGeom prst="rect">
            <a:avLst/>
          </a:prstGeom>
          <a:noFill/>
        </p:spPr>
        <p:txBody>
          <a:bodyPr wrap="square" anchor="ctr">
            <a:spAutoFit/>
          </a:bodyPr>
          <a:lstStyle/>
          <a:p>
            <a:pPr algn="l"/>
            <a:r>
              <a:rPr sz="2000" b="1">
                <a:solidFill>
                  <a:srgbClr val="E8B43A"/>
                </a:solidFill>
                <a:latin typeface="Verdana"/>
                <a:ea typeface="Verdana"/>
                <a:cs typeface="Verdana"/>
              </a:rPr>
              <a:t>04</a:t>
            </a:r>
          </a:p>
        </p:txBody>
      </p:sp>
      <p:sp>
        <p:nvSpPr>
          <p:cNvPr id="22" name="TextBox 21"/>
          <p:cNvSpPr txBox="1"/>
          <p:nvPr/>
        </p:nvSpPr>
        <p:spPr>
          <a:xfrm>
            <a:off x="1463040" y="3959352"/>
            <a:ext cx="3291840" cy="502920"/>
          </a:xfrm>
          <a:prstGeom prst="rect">
            <a:avLst/>
          </a:prstGeom>
          <a:noFill/>
        </p:spPr>
        <p:txBody>
          <a:bodyPr wrap="square" anchor="ctr">
            <a:spAutoFit/>
          </a:bodyPr>
          <a:lstStyle/>
          <a:p>
            <a:pPr algn="l"/>
            <a:r>
              <a:rPr sz="1600" b="1">
                <a:solidFill>
                  <a:srgbClr val="1A1A1A"/>
                </a:solidFill>
                <a:latin typeface="Verdana"/>
                <a:ea typeface="Verdana"/>
                <a:cs typeface="Verdana"/>
              </a:rPr>
              <a:t>Идеи, которые проверяем</a:t>
            </a:r>
          </a:p>
        </p:txBody>
      </p:sp>
      <p:sp>
        <p:nvSpPr>
          <p:cNvPr id="23" name="TextBox 22"/>
          <p:cNvSpPr txBox="1"/>
          <p:nvPr/>
        </p:nvSpPr>
        <p:spPr>
          <a:xfrm>
            <a:off x="4846320" y="3959352"/>
            <a:ext cx="6583680" cy="502920"/>
          </a:xfrm>
          <a:prstGeom prst="rect">
            <a:avLst/>
          </a:prstGeom>
          <a:noFill/>
        </p:spPr>
        <p:txBody>
          <a:bodyPr wrap="square" anchor="ctr">
            <a:spAutoFit/>
          </a:bodyPr>
          <a:lstStyle/>
          <a:p>
            <a:pPr algn="l"/>
            <a:r>
              <a:rPr sz="1300" b="0">
                <a:solidFill>
                  <a:srgbClr val="5C5C5C"/>
                </a:solidFill>
                <a:latin typeface="Verdana"/>
                <a:ea typeface="Verdana"/>
                <a:cs typeface="Verdana"/>
              </a:rPr>
              <a:t>Четыре гипотезы простыми словами</a:t>
            </a:r>
          </a:p>
        </p:txBody>
      </p:sp>
      <p:sp>
        <p:nvSpPr>
          <p:cNvPr id="24" name="Rounded Rectangle 23"/>
          <p:cNvSpPr/>
          <p:nvPr/>
        </p:nvSpPr>
        <p:spPr>
          <a:xfrm>
            <a:off x="457200" y="4617720"/>
            <a:ext cx="11247120" cy="658368"/>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727448"/>
            <a:ext cx="731520" cy="457200"/>
          </a:xfrm>
          <a:prstGeom prst="rect">
            <a:avLst/>
          </a:prstGeom>
          <a:noFill/>
        </p:spPr>
        <p:txBody>
          <a:bodyPr wrap="square" anchor="ctr">
            <a:spAutoFit/>
          </a:bodyPr>
          <a:lstStyle/>
          <a:p>
            <a:pPr algn="l"/>
            <a:r>
              <a:rPr sz="2000" b="1">
                <a:solidFill>
                  <a:srgbClr val="E8B43A"/>
                </a:solidFill>
                <a:latin typeface="Verdana"/>
                <a:ea typeface="Verdana"/>
                <a:cs typeface="Verdana"/>
              </a:rPr>
              <a:t>05</a:t>
            </a:r>
          </a:p>
        </p:txBody>
      </p:sp>
      <p:sp>
        <p:nvSpPr>
          <p:cNvPr id="26" name="TextBox 25"/>
          <p:cNvSpPr txBox="1"/>
          <p:nvPr/>
        </p:nvSpPr>
        <p:spPr>
          <a:xfrm>
            <a:off x="1463040" y="4690872"/>
            <a:ext cx="3291840" cy="502920"/>
          </a:xfrm>
          <a:prstGeom prst="rect">
            <a:avLst/>
          </a:prstGeom>
          <a:noFill/>
        </p:spPr>
        <p:txBody>
          <a:bodyPr wrap="square" anchor="ctr">
            <a:spAutoFit/>
          </a:bodyPr>
          <a:lstStyle/>
          <a:p>
            <a:pPr algn="l"/>
            <a:r>
              <a:rPr sz="1600" b="1">
                <a:solidFill>
                  <a:srgbClr val="1A1A1A"/>
                </a:solidFill>
                <a:latin typeface="Verdana"/>
                <a:ea typeface="Verdana"/>
                <a:cs typeface="Verdana"/>
              </a:rPr>
              <a:t>Что показали звонки</a:t>
            </a:r>
          </a:p>
        </p:txBody>
      </p:sp>
      <p:sp>
        <p:nvSpPr>
          <p:cNvPr id="27" name="TextBox 26"/>
          <p:cNvSpPr txBox="1"/>
          <p:nvPr/>
        </p:nvSpPr>
        <p:spPr>
          <a:xfrm>
            <a:off x="4846320" y="4690872"/>
            <a:ext cx="6583680" cy="502920"/>
          </a:xfrm>
          <a:prstGeom prst="rect">
            <a:avLst/>
          </a:prstGeom>
          <a:noFill/>
        </p:spPr>
        <p:txBody>
          <a:bodyPr wrap="square" anchor="ctr">
            <a:spAutoFit/>
          </a:bodyPr>
          <a:lstStyle/>
          <a:p>
            <a:pPr algn="l"/>
            <a:r>
              <a:rPr sz="1300" b="0">
                <a:solidFill>
                  <a:srgbClr val="5C5C5C"/>
                </a:solidFill>
                <a:latin typeface="Verdana"/>
                <a:ea typeface="Verdana"/>
                <a:cs typeface="Verdana"/>
              </a:rPr>
              <a:t>Сколько набрали, кто ответил, куда дошли</a:t>
            </a:r>
          </a:p>
        </p:txBody>
      </p:sp>
      <p:sp>
        <p:nvSpPr>
          <p:cNvPr id="28" name="Rounded Rectangle 27"/>
          <p:cNvSpPr/>
          <p:nvPr/>
        </p:nvSpPr>
        <p:spPr>
          <a:xfrm>
            <a:off x="457200" y="5349240"/>
            <a:ext cx="11247120" cy="658368"/>
          </a:xfrm>
          <a:prstGeom prst="roundRect">
            <a:avLst>
              <a:gd name="adj" fmla="val 8000"/>
            </a:avLst>
          </a:prstGeom>
          <a:solidFill>
            <a:srgbClr val="FFF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458968"/>
            <a:ext cx="731520" cy="457200"/>
          </a:xfrm>
          <a:prstGeom prst="rect">
            <a:avLst/>
          </a:prstGeom>
          <a:noFill/>
        </p:spPr>
        <p:txBody>
          <a:bodyPr wrap="square" anchor="ctr">
            <a:spAutoFit/>
          </a:bodyPr>
          <a:lstStyle/>
          <a:p>
            <a:pPr algn="l"/>
            <a:r>
              <a:rPr sz="2000" b="1">
                <a:solidFill>
                  <a:srgbClr val="E8B43A"/>
                </a:solidFill>
                <a:latin typeface="Verdana"/>
                <a:ea typeface="Verdana"/>
                <a:cs typeface="Verdana"/>
              </a:rPr>
              <a:t>06</a:t>
            </a:r>
          </a:p>
        </p:txBody>
      </p:sp>
      <p:sp>
        <p:nvSpPr>
          <p:cNvPr id="30" name="TextBox 29"/>
          <p:cNvSpPr txBox="1"/>
          <p:nvPr/>
        </p:nvSpPr>
        <p:spPr>
          <a:xfrm>
            <a:off x="1463040" y="5422392"/>
            <a:ext cx="3291840" cy="502920"/>
          </a:xfrm>
          <a:prstGeom prst="rect">
            <a:avLst/>
          </a:prstGeom>
          <a:noFill/>
        </p:spPr>
        <p:txBody>
          <a:bodyPr wrap="square" anchor="ctr">
            <a:spAutoFit/>
          </a:bodyPr>
          <a:lstStyle/>
          <a:p>
            <a:pPr algn="l"/>
            <a:r>
              <a:rPr sz="1600" b="1">
                <a:solidFill>
                  <a:srgbClr val="1A1A1A"/>
                </a:solidFill>
                <a:latin typeface="Verdana"/>
                <a:ea typeface="Verdana"/>
                <a:cs typeface="Verdana"/>
              </a:rPr>
              <a:t>Почему не покупают</a:t>
            </a:r>
          </a:p>
        </p:txBody>
      </p:sp>
      <p:sp>
        <p:nvSpPr>
          <p:cNvPr id="31" name="TextBox 30"/>
          <p:cNvSpPr txBox="1"/>
          <p:nvPr/>
        </p:nvSpPr>
        <p:spPr>
          <a:xfrm>
            <a:off x="4846320" y="5422392"/>
            <a:ext cx="6583680" cy="502920"/>
          </a:xfrm>
          <a:prstGeom prst="rect">
            <a:avLst/>
          </a:prstGeom>
          <a:noFill/>
        </p:spPr>
        <p:txBody>
          <a:bodyPr wrap="square" anchor="ctr">
            <a:spAutoFit/>
          </a:bodyPr>
          <a:lstStyle/>
          <a:p>
            <a:pPr algn="l"/>
            <a:r>
              <a:rPr sz="1300" b="0">
                <a:solidFill>
                  <a:srgbClr val="5C5C5C"/>
                </a:solidFill>
                <a:latin typeface="Verdana"/>
                <a:ea typeface="Verdana"/>
                <a:cs typeface="Verdana"/>
              </a:rPr>
              <a:t>Главные причины отказа после показа сервиса</a:t>
            </a:r>
          </a:p>
        </p:txBody>
      </p:sp>
      <p:sp>
        <p:nvSpPr>
          <p:cNvPr id="32" name="Rectangle 31"/>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34" name="TextBox 33"/>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1. О проекте</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Сервис, который убирает бумажную рутину у кадров и бухгалтерии</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1691640"/>
            <a:ext cx="6949440" cy="443484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74519"/>
            <a:ext cx="6492240" cy="365760"/>
          </a:xfrm>
          <a:prstGeom prst="rect">
            <a:avLst/>
          </a:prstGeom>
          <a:noFill/>
        </p:spPr>
        <p:txBody>
          <a:bodyPr wrap="square" anchor="t">
            <a:spAutoFit/>
          </a:bodyPr>
          <a:lstStyle/>
          <a:p>
            <a:pPr algn="l"/>
            <a:r>
              <a:rPr sz="1300" b="1">
                <a:solidFill>
                  <a:srgbClr val="395F75"/>
                </a:solidFill>
                <a:latin typeface="Verdana"/>
                <a:ea typeface="Verdana"/>
                <a:cs typeface="Verdana"/>
              </a:rPr>
              <a:t>Что это такое</a:t>
            </a:r>
          </a:p>
        </p:txBody>
      </p:sp>
      <p:sp>
        <p:nvSpPr>
          <p:cNvPr id="10" name="TextBox 9"/>
          <p:cNvSpPr txBox="1"/>
          <p:nvPr/>
        </p:nvSpPr>
        <p:spPr>
          <a:xfrm>
            <a:off x="685800" y="2240280"/>
            <a:ext cx="6492240" cy="1554480"/>
          </a:xfrm>
          <a:prstGeom prst="rect">
            <a:avLst/>
          </a:prstGeom>
          <a:noFill/>
        </p:spPr>
        <p:txBody>
          <a:bodyPr wrap="square" anchor="t">
            <a:spAutoFit/>
          </a:bodyPr>
          <a:lstStyle/>
          <a:p>
            <a:pPr algn="l"/>
            <a:r>
              <a:rPr sz="1400" b="0">
                <a:solidFill>
                  <a:srgbClr val="1A1A1A"/>
                </a:solidFill>
                <a:latin typeface="Verdana"/>
                <a:ea typeface="Verdana"/>
                <a:cs typeface="Verdana"/>
              </a:rPr>
              <a:t>«1С:Кабинет сотрудника» — личный кабинет для сотрудников внутри привычной 1С. Через телефон или компьютер человек сам подаёт заявление на отпуск, смотрит расчётный листок, подписывает кадровые документы. Бухгалтеру не нужно собирать бумаги вручную. Компании не нужно менять свою программу учёта.</a:t>
            </a:r>
          </a:p>
        </p:txBody>
      </p:sp>
      <p:sp>
        <p:nvSpPr>
          <p:cNvPr id="11" name="Rectangle 10"/>
          <p:cNvSpPr/>
          <p:nvPr/>
        </p:nvSpPr>
        <p:spPr>
          <a:xfrm>
            <a:off x="685800" y="3913632"/>
            <a:ext cx="128016" cy="128016"/>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840480"/>
            <a:ext cx="6217920" cy="256032"/>
          </a:xfrm>
          <a:prstGeom prst="rect">
            <a:avLst/>
          </a:prstGeom>
          <a:noFill/>
        </p:spPr>
        <p:txBody>
          <a:bodyPr wrap="square" anchor="t">
            <a:spAutoFit/>
          </a:bodyPr>
          <a:lstStyle/>
          <a:p>
            <a:pPr algn="l"/>
            <a:r>
              <a:rPr sz="1300" b="1">
                <a:solidFill>
                  <a:srgbClr val="1A1A1A"/>
                </a:solidFill>
                <a:latin typeface="Verdana"/>
                <a:ea typeface="Verdana"/>
                <a:cs typeface="Verdana"/>
              </a:rPr>
              <a:t>Для клиента</a:t>
            </a:r>
          </a:p>
        </p:txBody>
      </p:sp>
      <p:sp>
        <p:nvSpPr>
          <p:cNvPr id="13" name="TextBox 12"/>
          <p:cNvSpPr txBox="1"/>
          <p:nvPr/>
        </p:nvSpPr>
        <p:spPr>
          <a:xfrm>
            <a:off x="960120" y="4096512"/>
            <a:ext cx="6217920" cy="502920"/>
          </a:xfrm>
          <a:prstGeom prst="rect">
            <a:avLst/>
          </a:prstGeom>
          <a:noFill/>
        </p:spPr>
        <p:txBody>
          <a:bodyPr wrap="square" anchor="t">
            <a:spAutoFit/>
          </a:bodyPr>
          <a:lstStyle/>
          <a:p>
            <a:pPr algn="l"/>
            <a:r>
              <a:rPr sz="1200" b="0">
                <a:solidFill>
                  <a:srgbClr val="5C5C5C"/>
                </a:solidFill>
                <a:latin typeface="Verdana"/>
                <a:ea typeface="Verdana"/>
                <a:cs typeface="Verdana"/>
              </a:rPr>
              <a:t>Меньше бумаги, быстрее заявления, документы с юридической силой, всё под рукой у сотрудника.</a:t>
            </a:r>
          </a:p>
        </p:txBody>
      </p:sp>
      <p:sp>
        <p:nvSpPr>
          <p:cNvPr id="14" name="Rectangle 13"/>
          <p:cNvSpPr/>
          <p:nvPr/>
        </p:nvSpPr>
        <p:spPr>
          <a:xfrm>
            <a:off x="685800" y="4626864"/>
            <a:ext cx="128016" cy="128016"/>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553712"/>
            <a:ext cx="6217920" cy="256032"/>
          </a:xfrm>
          <a:prstGeom prst="rect">
            <a:avLst/>
          </a:prstGeom>
          <a:noFill/>
        </p:spPr>
        <p:txBody>
          <a:bodyPr wrap="square" anchor="t">
            <a:spAutoFit/>
          </a:bodyPr>
          <a:lstStyle/>
          <a:p>
            <a:pPr algn="l"/>
            <a:r>
              <a:rPr sz="1300" b="1">
                <a:solidFill>
                  <a:srgbClr val="1A1A1A"/>
                </a:solidFill>
                <a:latin typeface="Verdana"/>
                <a:ea typeface="Verdana"/>
                <a:cs typeface="Verdana"/>
              </a:rPr>
              <a:t>Для Форус</a:t>
            </a:r>
          </a:p>
        </p:txBody>
      </p:sp>
      <p:sp>
        <p:nvSpPr>
          <p:cNvPr id="16" name="TextBox 15"/>
          <p:cNvSpPr txBox="1"/>
          <p:nvPr/>
        </p:nvSpPr>
        <p:spPr>
          <a:xfrm>
            <a:off x="960120" y="4809744"/>
            <a:ext cx="6217920" cy="502920"/>
          </a:xfrm>
          <a:prstGeom prst="rect">
            <a:avLst/>
          </a:prstGeom>
          <a:noFill/>
        </p:spPr>
        <p:txBody>
          <a:bodyPr wrap="square" anchor="t">
            <a:spAutoFit/>
          </a:bodyPr>
          <a:lstStyle/>
          <a:p>
            <a:pPr algn="l"/>
            <a:r>
              <a:rPr sz="1200" b="0">
                <a:solidFill>
                  <a:srgbClr val="5C5C5C"/>
                </a:solidFill>
                <a:latin typeface="Verdana"/>
                <a:ea typeface="Verdana"/>
                <a:cs typeface="Verdana"/>
              </a:rPr>
              <a:t>Можно предложить сервис тем, кто уже с нами, и зайти в новые компании с понятной пользой.</a:t>
            </a:r>
          </a:p>
        </p:txBody>
      </p:sp>
      <p:sp>
        <p:nvSpPr>
          <p:cNvPr id="17" name="Rectangle 16"/>
          <p:cNvSpPr/>
          <p:nvPr/>
        </p:nvSpPr>
        <p:spPr>
          <a:xfrm>
            <a:off x="685800" y="5340096"/>
            <a:ext cx="128016" cy="128016"/>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266944"/>
            <a:ext cx="6217920" cy="256032"/>
          </a:xfrm>
          <a:prstGeom prst="rect">
            <a:avLst/>
          </a:prstGeom>
          <a:noFill/>
        </p:spPr>
        <p:txBody>
          <a:bodyPr wrap="square" anchor="t">
            <a:spAutoFit/>
          </a:bodyPr>
          <a:lstStyle/>
          <a:p>
            <a:pPr algn="l"/>
            <a:r>
              <a:rPr sz="1300" b="1">
                <a:solidFill>
                  <a:srgbClr val="1A1A1A"/>
                </a:solidFill>
                <a:latin typeface="Verdana"/>
                <a:ea typeface="Verdana"/>
                <a:cs typeface="Verdana"/>
              </a:rPr>
              <a:t>Почему сейчас</a:t>
            </a:r>
          </a:p>
        </p:txBody>
      </p:sp>
      <p:sp>
        <p:nvSpPr>
          <p:cNvPr id="19" name="TextBox 18"/>
          <p:cNvSpPr txBox="1"/>
          <p:nvPr/>
        </p:nvSpPr>
        <p:spPr>
          <a:xfrm>
            <a:off x="960120" y="5522976"/>
            <a:ext cx="6217920" cy="502920"/>
          </a:xfrm>
          <a:prstGeom prst="rect">
            <a:avLst/>
          </a:prstGeom>
          <a:noFill/>
        </p:spPr>
        <p:txBody>
          <a:bodyPr wrap="square" anchor="t">
            <a:spAutoFit/>
          </a:bodyPr>
          <a:lstStyle/>
          <a:p>
            <a:pPr algn="l"/>
            <a:r>
              <a:rPr sz="1200" b="0">
                <a:solidFill>
                  <a:srgbClr val="5C5C5C"/>
                </a:solidFill>
                <a:latin typeface="Verdana"/>
                <a:ea typeface="Verdana"/>
                <a:cs typeface="Verdana"/>
              </a:rPr>
              <a:t>Кадровые документы уходят в электронный вид, но многие ещё боятся начинать. Мы показываем сервис вживую и помогаем подключить.</a:t>
            </a:r>
          </a:p>
        </p:txBody>
      </p:sp>
      <p:sp>
        <p:nvSpPr>
          <p:cNvPr id="20" name="Rounded Rectangle 19"/>
          <p:cNvSpPr/>
          <p:nvPr/>
        </p:nvSpPr>
        <p:spPr>
          <a:xfrm>
            <a:off x="7589520" y="1691640"/>
            <a:ext cx="4114800" cy="443484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1691640"/>
            <a:ext cx="4114800" cy="10972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18120" y="1965960"/>
            <a:ext cx="3703320" cy="365760"/>
          </a:xfrm>
          <a:prstGeom prst="rect">
            <a:avLst/>
          </a:prstGeom>
          <a:noFill/>
        </p:spPr>
        <p:txBody>
          <a:bodyPr wrap="square" anchor="t">
            <a:spAutoFit/>
          </a:bodyPr>
          <a:lstStyle/>
          <a:p>
            <a:pPr algn="l"/>
            <a:r>
              <a:rPr sz="1300" b="1">
                <a:solidFill>
                  <a:srgbClr val="395F75"/>
                </a:solidFill>
                <a:latin typeface="Verdana"/>
                <a:ea typeface="Verdana"/>
                <a:cs typeface="Verdana"/>
              </a:rPr>
              <a:t>Кто этим занимается</a:t>
            </a:r>
          </a:p>
        </p:txBody>
      </p:sp>
      <p:sp>
        <p:nvSpPr>
          <p:cNvPr id="23" name="TextBox 22"/>
          <p:cNvSpPr txBox="1"/>
          <p:nvPr/>
        </p:nvSpPr>
        <p:spPr>
          <a:xfrm>
            <a:off x="7818120" y="2377440"/>
            <a:ext cx="3703320" cy="1371600"/>
          </a:xfrm>
          <a:prstGeom prst="rect">
            <a:avLst/>
          </a:prstGeom>
          <a:noFill/>
        </p:spPr>
        <p:txBody>
          <a:bodyPr wrap="square" anchor="t">
            <a:spAutoFit/>
          </a:bodyPr>
          <a:lstStyle/>
          <a:p>
            <a:pPr algn="l"/>
            <a:r>
              <a:rPr sz="1300" b="0">
                <a:solidFill>
                  <a:srgbClr val="1A1A1A"/>
                </a:solidFill>
                <a:latin typeface="Verdana"/>
                <a:ea typeface="Verdana"/>
                <a:cs typeface="Verdana"/>
              </a:rPr>
              <a:t>Не просто отдел продаж. Три менеджера каждый день звонят, пробуют разные подходы и смотрят, что реально приводит человека на показ сервиса и к покупке.</a:t>
            </a:r>
          </a:p>
        </p:txBody>
      </p:sp>
      <p:sp>
        <p:nvSpPr>
          <p:cNvPr id="24" name="TextBox 23"/>
          <p:cNvSpPr txBox="1"/>
          <p:nvPr/>
        </p:nvSpPr>
        <p:spPr>
          <a:xfrm>
            <a:off x="7818120" y="3886200"/>
            <a:ext cx="3703320" cy="320040"/>
          </a:xfrm>
          <a:prstGeom prst="rect">
            <a:avLst/>
          </a:prstGeom>
          <a:noFill/>
        </p:spPr>
        <p:txBody>
          <a:bodyPr wrap="square" anchor="t">
            <a:spAutoFit/>
          </a:bodyPr>
          <a:lstStyle/>
          <a:p>
            <a:pPr algn="l"/>
            <a:r>
              <a:rPr sz="1400" b="1">
                <a:solidFill>
                  <a:srgbClr val="1A1A1A"/>
                </a:solidFill>
                <a:latin typeface="Verdana"/>
                <a:ea typeface="Verdana"/>
                <a:cs typeface="Verdana"/>
              </a:rPr>
              <a:t>Юлиана Юнусова</a:t>
            </a:r>
          </a:p>
        </p:txBody>
      </p:sp>
      <p:sp>
        <p:nvSpPr>
          <p:cNvPr id="25" name="TextBox 24"/>
          <p:cNvSpPr txBox="1"/>
          <p:nvPr/>
        </p:nvSpPr>
        <p:spPr>
          <a:xfrm>
            <a:off x="7818120" y="4206240"/>
            <a:ext cx="3703320" cy="320040"/>
          </a:xfrm>
          <a:prstGeom prst="rect">
            <a:avLst/>
          </a:prstGeom>
          <a:noFill/>
        </p:spPr>
        <p:txBody>
          <a:bodyPr wrap="square" anchor="t">
            <a:spAutoFit/>
          </a:bodyPr>
          <a:lstStyle/>
          <a:p>
            <a:pPr algn="l"/>
            <a:r>
              <a:rPr sz="1400" b="1">
                <a:solidFill>
                  <a:srgbClr val="1A1A1A"/>
                </a:solidFill>
                <a:latin typeface="Verdana"/>
                <a:ea typeface="Verdana"/>
                <a:cs typeface="Verdana"/>
              </a:rPr>
              <a:t>Соня Оглоблина</a:t>
            </a:r>
          </a:p>
        </p:txBody>
      </p:sp>
      <p:sp>
        <p:nvSpPr>
          <p:cNvPr id="26" name="TextBox 25"/>
          <p:cNvSpPr txBox="1"/>
          <p:nvPr/>
        </p:nvSpPr>
        <p:spPr>
          <a:xfrm>
            <a:off x="7818120" y="4526280"/>
            <a:ext cx="3703320" cy="320040"/>
          </a:xfrm>
          <a:prstGeom prst="rect">
            <a:avLst/>
          </a:prstGeom>
          <a:noFill/>
        </p:spPr>
        <p:txBody>
          <a:bodyPr wrap="square" anchor="t">
            <a:spAutoFit/>
          </a:bodyPr>
          <a:lstStyle/>
          <a:p>
            <a:pPr algn="l"/>
            <a:r>
              <a:rPr sz="1400" b="1">
                <a:solidFill>
                  <a:srgbClr val="1A1A1A"/>
                </a:solidFill>
                <a:latin typeface="Verdana"/>
                <a:ea typeface="Verdana"/>
                <a:cs typeface="Verdana"/>
              </a:rPr>
              <a:t>Данил Кургузов</a:t>
            </a:r>
          </a:p>
        </p:txBody>
      </p:sp>
      <p:sp>
        <p:nvSpPr>
          <p:cNvPr id="27" name="TextBox 26"/>
          <p:cNvSpPr txBox="1"/>
          <p:nvPr/>
        </p:nvSpPr>
        <p:spPr>
          <a:xfrm>
            <a:off x="7818120" y="5029200"/>
            <a:ext cx="3703320" cy="777240"/>
          </a:xfrm>
          <a:prstGeom prst="rect">
            <a:avLst/>
          </a:prstGeom>
          <a:noFill/>
        </p:spPr>
        <p:txBody>
          <a:bodyPr wrap="square" anchor="t">
            <a:spAutoFit/>
          </a:bodyPr>
          <a:lstStyle/>
          <a:p>
            <a:pPr algn="l"/>
            <a:r>
              <a:rPr sz="1300" b="0">
                <a:solidFill>
                  <a:srgbClr val="5C5C5C"/>
                </a:solidFill>
                <a:latin typeface="Verdana"/>
                <a:ea typeface="Verdana"/>
                <a:cs typeface="Verdana"/>
              </a:rPr>
              <a:t>За месяц на линии — 1 084 звонка.</a:t>
            </a:r>
          </a:p>
        </p:txBody>
      </p:sp>
      <p:sp>
        <p:nvSpPr>
          <p:cNvPr id="28" name="Rectangle 27"/>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30" name="TextBox 29"/>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2. Как устроена работа</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Четыре направления, по которым идём к клиенту</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72768"/>
            <a:ext cx="11247120" cy="411480"/>
          </a:xfrm>
          <a:prstGeom prst="rect">
            <a:avLst/>
          </a:prstGeom>
          <a:noFill/>
        </p:spPr>
        <p:txBody>
          <a:bodyPr wrap="square" anchor="t">
            <a:spAutoFit/>
          </a:bodyPr>
          <a:lstStyle/>
          <a:p>
            <a:pPr algn="l"/>
            <a:r>
              <a:rPr sz="1300" b="0">
                <a:solidFill>
                  <a:srgbClr val="5C5C5C"/>
                </a:solidFill>
                <a:latin typeface="Verdana"/>
                <a:ea typeface="Verdana"/>
                <a:cs typeface="Verdana"/>
              </a:rPr>
              <a:t>Путь один и тот же: позвонили → человек ответил по делу → появился интерес → записались на показ → показали сервис → продали. Меняется только, кому звоним и что говорим.</a:t>
            </a:r>
          </a:p>
        </p:txBody>
      </p:sp>
      <p:sp>
        <p:nvSpPr>
          <p:cNvPr id="9" name="Rounded Rectangle 8"/>
          <p:cNvSpPr/>
          <p:nvPr/>
        </p:nvSpPr>
        <p:spPr>
          <a:xfrm>
            <a:off x="457200" y="2103120"/>
            <a:ext cx="2788920" cy="3246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03120"/>
            <a:ext cx="2788920" cy="10972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2331720"/>
            <a:ext cx="2468880" cy="320040"/>
          </a:xfrm>
          <a:prstGeom prst="rect">
            <a:avLst/>
          </a:prstGeom>
          <a:noFill/>
        </p:spPr>
        <p:txBody>
          <a:bodyPr wrap="square" anchor="t">
            <a:spAutoFit/>
          </a:bodyPr>
          <a:lstStyle/>
          <a:p>
            <a:pPr algn="l"/>
            <a:r>
              <a:rPr sz="1800" b="1">
                <a:solidFill>
                  <a:srgbClr val="E8B43A"/>
                </a:solidFill>
                <a:latin typeface="Verdana"/>
                <a:ea typeface="Verdana"/>
                <a:cs typeface="Verdana"/>
              </a:rPr>
              <a:t>1</a:t>
            </a:r>
          </a:p>
        </p:txBody>
      </p:sp>
      <p:sp>
        <p:nvSpPr>
          <p:cNvPr id="12" name="TextBox 11"/>
          <p:cNvSpPr txBox="1"/>
          <p:nvPr/>
        </p:nvSpPr>
        <p:spPr>
          <a:xfrm>
            <a:off x="621792" y="2697480"/>
            <a:ext cx="2468880" cy="640080"/>
          </a:xfrm>
          <a:prstGeom prst="rect">
            <a:avLst/>
          </a:prstGeom>
          <a:noFill/>
        </p:spPr>
        <p:txBody>
          <a:bodyPr wrap="square" anchor="t">
            <a:spAutoFit/>
          </a:bodyPr>
          <a:lstStyle/>
          <a:p>
            <a:pPr algn="l"/>
            <a:r>
              <a:rPr sz="1600" b="1">
                <a:solidFill>
                  <a:srgbClr val="1A1A1A"/>
                </a:solidFill>
                <a:latin typeface="Verdana"/>
                <a:ea typeface="Verdana"/>
                <a:cs typeface="Verdana"/>
              </a:rPr>
              <a:t>Свои клиенты</a:t>
            </a:r>
          </a:p>
        </p:txBody>
      </p:sp>
      <p:sp>
        <p:nvSpPr>
          <p:cNvPr id="13" name="TextBox 12"/>
          <p:cNvSpPr txBox="1"/>
          <p:nvPr/>
        </p:nvSpPr>
        <p:spPr>
          <a:xfrm>
            <a:off x="621792" y="3291840"/>
            <a:ext cx="2468880" cy="502920"/>
          </a:xfrm>
          <a:prstGeom prst="rect">
            <a:avLst/>
          </a:prstGeom>
          <a:noFill/>
        </p:spPr>
        <p:txBody>
          <a:bodyPr wrap="square" anchor="t">
            <a:spAutoFit/>
          </a:bodyPr>
          <a:lstStyle/>
          <a:p>
            <a:pPr algn="l"/>
            <a:r>
              <a:rPr sz="1200" b="1">
                <a:solidFill>
                  <a:srgbClr val="395F75"/>
                </a:solidFill>
                <a:latin typeface="Verdana"/>
                <a:ea typeface="Verdana"/>
                <a:cs typeface="Verdana"/>
              </a:rPr>
              <a:t>Кто уже обслуживается у Форус</a:t>
            </a:r>
          </a:p>
        </p:txBody>
      </p:sp>
      <p:sp>
        <p:nvSpPr>
          <p:cNvPr id="14" name="TextBox 13"/>
          <p:cNvSpPr txBox="1"/>
          <p:nvPr/>
        </p:nvSpPr>
        <p:spPr>
          <a:xfrm>
            <a:off x="621792" y="3840480"/>
            <a:ext cx="2468880" cy="1280160"/>
          </a:xfrm>
          <a:prstGeom prst="rect">
            <a:avLst/>
          </a:prstGeom>
          <a:noFill/>
        </p:spPr>
        <p:txBody>
          <a:bodyPr wrap="square" anchor="t">
            <a:spAutoFit/>
          </a:bodyPr>
          <a:lstStyle/>
          <a:p>
            <a:pPr algn="l"/>
            <a:r>
              <a:rPr sz="1200" b="0">
                <a:solidFill>
                  <a:srgbClr val="5C5C5C"/>
                </a:solidFill>
                <a:latin typeface="Verdana"/>
                <a:ea typeface="Verdana"/>
                <a:cs typeface="Verdana"/>
              </a:rPr>
              <a:t>Говорим: «Кабинет сотрудника уже входит в ваше сопровождение 1С». Показ без разговора про цену на входе.</a:t>
            </a:r>
          </a:p>
        </p:txBody>
      </p:sp>
      <p:sp>
        <p:nvSpPr>
          <p:cNvPr id="15" name="Rounded Rectangle 14"/>
          <p:cNvSpPr/>
          <p:nvPr/>
        </p:nvSpPr>
        <p:spPr>
          <a:xfrm>
            <a:off x="3383280" y="2103120"/>
            <a:ext cx="2788920" cy="3246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103120"/>
            <a:ext cx="2788920" cy="10972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47872" y="2331720"/>
            <a:ext cx="2468880" cy="320040"/>
          </a:xfrm>
          <a:prstGeom prst="rect">
            <a:avLst/>
          </a:prstGeom>
          <a:noFill/>
        </p:spPr>
        <p:txBody>
          <a:bodyPr wrap="square" anchor="t">
            <a:spAutoFit/>
          </a:bodyPr>
          <a:lstStyle/>
          <a:p>
            <a:pPr algn="l"/>
            <a:r>
              <a:rPr sz="1800" b="1">
                <a:solidFill>
                  <a:srgbClr val="E8B43A"/>
                </a:solidFill>
                <a:latin typeface="Verdana"/>
                <a:ea typeface="Verdana"/>
                <a:cs typeface="Verdana"/>
              </a:rPr>
              <a:t>2</a:t>
            </a:r>
          </a:p>
        </p:txBody>
      </p:sp>
      <p:sp>
        <p:nvSpPr>
          <p:cNvPr id="18" name="TextBox 17"/>
          <p:cNvSpPr txBox="1"/>
          <p:nvPr/>
        </p:nvSpPr>
        <p:spPr>
          <a:xfrm>
            <a:off x="3547872" y="2697480"/>
            <a:ext cx="2468880" cy="640080"/>
          </a:xfrm>
          <a:prstGeom prst="rect">
            <a:avLst/>
          </a:prstGeom>
          <a:noFill/>
        </p:spPr>
        <p:txBody>
          <a:bodyPr wrap="square" anchor="t">
            <a:spAutoFit/>
          </a:bodyPr>
          <a:lstStyle/>
          <a:p>
            <a:pPr algn="l"/>
            <a:r>
              <a:rPr sz="1600" b="1">
                <a:solidFill>
                  <a:srgbClr val="1A1A1A"/>
                </a:solidFill>
                <a:latin typeface="Verdana"/>
                <a:ea typeface="Verdana"/>
                <a:cs typeface="Verdana"/>
              </a:rPr>
              <a:t>Новые компании</a:t>
            </a:r>
          </a:p>
        </p:txBody>
      </p:sp>
      <p:sp>
        <p:nvSpPr>
          <p:cNvPr id="19" name="TextBox 18"/>
          <p:cNvSpPr txBox="1"/>
          <p:nvPr/>
        </p:nvSpPr>
        <p:spPr>
          <a:xfrm>
            <a:off x="3547872" y="3291840"/>
            <a:ext cx="2468880" cy="502920"/>
          </a:xfrm>
          <a:prstGeom prst="rect">
            <a:avLst/>
          </a:prstGeom>
          <a:noFill/>
        </p:spPr>
        <p:txBody>
          <a:bodyPr wrap="square" anchor="t">
            <a:spAutoFit/>
          </a:bodyPr>
          <a:lstStyle/>
          <a:p>
            <a:pPr algn="l"/>
            <a:r>
              <a:rPr sz="1200" b="1">
                <a:solidFill>
                  <a:srgbClr val="395F75"/>
                </a:solidFill>
                <a:latin typeface="Verdana"/>
                <a:ea typeface="Verdana"/>
                <a:cs typeface="Verdana"/>
              </a:rPr>
              <a:t>Кого раньше не знали</a:t>
            </a:r>
          </a:p>
        </p:txBody>
      </p:sp>
      <p:sp>
        <p:nvSpPr>
          <p:cNvPr id="20" name="TextBox 19"/>
          <p:cNvSpPr txBox="1"/>
          <p:nvPr/>
        </p:nvSpPr>
        <p:spPr>
          <a:xfrm>
            <a:off x="3547872" y="3840480"/>
            <a:ext cx="2468880" cy="1280160"/>
          </a:xfrm>
          <a:prstGeom prst="rect">
            <a:avLst/>
          </a:prstGeom>
          <a:noFill/>
        </p:spPr>
        <p:txBody>
          <a:bodyPr wrap="square" anchor="t">
            <a:spAutoFit/>
          </a:bodyPr>
          <a:lstStyle/>
          <a:p>
            <a:pPr algn="l"/>
            <a:r>
              <a:rPr sz="1200" b="0">
                <a:solidFill>
                  <a:srgbClr val="5C5C5C"/>
                </a:solidFill>
                <a:latin typeface="Verdana"/>
                <a:ea typeface="Verdana"/>
                <a:cs typeface="Verdana"/>
              </a:rPr>
              <a:t>Звоним не всем подряд, а компаниям, где сервис правда нужен: торговля, производство, вахта, общепит и похожие.</a:t>
            </a:r>
          </a:p>
        </p:txBody>
      </p:sp>
      <p:sp>
        <p:nvSpPr>
          <p:cNvPr id="21" name="Rounded Rectangle 20"/>
          <p:cNvSpPr/>
          <p:nvPr/>
        </p:nvSpPr>
        <p:spPr>
          <a:xfrm>
            <a:off x="6309360" y="2103120"/>
            <a:ext cx="2788920" cy="3246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2103120"/>
            <a:ext cx="2788920" cy="10972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2331720"/>
            <a:ext cx="2468880" cy="320040"/>
          </a:xfrm>
          <a:prstGeom prst="rect">
            <a:avLst/>
          </a:prstGeom>
          <a:noFill/>
        </p:spPr>
        <p:txBody>
          <a:bodyPr wrap="square" anchor="t">
            <a:spAutoFit/>
          </a:bodyPr>
          <a:lstStyle/>
          <a:p>
            <a:pPr algn="l"/>
            <a:r>
              <a:rPr sz="1800" b="1">
                <a:solidFill>
                  <a:srgbClr val="E8B43A"/>
                </a:solidFill>
                <a:latin typeface="Verdana"/>
                <a:ea typeface="Verdana"/>
                <a:cs typeface="Verdana"/>
              </a:rPr>
              <a:t>3</a:t>
            </a:r>
          </a:p>
        </p:txBody>
      </p:sp>
      <p:sp>
        <p:nvSpPr>
          <p:cNvPr id="24" name="TextBox 23"/>
          <p:cNvSpPr txBox="1"/>
          <p:nvPr/>
        </p:nvSpPr>
        <p:spPr>
          <a:xfrm>
            <a:off x="6473952" y="2697480"/>
            <a:ext cx="2468880" cy="640080"/>
          </a:xfrm>
          <a:prstGeom prst="rect">
            <a:avLst/>
          </a:prstGeom>
          <a:noFill/>
        </p:spPr>
        <p:txBody>
          <a:bodyPr wrap="square" anchor="t">
            <a:spAutoFit/>
          </a:bodyPr>
          <a:lstStyle/>
          <a:p>
            <a:pPr algn="l"/>
            <a:r>
              <a:rPr sz="1600" b="1">
                <a:solidFill>
                  <a:srgbClr val="1A1A1A"/>
                </a:solidFill>
                <a:latin typeface="Verdana"/>
                <a:ea typeface="Verdana"/>
                <a:cs typeface="Verdana"/>
              </a:rPr>
              <a:t>После семинаров</a:t>
            </a:r>
          </a:p>
        </p:txBody>
      </p:sp>
      <p:sp>
        <p:nvSpPr>
          <p:cNvPr id="25" name="TextBox 24"/>
          <p:cNvSpPr txBox="1"/>
          <p:nvPr/>
        </p:nvSpPr>
        <p:spPr>
          <a:xfrm>
            <a:off x="6473952" y="3291840"/>
            <a:ext cx="2468880" cy="502920"/>
          </a:xfrm>
          <a:prstGeom prst="rect">
            <a:avLst/>
          </a:prstGeom>
          <a:noFill/>
        </p:spPr>
        <p:txBody>
          <a:bodyPr wrap="square" anchor="t">
            <a:spAutoFit/>
          </a:bodyPr>
          <a:lstStyle/>
          <a:p>
            <a:pPr algn="l"/>
            <a:r>
              <a:rPr sz="1200" b="1">
                <a:solidFill>
                  <a:srgbClr val="395F75"/>
                </a:solidFill>
                <a:latin typeface="Verdana"/>
                <a:ea typeface="Verdana"/>
                <a:cs typeface="Verdana"/>
              </a:rPr>
              <a:t>Кто уже нас слышал</a:t>
            </a:r>
          </a:p>
        </p:txBody>
      </p:sp>
      <p:sp>
        <p:nvSpPr>
          <p:cNvPr id="26" name="TextBox 25"/>
          <p:cNvSpPr txBox="1"/>
          <p:nvPr/>
        </p:nvSpPr>
        <p:spPr>
          <a:xfrm>
            <a:off x="6473952" y="3840480"/>
            <a:ext cx="2468880" cy="1280160"/>
          </a:xfrm>
          <a:prstGeom prst="rect">
            <a:avLst/>
          </a:prstGeom>
          <a:noFill/>
        </p:spPr>
        <p:txBody>
          <a:bodyPr wrap="square" anchor="t">
            <a:spAutoFit/>
          </a:bodyPr>
          <a:lstStyle/>
          <a:p>
            <a:pPr algn="l"/>
            <a:r>
              <a:rPr sz="1200" b="0">
                <a:solidFill>
                  <a:srgbClr val="5C5C5C"/>
                </a:solidFill>
                <a:latin typeface="Verdana"/>
                <a:ea typeface="Verdana"/>
                <a:cs typeface="Verdana"/>
              </a:rPr>
              <a:t>Человек был на встрече или семинаре. Ещё раз объясняем пользу, отвечаем на вопросы и зовём на показ.</a:t>
            </a:r>
          </a:p>
        </p:txBody>
      </p:sp>
      <p:sp>
        <p:nvSpPr>
          <p:cNvPr id="27" name="Rounded Rectangle 26"/>
          <p:cNvSpPr/>
          <p:nvPr/>
        </p:nvSpPr>
        <p:spPr>
          <a:xfrm>
            <a:off x="9235440" y="2103120"/>
            <a:ext cx="2788920" cy="3246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0" y="2103120"/>
            <a:ext cx="2788920" cy="10972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00032" y="2331720"/>
            <a:ext cx="2468880" cy="320040"/>
          </a:xfrm>
          <a:prstGeom prst="rect">
            <a:avLst/>
          </a:prstGeom>
          <a:noFill/>
        </p:spPr>
        <p:txBody>
          <a:bodyPr wrap="square" anchor="t">
            <a:spAutoFit/>
          </a:bodyPr>
          <a:lstStyle/>
          <a:p>
            <a:pPr algn="l"/>
            <a:r>
              <a:rPr sz="1800" b="1">
                <a:solidFill>
                  <a:srgbClr val="E8B43A"/>
                </a:solidFill>
                <a:latin typeface="Verdana"/>
                <a:ea typeface="Verdana"/>
                <a:cs typeface="Verdana"/>
              </a:rPr>
              <a:t>4</a:t>
            </a:r>
          </a:p>
        </p:txBody>
      </p:sp>
      <p:sp>
        <p:nvSpPr>
          <p:cNvPr id="30" name="TextBox 29"/>
          <p:cNvSpPr txBox="1"/>
          <p:nvPr/>
        </p:nvSpPr>
        <p:spPr>
          <a:xfrm>
            <a:off x="9400032" y="2697480"/>
            <a:ext cx="2468880" cy="640080"/>
          </a:xfrm>
          <a:prstGeom prst="rect">
            <a:avLst/>
          </a:prstGeom>
          <a:noFill/>
        </p:spPr>
        <p:txBody>
          <a:bodyPr wrap="square" anchor="t">
            <a:spAutoFit/>
          </a:bodyPr>
          <a:lstStyle/>
          <a:p>
            <a:pPr algn="l"/>
            <a:r>
              <a:rPr sz="1600" b="1">
                <a:solidFill>
                  <a:srgbClr val="1A1A1A"/>
                </a:solidFill>
                <a:latin typeface="Verdana"/>
                <a:ea typeface="Verdana"/>
                <a:cs typeface="Verdana"/>
              </a:rPr>
              <a:t>Два сервиса вместе</a:t>
            </a:r>
          </a:p>
        </p:txBody>
      </p:sp>
      <p:sp>
        <p:nvSpPr>
          <p:cNvPr id="31" name="TextBox 30"/>
          <p:cNvSpPr txBox="1"/>
          <p:nvPr/>
        </p:nvSpPr>
        <p:spPr>
          <a:xfrm>
            <a:off x="9400032" y="3291840"/>
            <a:ext cx="2468880" cy="502920"/>
          </a:xfrm>
          <a:prstGeom prst="rect">
            <a:avLst/>
          </a:prstGeom>
          <a:noFill/>
        </p:spPr>
        <p:txBody>
          <a:bodyPr wrap="square" anchor="t">
            <a:spAutoFit/>
          </a:bodyPr>
          <a:lstStyle/>
          <a:p>
            <a:pPr algn="l"/>
            <a:r>
              <a:rPr sz="1200" b="1">
                <a:solidFill>
                  <a:srgbClr val="395F75"/>
                </a:solidFill>
                <a:latin typeface="Verdana"/>
                <a:ea typeface="Verdana"/>
                <a:cs typeface="Verdana"/>
              </a:rPr>
              <a:t>Документы и кадры пакетом</a:t>
            </a:r>
          </a:p>
        </p:txBody>
      </p:sp>
      <p:sp>
        <p:nvSpPr>
          <p:cNvPr id="32" name="TextBox 31"/>
          <p:cNvSpPr txBox="1"/>
          <p:nvPr/>
        </p:nvSpPr>
        <p:spPr>
          <a:xfrm>
            <a:off x="9400032" y="3840480"/>
            <a:ext cx="2468880" cy="1280160"/>
          </a:xfrm>
          <a:prstGeom prst="rect">
            <a:avLst/>
          </a:prstGeom>
          <a:noFill/>
        </p:spPr>
        <p:txBody>
          <a:bodyPr wrap="square" anchor="t">
            <a:spAutoFit/>
          </a:bodyPr>
          <a:lstStyle/>
          <a:p>
            <a:pPr algn="l"/>
            <a:r>
              <a:rPr sz="1200" b="0">
                <a:solidFill>
                  <a:srgbClr val="5C5C5C"/>
                </a:solidFill>
                <a:latin typeface="Verdana"/>
                <a:ea typeface="Verdana"/>
                <a:cs typeface="Verdana"/>
              </a:rPr>
              <a:t>Предлагаем не одну подписку, а связку: электронные документы для логистики и Кабинет сотрудника для кадров.</a:t>
            </a:r>
          </a:p>
        </p:txBody>
      </p:sp>
      <p:sp>
        <p:nvSpPr>
          <p:cNvPr id="33" name="Rounded Rectangle 32"/>
          <p:cNvSpPr/>
          <p:nvPr/>
        </p:nvSpPr>
        <p:spPr>
          <a:xfrm>
            <a:off x="457200" y="5532120"/>
            <a:ext cx="11247120" cy="777240"/>
          </a:xfrm>
          <a:prstGeom prst="roundRect">
            <a:avLst>
              <a:gd name="adj" fmla="val 8000"/>
            </a:avLst>
          </a:prstGeom>
          <a:solidFill>
            <a:srgbClr val="FFF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650992"/>
            <a:ext cx="10972800" cy="548640"/>
          </a:xfrm>
          <a:prstGeom prst="rect">
            <a:avLst/>
          </a:prstGeom>
          <a:noFill/>
        </p:spPr>
        <p:txBody>
          <a:bodyPr wrap="square" anchor="ctr">
            <a:spAutoFit/>
          </a:bodyPr>
          <a:lstStyle/>
          <a:p>
            <a:pPr algn="l"/>
            <a:r>
              <a:rPr sz="1300" b="0">
                <a:solidFill>
                  <a:srgbClr val="1A1A1A"/>
                </a:solidFill>
                <a:latin typeface="Verdana"/>
                <a:ea typeface="Verdana"/>
                <a:cs typeface="Verdana"/>
              </a:rPr>
              <a:t>Каждый день у менеджера есть список дел и доска задач. После записи на показ действует порядок: письмо, напоминание, сам показ, звонок через три дня.</a:t>
            </a:r>
          </a:p>
        </p:txBody>
      </p:sp>
      <p:sp>
        <p:nvSpPr>
          <p:cNvPr id="35" name="Rectangle 34"/>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37" name="TextBox 36"/>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3. План проекта</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Все задачи из плана выполнены</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36192"/>
            <a:ext cx="11247120" cy="347472"/>
          </a:xfrm>
          <a:prstGeom prst="rect">
            <a:avLst/>
          </a:prstGeom>
          <a:noFill/>
        </p:spPr>
        <p:txBody>
          <a:bodyPr wrap="square" anchor="t">
            <a:spAutoFit/>
          </a:bodyPr>
          <a:lstStyle/>
          <a:p>
            <a:pPr algn="l"/>
            <a:r>
              <a:rPr sz="1300" b="0">
                <a:solidFill>
                  <a:srgbClr val="5C5C5C"/>
                </a:solidFill>
                <a:latin typeface="Verdana"/>
                <a:ea typeface="Verdana"/>
                <a:cs typeface="Verdana"/>
              </a:rPr>
              <a:t>Документ «План проекта Кабинет сотрудника»: исследование, материалы, обучение, запуск звонков и разбор результатов.</a:t>
            </a:r>
          </a:p>
        </p:txBody>
      </p:sp>
      <p:sp>
        <p:nvSpPr>
          <p:cNvPr id="9" name="Rectangle 8"/>
          <p:cNvSpPr/>
          <p:nvPr/>
        </p:nvSpPr>
        <p:spPr>
          <a:xfrm>
            <a:off x="457200" y="1938528"/>
            <a:ext cx="11247120" cy="3840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38528"/>
            <a:ext cx="1051560" cy="384048"/>
          </a:xfrm>
          <a:prstGeom prst="rect">
            <a:avLst/>
          </a:prstGeom>
          <a:noFill/>
        </p:spPr>
        <p:txBody>
          <a:bodyPr wrap="square" anchor="ctr">
            <a:spAutoFit/>
          </a:bodyPr>
          <a:lstStyle/>
          <a:p>
            <a:pPr algn="ctr"/>
            <a:r>
              <a:rPr sz="1200" b="1">
                <a:solidFill>
                  <a:srgbClr val="FFFFFF"/>
                </a:solidFill>
                <a:latin typeface="Verdana"/>
                <a:ea typeface="Verdana"/>
                <a:cs typeface="Verdana"/>
              </a:rPr>
              <a:t>Готово</a:t>
            </a:r>
          </a:p>
        </p:txBody>
      </p:sp>
      <p:sp>
        <p:nvSpPr>
          <p:cNvPr id="11" name="TextBox 10"/>
          <p:cNvSpPr txBox="1"/>
          <p:nvPr/>
        </p:nvSpPr>
        <p:spPr>
          <a:xfrm>
            <a:off x="1508760" y="1938528"/>
            <a:ext cx="4572000" cy="384048"/>
          </a:xfrm>
          <a:prstGeom prst="rect">
            <a:avLst/>
          </a:prstGeom>
          <a:noFill/>
        </p:spPr>
        <p:txBody>
          <a:bodyPr wrap="square" anchor="ctr">
            <a:spAutoFit/>
          </a:bodyPr>
          <a:lstStyle/>
          <a:p>
            <a:pPr algn="ctr"/>
            <a:r>
              <a:rPr sz="1200" b="1">
                <a:solidFill>
                  <a:srgbClr val="FFFFFF"/>
                </a:solidFill>
                <a:latin typeface="Verdana"/>
                <a:ea typeface="Verdana"/>
                <a:cs typeface="Verdana"/>
              </a:rPr>
              <a:t>Что сделали</a:t>
            </a:r>
          </a:p>
        </p:txBody>
      </p:sp>
      <p:sp>
        <p:nvSpPr>
          <p:cNvPr id="12" name="TextBox 11"/>
          <p:cNvSpPr txBox="1"/>
          <p:nvPr/>
        </p:nvSpPr>
        <p:spPr>
          <a:xfrm>
            <a:off x="6080760" y="1938528"/>
            <a:ext cx="1051560" cy="384048"/>
          </a:xfrm>
          <a:prstGeom prst="rect">
            <a:avLst/>
          </a:prstGeom>
          <a:noFill/>
        </p:spPr>
        <p:txBody>
          <a:bodyPr wrap="square" anchor="ctr">
            <a:spAutoFit/>
          </a:bodyPr>
          <a:lstStyle/>
          <a:p>
            <a:pPr algn="ctr"/>
            <a:r>
              <a:rPr sz="1200" b="1">
                <a:solidFill>
                  <a:srgbClr val="FFFFFF"/>
                </a:solidFill>
                <a:latin typeface="Verdana"/>
                <a:ea typeface="Verdana"/>
                <a:cs typeface="Verdana"/>
              </a:rPr>
              <a:t>Готово</a:t>
            </a:r>
          </a:p>
        </p:txBody>
      </p:sp>
      <p:sp>
        <p:nvSpPr>
          <p:cNvPr id="13" name="TextBox 12"/>
          <p:cNvSpPr txBox="1"/>
          <p:nvPr/>
        </p:nvSpPr>
        <p:spPr>
          <a:xfrm>
            <a:off x="7132320" y="1938528"/>
            <a:ext cx="4572000" cy="384048"/>
          </a:xfrm>
          <a:prstGeom prst="rect">
            <a:avLst/>
          </a:prstGeom>
          <a:noFill/>
        </p:spPr>
        <p:txBody>
          <a:bodyPr wrap="square" anchor="ctr">
            <a:spAutoFit/>
          </a:bodyPr>
          <a:lstStyle/>
          <a:p>
            <a:pPr algn="ctr"/>
            <a:r>
              <a:rPr sz="1200" b="1">
                <a:solidFill>
                  <a:srgbClr val="FFFFFF"/>
                </a:solidFill>
                <a:latin typeface="Verdana"/>
                <a:ea typeface="Verdana"/>
                <a:cs typeface="Verdana"/>
              </a:rPr>
              <a:t>Что сделали</a:t>
            </a:r>
          </a:p>
        </p:txBody>
      </p:sp>
      <p:sp>
        <p:nvSpPr>
          <p:cNvPr id="14" name="Rectangle 13"/>
          <p:cNvSpPr/>
          <p:nvPr/>
        </p:nvSpPr>
        <p:spPr>
          <a:xfrm>
            <a:off x="457200" y="2322576"/>
            <a:ext cx="11247120" cy="475488"/>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2432304"/>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2432304"/>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17" name="TextBox 16"/>
          <p:cNvSpPr txBox="1"/>
          <p:nvPr/>
        </p:nvSpPr>
        <p:spPr>
          <a:xfrm>
            <a:off x="1508760" y="2322576"/>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Изучили продукт и внутренние материалы</a:t>
            </a:r>
          </a:p>
        </p:txBody>
      </p:sp>
      <p:sp>
        <p:nvSpPr>
          <p:cNvPr id="18" name="Oval 17"/>
          <p:cNvSpPr/>
          <p:nvPr/>
        </p:nvSpPr>
        <p:spPr>
          <a:xfrm>
            <a:off x="6464808" y="2432304"/>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2432304"/>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20" name="TextBox 19"/>
          <p:cNvSpPr txBox="1"/>
          <p:nvPr/>
        </p:nvSpPr>
        <p:spPr>
          <a:xfrm>
            <a:off x="7132320" y="2322576"/>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Обучили менеджеров первому сценарию</a:t>
            </a:r>
          </a:p>
        </p:txBody>
      </p:sp>
      <p:sp>
        <p:nvSpPr>
          <p:cNvPr id="21" name="Rectangle 20"/>
          <p:cNvSpPr/>
          <p:nvPr/>
        </p:nvSpPr>
        <p:spPr>
          <a:xfrm>
            <a:off x="457200" y="2798064"/>
            <a:ext cx="112471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41248" y="2907792"/>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2907792"/>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24" name="TextBox 23"/>
          <p:cNvSpPr txBox="1"/>
          <p:nvPr/>
        </p:nvSpPr>
        <p:spPr>
          <a:xfrm>
            <a:off x="1508760" y="2798064"/>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Сравнили предложение с другими партнёрами 1С</a:t>
            </a:r>
          </a:p>
        </p:txBody>
      </p:sp>
      <p:sp>
        <p:nvSpPr>
          <p:cNvPr id="25" name="Oval 24"/>
          <p:cNvSpPr/>
          <p:nvPr/>
        </p:nvSpPr>
        <p:spPr>
          <a:xfrm>
            <a:off x="6464808" y="2907792"/>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4808" y="2907792"/>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27" name="TextBox 26"/>
          <p:cNvSpPr txBox="1"/>
          <p:nvPr/>
        </p:nvSpPr>
        <p:spPr>
          <a:xfrm>
            <a:off x="7132320" y="2798064"/>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Подготовили страницу на сайте</a:t>
            </a:r>
          </a:p>
        </p:txBody>
      </p:sp>
      <p:sp>
        <p:nvSpPr>
          <p:cNvPr id="28" name="Rectangle 27"/>
          <p:cNvSpPr/>
          <p:nvPr/>
        </p:nvSpPr>
        <p:spPr>
          <a:xfrm>
            <a:off x="457200" y="3273552"/>
            <a:ext cx="11247120" cy="475488"/>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41248" y="3383280"/>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3383280"/>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31" name="TextBox 30"/>
          <p:cNvSpPr txBox="1"/>
          <p:nvPr/>
        </p:nvSpPr>
        <p:spPr>
          <a:xfrm>
            <a:off x="1508760" y="3273552"/>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Посмотрели внешние кадровые сервисы</a:t>
            </a:r>
          </a:p>
        </p:txBody>
      </p:sp>
      <p:sp>
        <p:nvSpPr>
          <p:cNvPr id="32" name="Oval 31"/>
          <p:cNvSpPr/>
          <p:nvPr/>
        </p:nvSpPr>
        <p:spPr>
          <a:xfrm>
            <a:off x="6464808" y="3383280"/>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383280"/>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34" name="TextBox 33"/>
          <p:cNvSpPr txBox="1"/>
          <p:nvPr/>
        </p:nvSpPr>
        <p:spPr>
          <a:xfrm>
            <a:off x="7132320" y="3273552"/>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Начали звонить новым компаниям</a:t>
            </a:r>
          </a:p>
        </p:txBody>
      </p:sp>
      <p:sp>
        <p:nvSpPr>
          <p:cNvPr id="35" name="Rectangle 34"/>
          <p:cNvSpPr/>
          <p:nvPr/>
        </p:nvSpPr>
        <p:spPr>
          <a:xfrm>
            <a:off x="457200" y="3749039"/>
            <a:ext cx="112471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1248" y="3858767"/>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8" y="3858767"/>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38" name="TextBox 37"/>
          <p:cNvSpPr txBox="1"/>
          <p:nvPr/>
        </p:nvSpPr>
        <p:spPr>
          <a:xfrm>
            <a:off x="1508760" y="3749039"/>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Оценили своих клиентов и рынок в стране</a:t>
            </a:r>
          </a:p>
        </p:txBody>
      </p:sp>
      <p:sp>
        <p:nvSpPr>
          <p:cNvPr id="39" name="Oval 38"/>
          <p:cNvSpPr/>
          <p:nvPr/>
        </p:nvSpPr>
        <p:spPr>
          <a:xfrm>
            <a:off x="6464808" y="3858767"/>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64808" y="3858767"/>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41" name="TextBox 40"/>
          <p:cNvSpPr txBox="1"/>
          <p:nvPr/>
        </p:nvSpPr>
        <p:spPr>
          <a:xfrm>
            <a:off x="7132320" y="3749039"/>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Начали звонить своим клиентам</a:t>
            </a:r>
          </a:p>
        </p:txBody>
      </p:sp>
      <p:sp>
        <p:nvSpPr>
          <p:cNvPr id="42" name="Rectangle 41"/>
          <p:cNvSpPr/>
          <p:nvPr/>
        </p:nvSpPr>
        <p:spPr>
          <a:xfrm>
            <a:off x="457200" y="4224528"/>
            <a:ext cx="11247120" cy="475488"/>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1248" y="4334256"/>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 y="4334256"/>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45" name="TextBox 44"/>
          <p:cNvSpPr txBox="1"/>
          <p:nvPr/>
        </p:nvSpPr>
        <p:spPr>
          <a:xfrm>
            <a:off x="1508760" y="4224528"/>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Собрали стратегию продвижения</a:t>
            </a:r>
          </a:p>
        </p:txBody>
      </p:sp>
      <p:sp>
        <p:nvSpPr>
          <p:cNvPr id="46" name="Oval 45"/>
          <p:cNvSpPr/>
          <p:nvPr/>
        </p:nvSpPr>
        <p:spPr>
          <a:xfrm>
            <a:off x="6464808" y="4334256"/>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64808" y="4334256"/>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48" name="TextBox 47"/>
          <p:cNvSpPr txBox="1"/>
          <p:nvPr/>
        </p:nvSpPr>
        <p:spPr>
          <a:xfrm>
            <a:off x="7132320" y="4224528"/>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Настроили работу с входящими заявками</a:t>
            </a:r>
          </a:p>
        </p:txBody>
      </p:sp>
      <p:sp>
        <p:nvSpPr>
          <p:cNvPr id="49" name="Rectangle 48"/>
          <p:cNvSpPr/>
          <p:nvPr/>
        </p:nvSpPr>
        <p:spPr>
          <a:xfrm>
            <a:off x="457200" y="4700016"/>
            <a:ext cx="112471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1248" y="4809744"/>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 y="4809744"/>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52" name="TextBox 51"/>
          <p:cNvSpPr txBox="1"/>
          <p:nvPr/>
        </p:nvSpPr>
        <p:spPr>
          <a:xfrm>
            <a:off x="1508760" y="4700016"/>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Поставили план продаж и финансовый план</a:t>
            </a:r>
          </a:p>
        </p:txBody>
      </p:sp>
      <p:sp>
        <p:nvSpPr>
          <p:cNvPr id="53" name="Oval 52"/>
          <p:cNvSpPr/>
          <p:nvPr/>
        </p:nvSpPr>
        <p:spPr>
          <a:xfrm>
            <a:off x="6464808" y="4809744"/>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64808" y="4809744"/>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55" name="TextBox 54"/>
          <p:cNvSpPr txBox="1"/>
          <p:nvPr/>
        </p:nvSpPr>
        <p:spPr>
          <a:xfrm>
            <a:off x="7132320" y="4700016"/>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Разобрали первую волну и зафиксировали выводы</a:t>
            </a:r>
          </a:p>
        </p:txBody>
      </p:sp>
      <p:sp>
        <p:nvSpPr>
          <p:cNvPr id="56" name="Rectangle 55"/>
          <p:cNvSpPr/>
          <p:nvPr/>
        </p:nvSpPr>
        <p:spPr>
          <a:xfrm>
            <a:off x="457200" y="5175504"/>
            <a:ext cx="11247120" cy="475488"/>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41248" y="5285232"/>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 y="5285232"/>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59" name="TextBox 58"/>
          <p:cNvSpPr txBox="1"/>
          <p:nvPr/>
        </p:nvSpPr>
        <p:spPr>
          <a:xfrm>
            <a:off x="1508760" y="5175504"/>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Написали сценарии разговора и шаблоны писем</a:t>
            </a:r>
          </a:p>
        </p:txBody>
      </p:sp>
      <p:sp>
        <p:nvSpPr>
          <p:cNvPr id="60" name="Oval 59"/>
          <p:cNvSpPr/>
          <p:nvPr/>
        </p:nvSpPr>
        <p:spPr>
          <a:xfrm>
            <a:off x="6464808" y="5285232"/>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64808" y="5285232"/>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62" name="TextBox 61"/>
          <p:cNvSpPr txBox="1"/>
          <p:nvPr/>
        </p:nvSpPr>
        <p:spPr>
          <a:xfrm>
            <a:off x="7132320" y="5175504"/>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Подготовили второй сценарий, обучили, запустили звонки</a:t>
            </a:r>
          </a:p>
        </p:txBody>
      </p:sp>
      <p:sp>
        <p:nvSpPr>
          <p:cNvPr id="63" name="Rectangle 62"/>
          <p:cNvSpPr/>
          <p:nvPr/>
        </p:nvSpPr>
        <p:spPr>
          <a:xfrm>
            <a:off x="457200" y="5650992"/>
            <a:ext cx="112471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41248" y="5760720"/>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41248" y="5760720"/>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66" name="TextBox 65"/>
          <p:cNvSpPr txBox="1"/>
          <p:nvPr/>
        </p:nvSpPr>
        <p:spPr>
          <a:xfrm>
            <a:off x="1508760" y="5650992"/>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Собрали коммерческие предложения и листовки</a:t>
            </a:r>
          </a:p>
        </p:txBody>
      </p:sp>
      <p:sp>
        <p:nvSpPr>
          <p:cNvPr id="67" name="Oval 66"/>
          <p:cNvSpPr/>
          <p:nvPr/>
        </p:nvSpPr>
        <p:spPr>
          <a:xfrm>
            <a:off x="6464808" y="5760720"/>
            <a:ext cx="256032" cy="256032"/>
          </a:xfrm>
          <a:prstGeom prst="ellipse">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64808" y="5760720"/>
            <a:ext cx="256032" cy="256032"/>
          </a:xfrm>
          <a:prstGeom prst="rect">
            <a:avLst/>
          </a:prstGeom>
          <a:noFill/>
        </p:spPr>
        <p:txBody>
          <a:bodyPr wrap="square" anchor="ctr">
            <a:spAutoFit/>
          </a:bodyPr>
          <a:lstStyle/>
          <a:p>
            <a:pPr algn="ctr"/>
            <a:r>
              <a:rPr sz="1100" b="1">
                <a:solidFill>
                  <a:srgbClr val="1A1A1A"/>
                </a:solidFill>
                <a:latin typeface="Verdana"/>
                <a:ea typeface="Verdana"/>
                <a:cs typeface="Verdana"/>
              </a:rPr>
              <a:t>✓</a:t>
            </a:r>
          </a:p>
        </p:txBody>
      </p:sp>
      <p:sp>
        <p:nvSpPr>
          <p:cNvPr id="69" name="TextBox 68"/>
          <p:cNvSpPr txBox="1"/>
          <p:nvPr/>
        </p:nvSpPr>
        <p:spPr>
          <a:xfrm>
            <a:off x="7132320" y="5650992"/>
            <a:ext cx="4572000" cy="475488"/>
          </a:xfrm>
          <a:prstGeom prst="rect">
            <a:avLst/>
          </a:prstGeom>
          <a:noFill/>
        </p:spPr>
        <p:txBody>
          <a:bodyPr wrap="square" anchor="ctr">
            <a:spAutoFit/>
          </a:bodyPr>
          <a:lstStyle/>
          <a:p>
            <a:pPr algn="l"/>
            <a:r>
              <a:rPr sz="1200" b="0">
                <a:solidFill>
                  <a:srgbClr val="1A1A1A"/>
                </a:solidFill>
                <a:latin typeface="Verdana"/>
                <a:ea typeface="Verdana"/>
                <a:cs typeface="Verdana"/>
              </a:rPr>
              <a:t>Собрали отчёт, пакет для других команд и защитили проект</a:t>
            </a:r>
          </a:p>
        </p:txBody>
      </p:sp>
      <p:sp>
        <p:nvSpPr>
          <p:cNvPr id="70" name="Rectangle 69"/>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72" name="TextBox 71"/>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4. Что мы проверяем</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Четыре идеи простыми словами</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36192"/>
            <a:ext cx="11247120" cy="365760"/>
          </a:xfrm>
          <a:prstGeom prst="rect">
            <a:avLst/>
          </a:prstGeom>
          <a:noFill/>
        </p:spPr>
        <p:txBody>
          <a:bodyPr wrap="square" anchor="t">
            <a:spAutoFit/>
          </a:bodyPr>
          <a:lstStyle/>
          <a:p>
            <a:pPr algn="l"/>
            <a:r>
              <a:rPr sz="1300" b="0">
                <a:solidFill>
                  <a:srgbClr val="5C5C5C"/>
                </a:solidFill>
                <a:latin typeface="Verdana"/>
                <a:ea typeface="Verdana"/>
                <a:cs typeface="Verdana"/>
              </a:rPr>
              <a:t>Каждая идея читается так: если сделаем одно — человек чаще согласится на другое.</a:t>
            </a:r>
          </a:p>
        </p:txBody>
      </p:sp>
      <p:sp>
        <p:nvSpPr>
          <p:cNvPr id="9" name="Rounded Rectangle 8"/>
          <p:cNvSpPr/>
          <p:nvPr/>
        </p:nvSpPr>
        <p:spPr>
          <a:xfrm>
            <a:off x="457200" y="1965960"/>
            <a:ext cx="11247120" cy="960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65960"/>
            <a:ext cx="64008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965960"/>
            <a:ext cx="640080" cy="960120"/>
          </a:xfrm>
          <a:prstGeom prst="rect">
            <a:avLst/>
          </a:prstGeom>
          <a:noFill/>
        </p:spPr>
        <p:txBody>
          <a:bodyPr wrap="square" anchor="ctr">
            <a:spAutoFit/>
          </a:bodyPr>
          <a:lstStyle/>
          <a:p>
            <a:pPr algn="ctr"/>
            <a:r>
              <a:rPr sz="2200" b="1">
                <a:solidFill>
                  <a:srgbClr val="1A1A1A"/>
                </a:solidFill>
                <a:latin typeface="Verdana"/>
                <a:ea typeface="Verdana"/>
                <a:cs typeface="Verdana"/>
              </a:rPr>
              <a:t>1</a:t>
            </a:r>
          </a:p>
        </p:txBody>
      </p:sp>
      <p:sp>
        <p:nvSpPr>
          <p:cNvPr id="12" name="TextBox 11"/>
          <p:cNvSpPr txBox="1"/>
          <p:nvPr/>
        </p:nvSpPr>
        <p:spPr>
          <a:xfrm>
            <a:off x="1280160" y="2057400"/>
            <a:ext cx="10149840" cy="256032"/>
          </a:xfrm>
          <a:prstGeom prst="rect">
            <a:avLst/>
          </a:prstGeom>
          <a:noFill/>
        </p:spPr>
        <p:txBody>
          <a:bodyPr wrap="square" anchor="t">
            <a:spAutoFit/>
          </a:bodyPr>
          <a:lstStyle/>
          <a:p>
            <a:pPr algn="l"/>
            <a:r>
              <a:rPr sz="1400" b="1">
                <a:solidFill>
                  <a:srgbClr val="395F75"/>
                </a:solidFill>
                <a:latin typeface="Verdana"/>
                <a:ea typeface="Verdana"/>
                <a:cs typeface="Verdana"/>
              </a:rPr>
              <a:t>Свои клиенты</a:t>
            </a:r>
          </a:p>
        </p:txBody>
      </p:sp>
      <p:sp>
        <p:nvSpPr>
          <p:cNvPr id="13" name="TextBox 12"/>
          <p:cNvSpPr txBox="1"/>
          <p:nvPr/>
        </p:nvSpPr>
        <p:spPr>
          <a:xfrm>
            <a:off x="1280160" y="2331720"/>
            <a:ext cx="10149840" cy="502920"/>
          </a:xfrm>
          <a:prstGeom prst="rect">
            <a:avLst/>
          </a:prstGeom>
          <a:noFill/>
        </p:spPr>
        <p:txBody>
          <a:bodyPr wrap="square" anchor="t">
            <a:spAutoFit/>
          </a:bodyPr>
          <a:lstStyle/>
          <a:p>
            <a:pPr algn="l"/>
            <a:r>
              <a:rPr sz="1300" b="0">
                <a:solidFill>
                  <a:srgbClr val="1A1A1A"/>
                </a:solidFill>
                <a:latin typeface="Verdana"/>
                <a:ea typeface="Verdana"/>
                <a:cs typeface="Verdana"/>
              </a:rPr>
              <a:t>Если действующему клиенту предложить показ Кабинета сотрудника словами «это уже входит в ваше сопровождение 1С», то на показ запишутся чаще, чем если просто звонить и предлагать «посмотреть сервис».</a:t>
            </a:r>
          </a:p>
        </p:txBody>
      </p:sp>
      <p:sp>
        <p:nvSpPr>
          <p:cNvPr id="14" name="Rounded Rectangle 13"/>
          <p:cNvSpPr/>
          <p:nvPr/>
        </p:nvSpPr>
        <p:spPr>
          <a:xfrm>
            <a:off x="457200" y="3017520"/>
            <a:ext cx="11247120" cy="960120"/>
          </a:xfrm>
          <a:prstGeom prst="roundRect">
            <a:avLst>
              <a:gd name="adj" fmla="val 8000"/>
            </a:avLst>
          </a:prstGeom>
          <a:solidFill>
            <a:srgbClr val="FFF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017520"/>
            <a:ext cx="64008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17520"/>
            <a:ext cx="640080" cy="960120"/>
          </a:xfrm>
          <a:prstGeom prst="rect">
            <a:avLst/>
          </a:prstGeom>
          <a:noFill/>
        </p:spPr>
        <p:txBody>
          <a:bodyPr wrap="square" anchor="ctr">
            <a:spAutoFit/>
          </a:bodyPr>
          <a:lstStyle/>
          <a:p>
            <a:pPr algn="ctr"/>
            <a:r>
              <a:rPr sz="2200" b="1">
                <a:solidFill>
                  <a:srgbClr val="1A1A1A"/>
                </a:solidFill>
                <a:latin typeface="Verdana"/>
                <a:ea typeface="Verdana"/>
                <a:cs typeface="Verdana"/>
              </a:rPr>
              <a:t>2</a:t>
            </a:r>
          </a:p>
        </p:txBody>
      </p:sp>
      <p:sp>
        <p:nvSpPr>
          <p:cNvPr id="17" name="TextBox 16"/>
          <p:cNvSpPr txBox="1"/>
          <p:nvPr/>
        </p:nvSpPr>
        <p:spPr>
          <a:xfrm>
            <a:off x="1280160" y="3108960"/>
            <a:ext cx="10149840" cy="256032"/>
          </a:xfrm>
          <a:prstGeom prst="rect">
            <a:avLst/>
          </a:prstGeom>
          <a:noFill/>
        </p:spPr>
        <p:txBody>
          <a:bodyPr wrap="square" anchor="t">
            <a:spAutoFit/>
          </a:bodyPr>
          <a:lstStyle/>
          <a:p>
            <a:pPr algn="l"/>
            <a:r>
              <a:rPr sz="1400" b="1">
                <a:solidFill>
                  <a:srgbClr val="395F75"/>
                </a:solidFill>
                <a:latin typeface="Verdana"/>
                <a:ea typeface="Verdana"/>
                <a:cs typeface="Verdana"/>
              </a:rPr>
              <a:t>Новые компании</a:t>
            </a:r>
          </a:p>
        </p:txBody>
      </p:sp>
      <p:sp>
        <p:nvSpPr>
          <p:cNvPr id="18" name="TextBox 17"/>
          <p:cNvSpPr txBox="1"/>
          <p:nvPr/>
        </p:nvSpPr>
        <p:spPr>
          <a:xfrm>
            <a:off x="1280160" y="3383280"/>
            <a:ext cx="10149840" cy="502920"/>
          </a:xfrm>
          <a:prstGeom prst="rect">
            <a:avLst/>
          </a:prstGeom>
          <a:noFill/>
        </p:spPr>
        <p:txBody>
          <a:bodyPr wrap="square" anchor="t">
            <a:spAutoFit/>
          </a:bodyPr>
          <a:lstStyle/>
          <a:p>
            <a:pPr algn="l"/>
            <a:r>
              <a:rPr sz="1300" b="0">
                <a:solidFill>
                  <a:srgbClr val="1A1A1A"/>
                </a:solidFill>
                <a:latin typeface="Verdana"/>
                <a:ea typeface="Verdana"/>
                <a:cs typeface="Verdana"/>
              </a:rPr>
              <a:t>Если звонить не всем подряд, а только фирмам, чей бизнес подходит (торговля, производство, вахта, общепит и похожие), то из разговора чаще получается живой интерес и договор.</a:t>
            </a:r>
          </a:p>
        </p:txBody>
      </p:sp>
      <p:sp>
        <p:nvSpPr>
          <p:cNvPr id="19" name="Rounded Rectangle 18"/>
          <p:cNvSpPr/>
          <p:nvPr/>
        </p:nvSpPr>
        <p:spPr>
          <a:xfrm>
            <a:off x="457200" y="4069080"/>
            <a:ext cx="11247120" cy="960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4069080"/>
            <a:ext cx="64008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069080"/>
            <a:ext cx="640080" cy="960120"/>
          </a:xfrm>
          <a:prstGeom prst="rect">
            <a:avLst/>
          </a:prstGeom>
          <a:noFill/>
        </p:spPr>
        <p:txBody>
          <a:bodyPr wrap="square" anchor="ctr">
            <a:spAutoFit/>
          </a:bodyPr>
          <a:lstStyle/>
          <a:p>
            <a:pPr algn="ctr"/>
            <a:r>
              <a:rPr sz="2200" b="1">
                <a:solidFill>
                  <a:srgbClr val="1A1A1A"/>
                </a:solidFill>
                <a:latin typeface="Verdana"/>
                <a:ea typeface="Verdana"/>
                <a:cs typeface="Verdana"/>
              </a:rPr>
              <a:t>3</a:t>
            </a:r>
          </a:p>
        </p:txBody>
      </p:sp>
      <p:sp>
        <p:nvSpPr>
          <p:cNvPr id="22" name="TextBox 21"/>
          <p:cNvSpPr txBox="1"/>
          <p:nvPr/>
        </p:nvSpPr>
        <p:spPr>
          <a:xfrm>
            <a:off x="1280160" y="4160520"/>
            <a:ext cx="10149840" cy="256032"/>
          </a:xfrm>
          <a:prstGeom prst="rect">
            <a:avLst/>
          </a:prstGeom>
          <a:noFill/>
        </p:spPr>
        <p:txBody>
          <a:bodyPr wrap="square" anchor="t">
            <a:spAutoFit/>
          </a:bodyPr>
          <a:lstStyle/>
          <a:p>
            <a:pPr algn="l"/>
            <a:r>
              <a:rPr sz="1400" b="1">
                <a:solidFill>
                  <a:srgbClr val="395F75"/>
                </a:solidFill>
                <a:latin typeface="Verdana"/>
                <a:ea typeface="Verdana"/>
                <a:cs typeface="Verdana"/>
              </a:rPr>
              <a:t>Два сервиса сразу</a:t>
            </a:r>
          </a:p>
        </p:txBody>
      </p:sp>
      <p:sp>
        <p:nvSpPr>
          <p:cNvPr id="23" name="TextBox 22"/>
          <p:cNvSpPr txBox="1"/>
          <p:nvPr/>
        </p:nvSpPr>
        <p:spPr>
          <a:xfrm>
            <a:off x="1280160" y="4434840"/>
            <a:ext cx="10149840" cy="502920"/>
          </a:xfrm>
          <a:prstGeom prst="rect">
            <a:avLst/>
          </a:prstGeom>
          <a:noFill/>
        </p:spPr>
        <p:txBody>
          <a:bodyPr wrap="square" anchor="t">
            <a:spAutoFit/>
          </a:bodyPr>
          <a:lstStyle/>
          <a:p>
            <a:pPr algn="l"/>
            <a:r>
              <a:rPr sz="1300" b="0">
                <a:solidFill>
                  <a:srgbClr val="1A1A1A"/>
                </a:solidFill>
                <a:latin typeface="Verdana"/>
                <a:ea typeface="Verdana"/>
                <a:cs typeface="Verdana"/>
              </a:rPr>
              <a:t>Если предлагать не один сервис, а сразу два — электронные документы для логистики и Кабинет сотрудника для кадров — то до договора доходим чаще, чем с одним сервисом.</a:t>
            </a:r>
          </a:p>
        </p:txBody>
      </p:sp>
      <p:sp>
        <p:nvSpPr>
          <p:cNvPr id="24" name="Rounded Rectangle 23"/>
          <p:cNvSpPr/>
          <p:nvPr/>
        </p:nvSpPr>
        <p:spPr>
          <a:xfrm>
            <a:off x="457200" y="5120639"/>
            <a:ext cx="11247120" cy="960120"/>
          </a:xfrm>
          <a:prstGeom prst="roundRect">
            <a:avLst>
              <a:gd name="adj" fmla="val 8000"/>
            </a:avLst>
          </a:prstGeom>
          <a:solidFill>
            <a:srgbClr val="FFF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5120639"/>
            <a:ext cx="64008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120639"/>
            <a:ext cx="640080" cy="960120"/>
          </a:xfrm>
          <a:prstGeom prst="rect">
            <a:avLst/>
          </a:prstGeom>
          <a:noFill/>
        </p:spPr>
        <p:txBody>
          <a:bodyPr wrap="square" anchor="ctr">
            <a:spAutoFit/>
          </a:bodyPr>
          <a:lstStyle/>
          <a:p>
            <a:pPr algn="ctr"/>
            <a:r>
              <a:rPr sz="2200" b="1">
                <a:solidFill>
                  <a:srgbClr val="1A1A1A"/>
                </a:solidFill>
                <a:latin typeface="Verdana"/>
                <a:ea typeface="Verdana"/>
                <a:cs typeface="Verdana"/>
              </a:rPr>
              <a:t>4</a:t>
            </a:r>
          </a:p>
        </p:txBody>
      </p:sp>
      <p:sp>
        <p:nvSpPr>
          <p:cNvPr id="27" name="TextBox 26"/>
          <p:cNvSpPr txBox="1"/>
          <p:nvPr/>
        </p:nvSpPr>
        <p:spPr>
          <a:xfrm>
            <a:off x="1280160" y="5212079"/>
            <a:ext cx="10149840" cy="256032"/>
          </a:xfrm>
          <a:prstGeom prst="rect">
            <a:avLst/>
          </a:prstGeom>
          <a:noFill/>
        </p:spPr>
        <p:txBody>
          <a:bodyPr wrap="square" anchor="t">
            <a:spAutoFit/>
          </a:bodyPr>
          <a:lstStyle/>
          <a:p>
            <a:pPr algn="l"/>
            <a:r>
              <a:rPr sz="1400" b="1">
                <a:solidFill>
                  <a:srgbClr val="395F75"/>
                </a:solidFill>
                <a:latin typeface="Verdana"/>
                <a:ea typeface="Verdana"/>
                <a:cs typeface="Verdana"/>
              </a:rPr>
              <a:t>После семинара</a:t>
            </a:r>
          </a:p>
        </p:txBody>
      </p:sp>
      <p:sp>
        <p:nvSpPr>
          <p:cNvPr id="28" name="TextBox 27"/>
          <p:cNvSpPr txBox="1"/>
          <p:nvPr/>
        </p:nvSpPr>
        <p:spPr>
          <a:xfrm>
            <a:off x="1280160" y="5486399"/>
            <a:ext cx="10149840" cy="502920"/>
          </a:xfrm>
          <a:prstGeom prst="rect">
            <a:avLst/>
          </a:prstGeom>
          <a:noFill/>
        </p:spPr>
        <p:txBody>
          <a:bodyPr wrap="square" anchor="t">
            <a:spAutoFit/>
          </a:bodyPr>
          <a:lstStyle/>
          <a:p>
            <a:pPr algn="l"/>
            <a:r>
              <a:rPr sz="1300" b="0">
                <a:solidFill>
                  <a:srgbClr val="1A1A1A"/>
                </a:solidFill>
                <a:latin typeface="Verdana"/>
                <a:ea typeface="Verdana"/>
                <a:cs typeface="Verdana"/>
              </a:rPr>
              <a:t>Если человеку после семинара ещё раз объяснить пользу и спокойно ответить на вопросы, то он согласится чаще, чем при самом первом звонке незнакомой компании.</a:t>
            </a:r>
          </a:p>
        </p:txBody>
      </p:sp>
      <p:sp>
        <p:nvSpPr>
          <p:cNvPr id="29" name="Rectangle 28"/>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31" name="TextBox 30"/>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Показатели по базам</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Воронка за 23.07–24.08.2026 · три менеджера</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1691640"/>
            <a:ext cx="1847088" cy="1691640"/>
          </a:xfrm>
          <a:prstGeom prst="roundRect">
            <a:avLst>
              <a:gd name="adj" fmla="val 10000"/>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828800"/>
            <a:ext cx="1664208" cy="640080"/>
          </a:xfrm>
          <a:prstGeom prst="rect">
            <a:avLst/>
          </a:prstGeom>
          <a:noFill/>
        </p:spPr>
        <p:txBody>
          <a:bodyPr wrap="square" anchor="t">
            <a:spAutoFit/>
          </a:bodyPr>
          <a:lstStyle/>
          <a:p>
            <a:pPr algn="ctr"/>
            <a:r>
              <a:rPr sz="2600" b="1">
                <a:solidFill>
                  <a:srgbClr val="1A1A1A"/>
                </a:solidFill>
                <a:latin typeface="Verdana"/>
                <a:ea typeface="Verdana"/>
                <a:cs typeface="Verdana"/>
              </a:rPr>
              <a:t>1 084</a:t>
            </a:r>
          </a:p>
        </p:txBody>
      </p:sp>
      <p:sp>
        <p:nvSpPr>
          <p:cNvPr id="10" name="TextBox 9"/>
          <p:cNvSpPr txBox="1"/>
          <p:nvPr/>
        </p:nvSpPr>
        <p:spPr>
          <a:xfrm>
            <a:off x="548640" y="2468880"/>
            <a:ext cx="1664208" cy="365760"/>
          </a:xfrm>
          <a:prstGeom prst="rect">
            <a:avLst/>
          </a:prstGeom>
          <a:noFill/>
        </p:spPr>
        <p:txBody>
          <a:bodyPr wrap="square" anchor="t">
            <a:spAutoFit/>
          </a:bodyPr>
          <a:lstStyle/>
          <a:p>
            <a:pPr algn="ctr"/>
            <a:r>
              <a:rPr sz="1200" b="1">
                <a:solidFill>
                  <a:srgbClr val="395F75"/>
                </a:solidFill>
                <a:latin typeface="Verdana"/>
                <a:ea typeface="Verdana"/>
                <a:cs typeface="Verdana"/>
              </a:rPr>
              <a:t>прозвонено</a:t>
            </a:r>
          </a:p>
        </p:txBody>
      </p:sp>
      <p:sp>
        <p:nvSpPr>
          <p:cNvPr id="11" name="TextBox 10"/>
          <p:cNvSpPr txBox="1"/>
          <p:nvPr/>
        </p:nvSpPr>
        <p:spPr>
          <a:xfrm>
            <a:off x="548640" y="2834640"/>
            <a:ext cx="1664208" cy="320040"/>
          </a:xfrm>
          <a:prstGeom prst="rect">
            <a:avLst/>
          </a:prstGeom>
          <a:noFill/>
        </p:spPr>
        <p:txBody>
          <a:bodyPr wrap="square" anchor="t">
            <a:spAutoFit/>
          </a:bodyPr>
          <a:lstStyle/>
          <a:p>
            <a:pPr algn="ctr"/>
            <a:r>
              <a:rPr sz="1200" b="0">
                <a:solidFill>
                  <a:srgbClr val="5C5C5C"/>
                </a:solidFill>
                <a:latin typeface="Verdana"/>
                <a:ea typeface="Verdana"/>
                <a:cs typeface="Verdana"/>
              </a:rPr>
              <a:t>100%</a:t>
            </a:r>
          </a:p>
        </p:txBody>
      </p:sp>
      <p:sp>
        <p:nvSpPr>
          <p:cNvPr id="12" name="Rounded Rectangle 11"/>
          <p:cNvSpPr/>
          <p:nvPr/>
        </p:nvSpPr>
        <p:spPr>
          <a:xfrm>
            <a:off x="2395728" y="1691640"/>
            <a:ext cx="1847088" cy="1691640"/>
          </a:xfrm>
          <a:prstGeom prst="roundRect">
            <a:avLst>
              <a:gd name="adj" fmla="val 10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87168" y="1828800"/>
            <a:ext cx="1664208" cy="640080"/>
          </a:xfrm>
          <a:prstGeom prst="rect">
            <a:avLst/>
          </a:prstGeom>
          <a:noFill/>
        </p:spPr>
        <p:txBody>
          <a:bodyPr wrap="square" anchor="t">
            <a:spAutoFit/>
          </a:bodyPr>
          <a:lstStyle/>
          <a:p>
            <a:pPr algn="ctr"/>
            <a:r>
              <a:rPr sz="2600" b="1">
                <a:solidFill>
                  <a:srgbClr val="1A1A1A"/>
                </a:solidFill>
                <a:latin typeface="Verdana"/>
                <a:ea typeface="Verdana"/>
                <a:cs typeface="Verdana"/>
              </a:rPr>
              <a:t>483</a:t>
            </a:r>
          </a:p>
        </p:txBody>
      </p:sp>
      <p:sp>
        <p:nvSpPr>
          <p:cNvPr id="14" name="TextBox 13"/>
          <p:cNvSpPr txBox="1"/>
          <p:nvPr/>
        </p:nvSpPr>
        <p:spPr>
          <a:xfrm>
            <a:off x="2487168" y="2468880"/>
            <a:ext cx="1664208" cy="365760"/>
          </a:xfrm>
          <a:prstGeom prst="rect">
            <a:avLst/>
          </a:prstGeom>
          <a:noFill/>
        </p:spPr>
        <p:txBody>
          <a:bodyPr wrap="square" anchor="t">
            <a:spAutoFit/>
          </a:bodyPr>
          <a:lstStyle/>
          <a:p>
            <a:pPr algn="ctr"/>
            <a:r>
              <a:rPr sz="1200" b="1">
                <a:solidFill>
                  <a:srgbClr val="395F75"/>
                </a:solidFill>
                <a:latin typeface="Verdana"/>
                <a:ea typeface="Verdana"/>
                <a:cs typeface="Verdana"/>
              </a:rPr>
              <a:t>успешных</a:t>
            </a:r>
          </a:p>
        </p:txBody>
      </p:sp>
      <p:sp>
        <p:nvSpPr>
          <p:cNvPr id="15" name="TextBox 14"/>
          <p:cNvSpPr txBox="1"/>
          <p:nvPr/>
        </p:nvSpPr>
        <p:spPr>
          <a:xfrm>
            <a:off x="2487168" y="2834640"/>
            <a:ext cx="1664208" cy="320040"/>
          </a:xfrm>
          <a:prstGeom prst="rect">
            <a:avLst/>
          </a:prstGeom>
          <a:noFill/>
        </p:spPr>
        <p:txBody>
          <a:bodyPr wrap="square" anchor="t">
            <a:spAutoFit/>
          </a:bodyPr>
          <a:lstStyle/>
          <a:p>
            <a:pPr algn="ctr"/>
            <a:r>
              <a:rPr sz="1200" b="0">
                <a:solidFill>
                  <a:srgbClr val="5C5C5C"/>
                </a:solidFill>
                <a:latin typeface="Verdana"/>
                <a:ea typeface="Verdana"/>
                <a:cs typeface="Verdana"/>
              </a:rPr>
              <a:t>44,6%</a:t>
            </a:r>
          </a:p>
        </p:txBody>
      </p:sp>
      <p:sp>
        <p:nvSpPr>
          <p:cNvPr id="16" name="Rounded Rectangle 15"/>
          <p:cNvSpPr/>
          <p:nvPr/>
        </p:nvSpPr>
        <p:spPr>
          <a:xfrm>
            <a:off x="4334256" y="1691640"/>
            <a:ext cx="1847088" cy="1691640"/>
          </a:xfrm>
          <a:prstGeom prst="roundRect">
            <a:avLst>
              <a:gd name="adj" fmla="val 10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1828800"/>
            <a:ext cx="1664208" cy="640080"/>
          </a:xfrm>
          <a:prstGeom prst="rect">
            <a:avLst/>
          </a:prstGeom>
          <a:noFill/>
        </p:spPr>
        <p:txBody>
          <a:bodyPr wrap="square" anchor="t">
            <a:spAutoFit/>
          </a:bodyPr>
          <a:lstStyle/>
          <a:p>
            <a:pPr algn="ctr"/>
            <a:r>
              <a:rPr sz="2600" b="1">
                <a:solidFill>
                  <a:srgbClr val="1A1A1A"/>
                </a:solidFill>
                <a:latin typeface="Verdana"/>
                <a:ea typeface="Verdana"/>
                <a:cs typeface="Verdana"/>
              </a:rPr>
              <a:t>70</a:t>
            </a:r>
          </a:p>
        </p:txBody>
      </p:sp>
      <p:sp>
        <p:nvSpPr>
          <p:cNvPr id="18" name="TextBox 17"/>
          <p:cNvSpPr txBox="1"/>
          <p:nvPr/>
        </p:nvSpPr>
        <p:spPr>
          <a:xfrm>
            <a:off x="4425696" y="2468880"/>
            <a:ext cx="1664208" cy="365760"/>
          </a:xfrm>
          <a:prstGeom prst="rect">
            <a:avLst/>
          </a:prstGeom>
          <a:noFill/>
        </p:spPr>
        <p:txBody>
          <a:bodyPr wrap="square" anchor="t">
            <a:spAutoFit/>
          </a:bodyPr>
          <a:lstStyle/>
          <a:p>
            <a:pPr algn="ctr"/>
            <a:r>
              <a:rPr sz="1200" b="1">
                <a:solidFill>
                  <a:srgbClr val="395F75"/>
                </a:solidFill>
                <a:latin typeface="Verdana"/>
                <a:ea typeface="Verdana"/>
                <a:cs typeface="Verdana"/>
              </a:rPr>
              <a:t>в сделку</a:t>
            </a:r>
          </a:p>
        </p:txBody>
      </p:sp>
      <p:sp>
        <p:nvSpPr>
          <p:cNvPr id="19" name="TextBox 18"/>
          <p:cNvSpPr txBox="1"/>
          <p:nvPr/>
        </p:nvSpPr>
        <p:spPr>
          <a:xfrm>
            <a:off x="4425696" y="2834640"/>
            <a:ext cx="1664208" cy="320040"/>
          </a:xfrm>
          <a:prstGeom prst="rect">
            <a:avLst/>
          </a:prstGeom>
          <a:noFill/>
        </p:spPr>
        <p:txBody>
          <a:bodyPr wrap="square" anchor="t">
            <a:spAutoFit/>
          </a:bodyPr>
          <a:lstStyle/>
          <a:p>
            <a:pPr algn="ctr"/>
            <a:r>
              <a:rPr sz="1200" b="0">
                <a:solidFill>
                  <a:srgbClr val="5C5C5C"/>
                </a:solidFill>
                <a:latin typeface="Verdana"/>
                <a:ea typeface="Verdana"/>
                <a:cs typeface="Verdana"/>
              </a:rPr>
              <a:t>6,5%</a:t>
            </a:r>
          </a:p>
        </p:txBody>
      </p:sp>
      <p:sp>
        <p:nvSpPr>
          <p:cNvPr id="20" name="Rounded Rectangle 19"/>
          <p:cNvSpPr/>
          <p:nvPr/>
        </p:nvSpPr>
        <p:spPr>
          <a:xfrm>
            <a:off x="6272784" y="1691640"/>
            <a:ext cx="1847088" cy="1691640"/>
          </a:xfrm>
          <a:prstGeom prst="roundRect">
            <a:avLst>
              <a:gd name="adj" fmla="val 10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1828800"/>
            <a:ext cx="1664208" cy="640080"/>
          </a:xfrm>
          <a:prstGeom prst="rect">
            <a:avLst/>
          </a:prstGeom>
          <a:noFill/>
        </p:spPr>
        <p:txBody>
          <a:bodyPr wrap="square" anchor="t">
            <a:spAutoFit/>
          </a:bodyPr>
          <a:lstStyle/>
          <a:p>
            <a:pPr algn="ctr"/>
            <a:r>
              <a:rPr sz="2600" b="1">
                <a:solidFill>
                  <a:srgbClr val="1A1A1A"/>
                </a:solidFill>
                <a:latin typeface="Verdana"/>
                <a:ea typeface="Verdana"/>
                <a:cs typeface="Verdana"/>
              </a:rPr>
              <a:t>12</a:t>
            </a:r>
          </a:p>
        </p:txBody>
      </p:sp>
      <p:sp>
        <p:nvSpPr>
          <p:cNvPr id="22" name="TextBox 21"/>
          <p:cNvSpPr txBox="1"/>
          <p:nvPr/>
        </p:nvSpPr>
        <p:spPr>
          <a:xfrm>
            <a:off x="6364224" y="2468880"/>
            <a:ext cx="1664208" cy="365760"/>
          </a:xfrm>
          <a:prstGeom prst="rect">
            <a:avLst/>
          </a:prstGeom>
          <a:noFill/>
        </p:spPr>
        <p:txBody>
          <a:bodyPr wrap="square" anchor="t">
            <a:spAutoFit/>
          </a:bodyPr>
          <a:lstStyle/>
          <a:p>
            <a:pPr algn="ctr"/>
            <a:r>
              <a:rPr sz="1200" b="1">
                <a:solidFill>
                  <a:srgbClr val="395F75"/>
                </a:solidFill>
                <a:latin typeface="Verdana"/>
                <a:ea typeface="Verdana"/>
                <a:cs typeface="Verdana"/>
              </a:rPr>
              <a:t>записей</a:t>
            </a:r>
          </a:p>
        </p:txBody>
      </p:sp>
      <p:sp>
        <p:nvSpPr>
          <p:cNvPr id="23" name="TextBox 22"/>
          <p:cNvSpPr txBox="1"/>
          <p:nvPr/>
        </p:nvSpPr>
        <p:spPr>
          <a:xfrm>
            <a:off x="6364224" y="2834640"/>
            <a:ext cx="1664208" cy="320040"/>
          </a:xfrm>
          <a:prstGeom prst="rect">
            <a:avLst/>
          </a:prstGeom>
          <a:noFill/>
        </p:spPr>
        <p:txBody>
          <a:bodyPr wrap="square" anchor="t">
            <a:spAutoFit/>
          </a:bodyPr>
          <a:lstStyle/>
          <a:p>
            <a:pPr algn="ctr"/>
            <a:r>
              <a:rPr sz="1200" b="0">
                <a:solidFill>
                  <a:srgbClr val="5C5C5C"/>
                </a:solidFill>
                <a:latin typeface="Verdana"/>
                <a:ea typeface="Verdana"/>
                <a:cs typeface="Verdana"/>
              </a:rPr>
              <a:t>1,1%</a:t>
            </a:r>
          </a:p>
        </p:txBody>
      </p:sp>
      <p:sp>
        <p:nvSpPr>
          <p:cNvPr id="24" name="Rounded Rectangle 23"/>
          <p:cNvSpPr/>
          <p:nvPr/>
        </p:nvSpPr>
        <p:spPr>
          <a:xfrm>
            <a:off x="8211312" y="1691640"/>
            <a:ext cx="1847088" cy="1691640"/>
          </a:xfrm>
          <a:prstGeom prst="roundRect">
            <a:avLst>
              <a:gd name="adj" fmla="val 10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02752" y="1828800"/>
            <a:ext cx="1664208" cy="640080"/>
          </a:xfrm>
          <a:prstGeom prst="rect">
            <a:avLst/>
          </a:prstGeom>
          <a:noFill/>
        </p:spPr>
        <p:txBody>
          <a:bodyPr wrap="square" anchor="t">
            <a:spAutoFit/>
          </a:bodyPr>
          <a:lstStyle/>
          <a:p>
            <a:pPr algn="ctr"/>
            <a:r>
              <a:rPr sz="2600" b="1">
                <a:solidFill>
                  <a:srgbClr val="1A1A1A"/>
                </a:solidFill>
                <a:latin typeface="Verdana"/>
                <a:ea typeface="Verdana"/>
                <a:cs typeface="Verdana"/>
              </a:rPr>
              <a:t>11</a:t>
            </a:r>
          </a:p>
        </p:txBody>
      </p:sp>
      <p:sp>
        <p:nvSpPr>
          <p:cNvPr id="26" name="TextBox 25"/>
          <p:cNvSpPr txBox="1"/>
          <p:nvPr/>
        </p:nvSpPr>
        <p:spPr>
          <a:xfrm>
            <a:off x="8302752" y="2468880"/>
            <a:ext cx="1664208" cy="365760"/>
          </a:xfrm>
          <a:prstGeom prst="rect">
            <a:avLst/>
          </a:prstGeom>
          <a:noFill/>
        </p:spPr>
        <p:txBody>
          <a:bodyPr wrap="square" anchor="t">
            <a:spAutoFit/>
          </a:bodyPr>
          <a:lstStyle/>
          <a:p>
            <a:pPr algn="ctr"/>
            <a:r>
              <a:rPr sz="1200" b="1">
                <a:solidFill>
                  <a:srgbClr val="395F75"/>
                </a:solidFill>
                <a:latin typeface="Verdana"/>
                <a:ea typeface="Verdana"/>
                <a:cs typeface="Verdana"/>
              </a:rPr>
              <a:t>демо провели</a:t>
            </a:r>
          </a:p>
        </p:txBody>
      </p:sp>
      <p:sp>
        <p:nvSpPr>
          <p:cNvPr id="27" name="TextBox 26"/>
          <p:cNvSpPr txBox="1"/>
          <p:nvPr/>
        </p:nvSpPr>
        <p:spPr>
          <a:xfrm>
            <a:off x="8302752" y="2834640"/>
            <a:ext cx="1664208" cy="320040"/>
          </a:xfrm>
          <a:prstGeom prst="rect">
            <a:avLst/>
          </a:prstGeom>
          <a:noFill/>
        </p:spPr>
        <p:txBody>
          <a:bodyPr wrap="square" anchor="t">
            <a:spAutoFit/>
          </a:bodyPr>
          <a:lstStyle/>
          <a:p>
            <a:pPr algn="ctr"/>
            <a:r>
              <a:rPr sz="1200" b="0">
                <a:solidFill>
                  <a:srgbClr val="5C5C5C"/>
                </a:solidFill>
                <a:latin typeface="Verdana"/>
                <a:ea typeface="Verdana"/>
                <a:cs typeface="Verdana"/>
              </a:rPr>
              <a:t>1,0%</a:t>
            </a:r>
          </a:p>
        </p:txBody>
      </p:sp>
      <p:sp>
        <p:nvSpPr>
          <p:cNvPr id="28" name="Rounded Rectangle 27"/>
          <p:cNvSpPr/>
          <p:nvPr/>
        </p:nvSpPr>
        <p:spPr>
          <a:xfrm>
            <a:off x="10149840" y="1691640"/>
            <a:ext cx="1847088" cy="1691640"/>
          </a:xfrm>
          <a:prstGeom prst="roundRect">
            <a:avLst>
              <a:gd name="adj" fmla="val 10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0" y="1828800"/>
            <a:ext cx="1664208" cy="640080"/>
          </a:xfrm>
          <a:prstGeom prst="rect">
            <a:avLst/>
          </a:prstGeom>
          <a:noFill/>
        </p:spPr>
        <p:txBody>
          <a:bodyPr wrap="square" anchor="t">
            <a:spAutoFit/>
          </a:bodyPr>
          <a:lstStyle/>
          <a:p>
            <a:pPr algn="ctr"/>
            <a:r>
              <a:rPr sz="2600" b="1">
                <a:solidFill>
                  <a:srgbClr val="1A1A1A"/>
                </a:solidFill>
                <a:latin typeface="Verdana"/>
                <a:ea typeface="Verdana"/>
                <a:cs typeface="Verdana"/>
              </a:rPr>
              <a:t>0</a:t>
            </a:r>
          </a:p>
        </p:txBody>
      </p:sp>
      <p:sp>
        <p:nvSpPr>
          <p:cNvPr id="30" name="TextBox 29"/>
          <p:cNvSpPr txBox="1"/>
          <p:nvPr/>
        </p:nvSpPr>
        <p:spPr>
          <a:xfrm>
            <a:off x="10241280" y="2468880"/>
            <a:ext cx="1664208" cy="365760"/>
          </a:xfrm>
          <a:prstGeom prst="rect">
            <a:avLst/>
          </a:prstGeom>
          <a:noFill/>
        </p:spPr>
        <p:txBody>
          <a:bodyPr wrap="square" anchor="t">
            <a:spAutoFit/>
          </a:bodyPr>
          <a:lstStyle/>
          <a:p>
            <a:pPr algn="ctr"/>
            <a:r>
              <a:rPr sz="1200" b="1">
                <a:solidFill>
                  <a:srgbClr val="395F75"/>
                </a:solidFill>
                <a:latin typeface="Verdana"/>
                <a:ea typeface="Verdana"/>
                <a:cs typeface="Verdana"/>
              </a:rPr>
              <a:t>продаж</a:t>
            </a:r>
          </a:p>
        </p:txBody>
      </p:sp>
      <p:sp>
        <p:nvSpPr>
          <p:cNvPr id="31" name="TextBox 30"/>
          <p:cNvSpPr txBox="1"/>
          <p:nvPr/>
        </p:nvSpPr>
        <p:spPr>
          <a:xfrm>
            <a:off x="10241280" y="2834640"/>
            <a:ext cx="1664208" cy="320040"/>
          </a:xfrm>
          <a:prstGeom prst="rect">
            <a:avLst/>
          </a:prstGeom>
          <a:noFill/>
        </p:spPr>
        <p:txBody>
          <a:bodyPr wrap="square" anchor="t">
            <a:spAutoFit/>
          </a:bodyPr>
          <a:lstStyle/>
          <a:p>
            <a:pPr algn="ctr"/>
            <a:r>
              <a:rPr sz="1200" b="0">
                <a:solidFill>
                  <a:srgbClr val="5C5C5C"/>
                </a:solidFill>
                <a:latin typeface="Verdana"/>
                <a:ea typeface="Verdana"/>
                <a:cs typeface="Verdana"/>
              </a:rPr>
              <a:t>пока 0</a:t>
            </a:r>
          </a:p>
        </p:txBody>
      </p:sp>
      <p:sp>
        <p:nvSpPr>
          <p:cNvPr id="32" name="TextBox 31"/>
          <p:cNvSpPr txBox="1"/>
          <p:nvPr/>
        </p:nvSpPr>
        <p:spPr>
          <a:xfrm>
            <a:off x="457200" y="3566160"/>
            <a:ext cx="11247120" cy="320040"/>
          </a:xfrm>
          <a:prstGeom prst="rect">
            <a:avLst/>
          </a:prstGeom>
          <a:noFill/>
        </p:spPr>
        <p:txBody>
          <a:bodyPr wrap="square" anchor="t">
            <a:spAutoFit/>
          </a:bodyPr>
          <a:lstStyle/>
          <a:p>
            <a:pPr algn="l"/>
            <a:r>
              <a:rPr sz="1400" b="1">
                <a:solidFill>
                  <a:srgbClr val="1A1A1A"/>
                </a:solidFill>
                <a:latin typeface="Verdana"/>
                <a:ea typeface="Verdana"/>
                <a:cs typeface="Verdana"/>
              </a:rPr>
              <a:t>Кто набрал цифру</a:t>
            </a:r>
          </a:p>
        </p:txBody>
      </p:sp>
      <p:sp>
        <p:nvSpPr>
          <p:cNvPr id="33" name="Rectangle 32"/>
          <p:cNvSpPr/>
          <p:nvPr/>
        </p:nvSpPr>
        <p:spPr>
          <a:xfrm>
            <a:off x="457200" y="3977639"/>
            <a:ext cx="11247120" cy="38404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3977639"/>
            <a:ext cx="3017520" cy="384048"/>
          </a:xfrm>
          <a:prstGeom prst="rect">
            <a:avLst/>
          </a:prstGeom>
          <a:noFill/>
        </p:spPr>
        <p:txBody>
          <a:bodyPr wrap="square" anchor="ctr">
            <a:spAutoFit/>
          </a:bodyPr>
          <a:lstStyle/>
          <a:p>
            <a:pPr algn="ctr"/>
            <a:r>
              <a:rPr sz="1200" b="1">
                <a:solidFill>
                  <a:srgbClr val="FFFFFF"/>
                </a:solidFill>
                <a:latin typeface="Verdana"/>
                <a:ea typeface="Verdana"/>
                <a:cs typeface="Verdana"/>
              </a:rPr>
              <a:t>Менеджер</a:t>
            </a:r>
          </a:p>
        </p:txBody>
      </p:sp>
      <p:sp>
        <p:nvSpPr>
          <p:cNvPr id="35" name="TextBox 34"/>
          <p:cNvSpPr txBox="1"/>
          <p:nvPr/>
        </p:nvSpPr>
        <p:spPr>
          <a:xfrm>
            <a:off x="3474720" y="3977639"/>
            <a:ext cx="1645920" cy="384048"/>
          </a:xfrm>
          <a:prstGeom prst="rect">
            <a:avLst/>
          </a:prstGeom>
          <a:noFill/>
        </p:spPr>
        <p:txBody>
          <a:bodyPr wrap="square" anchor="ctr">
            <a:spAutoFit/>
          </a:bodyPr>
          <a:lstStyle/>
          <a:p>
            <a:pPr algn="ctr"/>
            <a:r>
              <a:rPr sz="1200" b="1">
                <a:solidFill>
                  <a:srgbClr val="FFFFFF"/>
                </a:solidFill>
                <a:latin typeface="Verdana"/>
                <a:ea typeface="Verdana"/>
                <a:cs typeface="Verdana"/>
              </a:rPr>
              <a:t>Прозвонено</a:t>
            </a:r>
          </a:p>
        </p:txBody>
      </p:sp>
      <p:sp>
        <p:nvSpPr>
          <p:cNvPr id="36" name="TextBox 35"/>
          <p:cNvSpPr txBox="1"/>
          <p:nvPr/>
        </p:nvSpPr>
        <p:spPr>
          <a:xfrm>
            <a:off x="5120640" y="3977639"/>
            <a:ext cx="1645920" cy="384048"/>
          </a:xfrm>
          <a:prstGeom prst="rect">
            <a:avLst/>
          </a:prstGeom>
          <a:noFill/>
        </p:spPr>
        <p:txBody>
          <a:bodyPr wrap="square" anchor="ctr">
            <a:spAutoFit/>
          </a:bodyPr>
          <a:lstStyle/>
          <a:p>
            <a:pPr algn="ctr"/>
            <a:r>
              <a:rPr sz="1200" b="1">
                <a:solidFill>
                  <a:srgbClr val="FFFFFF"/>
                </a:solidFill>
                <a:latin typeface="Verdana"/>
                <a:ea typeface="Verdana"/>
                <a:cs typeface="Verdana"/>
              </a:rPr>
              <a:t>Успешных</a:t>
            </a:r>
          </a:p>
        </p:txBody>
      </p:sp>
      <p:sp>
        <p:nvSpPr>
          <p:cNvPr id="37" name="TextBox 36"/>
          <p:cNvSpPr txBox="1"/>
          <p:nvPr/>
        </p:nvSpPr>
        <p:spPr>
          <a:xfrm>
            <a:off x="6766560" y="3977639"/>
            <a:ext cx="1645920" cy="384048"/>
          </a:xfrm>
          <a:prstGeom prst="rect">
            <a:avLst/>
          </a:prstGeom>
          <a:noFill/>
        </p:spPr>
        <p:txBody>
          <a:bodyPr wrap="square" anchor="ctr">
            <a:spAutoFit/>
          </a:bodyPr>
          <a:lstStyle/>
          <a:p>
            <a:pPr algn="ctr"/>
            <a:r>
              <a:rPr sz="1200" b="1">
                <a:solidFill>
                  <a:srgbClr val="FFFFFF"/>
                </a:solidFill>
                <a:latin typeface="Verdana"/>
                <a:ea typeface="Verdana"/>
                <a:cs typeface="Verdana"/>
              </a:rPr>
              <a:t>В сделку</a:t>
            </a:r>
          </a:p>
        </p:txBody>
      </p:sp>
      <p:sp>
        <p:nvSpPr>
          <p:cNvPr id="38" name="TextBox 37"/>
          <p:cNvSpPr txBox="1"/>
          <p:nvPr/>
        </p:nvSpPr>
        <p:spPr>
          <a:xfrm>
            <a:off x="8412480" y="3977639"/>
            <a:ext cx="1645920" cy="384048"/>
          </a:xfrm>
          <a:prstGeom prst="rect">
            <a:avLst/>
          </a:prstGeom>
          <a:noFill/>
        </p:spPr>
        <p:txBody>
          <a:bodyPr wrap="square" anchor="ctr">
            <a:spAutoFit/>
          </a:bodyPr>
          <a:lstStyle/>
          <a:p>
            <a:pPr algn="ctr"/>
            <a:r>
              <a:rPr sz="1200" b="1">
                <a:solidFill>
                  <a:srgbClr val="FFFFFF"/>
                </a:solidFill>
                <a:latin typeface="Verdana"/>
                <a:ea typeface="Verdana"/>
                <a:cs typeface="Verdana"/>
              </a:rPr>
              <a:t>Записи</a:t>
            </a:r>
          </a:p>
        </p:txBody>
      </p:sp>
      <p:sp>
        <p:nvSpPr>
          <p:cNvPr id="39" name="TextBox 38"/>
          <p:cNvSpPr txBox="1"/>
          <p:nvPr/>
        </p:nvSpPr>
        <p:spPr>
          <a:xfrm>
            <a:off x="10058400" y="3977639"/>
            <a:ext cx="1645920" cy="384048"/>
          </a:xfrm>
          <a:prstGeom prst="rect">
            <a:avLst/>
          </a:prstGeom>
          <a:noFill/>
        </p:spPr>
        <p:txBody>
          <a:bodyPr wrap="square" anchor="ctr">
            <a:spAutoFit/>
          </a:bodyPr>
          <a:lstStyle/>
          <a:p>
            <a:pPr algn="ctr"/>
            <a:r>
              <a:rPr sz="1200" b="1">
                <a:solidFill>
                  <a:srgbClr val="FFFFFF"/>
                </a:solidFill>
                <a:latin typeface="Verdana"/>
                <a:ea typeface="Verdana"/>
                <a:cs typeface="Verdana"/>
              </a:rPr>
              <a:t>Демо</a:t>
            </a:r>
          </a:p>
        </p:txBody>
      </p:sp>
      <p:sp>
        <p:nvSpPr>
          <p:cNvPr id="40" name="Rectangle 39"/>
          <p:cNvSpPr/>
          <p:nvPr/>
        </p:nvSpPr>
        <p:spPr>
          <a:xfrm>
            <a:off x="457200" y="4361688"/>
            <a:ext cx="11247120" cy="502920"/>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361688"/>
            <a:ext cx="2834640" cy="502920"/>
          </a:xfrm>
          <a:prstGeom prst="rect">
            <a:avLst/>
          </a:prstGeom>
          <a:noFill/>
        </p:spPr>
        <p:txBody>
          <a:bodyPr wrap="square" anchor="ctr">
            <a:spAutoFit/>
          </a:bodyPr>
          <a:lstStyle/>
          <a:p>
            <a:pPr algn="l"/>
            <a:r>
              <a:rPr sz="1300" b="1">
                <a:solidFill>
                  <a:srgbClr val="1A1A1A"/>
                </a:solidFill>
                <a:latin typeface="Verdana"/>
                <a:ea typeface="Verdana"/>
                <a:cs typeface="Verdana"/>
              </a:rPr>
              <a:t>Юлиана Юнусова</a:t>
            </a:r>
          </a:p>
        </p:txBody>
      </p:sp>
      <p:sp>
        <p:nvSpPr>
          <p:cNvPr id="42" name="TextBox 41"/>
          <p:cNvSpPr txBox="1"/>
          <p:nvPr/>
        </p:nvSpPr>
        <p:spPr>
          <a:xfrm>
            <a:off x="3474720" y="436168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114</a:t>
            </a:r>
          </a:p>
        </p:txBody>
      </p:sp>
      <p:sp>
        <p:nvSpPr>
          <p:cNvPr id="43" name="TextBox 42"/>
          <p:cNvSpPr txBox="1"/>
          <p:nvPr/>
        </p:nvSpPr>
        <p:spPr>
          <a:xfrm>
            <a:off x="5120640" y="436168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60</a:t>
            </a:r>
          </a:p>
        </p:txBody>
      </p:sp>
      <p:sp>
        <p:nvSpPr>
          <p:cNvPr id="44" name="TextBox 43"/>
          <p:cNvSpPr txBox="1"/>
          <p:nvPr/>
        </p:nvSpPr>
        <p:spPr>
          <a:xfrm>
            <a:off x="6766560" y="436168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24</a:t>
            </a:r>
          </a:p>
        </p:txBody>
      </p:sp>
      <p:sp>
        <p:nvSpPr>
          <p:cNvPr id="45" name="TextBox 44"/>
          <p:cNvSpPr txBox="1"/>
          <p:nvPr/>
        </p:nvSpPr>
        <p:spPr>
          <a:xfrm>
            <a:off x="8412480" y="436168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9</a:t>
            </a:r>
          </a:p>
        </p:txBody>
      </p:sp>
      <p:sp>
        <p:nvSpPr>
          <p:cNvPr id="46" name="TextBox 45"/>
          <p:cNvSpPr txBox="1"/>
          <p:nvPr/>
        </p:nvSpPr>
        <p:spPr>
          <a:xfrm>
            <a:off x="10058400" y="436168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7</a:t>
            </a:r>
          </a:p>
        </p:txBody>
      </p:sp>
      <p:sp>
        <p:nvSpPr>
          <p:cNvPr id="47" name="Rectangle 46"/>
          <p:cNvSpPr/>
          <p:nvPr/>
        </p:nvSpPr>
        <p:spPr>
          <a:xfrm>
            <a:off x="457200" y="4864608"/>
            <a:ext cx="11247120" cy="502920"/>
          </a:xfrm>
          <a:prstGeom prst="rect">
            <a:avLst/>
          </a:prstGeom>
          <a:solidFill>
            <a:srgbClr val="FFF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864608"/>
            <a:ext cx="2834640" cy="502920"/>
          </a:xfrm>
          <a:prstGeom prst="rect">
            <a:avLst/>
          </a:prstGeom>
          <a:noFill/>
        </p:spPr>
        <p:txBody>
          <a:bodyPr wrap="square" anchor="ctr">
            <a:spAutoFit/>
          </a:bodyPr>
          <a:lstStyle/>
          <a:p>
            <a:pPr algn="l"/>
            <a:r>
              <a:rPr sz="1300" b="1">
                <a:solidFill>
                  <a:srgbClr val="1A1A1A"/>
                </a:solidFill>
                <a:latin typeface="Verdana"/>
                <a:ea typeface="Verdana"/>
                <a:cs typeface="Verdana"/>
              </a:rPr>
              <a:t>Соня Оглоблина</a:t>
            </a:r>
          </a:p>
        </p:txBody>
      </p:sp>
      <p:sp>
        <p:nvSpPr>
          <p:cNvPr id="49" name="TextBox 48"/>
          <p:cNvSpPr txBox="1"/>
          <p:nvPr/>
        </p:nvSpPr>
        <p:spPr>
          <a:xfrm>
            <a:off x="3474720" y="486460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555</a:t>
            </a:r>
          </a:p>
        </p:txBody>
      </p:sp>
      <p:sp>
        <p:nvSpPr>
          <p:cNvPr id="50" name="TextBox 49"/>
          <p:cNvSpPr txBox="1"/>
          <p:nvPr/>
        </p:nvSpPr>
        <p:spPr>
          <a:xfrm>
            <a:off x="5120640" y="486460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238</a:t>
            </a:r>
          </a:p>
        </p:txBody>
      </p:sp>
      <p:sp>
        <p:nvSpPr>
          <p:cNvPr id="51" name="TextBox 50"/>
          <p:cNvSpPr txBox="1"/>
          <p:nvPr/>
        </p:nvSpPr>
        <p:spPr>
          <a:xfrm>
            <a:off x="6766560" y="486460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29</a:t>
            </a:r>
          </a:p>
        </p:txBody>
      </p:sp>
      <p:sp>
        <p:nvSpPr>
          <p:cNvPr id="52" name="TextBox 51"/>
          <p:cNvSpPr txBox="1"/>
          <p:nvPr/>
        </p:nvSpPr>
        <p:spPr>
          <a:xfrm>
            <a:off x="8412480" y="486460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2</a:t>
            </a:r>
          </a:p>
        </p:txBody>
      </p:sp>
      <p:sp>
        <p:nvSpPr>
          <p:cNvPr id="53" name="TextBox 52"/>
          <p:cNvSpPr txBox="1"/>
          <p:nvPr/>
        </p:nvSpPr>
        <p:spPr>
          <a:xfrm>
            <a:off x="10058400" y="486460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3</a:t>
            </a:r>
          </a:p>
        </p:txBody>
      </p:sp>
      <p:sp>
        <p:nvSpPr>
          <p:cNvPr id="54" name="Rectangle 53"/>
          <p:cNvSpPr/>
          <p:nvPr/>
        </p:nvSpPr>
        <p:spPr>
          <a:xfrm>
            <a:off x="457200" y="5367528"/>
            <a:ext cx="11247120" cy="502920"/>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5367528"/>
            <a:ext cx="2834640" cy="502920"/>
          </a:xfrm>
          <a:prstGeom prst="rect">
            <a:avLst/>
          </a:prstGeom>
          <a:noFill/>
        </p:spPr>
        <p:txBody>
          <a:bodyPr wrap="square" anchor="ctr">
            <a:spAutoFit/>
          </a:bodyPr>
          <a:lstStyle/>
          <a:p>
            <a:pPr algn="l"/>
            <a:r>
              <a:rPr sz="1300" b="1">
                <a:solidFill>
                  <a:srgbClr val="1A1A1A"/>
                </a:solidFill>
                <a:latin typeface="Verdana"/>
                <a:ea typeface="Verdana"/>
                <a:cs typeface="Verdana"/>
              </a:rPr>
              <a:t>Данил Кургузов</a:t>
            </a:r>
          </a:p>
        </p:txBody>
      </p:sp>
      <p:sp>
        <p:nvSpPr>
          <p:cNvPr id="56" name="TextBox 55"/>
          <p:cNvSpPr txBox="1"/>
          <p:nvPr/>
        </p:nvSpPr>
        <p:spPr>
          <a:xfrm>
            <a:off x="3474720" y="536752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415</a:t>
            </a:r>
          </a:p>
        </p:txBody>
      </p:sp>
      <p:sp>
        <p:nvSpPr>
          <p:cNvPr id="57" name="TextBox 56"/>
          <p:cNvSpPr txBox="1"/>
          <p:nvPr/>
        </p:nvSpPr>
        <p:spPr>
          <a:xfrm>
            <a:off x="5120640" y="536752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185</a:t>
            </a:r>
          </a:p>
        </p:txBody>
      </p:sp>
      <p:sp>
        <p:nvSpPr>
          <p:cNvPr id="58" name="TextBox 57"/>
          <p:cNvSpPr txBox="1"/>
          <p:nvPr/>
        </p:nvSpPr>
        <p:spPr>
          <a:xfrm>
            <a:off x="6766560" y="536752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17</a:t>
            </a:r>
          </a:p>
        </p:txBody>
      </p:sp>
      <p:sp>
        <p:nvSpPr>
          <p:cNvPr id="59" name="TextBox 58"/>
          <p:cNvSpPr txBox="1"/>
          <p:nvPr/>
        </p:nvSpPr>
        <p:spPr>
          <a:xfrm>
            <a:off x="8412480" y="536752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1</a:t>
            </a:r>
          </a:p>
        </p:txBody>
      </p:sp>
      <p:sp>
        <p:nvSpPr>
          <p:cNvPr id="60" name="TextBox 59"/>
          <p:cNvSpPr txBox="1"/>
          <p:nvPr/>
        </p:nvSpPr>
        <p:spPr>
          <a:xfrm>
            <a:off x="10058400" y="5367528"/>
            <a:ext cx="1645920" cy="502920"/>
          </a:xfrm>
          <a:prstGeom prst="rect">
            <a:avLst/>
          </a:prstGeom>
          <a:noFill/>
        </p:spPr>
        <p:txBody>
          <a:bodyPr wrap="square" anchor="ctr">
            <a:spAutoFit/>
          </a:bodyPr>
          <a:lstStyle/>
          <a:p>
            <a:pPr algn="ctr"/>
            <a:r>
              <a:rPr sz="1300" b="0">
                <a:solidFill>
                  <a:srgbClr val="1A1A1A"/>
                </a:solidFill>
                <a:latin typeface="Verdana"/>
                <a:ea typeface="Verdana"/>
                <a:cs typeface="Verdana"/>
              </a:rPr>
              <a:t>1</a:t>
            </a:r>
          </a:p>
        </p:txBody>
      </p:sp>
      <p:sp>
        <p:nvSpPr>
          <p:cNvPr id="61" name="Rectangle 60"/>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63" name="TextBox 62"/>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Показатели по базам</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Откуда пришли звонки — и что из этого вышло</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64208"/>
            <a:ext cx="10789920"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664208"/>
            <a:ext cx="2359152" cy="347472"/>
          </a:xfrm>
          <a:prstGeom prst="rect">
            <a:avLst/>
          </a:prstGeom>
          <a:noFill/>
        </p:spPr>
        <p:txBody>
          <a:bodyPr wrap="square" anchor="ctr">
            <a:spAutoFit/>
          </a:bodyPr>
          <a:lstStyle/>
          <a:p>
            <a:pPr algn="l"/>
            <a:r>
              <a:rPr sz="1100" b="1">
                <a:solidFill>
                  <a:srgbClr val="FFFFFF"/>
                </a:solidFill>
                <a:latin typeface="Verdana"/>
                <a:ea typeface="Verdana"/>
                <a:cs typeface="Verdana"/>
              </a:rPr>
              <a:t>Источник</a:t>
            </a:r>
          </a:p>
        </p:txBody>
      </p:sp>
      <p:sp>
        <p:nvSpPr>
          <p:cNvPr id="10" name="TextBox 9"/>
          <p:cNvSpPr txBox="1"/>
          <p:nvPr/>
        </p:nvSpPr>
        <p:spPr>
          <a:xfrm>
            <a:off x="3108960" y="1664208"/>
            <a:ext cx="1371600" cy="347472"/>
          </a:xfrm>
          <a:prstGeom prst="rect">
            <a:avLst/>
          </a:prstGeom>
          <a:noFill/>
        </p:spPr>
        <p:txBody>
          <a:bodyPr wrap="square" anchor="ctr">
            <a:spAutoFit/>
          </a:bodyPr>
          <a:lstStyle/>
          <a:p>
            <a:pPr algn="ctr"/>
            <a:r>
              <a:rPr sz="1100" b="1">
                <a:solidFill>
                  <a:srgbClr val="FFFFFF"/>
                </a:solidFill>
                <a:latin typeface="Verdana"/>
                <a:ea typeface="Verdana"/>
                <a:cs typeface="Verdana"/>
              </a:rPr>
              <a:t>Прозвон</a:t>
            </a:r>
          </a:p>
        </p:txBody>
      </p:sp>
      <p:sp>
        <p:nvSpPr>
          <p:cNvPr id="11" name="TextBox 10"/>
          <p:cNvSpPr txBox="1"/>
          <p:nvPr/>
        </p:nvSpPr>
        <p:spPr>
          <a:xfrm>
            <a:off x="4480560" y="1664208"/>
            <a:ext cx="1371600" cy="347472"/>
          </a:xfrm>
          <a:prstGeom prst="rect">
            <a:avLst/>
          </a:prstGeom>
          <a:noFill/>
        </p:spPr>
        <p:txBody>
          <a:bodyPr wrap="square" anchor="ctr">
            <a:spAutoFit/>
          </a:bodyPr>
          <a:lstStyle/>
          <a:p>
            <a:pPr algn="ctr"/>
            <a:r>
              <a:rPr sz="1100" b="1">
                <a:solidFill>
                  <a:srgbClr val="FFFFFF"/>
                </a:solidFill>
                <a:latin typeface="Verdana"/>
                <a:ea typeface="Verdana"/>
                <a:cs typeface="Verdana"/>
              </a:rPr>
              <a:t>Успешн.</a:t>
            </a:r>
          </a:p>
        </p:txBody>
      </p:sp>
      <p:sp>
        <p:nvSpPr>
          <p:cNvPr id="12" name="TextBox 11"/>
          <p:cNvSpPr txBox="1"/>
          <p:nvPr/>
        </p:nvSpPr>
        <p:spPr>
          <a:xfrm>
            <a:off x="5852160" y="1664208"/>
            <a:ext cx="1371600" cy="347472"/>
          </a:xfrm>
          <a:prstGeom prst="rect">
            <a:avLst/>
          </a:prstGeom>
          <a:noFill/>
        </p:spPr>
        <p:txBody>
          <a:bodyPr wrap="square" anchor="ctr">
            <a:spAutoFit/>
          </a:bodyPr>
          <a:lstStyle/>
          <a:p>
            <a:pPr algn="ctr"/>
            <a:r>
              <a:rPr sz="1100" b="1">
                <a:solidFill>
                  <a:srgbClr val="FFFFFF"/>
                </a:solidFill>
                <a:latin typeface="Verdana"/>
                <a:ea typeface="Verdana"/>
                <a:cs typeface="Verdana"/>
              </a:rPr>
              <a:t>Сделка</a:t>
            </a:r>
          </a:p>
        </p:txBody>
      </p:sp>
      <p:sp>
        <p:nvSpPr>
          <p:cNvPr id="13" name="TextBox 12"/>
          <p:cNvSpPr txBox="1"/>
          <p:nvPr/>
        </p:nvSpPr>
        <p:spPr>
          <a:xfrm>
            <a:off x="7223760" y="1664208"/>
            <a:ext cx="1371600" cy="347472"/>
          </a:xfrm>
          <a:prstGeom prst="rect">
            <a:avLst/>
          </a:prstGeom>
          <a:noFill/>
        </p:spPr>
        <p:txBody>
          <a:bodyPr wrap="square" anchor="ctr">
            <a:spAutoFit/>
          </a:bodyPr>
          <a:lstStyle/>
          <a:p>
            <a:pPr algn="ctr"/>
            <a:r>
              <a:rPr sz="1100" b="1">
                <a:solidFill>
                  <a:srgbClr val="FFFFFF"/>
                </a:solidFill>
                <a:latin typeface="Verdana"/>
                <a:ea typeface="Verdana"/>
                <a:cs typeface="Verdana"/>
              </a:rPr>
              <a:t>Запись</a:t>
            </a:r>
          </a:p>
        </p:txBody>
      </p:sp>
      <p:sp>
        <p:nvSpPr>
          <p:cNvPr id="14" name="TextBox 13"/>
          <p:cNvSpPr txBox="1"/>
          <p:nvPr/>
        </p:nvSpPr>
        <p:spPr>
          <a:xfrm>
            <a:off x="8595360" y="1664208"/>
            <a:ext cx="1371600" cy="347472"/>
          </a:xfrm>
          <a:prstGeom prst="rect">
            <a:avLst/>
          </a:prstGeom>
          <a:noFill/>
        </p:spPr>
        <p:txBody>
          <a:bodyPr wrap="square" anchor="ctr">
            <a:spAutoFit/>
          </a:bodyPr>
          <a:lstStyle/>
          <a:p>
            <a:pPr algn="ctr"/>
            <a:r>
              <a:rPr sz="1100" b="1">
                <a:solidFill>
                  <a:srgbClr val="FFFFFF"/>
                </a:solidFill>
                <a:latin typeface="Verdana"/>
                <a:ea typeface="Verdana"/>
                <a:cs typeface="Verdana"/>
              </a:rPr>
              <a:t>Демо</a:t>
            </a:r>
          </a:p>
        </p:txBody>
      </p:sp>
      <p:sp>
        <p:nvSpPr>
          <p:cNvPr id="15" name="TextBox 14"/>
          <p:cNvSpPr txBox="1"/>
          <p:nvPr/>
        </p:nvSpPr>
        <p:spPr>
          <a:xfrm>
            <a:off x="9966960" y="1664208"/>
            <a:ext cx="1463040" cy="347472"/>
          </a:xfrm>
          <a:prstGeom prst="rect">
            <a:avLst/>
          </a:prstGeom>
          <a:noFill/>
        </p:spPr>
        <p:txBody>
          <a:bodyPr wrap="square" anchor="ctr">
            <a:spAutoFit/>
          </a:bodyPr>
          <a:lstStyle/>
          <a:p>
            <a:pPr algn="ctr"/>
            <a:r>
              <a:rPr sz="1100" b="1">
                <a:solidFill>
                  <a:srgbClr val="FFFFFF"/>
                </a:solidFill>
                <a:latin typeface="Verdana"/>
                <a:ea typeface="Verdana"/>
                <a:cs typeface="Verdana"/>
              </a:rPr>
              <a:t>Сделка %</a:t>
            </a:r>
          </a:p>
        </p:txBody>
      </p:sp>
      <p:sp>
        <p:nvSpPr>
          <p:cNvPr id="16" name="Rectangle 15"/>
          <p:cNvSpPr/>
          <p:nvPr/>
        </p:nvSpPr>
        <p:spPr>
          <a:xfrm>
            <a:off x="640080" y="2011680"/>
            <a:ext cx="10789920" cy="347472"/>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2011680"/>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База ЗУП</a:t>
            </a:r>
          </a:p>
        </p:txBody>
      </p:sp>
      <p:sp>
        <p:nvSpPr>
          <p:cNvPr id="18" name="TextBox 17"/>
          <p:cNvSpPr txBox="1"/>
          <p:nvPr/>
        </p:nvSpPr>
        <p:spPr>
          <a:xfrm>
            <a:off x="3108960" y="201168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91</a:t>
            </a:r>
          </a:p>
        </p:txBody>
      </p:sp>
      <p:sp>
        <p:nvSpPr>
          <p:cNvPr id="19" name="TextBox 18"/>
          <p:cNvSpPr txBox="1"/>
          <p:nvPr/>
        </p:nvSpPr>
        <p:spPr>
          <a:xfrm>
            <a:off x="4480560" y="201168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46</a:t>
            </a:r>
          </a:p>
        </p:txBody>
      </p:sp>
      <p:sp>
        <p:nvSpPr>
          <p:cNvPr id="20" name="TextBox 19"/>
          <p:cNvSpPr txBox="1"/>
          <p:nvPr/>
        </p:nvSpPr>
        <p:spPr>
          <a:xfrm>
            <a:off x="5852160" y="201168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10</a:t>
            </a:r>
          </a:p>
        </p:txBody>
      </p:sp>
      <p:sp>
        <p:nvSpPr>
          <p:cNvPr id="21" name="TextBox 20"/>
          <p:cNvSpPr txBox="1"/>
          <p:nvPr/>
        </p:nvSpPr>
        <p:spPr>
          <a:xfrm>
            <a:off x="7223760" y="201168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22" name="TextBox 21"/>
          <p:cNvSpPr txBox="1"/>
          <p:nvPr/>
        </p:nvSpPr>
        <p:spPr>
          <a:xfrm>
            <a:off x="8595360" y="201168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3</a:t>
            </a:r>
          </a:p>
        </p:txBody>
      </p:sp>
      <p:sp>
        <p:nvSpPr>
          <p:cNvPr id="23" name="TextBox 22"/>
          <p:cNvSpPr txBox="1"/>
          <p:nvPr/>
        </p:nvSpPr>
        <p:spPr>
          <a:xfrm>
            <a:off x="9966960" y="2011680"/>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11,0%</a:t>
            </a:r>
          </a:p>
        </p:txBody>
      </p:sp>
      <p:sp>
        <p:nvSpPr>
          <p:cNvPr id="24" name="Rectangle 23"/>
          <p:cNvSpPr/>
          <p:nvPr/>
        </p:nvSpPr>
        <p:spPr>
          <a:xfrm>
            <a:off x="640080" y="2359152"/>
            <a:ext cx="107899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359152"/>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База КП</a:t>
            </a:r>
          </a:p>
        </p:txBody>
      </p:sp>
      <p:sp>
        <p:nvSpPr>
          <p:cNvPr id="26" name="TextBox 25"/>
          <p:cNvSpPr txBox="1"/>
          <p:nvPr/>
        </p:nvSpPr>
        <p:spPr>
          <a:xfrm>
            <a:off x="3108960" y="235915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124</a:t>
            </a:r>
          </a:p>
        </p:txBody>
      </p:sp>
      <p:sp>
        <p:nvSpPr>
          <p:cNvPr id="27" name="TextBox 26"/>
          <p:cNvSpPr txBox="1"/>
          <p:nvPr/>
        </p:nvSpPr>
        <p:spPr>
          <a:xfrm>
            <a:off x="4480560" y="235915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60</a:t>
            </a:r>
          </a:p>
        </p:txBody>
      </p:sp>
      <p:sp>
        <p:nvSpPr>
          <p:cNvPr id="28" name="TextBox 27"/>
          <p:cNvSpPr txBox="1"/>
          <p:nvPr/>
        </p:nvSpPr>
        <p:spPr>
          <a:xfrm>
            <a:off x="5852160" y="235915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17</a:t>
            </a:r>
          </a:p>
        </p:txBody>
      </p:sp>
      <p:sp>
        <p:nvSpPr>
          <p:cNvPr id="29" name="TextBox 28"/>
          <p:cNvSpPr txBox="1"/>
          <p:nvPr/>
        </p:nvSpPr>
        <p:spPr>
          <a:xfrm>
            <a:off x="7223760" y="235915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10</a:t>
            </a:r>
          </a:p>
        </p:txBody>
      </p:sp>
      <p:sp>
        <p:nvSpPr>
          <p:cNvPr id="30" name="TextBox 29"/>
          <p:cNvSpPr txBox="1"/>
          <p:nvPr/>
        </p:nvSpPr>
        <p:spPr>
          <a:xfrm>
            <a:off x="8595360" y="235915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5</a:t>
            </a:r>
          </a:p>
        </p:txBody>
      </p:sp>
      <p:sp>
        <p:nvSpPr>
          <p:cNvPr id="31" name="TextBox 30"/>
          <p:cNvSpPr txBox="1"/>
          <p:nvPr/>
        </p:nvSpPr>
        <p:spPr>
          <a:xfrm>
            <a:off x="9966960" y="2359152"/>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13,7%</a:t>
            </a:r>
          </a:p>
        </p:txBody>
      </p:sp>
      <p:sp>
        <p:nvSpPr>
          <p:cNvPr id="32" name="Rectangle 31"/>
          <p:cNvSpPr/>
          <p:nvPr/>
        </p:nvSpPr>
        <p:spPr>
          <a:xfrm>
            <a:off x="640080" y="2706624"/>
            <a:ext cx="10789920" cy="347472"/>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2706624"/>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База канбана</a:t>
            </a:r>
          </a:p>
        </p:txBody>
      </p:sp>
      <p:sp>
        <p:nvSpPr>
          <p:cNvPr id="34" name="TextBox 33"/>
          <p:cNvSpPr txBox="1"/>
          <p:nvPr/>
        </p:nvSpPr>
        <p:spPr>
          <a:xfrm>
            <a:off x="3108960" y="270662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12</a:t>
            </a:r>
          </a:p>
        </p:txBody>
      </p:sp>
      <p:sp>
        <p:nvSpPr>
          <p:cNvPr id="35" name="TextBox 34"/>
          <p:cNvSpPr txBox="1"/>
          <p:nvPr/>
        </p:nvSpPr>
        <p:spPr>
          <a:xfrm>
            <a:off x="4480560" y="270662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12</a:t>
            </a:r>
          </a:p>
        </p:txBody>
      </p:sp>
      <p:sp>
        <p:nvSpPr>
          <p:cNvPr id="36" name="TextBox 35"/>
          <p:cNvSpPr txBox="1"/>
          <p:nvPr/>
        </p:nvSpPr>
        <p:spPr>
          <a:xfrm>
            <a:off x="5852160" y="270662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37" name="TextBox 36"/>
          <p:cNvSpPr txBox="1"/>
          <p:nvPr/>
        </p:nvSpPr>
        <p:spPr>
          <a:xfrm>
            <a:off x="7223760" y="270662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38" name="TextBox 37"/>
          <p:cNvSpPr txBox="1"/>
          <p:nvPr/>
        </p:nvSpPr>
        <p:spPr>
          <a:xfrm>
            <a:off x="8595360" y="270662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39" name="TextBox 38"/>
          <p:cNvSpPr txBox="1"/>
          <p:nvPr/>
        </p:nvSpPr>
        <p:spPr>
          <a:xfrm>
            <a:off x="9966960" y="2706624"/>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40" name="Rectangle 39"/>
          <p:cNvSpPr/>
          <p:nvPr/>
        </p:nvSpPr>
        <p:spPr>
          <a:xfrm>
            <a:off x="640080" y="3054096"/>
            <a:ext cx="107899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3054096"/>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База вебинаров</a:t>
            </a:r>
          </a:p>
        </p:txBody>
      </p:sp>
      <p:sp>
        <p:nvSpPr>
          <p:cNvPr id="42" name="TextBox 41"/>
          <p:cNvSpPr txBox="1"/>
          <p:nvPr/>
        </p:nvSpPr>
        <p:spPr>
          <a:xfrm>
            <a:off x="3108960" y="305409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298</a:t>
            </a:r>
          </a:p>
        </p:txBody>
      </p:sp>
      <p:sp>
        <p:nvSpPr>
          <p:cNvPr id="43" name="TextBox 42"/>
          <p:cNvSpPr txBox="1"/>
          <p:nvPr/>
        </p:nvSpPr>
        <p:spPr>
          <a:xfrm>
            <a:off x="4480560" y="305409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132</a:t>
            </a:r>
          </a:p>
        </p:txBody>
      </p:sp>
      <p:sp>
        <p:nvSpPr>
          <p:cNvPr id="44" name="TextBox 43"/>
          <p:cNvSpPr txBox="1"/>
          <p:nvPr/>
        </p:nvSpPr>
        <p:spPr>
          <a:xfrm>
            <a:off x="5852160" y="305409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13</a:t>
            </a:r>
          </a:p>
        </p:txBody>
      </p:sp>
      <p:sp>
        <p:nvSpPr>
          <p:cNvPr id="45" name="TextBox 44"/>
          <p:cNvSpPr txBox="1"/>
          <p:nvPr/>
        </p:nvSpPr>
        <p:spPr>
          <a:xfrm>
            <a:off x="7223760" y="305409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a:t>
            </a:r>
          </a:p>
        </p:txBody>
      </p:sp>
      <p:sp>
        <p:nvSpPr>
          <p:cNvPr id="46" name="TextBox 45"/>
          <p:cNvSpPr txBox="1"/>
          <p:nvPr/>
        </p:nvSpPr>
        <p:spPr>
          <a:xfrm>
            <a:off x="8595360" y="305409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a:t>
            </a:r>
          </a:p>
        </p:txBody>
      </p:sp>
      <p:sp>
        <p:nvSpPr>
          <p:cNvPr id="47" name="TextBox 46"/>
          <p:cNvSpPr txBox="1"/>
          <p:nvPr/>
        </p:nvSpPr>
        <p:spPr>
          <a:xfrm>
            <a:off x="9966960" y="3054096"/>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4,4%</a:t>
            </a:r>
          </a:p>
        </p:txBody>
      </p:sp>
      <p:sp>
        <p:nvSpPr>
          <p:cNvPr id="48" name="Rectangle 47"/>
          <p:cNvSpPr/>
          <p:nvPr/>
        </p:nvSpPr>
        <p:spPr>
          <a:xfrm>
            <a:off x="640080" y="3401568"/>
            <a:ext cx="10789920" cy="347472"/>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8" y="3401568"/>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Заявка с сайта</a:t>
            </a:r>
          </a:p>
        </p:txBody>
      </p:sp>
      <p:sp>
        <p:nvSpPr>
          <p:cNvPr id="50" name="TextBox 49"/>
          <p:cNvSpPr txBox="1"/>
          <p:nvPr/>
        </p:nvSpPr>
        <p:spPr>
          <a:xfrm>
            <a:off x="3108960" y="340156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4</a:t>
            </a:r>
          </a:p>
        </p:txBody>
      </p:sp>
      <p:sp>
        <p:nvSpPr>
          <p:cNvPr id="51" name="TextBox 50"/>
          <p:cNvSpPr txBox="1"/>
          <p:nvPr/>
        </p:nvSpPr>
        <p:spPr>
          <a:xfrm>
            <a:off x="4480560" y="340156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4</a:t>
            </a:r>
          </a:p>
        </p:txBody>
      </p:sp>
      <p:sp>
        <p:nvSpPr>
          <p:cNvPr id="52" name="TextBox 51"/>
          <p:cNvSpPr txBox="1"/>
          <p:nvPr/>
        </p:nvSpPr>
        <p:spPr>
          <a:xfrm>
            <a:off x="5852160" y="340156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4</a:t>
            </a:r>
          </a:p>
        </p:txBody>
      </p:sp>
      <p:sp>
        <p:nvSpPr>
          <p:cNvPr id="53" name="TextBox 52"/>
          <p:cNvSpPr txBox="1"/>
          <p:nvPr/>
        </p:nvSpPr>
        <p:spPr>
          <a:xfrm>
            <a:off x="7223760" y="340156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54" name="TextBox 53"/>
          <p:cNvSpPr txBox="1"/>
          <p:nvPr/>
        </p:nvSpPr>
        <p:spPr>
          <a:xfrm>
            <a:off x="8595360" y="340156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55" name="TextBox 54"/>
          <p:cNvSpPr txBox="1"/>
          <p:nvPr/>
        </p:nvSpPr>
        <p:spPr>
          <a:xfrm>
            <a:off x="9966960" y="3401568"/>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100%</a:t>
            </a:r>
          </a:p>
        </p:txBody>
      </p:sp>
      <p:sp>
        <p:nvSpPr>
          <p:cNvPr id="56" name="Rectangle 55"/>
          <p:cNvSpPr/>
          <p:nvPr/>
        </p:nvSpPr>
        <p:spPr>
          <a:xfrm>
            <a:off x="640080" y="3749040"/>
            <a:ext cx="107899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8" y="3749040"/>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База вахта</a:t>
            </a:r>
          </a:p>
        </p:txBody>
      </p:sp>
      <p:sp>
        <p:nvSpPr>
          <p:cNvPr id="58" name="TextBox 57"/>
          <p:cNvSpPr txBox="1"/>
          <p:nvPr/>
        </p:nvSpPr>
        <p:spPr>
          <a:xfrm>
            <a:off x="3108960" y="374904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125</a:t>
            </a:r>
          </a:p>
        </p:txBody>
      </p:sp>
      <p:sp>
        <p:nvSpPr>
          <p:cNvPr id="59" name="TextBox 58"/>
          <p:cNvSpPr txBox="1"/>
          <p:nvPr/>
        </p:nvSpPr>
        <p:spPr>
          <a:xfrm>
            <a:off x="4480560" y="374904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34</a:t>
            </a:r>
          </a:p>
        </p:txBody>
      </p:sp>
      <p:sp>
        <p:nvSpPr>
          <p:cNvPr id="60" name="TextBox 59"/>
          <p:cNvSpPr txBox="1"/>
          <p:nvPr/>
        </p:nvSpPr>
        <p:spPr>
          <a:xfrm>
            <a:off x="5852160" y="374904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a:t>
            </a:r>
          </a:p>
        </p:txBody>
      </p:sp>
      <p:sp>
        <p:nvSpPr>
          <p:cNvPr id="61" name="TextBox 60"/>
          <p:cNvSpPr txBox="1"/>
          <p:nvPr/>
        </p:nvSpPr>
        <p:spPr>
          <a:xfrm>
            <a:off x="7223760" y="374904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62" name="TextBox 61"/>
          <p:cNvSpPr txBox="1"/>
          <p:nvPr/>
        </p:nvSpPr>
        <p:spPr>
          <a:xfrm>
            <a:off x="8595360" y="3749040"/>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63" name="TextBox 62"/>
          <p:cNvSpPr txBox="1"/>
          <p:nvPr/>
        </p:nvSpPr>
        <p:spPr>
          <a:xfrm>
            <a:off x="9966960" y="3749040"/>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0,8%</a:t>
            </a:r>
          </a:p>
        </p:txBody>
      </p:sp>
      <p:sp>
        <p:nvSpPr>
          <p:cNvPr id="64" name="Rectangle 63"/>
          <p:cNvSpPr/>
          <p:nvPr/>
        </p:nvSpPr>
        <p:spPr>
          <a:xfrm>
            <a:off x="640080" y="4096512"/>
            <a:ext cx="10789920" cy="347472"/>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9808" y="4096512"/>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База общепит</a:t>
            </a:r>
          </a:p>
        </p:txBody>
      </p:sp>
      <p:sp>
        <p:nvSpPr>
          <p:cNvPr id="66" name="TextBox 65"/>
          <p:cNvSpPr txBox="1"/>
          <p:nvPr/>
        </p:nvSpPr>
        <p:spPr>
          <a:xfrm>
            <a:off x="3108960" y="409651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266</a:t>
            </a:r>
          </a:p>
        </p:txBody>
      </p:sp>
      <p:sp>
        <p:nvSpPr>
          <p:cNvPr id="67" name="TextBox 66"/>
          <p:cNvSpPr txBox="1"/>
          <p:nvPr/>
        </p:nvSpPr>
        <p:spPr>
          <a:xfrm>
            <a:off x="4480560" y="409651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124</a:t>
            </a:r>
          </a:p>
        </p:txBody>
      </p:sp>
      <p:sp>
        <p:nvSpPr>
          <p:cNvPr id="68" name="TextBox 67"/>
          <p:cNvSpPr txBox="1"/>
          <p:nvPr/>
        </p:nvSpPr>
        <p:spPr>
          <a:xfrm>
            <a:off x="5852160" y="409651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13</a:t>
            </a:r>
          </a:p>
        </p:txBody>
      </p:sp>
      <p:sp>
        <p:nvSpPr>
          <p:cNvPr id="69" name="TextBox 68"/>
          <p:cNvSpPr txBox="1"/>
          <p:nvPr/>
        </p:nvSpPr>
        <p:spPr>
          <a:xfrm>
            <a:off x="7223760" y="409651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70" name="TextBox 69"/>
          <p:cNvSpPr txBox="1"/>
          <p:nvPr/>
        </p:nvSpPr>
        <p:spPr>
          <a:xfrm>
            <a:off x="8595360" y="4096512"/>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71" name="TextBox 70"/>
          <p:cNvSpPr txBox="1"/>
          <p:nvPr/>
        </p:nvSpPr>
        <p:spPr>
          <a:xfrm>
            <a:off x="9966960" y="4096512"/>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4,9%</a:t>
            </a:r>
          </a:p>
        </p:txBody>
      </p:sp>
      <p:sp>
        <p:nvSpPr>
          <p:cNvPr id="72" name="Rectangle 71"/>
          <p:cNvSpPr/>
          <p:nvPr/>
        </p:nvSpPr>
        <p:spPr>
          <a:xfrm>
            <a:off x="640080" y="4443984"/>
            <a:ext cx="107899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9808" y="4443984"/>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Холодка общепит</a:t>
            </a:r>
          </a:p>
        </p:txBody>
      </p:sp>
      <p:sp>
        <p:nvSpPr>
          <p:cNvPr id="74" name="TextBox 73"/>
          <p:cNvSpPr txBox="1"/>
          <p:nvPr/>
        </p:nvSpPr>
        <p:spPr>
          <a:xfrm>
            <a:off x="3108960" y="444398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31</a:t>
            </a:r>
          </a:p>
        </p:txBody>
      </p:sp>
      <p:sp>
        <p:nvSpPr>
          <p:cNvPr id="75" name="TextBox 74"/>
          <p:cNvSpPr txBox="1"/>
          <p:nvPr/>
        </p:nvSpPr>
        <p:spPr>
          <a:xfrm>
            <a:off x="4480560" y="444398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12</a:t>
            </a:r>
          </a:p>
        </p:txBody>
      </p:sp>
      <p:sp>
        <p:nvSpPr>
          <p:cNvPr id="76" name="TextBox 75"/>
          <p:cNvSpPr txBox="1"/>
          <p:nvPr/>
        </p:nvSpPr>
        <p:spPr>
          <a:xfrm>
            <a:off x="5852160" y="444398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3</a:t>
            </a:r>
          </a:p>
        </p:txBody>
      </p:sp>
      <p:sp>
        <p:nvSpPr>
          <p:cNvPr id="77" name="TextBox 76"/>
          <p:cNvSpPr txBox="1"/>
          <p:nvPr/>
        </p:nvSpPr>
        <p:spPr>
          <a:xfrm>
            <a:off x="7223760" y="444398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78" name="TextBox 77"/>
          <p:cNvSpPr txBox="1"/>
          <p:nvPr/>
        </p:nvSpPr>
        <p:spPr>
          <a:xfrm>
            <a:off x="8595360" y="4443984"/>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79" name="TextBox 78"/>
          <p:cNvSpPr txBox="1"/>
          <p:nvPr/>
        </p:nvSpPr>
        <p:spPr>
          <a:xfrm>
            <a:off x="9966960" y="4443984"/>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9,7%</a:t>
            </a:r>
          </a:p>
        </p:txBody>
      </p:sp>
      <p:sp>
        <p:nvSpPr>
          <p:cNvPr id="80" name="Rectangle 79"/>
          <p:cNvSpPr/>
          <p:nvPr/>
        </p:nvSpPr>
        <p:spPr>
          <a:xfrm>
            <a:off x="640080" y="4791456"/>
            <a:ext cx="10789920" cy="347472"/>
          </a:xfrm>
          <a:prstGeom prst="rect">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49808" y="4791456"/>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База производства</a:t>
            </a:r>
          </a:p>
        </p:txBody>
      </p:sp>
      <p:sp>
        <p:nvSpPr>
          <p:cNvPr id="82" name="TextBox 81"/>
          <p:cNvSpPr txBox="1"/>
          <p:nvPr/>
        </p:nvSpPr>
        <p:spPr>
          <a:xfrm>
            <a:off x="3108960" y="479145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123</a:t>
            </a:r>
          </a:p>
        </p:txBody>
      </p:sp>
      <p:sp>
        <p:nvSpPr>
          <p:cNvPr id="83" name="TextBox 82"/>
          <p:cNvSpPr txBox="1"/>
          <p:nvPr/>
        </p:nvSpPr>
        <p:spPr>
          <a:xfrm>
            <a:off x="4480560" y="479145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54</a:t>
            </a:r>
          </a:p>
        </p:txBody>
      </p:sp>
      <p:sp>
        <p:nvSpPr>
          <p:cNvPr id="84" name="TextBox 83"/>
          <p:cNvSpPr txBox="1"/>
          <p:nvPr/>
        </p:nvSpPr>
        <p:spPr>
          <a:xfrm>
            <a:off x="5852160" y="479145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8</a:t>
            </a:r>
          </a:p>
        </p:txBody>
      </p:sp>
      <p:sp>
        <p:nvSpPr>
          <p:cNvPr id="85" name="TextBox 84"/>
          <p:cNvSpPr txBox="1"/>
          <p:nvPr/>
        </p:nvSpPr>
        <p:spPr>
          <a:xfrm>
            <a:off x="7223760" y="479145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a:t>
            </a:r>
          </a:p>
        </p:txBody>
      </p:sp>
      <p:sp>
        <p:nvSpPr>
          <p:cNvPr id="86" name="TextBox 85"/>
          <p:cNvSpPr txBox="1"/>
          <p:nvPr/>
        </p:nvSpPr>
        <p:spPr>
          <a:xfrm>
            <a:off x="8595360" y="4791456"/>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2</a:t>
            </a:r>
          </a:p>
        </p:txBody>
      </p:sp>
      <p:sp>
        <p:nvSpPr>
          <p:cNvPr id="87" name="TextBox 86"/>
          <p:cNvSpPr txBox="1"/>
          <p:nvPr/>
        </p:nvSpPr>
        <p:spPr>
          <a:xfrm>
            <a:off x="9966960" y="4791456"/>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6,5%</a:t>
            </a:r>
          </a:p>
        </p:txBody>
      </p:sp>
      <p:sp>
        <p:nvSpPr>
          <p:cNvPr id="88" name="Rectangle 87"/>
          <p:cNvSpPr/>
          <p:nvPr/>
        </p:nvSpPr>
        <p:spPr>
          <a:xfrm>
            <a:off x="640080" y="5138928"/>
            <a:ext cx="107899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49808" y="5138928"/>
            <a:ext cx="2359152" cy="347472"/>
          </a:xfrm>
          <a:prstGeom prst="rect">
            <a:avLst/>
          </a:prstGeom>
          <a:noFill/>
        </p:spPr>
        <p:txBody>
          <a:bodyPr wrap="square" anchor="ctr">
            <a:spAutoFit/>
          </a:bodyPr>
          <a:lstStyle/>
          <a:p>
            <a:pPr algn="l"/>
            <a:r>
              <a:rPr sz="1100" b="0">
                <a:solidFill>
                  <a:srgbClr val="1A1A1A"/>
                </a:solidFill>
                <a:latin typeface="Verdana"/>
                <a:ea typeface="Verdana"/>
                <a:cs typeface="Verdana"/>
              </a:rPr>
              <a:t>Новая КС / прочие</a:t>
            </a:r>
          </a:p>
        </p:txBody>
      </p:sp>
      <p:sp>
        <p:nvSpPr>
          <p:cNvPr id="90" name="TextBox 89"/>
          <p:cNvSpPr txBox="1"/>
          <p:nvPr/>
        </p:nvSpPr>
        <p:spPr>
          <a:xfrm>
            <a:off x="3108960" y="513892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10</a:t>
            </a:r>
          </a:p>
        </p:txBody>
      </p:sp>
      <p:sp>
        <p:nvSpPr>
          <p:cNvPr id="91" name="TextBox 90"/>
          <p:cNvSpPr txBox="1"/>
          <p:nvPr/>
        </p:nvSpPr>
        <p:spPr>
          <a:xfrm>
            <a:off x="4480560" y="513892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5</a:t>
            </a:r>
          </a:p>
        </p:txBody>
      </p:sp>
      <p:sp>
        <p:nvSpPr>
          <p:cNvPr id="92" name="TextBox 91"/>
          <p:cNvSpPr txBox="1"/>
          <p:nvPr/>
        </p:nvSpPr>
        <p:spPr>
          <a:xfrm>
            <a:off x="5852160" y="513892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1</a:t>
            </a:r>
          </a:p>
        </p:txBody>
      </p:sp>
      <p:sp>
        <p:nvSpPr>
          <p:cNvPr id="93" name="TextBox 92"/>
          <p:cNvSpPr txBox="1"/>
          <p:nvPr/>
        </p:nvSpPr>
        <p:spPr>
          <a:xfrm>
            <a:off x="7223760" y="513892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94" name="TextBox 93"/>
          <p:cNvSpPr txBox="1"/>
          <p:nvPr/>
        </p:nvSpPr>
        <p:spPr>
          <a:xfrm>
            <a:off x="8595360" y="5138928"/>
            <a:ext cx="1371600" cy="347472"/>
          </a:xfrm>
          <a:prstGeom prst="rect">
            <a:avLst/>
          </a:prstGeom>
          <a:noFill/>
        </p:spPr>
        <p:txBody>
          <a:bodyPr wrap="square" anchor="ctr">
            <a:spAutoFit/>
          </a:bodyPr>
          <a:lstStyle/>
          <a:p>
            <a:pPr algn="ctr"/>
            <a:r>
              <a:rPr sz="1100" b="0">
                <a:solidFill>
                  <a:srgbClr val="1A1A1A"/>
                </a:solidFill>
                <a:latin typeface="Verdana"/>
                <a:ea typeface="Verdana"/>
                <a:cs typeface="Verdana"/>
              </a:rPr>
              <a:t>0</a:t>
            </a:r>
          </a:p>
        </p:txBody>
      </p:sp>
      <p:sp>
        <p:nvSpPr>
          <p:cNvPr id="95" name="TextBox 94"/>
          <p:cNvSpPr txBox="1"/>
          <p:nvPr/>
        </p:nvSpPr>
        <p:spPr>
          <a:xfrm>
            <a:off x="9966960" y="5138928"/>
            <a:ext cx="1463040" cy="347472"/>
          </a:xfrm>
          <a:prstGeom prst="rect">
            <a:avLst/>
          </a:prstGeom>
          <a:noFill/>
        </p:spPr>
        <p:txBody>
          <a:bodyPr wrap="square" anchor="ctr">
            <a:spAutoFit/>
          </a:bodyPr>
          <a:lstStyle/>
          <a:p>
            <a:pPr algn="ctr"/>
            <a:r>
              <a:rPr sz="1100" b="0">
                <a:solidFill>
                  <a:srgbClr val="1A1A1A"/>
                </a:solidFill>
                <a:latin typeface="Verdana"/>
                <a:ea typeface="Verdana"/>
                <a:cs typeface="Verdana"/>
              </a:rPr>
              <a:t>10%</a:t>
            </a:r>
          </a:p>
        </p:txBody>
      </p:sp>
      <p:sp>
        <p:nvSpPr>
          <p:cNvPr id="96" name="Rectangle 95"/>
          <p:cNvSpPr/>
          <p:nvPr/>
        </p:nvSpPr>
        <p:spPr>
          <a:xfrm>
            <a:off x="640080" y="5486400"/>
            <a:ext cx="10789920" cy="347472"/>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8" y="5486400"/>
            <a:ext cx="2359152" cy="347472"/>
          </a:xfrm>
          <a:prstGeom prst="rect">
            <a:avLst/>
          </a:prstGeom>
          <a:noFill/>
        </p:spPr>
        <p:txBody>
          <a:bodyPr wrap="square" anchor="ctr">
            <a:spAutoFit/>
          </a:bodyPr>
          <a:lstStyle/>
          <a:p>
            <a:pPr algn="l"/>
            <a:r>
              <a:rPr sz="1100" b="1">
                <a:solidFill>
                  <a:srgbClr val="1A1A1A"/>
                </a:solidFill>
                <a:latin typeface="Verdana"/>
                <a:ea typeface="Verdana"/>
                <a:cs typeface="Verdana"/>
              </a:rPr>
              <a:t>Итого</a:t>
            </a:r>
          </a:p>
        </p:txBody>
      </p:sp>
      <p:sp>
        <p:nvSpPr>
          <p:cNvPr id="98" name="TextBox 97"/>
          <p:cNvSpPr txBox="1"/>
          <p:nvPr/>
        </p:nvSpPr>
        <p:spPr>
          <a:xfrm>
            <a:off x="3108960" y="5486400"/>
            <a:ext cx="1371600" cy="347472"/>
          </a:xfrm>
          <a:prstGeom prst="rect">
            <a:avLst/>
          </a:prstGeom>
          <a:noFill/>
        </p:spPr>
        <p:txBody>
          <a:bodyPr wrap="square" anchor="ctr">
            <a:spAutoFit/>
          </a:bodyPr>
          <a:lstStyle/>
          <a:p>
            <a:pPr algn="ctr"/>
            <a:r>
              <a:rPr sz="1100" b="1">
                <a:solidFill>
                  <a:srgbClr val="1A1A1A"/>
                </a:solidFill>
                <a:latin typeface="Verdana"/>
                <a:ea typeface="Verdana"/>
                <a:cs typeface="Verdana"/>
              </a:rPr>
              <a:t>1 084</a:t>
            </a:r>
          </a:p>
        </p:txBody>
      </p:sp>
      <p:sp>
        <p:nvSpPr>
          <p:cNvPr id="99" name="TextBox 98"/>
          <p:cNvSpPr txBox="1"/>
          <p:nvPr/>
        </p:nvSpPr>
        <p:spPr>
          <a:xfrm>
            <a:off x="4480560" y="5486400"/>
            <a:ext cx="1371600" cy="347472"/>
          </a:xfrm>
          <a:prstGeom prst="rect">
            <a:avLst/>
          </a:prstGeom>
          <a:noFill/>
        </p:spPr>
        <p:txBody>
          <a:bodyPr wrap="square" anchor="ctr">
            <a:spAutoFit/>
          </a:bodyPr>
          <a:lstStyle/>
          <a:p>
            <a:pPr algn="ctr"/>
            <a:r>
              <a:rPr sz="1100" b="1">
                <a:solidFill>
                  <a:srgbClr val="1A1A1A"/>
                </a:solidFill>
                <a:latin typeface="Verdana"/>
                <a:ea typeface="Verdana"/>
                <a:cs typeface="Verdana"/>
              </a:rPr>
              <a:t>483</a:t>
            </a:r>
          </a:p>
        </p:txBody>
      </p:sp>
      <p:sp>
        <p:nvSpPr>
          <p:cNvPr id="100" name="TextBox 99"/>
          <p:cNvSpPr txBox="1"/>
          <p:nvPr/>
        </p:nvSpPr>
        <p:spPr>
          <a:xfrm>
            <a:off x="5852160" y="5486400"/>
            <a:ext cx="1371600" cy="347472"/>
          </a:xfrm>
          <a:prstGeom prst="rect">
            <a:avLst/>
          </a:prstGeom>
          <a:noFill/>
        </p:spPr>
        <p:txBody>
          <a:bodyPr wrap="square" anchor="ctr">
            <a:spAutoFit/>
          </a:bodyPr>
          <a:lstStyle/>
          <a:p>
            <a:pPr algn="ctr"/>
            <a:r>
              <a:rPr sz="1100" b="1">
                <a:solidFill>
                  <a:srgbClr val="1A1A1A"/>
                </a:solidFill>
                <a:latin typeface="Verdana"/>
                <a:ea typeface="Verdana"/>
                <a:cs typeface="Verdana"/>
              </a:rPr>
              <a:t>70</a:t>
            </a:r>
          </a:p>
        </p:txBody>
      </p:sp>
      <p:sp>
        <p:nvSpPr>
          <p:cNvPr id="101" name="TextBox 100"/>
          <p:cNvSpPr txBox="1"/>
          <p:nvPr/>
        </p:nvSpPr>
        <p:spPr>
          <a:xfrm>
            <a:off x="7223760" y="5486400"/>
            <a:ext cx="1371600" cy="347472"/>
          </a:xfrm>
          <a:prstGeom prst="rect">
            <a:avLst/>
          </a:prstGeom>
          <a:noFill/>
        </p:spPr>
        <p:txBody>
          <a:bodyPr wrap="square" anchor="ctr">
            <a:spAutoFit/>
          </a:bodyPr>
          <a:lstStyle/>
          <a:p>
            <a:pPr algn="ctr"/>
            <a:r>
              <a:rPr sz="1100" b="1">
                <a:solidFill>
                  <a:srgbClr val="1A1A1A"/>
                </a:solidFill>
                <a:latin typeface="Verdana"/>
                <a:ea typeface="Verdana"/>
                <a:cs typeface="Verdana"/>
              </a:rPr>
              <a:t>12</a:t>
            </a:r>
          </a:p>
        </p:txBody>
      </p:sp>
      <p:sp>
        <p:nvSpPr>
          <p:cNvPr id="102" name="TextBox 101"/>
          <p:cNvSpPr txBox="1"/>
          <p:nvPr/>
        </p:nvSpPr>
        <p:spPr>
          <a:xfrm>
            <a:off x="8595360" y="5486400"/>
            <a:ext cx="1371600" cy="347472"/>
          </a:xfrm>
          <a:prstGeom prst="rect">
            <a:avLst/>
          </a:prstGeom>
          <a:noFill/>
        </p:spPr>
        <p:txBody>
          <a:bodyPr wrap="square" anchor="ctr">
            <a:spAutoFit/>
          </a:bodyPr>
          <a:lstStyle/>
          <a:p>
            <a:pPr algn="ctr"/>
            <a:r>
              <a:rPr sz="1100" b="1">
                <a:solidFill>
                  <a:srgbClr val="1A1A1A"/>
                </a:solidFill>
                <a:latin typeface="Verdana"/>
                <a:ea typeface="Verdana"/>
                <a:cs typeface="Verdana"/>
              </a:rPr>
              <a:t>11</a:t>
            </a:r>
          </a:p>
        </p:txBody>
      </p:sp>
      <p:sp>
        <p:nvSpPr>
          <p:cNvPr id="103" name="TextBox 102"/>
          <p:cNvSpPr txBox="1"/>
          <p:nvPr/>
        </p:nvSpPr>
        <p:spPr>
          <a:xfrm>
            <a:off x="9966960" y="5486400"/>
            <a:ext cx="1463040" cy="347472"/>
          </a:xfrm>
          <a:prstGeom prst="rect">
            <a:avLst/>
          </a:prstGeom>
          <a:noFill/>
        </p:spPr>
        <p:txBody>
          <a:bodyPr wrap="square" anchor="ctr">
            <a:spAutoFit/>
          </a:bodyPr>
          <a:lstStyle/>
          <a:p>
            <a:pPr algn="ctr"/>
            <a:r>
              <a:rPr sz="1100" b="1">
                <a:solidFill>
                  <a:srgbClr val="1A1A1A"/>
                </a:solidFill>
                <a:latin typeface="Verdana"/>
                <a:ea typeface="Verdana"/>
                <a:cs typeface="Verdana"/>
              </a:rPr>
              <a:t>6,5%</a:t>
            </a:r>
          </a:p>
        </p:txBody>
      </p:sp>
      <p:sp>
        <p:nvSpPr>
          <p:cNvPr id="104" name="TextBox 103"/>
          <p:cNvSpPr txBox="1"/>
          <p:nvPr/>
        </p:nvSpPr>
        <p:spPr>
          <a:xfrm>
            <a:off x="457200" y="5989320"/>
            <a:ext cx="11247120" cy="411480"/>
          </a:xfrm>
          <a:prstGeom prst="rect">
            <a:avLst/>
          </a:prstGeom>
          <a:noFill/>
        </p:spPr>
        <p:txBody>
          <a:bodyPr wrap="square" anchor="t">
            <a:spAutoFit/>
          </a:bodyPr>
          <a:lstStyle/>
          <a:p>
            <a:pPr algn="l"/>
            <a:r>
              <a:rPr sz="1200" b="0">
                <a:solidFill>
                  <a:srgbClr val="5C5C5C"/>
                </a:solidFill>
                <a:latin typeface="Verdana"/>
                <a:ea typeface="Verdana"/>
                <a:cs typeface="Verdana"/>
              </a:rPr>
              <a:t>Узкое место воронки — не контакт, а запись и проведение демо. КП и ЗУП дают лучшую сделку; общепит и вебинары дают объём прозвона.</a:t>
            </a:r>
          </a:p>
        </p:txBody>
      </p:sp>
      <p:sp>
        <p:nvSpPr>
          <p:cNvPr id="105" name="Rectangle 104"/>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107" name="TextBox 106"/>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6. После показа сервиса</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Почему клиент чаще всего говорит «нет»</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36192"/>
            <a:ext cx="11247120" cy="365760"/>
          </a:xfrm>
          <a:prstGeom prst="rect">
            <a:avLst/>
          </a:prstGeom>
          <a:noFill/>
        </p:spPr>
        <p:txBody>
          <a:bodyPr wrap="square" anchor="t">
            <a:spAutoFit/>
          </a:bodyPr>
          <a:lstStyle/>
          <a:p>
            <a:pPr algn="l"/>
            <a:r>
              <a:rPr sz="1300" b="0">
                <a:solidFill>
                  <a:srgbClr val="5C5C5C"/>
                </a:solidFill>
                <a:latin typeface="Verdana"/>
                <a:ea typeface="Verdana"/>
                <a:cs typeface="Verdana"/>
              </a:rPr>
              <a:t>За период провели 11 показов. Ниже — то, что слышим после встречи чаще всего.</a:t>
            </a:r>
          </a:p>
        </p:txBody>
      </p:sp>
      <p:sp>
        <p:nvSpPr>
          <p:cNvPr id="9" name="Rounded Rectangle 8"/>
          <p:cNvSpPr/>
          <p:nvPr/>
        </p:nvSpPr>
        <p:spPr>
          <a:xfrm>
            <a:off x="457200" y="2011680"/>
            <a:ext cx="3657600" cy="196596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011680"/>
            <a:ext cx="502920" cy="196596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011680"/>
            <a:ext cx="502920" cy="1965960"/>
          </a:xfrm>
          <a:prstGeom prst="rect">
            <a:avLst/>
          </a:prstGeom>
          <a:noFill/>
        </p:spPr>
        <p:txBody>
          <a:bodyPr wrap="square" anchor="ctr">
            <a:spAutoFit/>
          </a:bodyPr>
          <a:lstStyle/>
          <a:p>
            <a:pPr algn="ctr"/>
            <a:r>
              <a:rPr sz="2000" b="1">
                <a:solidFill>
                  <a:srgbClr val="1A1A1A"/>
                </a:solidFill>
                <a:latin typeface="Verdana"/>
                <a:ea typeface="Verdana"/>
                <a:cs typeface="Verdana"/>
              </a:rPr>
              <a:t>1</a:t>
            </a:r>
          </a:p>
        </p:txBody>
      </p:sp>
      <p:sp>
        <p:nvSpPr>
          <p:cNvPr id="12" name="TextBox 11"/>
          <p:cNvSpPr txBox="1"/>
          <p:nvPr/>
        </p:nvSpPr>
        <p:spPr>
          <a:xfrm>
            <a:off x="1097280" y="2176272"/>
            <a:ext cx="2834640" cy="502920"/>
          </a:xfrm>
          <a:prstGeom prst="rect">
            <a:avLst/>
          </a:prstGeom>
          <a:noFill/>
        </p:spPr>
        <p:txBody>
          <a:bodyPr wrap="square" anchor="t">
            <a:spAutoFit/>
          </a:bodyPr>
          <a:lstStyle/>
          <a:p>
            <a:pPr algn="l"/>
            <a:r>
              <a:rPr sz="1400" b="1">
                <a:solidFill>
                  <a:srgbClr val="1A1A1A"/>
                </a:solidFill>
                <a:latin typeface="Verdana"/>
                <a:ea typeface="Verdana"/>
                <a:cs typeface="Verdana"/>
              </a:rPr>
              <a:t>Пока не обязаны — не будем</a:t>
            </a:r>
          </a:p>
        </p:txBody>
      </p:sp>
      <p:sp>
        <p:nvSpPr>
          <p:cNvPr id="13" name="TextBox 12"/>
          <p:cNvSpPr txBox="1"/>
          <p:nvPr/>
        </p:nvSpPr>
        <p:spPr>
          <a:xfrm>
            <a:off x="1097280" y="2697480"/>
            <a:ext cx="2834640" cy="1097280"/>
          </a:xfrm>
          <a:prstGeom prst="rect">
            <a:avLst/>
          </a:prstGeom>
          <a:noFill/>
        </p:spPr>
        <p:txBody>
          <a:bodyPr wrap="square" anchor="t">
            <a:spAutoFit/>
          </a:bodyPr>
          <a:lstStyle/>
          <a:p>
            <a:pPr algn="l"/>
            <a:r>
              <a:rPr sz="1200" b="0">
                <a:solidFill>
                  <a:srgbClr val="5C5C5C"/>
                </a:solidFill>
                <a:latin typeface="Verdana"/>
                <a:ea typeface="Verdana"/>
                <a:cs typeface="Verdana"/>
              </a:rPr>
              <a:t>«Когда государство заставит, тогда и подключим. Сейчас бумажный кадровый учёт нас устраивает».</a:t>
            </a:r>
          </a:p>
        </p:txBody>
      </p:sp>
      <p:sp>
        <p:nvSpPr>
          <p:cNvPr id="14" name="Rounded Rectangle 13"/>
          <p:cNvSpPr/>
          <p:nvPr/>
        </p:nvSpPr>
        <p:spPr>
          <a:xfrm>
            <a:off x="4297680" y="2011680"/>
            <a:ext cx="3657600" cy="196596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011680"/>
            <a:ext cx="502920" cy="196596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2011680"/>
            <a:ext cx="502920" cy="1965960"/>
          </a:xfrm>
          <a:prstGeom prst="rect">
            <a:avLst/>
          </a:prstGeom>
          <a:noFill/>
        </p:spPr>
        <p:txBody>
          <a:bodyPr wrap="square" anchor="ctr">
            <a:spAutoFit/>
          </a:bodyPr>
          <a:lstStyle/>
          <a:p>
            <a:pPr algn="ctr"/>
            <a:r>
              <a:rPr sz="2000" b="1">
                <a:solidFill>
                  <a:srgbClr val="1A1A1A"/>
                </a:solidFill>
                <a:latin typeface="Verdana"/>
                <a:ea typeface="Verdana"/>
                <a:cs typeface="Verdana"/>
              </a:rPr>
              <a:t>2</a:t>
            </a:r>
          </a:p>
        </p:txBody>
      </p:sp>
      <p:sp>
        <p:nvSpPr>
          <p:cNvPr id="17" name="TextBox 16"/>
          <p:cNvSpPr txBox="1"/>
          <p:nvPr/>
        </p:nvSpPr>
        <p:spPr>
          <a:xfrm>
            <a:off x="4937760" y="2176272"/>
            <a:ext cx="2834640" cy="502920"/>
          </a:xfrm>
          <a:prstGeom prst="rect">
            <a:avLst/>
          </a:prstGeom>
          <a:noFill/>
        </p:spPr>
        <p:txBody>
          <a:bodyPr wrap="square" anchor="t">
            <a:spAutoFit/>
          </a:bodyPr>
          <a:lstStyle/>
          <a:p>
            <a:pPr algn="l"/>
            <a:r>
              <a:rPr sz="1400" b="1">
                <a:solidFill>
                  <a:srgbClr val="1A1A1A"/>
                </a:solidFill>
                <a:latin typeface="Verdana"/>
                <a:ea typeface="Verdana"/>
                <a:cs typeface="Verdana"/>
              </a:rPr>
              <a:t>Нет денег</a:t>
            </a:r>
          </a:p>
        </p:txBody>
      </p:sp>
      <p:sp>
        <p:nvSpPr>
          <p:cNvPr id="18" name="TextBox 17"/>
          <p:cNvSpPr txBox="1"/>
          <p:nvPr/>
        </p:nvSpPr>
        <p:spPr>
          <a:xfrm>
            <a:off x="4937760" y="2697480"/>
            <a:ext cx="2834640" cy="1097280"/>
          </a:xfrm>
          <a:prstGeom prst="rect">
            <a:avLst/>
          </a:prstGeom>
          <a:noFill/>
        </p:spPr>
        <p:txBody>
          <a:bodyPr wrap="square" anchor="t">
            <a:spAutoFit/>
          </a:bodyPr>
          <a:lstStyle/>
          <a:p>
            <a:pPr algn="l"/>
            <a:r>
              <a:rPr sz="1200" b="0">
                <a:solidFill>
                  <a:srgbClr val="5C5C5C"/>
                </a:solidFill>
                <a:latin typeface="Verdana"/>
                <a:ea typeface="Verdana"/>
                <a:cs typeface="Verdana"/>
              </a:rPr>
              <a:t>В бюджете этого года на сервис не заложено. «Дорого», «не сейчас», «в следующем году посмотрим».</a:t>
            </a:r>
          </a:p>
        </p:txBody>
      </p:sp>
      <p:sp>
        <p:nvSpPr>
          <p:cNvPr id="19" name="Rounded Rectangle 18"/>
          <p:cNvSpPr/>
          <p:nvPr/>
        </p:nvSpPr>
        <p:spPr>
          <a:xfrm>
            <a:off x="8138160" y="2011680"/>
            <a:ext cx="3657600" cy="196596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2011680"/>
            <a:ext cx="502920" cy="196596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2011680"/>
            <a:ext cx="502920" cy="1965960"/>
          </a:xfrm>
          <a:prstGeom prst="rect">
            <a:avLst/>
          </a:prstGeom>
          <a:noFill/>
        </p:spPr>
        <p:txBody>
          <a:bodyPr wrap="square" anchor="ctr">
            <a:spAutoFit/>
          </a:bodyPr>
          <a:lstStyle/>
          <a:p>
            <a:pPr algn="ctr"/>
            <a:r>
              <a:rPr sz="2000" b="1">
                <a:solidFill>
                  <a:srgbClr val="1A1A1A"/>
                </a:solidFill>
                <a:latin typeface="Verdana"/>
                <a:ea typeface="Verdana"/>
                <a:cs typeface="Verdana"/>
              </a:rPr>
              <a:t>3</a:t>
            </a:r>
          </a:p>
        </p:txBody>
      </p:sp>
      <p:sp>
        <p:nvSpPr>
          <p:cNvPr id="22" name="TextBox 21"/>
          <p:cNvSpPr txBox="1"/>
          <p:nvPr/>
        </p:nvSpPr>
        <p:spPr>
          <a:xfrm>
            <a:off x="8778240" y="2176272"/>
            <a:ext cx="2834640" cy="502920"/>
          </a:xfrm>
          <a:prstGeom prst="rect">
            <a:avLst/>
          </a:prstGeom>
          <a:noFill/>
        </p:spPr>
        <p:txBody>
          <a:bodyPr wrap="square" anchor="t">
            <a:spAutoFit/>
          </a:bodyPr>
          <a:lstStyle/>
          <a:p>
            <a:pPr algn="l"/>
            <a:r>
              <a:rPr sz="1400" b="1">
                <a:solidFill>
                  <a:srgbClr val="1A1A1A"/>
                </a:solidFill>
                <a:latin typeface="Verdana"/>
                <a:ea typeface="Verdana"/>
                <a:cs typeface="Verdana"/>
              </a:rPr>
              <a:t>Мало людей в офисе</a:t>
            </a:r>
          </a:p>
        </p:txBody>
      </p:sp>
      <p:sp>
        <p:nvSpPr>
          <p:cNvPr id="23" name="TextBox 22"/>
          <p:cNvSpPr txBox="1"/>
          <p:nvPr/>
        </p:nvSpPr>
        <p:spPr>
          <a:xfrm>
            <a:off x="8778240" y="2697480"/>
            <a:ext cx="2834640" cy="1097280"/>
          </a:xfrm>
          <a:prstGeom prst="rect">
            <a:avLst/>
          </a:prstGeom>
          <a:noFill/>
        </p:spPr>
        <p:txBody>
          <a:bodyPr wrap="square" anchor="t">
            <a:spAutoFit/>
          </a:bodyPr>
          <a:lstStyle/>
          <a:p>
            <a:pPr algn="l"/>
            <a:r>
              <a:rPr sz="1200" b="0">
                <a:solidFill>
                  <a:srgbClr val="5C5C5C"/>
                </a:solidFill>
                <a:latin typeface="Verdana"/>
                <a:ea typeface="Verdana"/>
                <a:cs typeface="Verdana"/>
              </a:rPr>
              <a:t>Два–пять человек сидят рядом с бухгалтером. Проще подойти лично, чем ставить кабинет.</a:t>
            </a:r>
          </a:p>
        </p:txBody>
      </p:sp>
      <p:sp>
        <p:nvSpPr>
          <p:cNvPr id="24" name="Rounded Rectangle 23"/>
          <p:cNvSpPr/>
          <p:nvPr/>
        </p:nvSpPr>
        <p:spPr>
          <a:xfrm>
            <a:off x="457200" y="4114800"/>
            <a:ext cx="3657600" cy="196596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114800"/>
            <a:ext cx="502920" cy="196596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114800"/>
            <a:ext cx="502920" cy="1965960"/>
          </a:xfrm>
          <a:prstGeom prst="rect">
            <a:avLst/>
          </a:prstGeom>
          <a:noFill/>
        </p:spPr>
        <p:txBody>
          <a:bodyPr wrap="square" anchor="ctr">
            <a:spAutoFit/>
          </a:bodyPr>
          <a:lstStyle/>
          <a:p>
            <a:pPr algn="ctr"/>
            <a:r>
              <a:rPr sz="2000" b="1">
                <a:solidFill>
                  <a:srgbClr val="1A1A1A"/>
                </a:solidFill>
                <a:latin typeface="Verdana"/>
                <a:ea typeface="Verdana"/>
                <a:cs typeface="Verdana"/>
              </a:rPr>
              <a:t>4</a:t>
            </a:r>
          </a:p>
        </p:txBody>
      </p:sp>
      <p:sp>
        <p:nvSpPr>
          <p:cNvPr id="27" name="TextBox 26"/>
          <p:cNvSpPr txBox="1"/>
          <p:nvPr/>
        </p:nvSpPr>
        <p:spPr>
          <a:xfrm>
            <a:off x="1097280" y="4279392"/>
            <a:ext cx="2834640" cy="502920"/>
          </a:xfrm>
          <a:prstGeom prst="rect">
            <a:avLst/>
          </a:prstGeom>
          <a:noFill/>
        </p:spPr>
        <p:txBody>
          <a:bodyPr wrap="square" anchor="t">
            <a:spAutoFit/>
          </a:bodyPr>
          <a:lstStyle/>
          <a:p>
            <a:pPr algn="l"/>
            <a:r>
              <a:rPr sz="1400" b="1">
                <a:solidFill>
                  <a:srgbClr val="1A1A1A"/>
                </a:solidFill>
                <a:latin typeface="Verdana"/>
                <a:ea typeface="Verdana"/>
                <a:cs typeface="Verdana"/>
              </a:rPr>
              <a:t>Телефоны не те</a:t>
            </a:r>
          </a:p>
        </p:txBody>
      </p:sp>
      <p:sp>
        <p:nvSpPr>
          <p:cNvPr id="28" name="TextBox 27"/>
          <p:cNvSpPr txBox="1"/>
          <p:nvPr/>
        </p:nvSpPr>
        <p:spPr>
          <a:xfrm>
            <a:off x="1097280" y="4800600"/>
            <a:ext cx="2834640" cy="1097280"/>
          </a:xfrm>
          <a:prstGeom prst="rect">
            <a:avLst/>
          </a:prstGeom>
          <a:noFill/>
        </p:spPr>
        <p:txBody>
          <a:bodyPr wrap="square" anchor="t">
            <a:spAutoFit/>
          </a:bodyPr>
          <a:lstStyle/>
          <a:p>
            <a:pPr algn="l"/>
            <a:r>
              <a:rPr sz="1200" b="0">
                <a:solidFill>
                  <a:srgbClr val="5C5C5C"/>
                </a:solidFill>
                <a:latin typeface="Verdana"/>
                <a:ea typeface="Verdana"/>
                <a:cs typeface="Verdana"/>
              </a:rPr>
              <a:t>На вахте и у возрастных сотрудников кнопочные телефоны. Приложением они не воспользуются.</a:t>
            </a:r>
          </a:p>
        </p:txBody>
      </p:sp>
      <p:sp>
        <p:nvSpPr>
          <p:cNvPr id="29" name="Rounded Rectangle 28"/>
          <p:cNvSpPr/>
          <p:nvPr/>
        </p:nvSpPr>
        <p:spPr>
          <a:xfrm>
            <a:off x="4297680" y="4114800"/>
            <a:ext cx="3657600" cy="196596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97680" y="4114800"/>
            <a:ext cx="502920" cy="196596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7680" y="4114800"/>
            <a:ext cx="502920" cy="1965960"/>
          </a:xfrm>
          <a:prstGeom prst="rect">
            <a:avLst/>
          </a:prstGeom>
          <a:noFill/>
        </p:spPr>
        <p:txBody>
          <a:bodyPr wrap="square" anchor="ctr">
            <a:spAutoFit/>
          </a:bodyPr>
          <a:lstStyle/>
          <a:p>
            <a:pPr algn="ctr"/>
            <a:r>
              <a:rPr sz="2000" b="1">
                <a:solidFill>
                  <a:srgbClr val="1A1A1A"/>
                </a:solidFill>
                <a:latin typeface="Verdana"/>
                <a:ea typeface="Verdana"/>
                <a:cs typeface="Verdana"/>
              </a:rPr>
              <a:t>5</a:t>
            </a:r>
          </a:p>
        </p:txBody>
      </p:sp>
      <p:sp>
        <p:nvSpPr>
          <p:cNvPr id="32" name="TextBox 31"/>
          <p:cNvSpPr txBox="1"/>
          <p:nvPr/>
        </p:nvSpPr>
        <p:spPr>
          <a:xfrm>
            <a:off x="4937760" y="4279392"/>
            <a:ext cx="2834640" cy="502920"/>
          </a:xfrm>
          <a:prstGeom prst="rect">
            <a:avLst/>
          </a:prstGeom>
          <a:noFill/>
        </p:spPr>
        <p:txBody>
          <a:bodyPr wrap="square" anchor="t">
            <a:spAutoFit/>
          </a:bodyPr>
          <a:lstStyle/>
          <a:p>
            <a:pPr algn="l"/>
            <a:r>
              <a:rPr sz="1400" b="1">
                <a:solidFill>
                  <a:srgbClr val="1A1A1A"/>
                </a:solidFill>
                <a:latin typeface="Verdana"/>
                <a:ea typeface="Verdana"/>
                <a:cs typeface="Verdana"/>
              </a:rPr>
              <a:t>Не будут пользоваться</a:t>
            </a:r>
          </a:p>
        </p:txBody>
      </p:sp>
      <p:sp>
        <p:nvSpPr>
          <p:cNvPr id="33" name="TextBox 32"/>
          <p:cNvSpPr txBox="1"/>
          <p:nvPr/>
        </p:nvSpPr>
        <p:spPr>
          <a:xfrm>
            <a:off x="4937760" y="4800600"/>
            <a:ext cx="2834640" cy="1097280"/>
          </a:xfrm>
          <a:prstGeom prst="rect">
            <a:avLst/>
          </a:prstGeom>
          <a:noFill/>
        </p:spPr>
        <p:txBody>
          <a:bodyPr wrap="square" anchor="t">
            <a:spAutoFit/>
          </a:bodyPr>
          <a:lstStyle/>
          <a:p>
            <a:pPr algn="l"/>
            <a:r>
              <a:rPr sz="1200" b="0">
                <a:solidFill>
                  <a:srgbClr val="5C5C5C"/>
                </a:solidFill>
                <a:latin typeface="Verdana"/>
                <a:ea typeface="Verdana"/>
                <a:cs typeface="Verdana"/>
              </a:rPr>
              <a:t>Люди всё равно напишут бухгалтеру в чат. Приложение не приживётся — пользы не увидят.</a:t>
            </a:r>
          </a:p>
        </p:txBody>
      </p:sp>
      <p:sp>
        <p:nvSpPr>
          <p:cNvPr id="34" name="Rounded Rectangle 33"/>
          <p:cNvSpPr/>
          <p:nvPr/>
        </p:nvSpPr>
        <p:spPr>
          <a:xfrm>
            <a:off x="8138160" y="4114800"/>
            <a:ext cx="3657600" cy="196596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4114800"/>
            <a:ext cx="502920" cy="196596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38160" y="4114800"/>
            <a:ext cx="502920" cy="1965960"/>
          </a:xfrm>
          <a:prstGeom prst="rect">
            <a:avLst/>
          </a:prstGeom>
          <a:noFill/>
        </p:spPr>
        <p:txBody>
          <a:bodyPr wrap="square" anchor="ctr">
            <a:spAutoFit/>
          </a:bodyPr>
          <a:lstStyle/>
          <a:p>
            <a:pPr algn="ctr"/>
            <a:r>
              <a:rPr sz="2000" b="1">
                <a:solidFill>
                  <a:srgbClr val="1A1A1A"/>
                </a:solidFill>
                <a:latin typeface="Verdana"/>
                <a:ea typeface="Verdana"/>
                <a:cs typeface="Verdana"/>
              </a:rPr>
              <a:t>6</a:t>
            </a:r>
          </a:p>
        </p:txBody>
      </p:sp>
      <p:sp>
        <p:nvSpPr>
          <p:cNvPr id="37" name="TextBox 36"/>
          <p:cNvSpPr txBox="1"/>
          <p:nvPr/>
        </p:nvSpPr>
        <p:spPr>
          <a:xfrm>
            <a:off x="8778240" y="4279392"/>
            <a:ext cx="2834640" cy="502920"/>
          </a:xfrm>
          <a:prstGeom prst="rect">
            <a:avLst/>
          </a:prstGeom>
          <a:noFill/>
        </p:spPr>
        <p:txBody>
          <a:bodyPr wrap="square" anchor="t">
            <a:spAutoFit/>
          </a:bodyPr>
          <a:lstStyle/>
          <a:p>
            <a:pPr algn="l"/>
            <a:r>
              <a:rPr sz="1400" b="1">
                <a:solidFill>
                  <a:srgbClr val="1A1A1A"/>
                </a:solidFill>
                <a:latin typeface="Verdana"/>
                <a:ea typeface="Verdana"/>
                <a:cs typeface="Verdana"/>
              </a:rPr>
              <a:t>Нужно согласовать</a:t>
            </a:r>
          </a:p>
        </p:txBody>
      </p:sp>
      <p:sp>
        <p:nvSpPr>
          <p:cNvPr id="38" name="TextBox 37"/>
          <p:cNvSpPr txBox="1"/>
          <p:nvPr/>
        </p:nvSpPr>
        <p:spPr>
          <a:xfrm>
            <a:off x="8778240" y="4800600"/>
            <a:ext cx="2834640" cy="1097280"/>
          </a:xfrm>
          <a:prstGeom prst="rect">
            <a:avLst/>
          </a:prstGeom>
          <a:noFill/>
        </p:spPr>
        <p:txBody>
          <a:bodyPr wrap="square" anchor="t">
            <a:spAutoFit/>
          </a:bodyPr>
          <a:lstStyle/>
          <a:p>
            <a:pPr algn="l"/>
            <a:r>
              <a:rPr sz="1200" b="0">
                <a:solidFill>
                  <a:srgbClr val="5C5C5C"/>
                </a:solidFill>
                <a:latin typeface="Verdana"/>
                <a:ea typeface="Verdana"/>
                <a:cs typeface="Verdana"/>
              </a:rPr>
              <a:t>Понравилось, но решение за директором, юристом или тем, кто отвечает за безопасность данных.</a:t>
            </a:r>
          </a:p>
        </p:txBody>
      </p:sp>
      <p:sp>
        <p:nvSpPr>
          <p:cNvPr id="39" name="Rectangle 38"/>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41" name="TextBox 40"/>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forus.png"/>
          <p:cNvPicPr>
            <a:picLocks noChangeAspect="1"/>
          </p:cNvPicPr>
          <p:nvPr/>
        </p:nvPicPr>
        <p:blipFill>
          <a:blip r:embed="rId2"/>
          <a:stretch>
            <a:fillRect/>
          </a:stretch>
        </p:blipFill>
        <p:spPr>
          <a:xfrm>
            <a:off x="457200" y="201168"/>
            <a:ext cx="980049" cy="347472"/>
          </a:xfrm>
          <a:prstGeom prst="rect">
            <a:avLst/>
          </a:prstGeom>
        </p:spPr>
      </p:pic>
      <p:pic>
        <p:nvPicPr>
          <p:cNvPr id="4" name="Picture 3" descr="wave_tr.png"/>
          <p:cNvPicPr>
            <a:picLocks noChangeAspect="1"/>
          </p:cNvPicPr>
          <p:nvPr/>
        </p:nvPicPr>
        <p:blipFill>
          <a:blip r:embed="rId3"/>
          <a:stretch>
            <a:fillRect/>
          </a:stretch>
        </p:blipFill>
        <p:spPr>
          <a:xfrm>
            <a:off x="9646920" y="-45720"/>
            <a:ext cx="2651760" cy="883920"/>
          </a:xfrm>
          <a:prstGeom prst="rect">
            <a:avLst/>
          </a:prstGeom>
        </p:spPr>
      </p:pic>
      <p:sp>
        <p:nvSpPr>
          <p:cNvPr id="5" name="TextBox 4"/>
          <p:cNvSpPr txBox="1"/>
          <p:nvPr/>
        </p:nvSpPr>
        <p:spPr>
          <a:xfrm>
            <a:off x="457200" y="658368"/>
            <a:ext cx="11155680" cy="256032"/>
          </a:xfrm>
          <a:prstGeom prst="rect">
            <a:avLst/>
          </a:prstGeom>
          <a:noFill/>
        </p:spPr>
        <p:txBody>
          <a:bodyPr wrap="square" anchor="t">
            <a:spAutoFit/>
          </a:bodyPr>
          <a:lstStyle/>
          <a:p>
            <a:pPr algn="l"/>
            <a:r>
              <a:rPr sz="1100" b="1">
                <a:solidFill>
                  <a:srgbClr val="395F75"/>
                </a:solidFill>
                <a:latin typeface="Verdana"/>
                <a:ea typeface="Verdana"/>
                <a:cs typeface="Verdana"/>
              </a:rPr>
              <a:t>Дальше</a:t>
            </a:r>
          </a:p>
        </p:txBody>
      </p:sp>
      <p:sp>
        <p:nvSpPr>
          <p:cNvPr id="6" name="TextBox 5"/>
          <p:cNvSpPr txBox="1"/>
          <p:nvPr/>
        </p:nvSpPr>
        <p:spPr>
          <a:xfrm>
            <a:off x="457200" y="896112"/>
            <a:ext cx="11155680" cy="502920"/>
          </a:xfrm>
          <a:prstGeom prst="rect">
            <a:avLst/>
          </a:prstGeom>
          <a:noFill/>
        </p:spPr>
        <p:txBody>
          <a:bodyPr wrap="square" anchor="t">
            <a:spAutoFit/>
          </a:bodyPr>
          <a:lstStyle/>
          <a:p>
            <a:pPr algn="l"/>
            <a:r>
              <a:rPr sz="2400" b="1">
                <a:solidFill>
                  <a:srgbClr val="1A1A1A"/>
                </a:solidFill>
                <a:latin typeface="Verdana"/>
                <a:ea typeface="Verdana"/>
                <a:cs typeface="Verdana"/>
              </a:rPr>
              <a:t>На чём держим внимание</a:t>
            </a:r>
          </a:p>
        </p:txBody>
      </p:sp>
      <p:sp>
        <p:nvSpPr>
          <p:cNvPr id="7" name="Rectangle 6"/>
          <p:cNvSpPr/>
          <p:nvPr/>
        </p:nvSpPr>
        <p:spPr>
          <a:xfrm>
            <a:off x="457200" y="1417320"/>
            <a:ext cx="1234440" cy="6400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1691640"/>
            <a:ext cx="11247120" cy="960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691640"/>
            <a:ext cx="96012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691640"/>
            <a:ext cx="960120" cy="960120"/>
          </a:xfrm>
          <a:prstGeom prst="rect">
            <a:avLst/>
          </a:prstGeom>
          <a:noFill/>
        </p:spPr>
        <p:txBody>
          <a:bodyPr wrap="square" anchor="ctr">
            <a:spAutoFit/>
          </a:bodyPr>
          <a:lstStyle/>
          <a:p>
            <a:pPr algn="ctr"/>
            <a:r>
              <a:rPr sz="2400" b="1">
                <a:solidFill>
                  <a:srgbClr val="1A1A1A"/>
                </a:solidFill>
                <a:latin typeface="Verdana"/>
                <a:ea typeface="Verdana"/>
                <a:cs typeface="Verdana"/>
              </a:rPr>
              <a:t>1</a:t>
            </a:r>
          </a:p>
        </p:txBody>
      </p:sp>
      <p:sp>
        <p:nvSpPr>
          <p:cNvPr id="11" name="TextBox 10"/>
          <p:cNvSpPr txBox="1"/>
          <p:nvPr/>
        </p:nvSpPr>
        <p:spPr>
          <a:xfrm>
            <a:off x="1645920" y="1828800"/>
            <a:ext cx="9692640" cy="320040"/>
          </a:xfrm>
          <a:prstGeom prst="rect">
            <a:avLst/>
          </a:prstGeom>
          <a:noFill/>
        </p:spPr>
        <p:txBody>
          <a:bodyPr wrap="square" anchor="t">
            <a:spAutoFit/>
          </a:bodyPr>
          <a:lstStyle/>
          <a:p>
            <a:pPr algn="l"/>
            <a:r>
              <a:rPr sz="1600" b="1">
                <a:solidFill>
                  <a:srgbClr val="1A1A1A"/>
                </a:solidFill>
                <a:latin typeface="Verdana"/>
                <a:ea typeface="Verdana"/>
                <a:cs typeface="Verdana"/>
              </a:rPr>
              <a:t>Больше записей на показ</a:t>
            </a:r>
          </a:p>
        </p:txBody>
      </p:sp>
      <p:sp>
        <p:nvSpPr>
          <p:cNvPr id="12" name="TextBox 11"/>
          <p:cNvSpPr txBox="1"/>
          <p:nvPr/>
        </p:nvSpPr>
        <p:spPr>
          <a:xfrm>
            <a:off x="1645920" y="2167128"/>
            <a:ext cx="9692640" cy="384048"/>
          </a:xfrm>
          <a:prstGeom prst="rect">
            <a:avLst/>
          </a:prstGeom>
          <a:noFill/>
        </p:spPr>
        <p:txBody>
          <a:bodyPr wrap="square" anchor="t">
            <a:spAutoFit/>
          </a:bodyPr>
          <a:lstStyle/>
          <a:p>
            <a:pPr algn="l"/>
            <a:r>
              <a:rPr sz="1300" b="0">
                <a:solidFill>
                  <a:srgbClr val="5C5C5C"/>
                </a:solidFill>
                <a:latin typeface="Verdana"/>
                <a:ea typeface="Verdana"/>
                <a:cs typeface="Verdana"/>
              </a:rPr>
              <a:t>Сделок уже 70, а на показ записались 12 человек. После интереса сразу предлагаем конкретную дату встречи.</a:t>
            </a:r>
          </a:p>
        </p:txBody>
      </p:sp>
      <p:sp>
        <p:nvSpPr>
          <p:cNvPr id="13" name="Rounded Rectangle 12"/>
          <p:cNvSpPr/>
          <p:nvPr/>
        </p:nvSpPr>
        <p:spPr>
          <a:xfrm>
            <a:off x="457200" y="2743200"/>
            <a:ext cx="11247120" cy="960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96012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960120" cy="960120"/>
          </a:xfrm>
          <a:prstGeom prst="rect">
            <a:avLst/>
          </a:prstGeom>
          <a:noFill/>
        </p:spPr>
        <p:txBody>
          <a:bodyPr wrap="square" anchor="ctr">
            <a:spAutoFit/>
          </a:bodyPr>
          <a:lstStyle/>
          <a:p>
            <a:pPr algn="ctr"/>
            <a:r>
              <a:rPr sz="2400" b="1">
                <a:solidFill>
                  <a:srgbClr val="1A1A1A"/>
                </a:solidFill>
                <a:latin typeface="Verdana"/>
                <a:ea typeface="Verdana"/>
                <a:cs typeface="Verdana"/>
              </a:rPr>
              <a:t>2</a:t>
            </a:r>
          </a:p>
        </p:txBody>
      </p:sp>
      <p:sp>
        <p:nvSpPr>
          <p:cNvPr id="16" name="TextBox 15"/>
          <p:cNvSpPr txBox="1"/>
          <p:nvPr/>
        </p:nvSpPr>
        <p:spPr>
          <a:xfrm>
            <a:off x="1645920" y="2880360"/>
            <a:ext cx="9692640" cy="320040"/>
          </a:xfrm>
          <a:prstGeom prst="rect">
            <a:avLst/>
          </a:prstGeom>
          <a:noFill/>
        </p:spPr>
        <p:txBody>
          <a:bodyPr wrap="square" anchor="t">
            <a:spAutoFit/>
          </a:bodyPr>
          <a:lstStyle/>
          <a:p>
            <a:pPr algn="l"/>
            <a:r>
              <a:rPr sz="1600" b="1">
                <a:solidFill>
                  <a:srgbClr val="1A1A1A"/>
                </a:solidFill>
                <a:latin typeface="Verdana"/>
                <a:ea typeface="Verdana"/>
                <a:cs typeface="Verdana"/>
              </a:rPr>
              <a:t>Два сервиса — отдельная пометка</a:t>
            </a:r>
          </a:p>
        </p:txBody>
      </p:sp>
      <p:sp>
        <p:nvSpPr>
          <p:cNvPr id="17" name="TextBox 16"/>
          <p:cNvSpPr txBox="1"/>
          <p:nvPr/>
        </p:nvSpPr>
        <p:spPr>
          <a:xfrm>
            <a:off x="1645920" y="3218688"/>
            <a:ext cx="9692640" cy="384048"/>
          </a:xfrm>
          <a:prstGeom prst="rect">
            <a:avLst/>
          </a:prstGeom>
          <a:noFill/>
        </p:spPr>
        <p:txBody>
          <a:bodyPr wrap="square" anchor="t">
            <a:spAutoFit/>
          </a:bodyPr>
          <a:lstStyle/>
          <a:p>
            <a:pPr algn="l"/>
            <a:r>
              <a:rPr sz="1300" b="0">
                <a:solidFill>
                  <a:srgbClr val="5C5C5C"/>
                </a:solidFill>
                <a:latin typeface="Verdana"/>
                <a:ea typeface="Verdana"/>
                <a:cs typeface="Verdana"/>
              </a:rPr>
              <a:t>В таблице звонков отдельно отмечать, когда предлагали логистику и Кабинет сотрудника вместе. Иначе не понять, сработала ли эта идея.</a:t>
            </a:r>
          </a:p>
        </p:txBody>
      </p:sp>
      <p:sp>
        <p:nvSpPr>
          <p:cNvPr id="18" name="Rounded Rectangle 17"/>
          <p:cNvSpPr/>
          <p:nvPr/>
        </p:nvSpPr>
        <p:spPr>
          <a:xfrm>
            <a:off x="457200" y="3794760"/>
            <a:ext cx="11247120" cy="960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794760"/>
            <a:ext cx="96012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794760"/>
            <a:ext cx="960120" cy="960120"/>
          </a:xfrm>
          <a:prstGeom prst="rect">
            <a:avLst/>
          </a:prstGeom>
          <a:noFill/>
        </p:spPr>
        <p:txBody>
          <a:bodyPr wrap="square" anchor="ctr">
            <a:spAutoFit/>
          </a:bodyPr>
          <a:lstStyle/>
          <a:p>
            <a:pPr algn="ctr"/>
            <a:r>
              <a:rPr sz="2400" b="1">
                <a:solidFill>
                  <a:srgbClr val="1A1A1A"/>
                </a:solidFill>
                <a:latin typeface="Verdana"/>
                <a:ea typeface="Verdana"/>
                <a:cs typeface="Verdana"/>
              </a:rPr>
              <a:t>3</a:t>
            </a:r>
          </a:p>
        </p:txBody>
      </p:sp>
      <p:sp>
        <p:nvSpPr>
          <p:cNvPr id="21" name="TextBox 20"/>
          <p:cNvSpPr txBox="1"/>
          <p:nvPr/>
        </p:nvSpPr>
        <p:spPr>
          <a:xfrm>
            <a:off x="1645920" y="3931920"/>
            <a:ext cx="9692640" cy="320040"/>
          </a:xfrm>
          <a:prstGeom prst="rect">
            <a:avLst/>
          </a:prstGeom>
          <a:noFill/>
        </p:spPr>
        <p:txBody>
          <a:bodyPr wrap="square" anchor="t">
            <a:spAutoFit/>
          </a:bodyPr>
          <a:lstStyle/>
          <a:p>
            <a:pPr algn="l"/>
            <a:r>
              <a:rPr sz="1600" b="1">
                <a:solidFill>
                  <a:srgbClr val="1A1A1A"/>
                </a:solidFill>
                <a:latin typeface="Verdana"/>
                <a:ea typeface="Verdana"/>
                <a:cs typeface="Verdana"/>
              </a:rPr>
              <a:t>Работать с отказами после показа</a:t>
            </a:r>
          </a:p>
        </p:txBody>
      </p:sp>
      <p:sp>
        <p:nvSpPr>
          <p:cNvPr id="22" name="TextBox 21"/>
          <p:cNvSpPr txBox="1"/>
          <p:nvPr/>
        </p:nvSpPr>
        <p:spPr>
          <a:xfrm>
            <a:off x="1645920" y="4270248"/>
            <a:ext cx="9692640" cy="384048"/>
          </a:xfrm>
          <a:prstGeom prst="rect">
            <a:avLst/>
          </a:prstGeom>
          <a:noFill/>
        </p:spPr>
        <p:txBody>
          <a:bodyPr wrap="square" anchor="t">
            <a:spAutoFit/>
          </a:bodyPr>
          <a:lstStyle/>
          <a:p>
            <a:pPr algn="l"/>
            <a:r>
              <a:rPr sz="1300" b="0">
                <a:solidFill>
                  <a:srgbClr val="5C5C5C"/>
                </a:solidFill>
                <a:latin typeface="Verdana"/>
                <a:ea typeface="Verdana"/>
                <a:cs typeface="Verdana"/>
              </a:rPr>
              <a:t>Шесть причин повторяются. К каждой — короткий ответ менеджера, чтобы встреча не заканчивалась на «подумаем».</a:t>
            </a:r>
          </a:p>
        </p:txBody>
      </p:sp>
      <p:sp>
        <p:nvSpPr>
          <p:cNvPr id="23" name="Rounded Rectangle 22"/>
          <p:cNvSpPr/>
          <p:nvPr/>
        </p:nvSpPr>
        <p:spPr>
          <a:xfrm>
            <a:off x="457200" y="4846319"/>
            <a:ext cx="11247120" cy="960120"/>
          </a:xfrm>
          <a:prstGeom prst="roundRect">
            <a:avLst>
              <a:gd name="adj" fmla="val 8000"/>
            </a:avLst>
          </a:prstGeom>
          <a:solidFill>
            <a:srgbClr val="FF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46319"/>
            <a:ext cx="960120" cy="960120"/>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46319"/>
            <a:ext cx="960120" cy="960120"/>
          </a:xfrm>
          <a:prstGeom prst="rect">
            <a:avLst/>
          </a:prstGeom>
          <a:noFill/>
        </p:spPr>
        <p:txBody>
          <a:bodyPr wrap="square" anchor="ctr">
            <a:spAutoFit/>
          </a:bodyPr>
          <a:lstStyle/>
          <a:p>
            <a:pPr algn="ctr"/>
            <a:r>
              <a:rPr sz="2400" b="1">
                <a:solidFill>
                  <a:srgbClr val="1A1A1A"/>
                </a:solidFill>
                <a:latin typeface="Verdana"/>
                <a:ea typeface="Verdana"/>
                <a:cs typeface="Verdana"/>
              </a:rPr>
              <a:t>4</a:t>
            </a:r>
          </a:p>
        </p:txBody>
      </p:sp>
      <p:sp>
        <p:nvSpPr>
          <p:cNvPr id="26" name="TextBox 25"/>
          <p:cNvSpPr txBox="1"/>
          <p:nvPr/>
        </p:nvSpPr>
        <p:spPr>
          <a:xfrm>
            <a:off x="1645920" y="4983479"/>
            <a:ext cx="9692640" cy="320040"/>
          </a:xfrm>
          <a:prstGeom prst="rect">
            <a:avLst/>
          </a:prstGeom>
          <a:noFill/>
        </p:spPr>
        <p:txBody>
          <a:bodyPr wrap="square" anchor="t">
            <a:spAutoFit/>
          </a:bodyPr>
          <a:lstStyle/>
          <a:p>
            <a:pPr algn="l"/>
            <a:r>
              <a:rPr sz="1600" b="1">
                <a:solidFill>
                  <a:srgbClr val="1A1A1A"/>
                </a:solidFill>
                <a:latin typeface="Verdana"/>
                <a:ea typeface="Verdana"/>
                <a:cs typeface="Verdana"/>
              </a:rPr>
              <a:t>Сравнить тёплый и первый звонок</a:t>
            </a:r>
          </a:p>
        </p:txBody>
      </p:sp>
      <p:sp>
        <p:nvSpPr>
          <p:cNvPr id="27" name="TextBox 26"/>
          <p:cNvSpPr txBox="1"/>
          <p:nvPr/>
        </p:nvSpPr>
        <p:spPr>
          <a:xfrm>
            <a:off x="1645920" y="5321807"/>
            <a:ext cx="9692640" cy="384048"/>
          </a:xfrm>
          <a:prstGeom prst="rect">
            <a:avLst/>
          </a:prstGeom>
          <a:noFill/>
        </p:spPr>
        <p:txBody>
          <a:bodyPr wrap="square" anchor="t">
            <a:spAutoFit/>
          </a:bodyPr>
          <a:lstStyle/>
          <a:p>
            <a:pPr algn="l"/>
            <a:r>
              <a:rPr sz="1300" b="0">
                <a:solidFill>
                  <a:srgbClr val="5C5C5C"/>
                </a:solidFill>
                <a:latin typeface="Verdana"/>
                <a:ea typeface="Verdana"/>
                <a:cs typeface="Verdana"/>
              </a:rPr>
              <a:t>Отдельно посмотреть: после семинара люди соглашаются чаще, чем при самом первом звонке незнакомой компании?</a:t>
            </a:r>
          </a:p>
        </p:txBody>
      </p:sp>
      <p:sp>
        <p:nvSpPr>
          <p:cNvPr id="28" name="Rectangle 27"/>
          <p:cNvSpPr/>
          <p:nvPr/>
        </p:nvSpPr>
        <p:spPr>
          <a:xfrm>
            <a:off x="0" y="6656832"/>
            <a:ext cx="12191695" cy="201168"/>
          </a:xfrm>
          <a:prstGeom prst="rect">
            <a:avLst/>
          </a:prstGeom>
          <a:solidFill>
            <a:srgbClr val="FECF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473952"/>
            <a:ext cx="8412480" cy="201168"/>
          </a:xfrm>
          <a:prstGeom prst="rect">
            <a:avLst/>
          </a:prstGeom>
          <a:noFill/>
        </p:spPr>
        <p:txBody>
          <a:bodyPr wrap="square" anchor="t">
            <a:spAutoFit/>
          </a:bodyPr>
          <a:lstStyle/>
          <a:p>
            <a:pPr algn="l"/>
            <a:r>
              <a:rPr sz="900" b="0">
                <a:solidFill>
                  <a:srgbClr val="5C5C5C"/>
                </a:solidFill>
                <a:latin typeface="Verdana"/>
                <a:ea typeface="Verdana"/>
                <a:cs typeface="Verdana"/>
              </a:rPr>
              <a:t>ГК Форус  ·  рабочая группа  ·  1С:Кабинет сотрудника</a:t>
            </a:r>
          </a:p>
        </p:txBody>
      </p:sp>
      <p:sp>
        <p:nvSpPr>
          <p:cNvPr id="30" name="TextBox 29"/>
          <p:cNvSpPr txBox="1"/>
          <p:nvPr/>
        </p:nvSpPr>
        <p:spPr>
          <a:xfrm>
            <a:off x="10424160" y="6473952"/>
            <a:ext cx="1280160" cy="201168"/>
          </a:xfrm>
          <a:prstGeom prst="rect">
            <a:avLst/>
          </a:prstGeom>
          <a:noFill/>
        </p:spPr>
        <p:txBody>
          <a:bodyPr wrap="square" anchor="t">
            <a:spAutoFit/>
          </a:bodyPr>
          <a:lstStyle/>
          <a:p>
            <a:pPr algn="r"/>
            <a:r>
              <a:rPr sz="900" b="0">
                <a:solidFill>
                  <a:srgbClr val="5C5C5C"/>
                </a:solidFill>
                <a:latin typeface="Verdana"/>
                <a:ea typeface="Verdana"/>
                <a:cs typeface="Verdana"/>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