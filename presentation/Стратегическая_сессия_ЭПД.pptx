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6583680" cy="4389120"/>
          </a:xfrm>
          <a:prstGeom prst="rect">
            <a:avLst/>
          </a:prstGeom>
        </p:spPr>
      </p:pic>
      <p:pic>
        <p:nvPicPr>
          <p:cNvPr id="3" name="Picture 2" descr="wave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-182880"/>
            <a:ext cx="3474720" cy="2011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4632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СТРАТЕГИЧЕСКАЯ СЕССИЯ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ЭПД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Вопросы к обсуждению: реклама, клиенты,
обратная связь и финансовая модель направления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89120"/>
            <a:ext cx="2194560" cy="109728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Verdana"/>
                <a:ea typeface="Verdana"/>
                <a:cs typeface="Verdana"/>
              </a:rPr>
              <a:t>6 тем  ·  решения и следующие шаги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137160"/>
            <a:ext cx="3291840" cy="1920240"/>
          </a:xfrm>
          <a:prstGeom prst="rect">
            <a:avLst/>
          </a:prstGeom>
        </p:spPr>
      </p:pic>
      <p:pic>
        <p:nvPicPr>
          <p:cNvPr id="3" name="Picture 2" descr="wav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5029200"/>
            <a:ext cx="3291840" cy="1920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0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1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Повестка сессии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7315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3911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39112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Поле «время взятия в работу» заявки с РК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3911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391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039112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Разделение стоимости РК между ЦП и ЦКС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089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36499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649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64992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Продление РК и согласование бюджета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0896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336499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649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364992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ОС от МПП: проблемы, возражения, потребности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348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69087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908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690872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Портрет клиента, который купил ЭПД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4348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469087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6908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690872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Финансовая модель направления ЭПД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137160"/>
            <a:ext cx="3291840" cy="1920240"/>
          </a:xfrm>
          <a:prstGeom prst="rect">
            <a:avLst/>
          </a:prstGeom>
        </p:spPr>
      </p:pic>
      <p:pic>
        <p:nvPicPr>
          <p:cNvPr id="3" name="Picture 2" descr="wav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5029200"/>
            <a:ext cx="3291840" cy="1920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0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1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Поле «время взятия в работу» заявки с РК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Операционный трекинг заявок из рекламной кампании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Что обсуждаем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Добавить поле фиксации времени
взятия заявки в работу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Источник заявок — рекламная
кампания (РК)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Единый стандарт учёта для
команды продаж / сопровождения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59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59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099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Вопросы к решению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Где фиксируем: CRM / Битрикс / другое?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Кто заполняет и в какой момент?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Какие метрики считаем: SLA, скорость
реакции, конверсия?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С какого числа включаем в процесс?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137160"/>
            <a:ext cx="3291840" cy="1920240"/>
          </a:xfrm>
          <a:prstGeom prst="rect">
            <a:avLst/>
          </a:prstGeom>
        </p:spPr>
      </p:pic>
      <p:pic>
        <p:nvPicPr>
          <p:cNvPr id="3" name="Picture 2" descr="wav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5029200"/>
            <a:ext cx="3291840" cy="1920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0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1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Разделение стоимости РК между ЦП и ЦКС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Очная встреча 27.08 — согласование модели распределения затрат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Контекст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Рекламная кампания — общий
инструмент для ЦП и ЦКС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Нужна прозрачная схема
разделения бюджета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Решение фиксируем на очной
встрече 27 августа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59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59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099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К обсуждению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Варианты: 50/50, по лидам,
по выручке, по заявкам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Что входит в стоимость РК?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Как учитываем в P&amp;L
направлений?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Кто владелец бюджета
и кто согласует изменения?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137160"/>
            <a:ext cx="3291840" cy="1920240"/>
          </a:xfrm>
          <a:prstGeom prst="rect">
            <a:avLst/>
          </a:prstGeom>
        </p:spPr>
      </p:pic>
      <p:pic>
        <p:nvPicPr>
          <p:cNvPr id="3" name="Picture 2" descr="wav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5029200"/>
            <a:ext cx="3291840" cy="1920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0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1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Продление РК и согласование бюджета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Текущая рекламная кампания действует до середины сентября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Ситуация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Текущая РК — до середины
сентября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Нужно решение: продлеваем
или останавливаем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Без согласования бюджета
есть риск паузы в лидогенерации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59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59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099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Решения на сессии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Продлеваем / не продлеваем?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На какой срок и с каким бюджетом?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Какие каналы оставляем / меняем?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Кто готовит и кто утверждает
бюджет на следующий период?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137160"/>
            <a:ext cx="3291840" cy="1920240"/>
          </a:xfrm>
          <a:prstGeom prst="rect">
            <a:avLst/>
          </a:prstGeom>
        </p:spPr>
      </p:pic>
      <p:pic>
        <p:nvPicPr>
          <p:cNvPr id="3" name="Picture 2" descr="wav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5029200"/>
            <a:ext cx="3291840" cy="1920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0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1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ОС от МПП по сервису ЭПД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Что говорят клиенты: проблемы, возражения и потребности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Задача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Собрать обратную связь от МПП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Зафиксировать типичные
возражения клиентов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Выделить основные проблемы
и неудовлетворённые потребности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59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59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099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Формат сбора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Короткий опрос / интервью МПП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Единый шаблон: проблема →
возражение → потребность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Срок сбора и ответственный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Как используем ОС: продукт,
продажи, маркетинг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137160"/>
            <a:ext cx="3291840" cy="1920240"/>
          </a:xfrm>
          <a:prstGeom prst="rect">
            <a:avLst/>
          </a:prstGeom>
        </p:spPr>
      </p:pic>
      <p:pic>
        <p:nvPicPr>
          <p:cNvPr id="3" name="Picture 2" descr="wav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5029200"/>
            <a:ext cx="3291840" cy="1920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0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1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Портрет клиента, который купил ЭПД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Сегментация платящих клиентов для точного таргета и продаж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Что собираем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Отрасль, размер, география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Роль ЛПР и триггер покупки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Типичный сценарий сделки
и средний чек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Почему выбрали именно ЭПД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59" y="2240280"/>
            <a:ext cx="5463540" cy="384048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5059" y="2240280"/>
            <a:ext cx="109728" cy="384048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099" y="2441448"/>
            <a:ext cx="50063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Зачем это нужно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Точнее настроить РК и офферы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Усилить скрипты МПП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Отделить «горячих» от
нецелевых лидов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Связать портрет с финмоделью
и прогнозом конверсий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137160"/>
            <a:ext cx="3291840" cy="1920240"/>
          </a:xfrm>
          <a:prstGeom prst="rect">
            <a:avLst/>
          </a:prstGeom>
        </p:spPr>
      </p:pic>
      <p:pic>
        <p:nvPicPr>
          <p:cNvPr id="3" name="Picture 2" descr="wav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5029200"/>
            <a:ext cx="3291840" cy="1920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320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01751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ФОРУС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Финансовая модель направления ЭПД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95F75"/>
                </a:solidFill>
                <a:latin typeface="Verdana"/>
                <a:ea typeface="Verdana"/>
                <a:cs typeface="Verdana"/>
              </a:rPr>
              <a:t>Доходы, затраты, конверсии и сценарии — включая возможный перенос штрафов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09728" cy="365760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Доходы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Титулы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Услуги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Продления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4028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240280"/>
            <a:ext cx="109728" cy="365760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4414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Затраты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Реклама (РК)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Зарплаты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Производство / внедрение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4028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240280"/>
            <a:ext cx="109728" cy="3657600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4414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Прогноз и сценарии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Конверсии по воронке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Базовый / оптимистичный /
пессимистичный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С учётом возможного
переноса штрафов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5A5A5A"/>
                </a:solidFill>
                <a:latin typeface="Verdana"/>
                <a:ea typeface="Verdana"/>
                <a:cs typeface="Verdana"/>
              </a:rPr>
              <a:t>•  Срок подготовки модели
и владелец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EC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601968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ГК Форус  ·  Стратегическая сессия по ЭПД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601968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2B2B2B"/>
                </a:solidFill>
                <a:latin typeface="Verdana"/>
                <a:ea typeface="Verdana"/>
                <a:cs typeface="Verdana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