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Продвижение сервиса</a:t>
            </a:r>
          </a:p>
          <a:p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«1С:Кабинет сотрудника»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Стратегия «Благодарность + Спецпредложение»
для топ-клиентов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Персонализированный подход для увеличения продаж
и укрепления лояльности среди ключевых клиентов в Иркутске</a:t>
            </a:r>
          </a:p>
        </p:txBody>
      </p:sp>
      <p:pic>
        <p:nvPicPr>
          <p:cNvPr id="4" name="Picture 3" descr="icon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Время — деньги, особенно для бухгалтера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5544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05740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8528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Рост нагрузки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224028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Кадровое делопроизводство требует всё больше времени. Бухгалтеры и кадровики перегружены рутиной: расчётные листки, отпуска, больничные.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55448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57400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9208" y="1810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Цифровизация неизбежна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24028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Рынок требует перехода на КЭДО, но многие компании пока не решаются на этот шаг.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749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25196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38528" y="40050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Работа с возражениями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443484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Прямые продажи встречают сопротивление. Сначала показываем заботу — затем предлагаем решение.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51960"/>
            <a:ext cx="685800" cy="685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79208" y="40050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Целевая аудитория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43484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 самых активных и лояльных клиентов — те, кто уже доверяет нам и с большей вероятностью откликнется.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«Тёплый контакт» и выгодное предложение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64592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810512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pic>
        <p:nvPicPr>
          <p:cNvPr id="6" name="Picture 5" descr="icon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847088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5568" y="2606040"/>
            <a:ext cx="1097280" cy="45720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«Приятный сюрприз»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Verdana"/>
                <a:ea typeface="Verdana"/>
                <a:cs typeface="Verdana"/>
              </a:rPr>
              <a:t>Бухгалтеру (ЛПР) отправляется благодарственное письмо в красивой рамке за долголетнее сотрудничество.
Цель: выделиться на фоне спама и вызвать положительные эмоции.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164592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810512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pic>
        <p:nvPicPr>
          <p:cNvPr id="12" name="Picture 11" descr="icon_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847088"/>
            <a:ext cx="822960" cy="822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64608" y="2606040"/>
            <a:ext cx="1097280" cy="45720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278892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«Личный звонок»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Verdana"/>
                <a:ea typeface="Verdana"/>
                <a:cs typeface="Verdana"/>
              </a:rPr>
              <a:t>Через 2–3 дня — персональный созвон менеджера: «Как вам подарок? Хотим предложить персональный тест-драйв…»
Цель: перевести внимание с благодарности на бизнес-выгоду.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5048" y="164592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810512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pic>
        <p:nvPicPr>
          <p:cNvPr id="18" name="Picture 17" descr="icon_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1847088"/>
            <a:ext cx="822960" cy="822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613648" y="2606040"/>
            <a:ext cx="1097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788920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«Специальное предложение»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45 дней бесплатного доступа к «1С:Кабинет сотрудника» с полной настройкой и обучением.
Цель: снять барьер входа и показать пользу на практике.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Ожидаемые результаты и ключевые выгоды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508760"/>
            <a:ext cx="5257800" cy="4389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1709928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Для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57400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Ценность для продажи</a:t>
            </a:r>
          </a:p>
        </p:txBody>
      </p:sp>
      <p:sp>
        <p:nvSpPr>
          <p:cNvPr id="7" name="Oval 6"/>
          <p:cNvSpPr/>
          <p:nvPr/>
        </p:nvSpPr>
        <p:spPr>
          <a:xfrm>
            <a:off x="1161288" y="25603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53288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51460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Снижение нагрузки на персонал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788920"/>
            <a:ext cx="4251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Verdana"/>
                <a:ea typeface="Verdana"/>
                <a:cs typeface="Verdana"/>
              </a:rPr>
              <a:t>Автоматизация рутины, обработка заявок быстрее на 30%</a:t>
            </a:r>
          </a:p>
        </p:txBody>
      </p:sp>
      <p:sp>
        <p:nvSpPr>
          <p:cNvPr id="11" name="Oval 10"/>
          <p:cNvSpPr/>
          <p:nvPr/>
        </p:nvSpPr>
        <p:spPr>
          <a:xfrm>
            <a:off x="1161288" y="333756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31012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29184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Экономия бюджета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566160"/>
            <a:ext cx="4251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Verdana"/>
                <a:ea typeface="Verdana"/>
                <a:cs typeface="Verdana"/>
              </a:rPr>
              <a:t>Сокращение расходов на бумагу, печать и хранение до 70%</a:t>
            </a:r>
          </a:p>
        </p:txBody>
      </p:sp>
      <p:sp>
        <p:nvSpPr>
          <p:cNvPr id="15" name="Oval 14"/>
          <p:cNvSpPr/>
          <p:nvPr/>
        </p:nvSpPr>
        <p:spPr>
          <a:xfrm>
            <a:off x="1161288" y="411480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0873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06908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Юридическая значимость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43400"/>
            <a:ext cx="4251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Verdana"/>
                <a:ea typeface="Verdana"/>
                <a:cs typeface="Verdana"/>
              </a:rPr>
              <a:t>Расчётные листки по ст. 136 ТК РФ с подтверждением получения</a:t>
            </a:r>
          </a:p>
        </p:txBody>
      </p:sp>
      <p:sp>
        <p:nvSpPr>
          <p:cNvPr id="19" name="Oval 18"/>
          <p:cNvSpPr/>
          <p:nvPr/>
        </p:nvSpPr>
        <p:spPr>
          <a:xfrm>
            <a:off x="1161288" y="489204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86460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84632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Современность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5120640"/>
            <a:ext cx="4251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Verdana"/>
                <a:ea typeface="Verdana"/>
                <a:cs typeface="Verdana"/>
              </a:rPr>
              <a:t>Мобильный доступ для сотрудников и прозрачность процессов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508760"/>
            <a:ext cx="5257800" cy="4389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709928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Для нас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057400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KPI проекта</a:t>
            </a:r>
          </a:p>
        </p:txBody>
      </p:sp>
      <p:pic>
        <p:nvPicPr>
          <p:cNvPr id="26" name="Picture 25" descr="icon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14600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78040" y="251460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Конверсия 15–20%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78892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Перевести в активные продажи не менее 15–20% от 100 клиентов</a:t>
            </a:r>
          </a:p>
        </p:txBody>
      </p:sp>
      <p:pic>
        <p:nvPicPr>
          <p:cNvPr id="29" name="Picture 28" descr="icon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91840"/>
            <a:ext cx="438912" cy="4389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78040" y="329184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Укрепление лояльности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56616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Повышение NPS среди ключевых клиентов</a:t>
            </a:r>
          </a:p>
        </p:txBody>
      </p:sp>
      <p:pic>
        <p:nvPicPr>
          <p:cNvPr id="32" name="Picture 31" descr="icon_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069080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78040" y="406908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Имидж партнёра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34340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Статус надёжного партнёра, который заботится о бизнесе клиентов</a:t>
            </a:r>
          </a:p>
        </p:txBody>
      </p:sp>
      <p:pic>
        <p:nvPicPr>
          <p:cNvPr id="35" name="Picture 34" descr="icon_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846320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78040" y="4846320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Рост продаж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12064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Новые подключения сервиса «1С:Кабинет сотрудника»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Бюджет на привлечение 100 клиентов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6968" y="1554480"/>
          <a:ext cx="781811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1554480"/>
                <a:gridCol w="1097280"/>
                <a:gridCol w="1188720"/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Статья расходов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Стоимость за ед., руб.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Кол-во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Итого, руб.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Печать благодарственного письма (А4, цветное)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~ 100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100 шт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10 000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Рамка для письма (А4, пластик/алюминий)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~ 120–200 (опт)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100 шт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12 000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Отправка (заказное письмо по г. Иркутску)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~ 100–150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100 шт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15 000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Итого бюджет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37 000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61120" y="1554480"/>
            <a:ext cx="2377440" cy="288036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737360"/>
            <a:ext cx="1188720" cy="1188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8280" y="29718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Итого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324612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37 000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84048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100 топ-клиентов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7091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Примечание: цены ориентировочные (тендеры и розница в Иркутске). Окончательная стоимость — после уточнения у поставщиков. Заказное письмо обеспечивает отслеживание доставки и подтверждение вручения.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Дорожная карта проекта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234440" y="1691640"/>
            <a:ext cx="9601200" cy="41148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66544" y="156362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057400"/>
            <a:ext cx="265176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Подготовка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неделя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232257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• Сегментация базы: 100 активных клиентов
• Дизайн и текст благодарности
• Поиск поставщиков, закупка</a:t>
            </a:r>
          </a:p>
        </p:txBody>
      </p:sp>
      <p:sp>
        <p:nvSpPr>
          <p:cNvPr id="12" name="Oval 11"/>
          <p:cNvSpPr/>
          <p:nvPr/>
        </p:nvSpPr>
        <p:spPr>
          <a:xfrm>
            <a:off x="4901184" y="156362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1608" y="2057400"/>
            <a:ext cx="265176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19456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6974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Отправка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154680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1–2 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11880"/>
            <a:ext cx="232257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• Печать, рамки, подписание
• Отправка заказными письмами
• по г. Иркутску</a:t>
            </a:r>
          </a:p>
        </p:txBody>
      </p:sp>
      <p:sp>
        <p:nvSpPr>
          <p:cNvPr id="19" name="Oval 18"/>
          <p:cNvSpPr/>
          <p:nvPr/>
        </p:nvSpPr>
        <p:spPr>
          <a:xfrm>
            <a:off x="7735824" y="156362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2057400"/>
            <a:ext cx="265176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19456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974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Обработка звонков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154680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 недели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11880"/>
            <a:ext cx="232257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• Скрипты для менеджеров
• Обзвон после получения
• Вебинары / демонстрации</a:t>
            </a:r>
          </a:p>
        </p:txBody>
      </p:sp>
      <p:sp>
        <p:nvSpPr>
          <p:cNvPr id="26" name="Oval 25"/>
          <p:cNvSpPr/>
          <p:nvPr/>
        </p:nvSpPr>
        <p:spPr>
          <a:xfrm>
            <a:off x="10570464" y="156362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90888" y="2057400"/>
            <a:ext cx="265176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19456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69748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Анализ результатов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154680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неделя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611880"/>
            <a:ext cx="232257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• Подсчёт конверсий
• Сбор обратной связи
• Отчёт о результатах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Простое решение для больших продаж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630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" y="1755648"/>
            <a:ext cx="329184" cy="329184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75564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1627632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Эмоции → доверие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3852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Дарим приятные эмоции — получаем доверие и шанс презентовать полезный продукт.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4688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" y="2761488"/>
            <a:ext cx="329184" cy="329184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76148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633472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Бюджет как баннер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94436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37 000 ₽ — стоимость одного небольшого рекламного баннера, но с более высокой потенциальной конверсией.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4747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8136" y="3767328"/>
            <a:ext cx="329184" cy="329184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76732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639312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Помогаем, а не продаём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95020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Решаем реальные проблемы клиентов (загруженность, бумаги) и укрепляем отношения.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463040"/>
            <a:ext cx="2743200" cy="384048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737360"/>
            <a:ext cx="1371600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0" y="338328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ПРОШУ
ОДОБРИТЬ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51960"/>
            <a:ext cx="2377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Пилотный проект
бюджет 37 000 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