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6"/>
  </p:notesMasterIdLst>
  <p:handoutMasterIdLst>
    <p:handoutMasterId r:id="rId47"/>
  </p:handout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Шафрановый шаблон" id="{FBFB8EBD-73BD-4F84-9F02-556D73907D89}">
          <p14:sldIdLst>
            <p14:sldId id="277"/>
            <p14:sldId id="297"/>
            <p14:sldId id="296"/>
            <p14:sldId id="278"/>
            <p14:sldId id="295"/>
            <p14:sldId id="309"/>
            <p14:sldId id="310"/>
            <p14:sldId id="319"/>
            <p14:sldId id="318"/>
            <p14:sldId id="314"/>
            <p14:sldId id="271"/>
            <p14:sldId id="261"/>
            <p14:sldId id="294"/>
            <p14:sldId id="279"/>
            <p14:sldId id="280"/>
            <p14:sldId id="290"/>
            <p14:sldId id="281"/>
            <p14:sldId id="291"/>
            <p14:sldId id="300"/>
            <p14:sldId id="298"/>
            <p14:sldId id="299"/>
            <p14:sldId id="306"/>
            <p14:sldId id="292"/>
            <p14:sldId id="293"/>
            <p14:sldId id="308"/>
            <p14:sldId id="313"/>
            <p14:sldId id="316"/>
            <p14:sldId id="303"/>
            <p14:sldId id="272"/>
            <p14:sldId id="273"/>
            <p14:sldId id="305"/>
            <p14:sldId id="304"/>
            <p14:sldId id="258"/>
            <p14:sldId id="259"/>
            <p14:sldId id="260"/>
            <p14:sldId id="282"/>
            <p14:sldId id="307"/>
            <p14:sldId id="284"/>
            <p14:sldId id="301"/>
            <p14:sldId id="285"/>
            <p14:sldId id="288"/>
            <p14:sldId id="315"/>
            <p14:sldId id="320"/>
            <p14:sldId id="283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F66"/>
    <a:srgbClr val="D64A4A"/>
    <a:srgbClr val="385E75"/>
    <a:srgbClr val="F7DB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Светлый стиль 3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65" autoAdjust="0"/>
    <p:restoredTop sz="96395" autoAdjust="0"/>
  </p:normalViewPr>
  <p:slideViewPr>
    <p:cSldViewPr snapToGrid="0">
      <p:cViewPr varScale="1">
        <p:scale>
          <a:sx n="101" d="100"/>
          <a:sy n="101" d="100"/>
        </p:scale>
        <p:origin x="882" y="1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2406" y="-54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46" Type="http://schemas.openxmlformats.org/officeDocument/2006/relationships/notesMaster" Target="notesMasters/notesMaster1.xml"/><Relationship Id="rId47" Type="http://schemas.openxmlformats.org/officeDocument/2006/relationships/handoutMaster" Target="handoutMasters/handout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178FD9-E883-405F-84A7-48BE6C1C4639}" type="datetimeFigureOut">
              <a:rPr lang="ru-RU" smtClean="0"/>
              <a:t>10.03.2025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D83DF0-6FC0-4BAF-9BAA-AC3E7DD339B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24204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F1DD30-20F5-456A-A91D-5E5E2AE4E96B}" type="datetimeFigureOut">
              <a:rPr lang="ru-RU" smtClean="0"/>
              <a:t>10.03.2025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AD6420-324F-4B35-AE1D-31198132CD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3850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874713" y="1592673"/>
            <a:ext cx="6084889" cy="3114405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6000"/>
            </a:lvl1pPr>
          </a:lstStyle>
          <a:p>
            <a:r>
              <a:rPr lang="ru-RU" dirty="0"/>
              <a:t>Название</a:t>
            </a:r>
            <a:br>
              <a:rPr lang="ru-RU" dirty="0"/>
            </a:br>
            <a:r>
              <a:rPr lang="ru-RU" dirty="0"/>
              <a:t>Заголовок доклада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874714" y="5452140"/>
            <a:ext cx="6084888" cy="776557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Имя Фамилия докладчика</a:t>
            </a:r>
          </a:p>
          <a:p>
            <a:r>
              <a:rPr lang="ru-RU" sz="2400" dirty="0"/>
              <a:t>Должность / Служба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94866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874713" y="3215147"/>
            <a:ext cx="9891610" cy="2081865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6000"/>
            </a:lvl1pPr>
          </a:lstStyle>
          <a:p>
            <a:r>
              <a:rPr lang="ru-RU" dirty="0"/>
              <a:t>Название</a:t>
            </a:r>
            <a:br>
              <a:rPr lang="ru-RU" dirty="0"/>
            </a:br>
            <a:r>
              <a:rPr lang="ru-RU" dirty="0"/>
              <a:t>Заголовок доклада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874714" y="5297013"/>
            <a:ext cx="9891608" cy="776557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Имя Фамилия докладчика</a:t>
            </a:r>
          </a:p>
          <a:p>
            <a:r>
              <a:rPr lang="ru-RU" sz="2400" dirty="0"/>
              <a:t>Должность / Служба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61081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9CBBFDCD-7D7F-4B80-B8B1-819A1E32F0B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74713" y="3215147"/>
            <a:ext cx="9891610" cy="2081865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6000"/>
            </a:lvl1pPr>
          </a:lstStyle>
          <a:p>
            <a:r>
              <a:rPr lang="ru-RU" dirty="0"/>
              <a:t>Название</a:t>
            </a:r>
            <a:br>
              <a:rPr lang="ru-RU" dirty="0"/>
            </a:br>
            <a:r>
              <a:rPr lang="ru-RU" dirty="0"/>
              <a:t>Заголовок доклада</a:t>
            </a:r>
          </a:p>
        </p:txBody>
      </p:sp>
      <p:sp>
        <p:nvSpPr>
          <p:cNvPr id="5" name="Подзаголовок 2">
            <a:extLst>
              <a:ext uri="{FF2B5EF4-FFF2-40B4-BE49-F238E27FC236}">
                <a16:creationId xmlns:a16="http://schemas.microsoft.com/office/drawing/2014/main" id="{43FBD1AF-C1AA-4706-8044-A437628082D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74714" y="5297013"/>
            <a:ext cx="9891608" cy="776557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Имя Фамилия докладчика</a:t>
            </a:r>
          </a:p>
          <a:p>
            <a:r>
              <a:rPr lang="ru-RU" sz="2400" dirty="0"/>
              <a:t>Должность / Служба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956483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лайд с текстом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"/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3BC5D02F-6A7F-488D-8863-2E7D5E916AF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84902" y="1562400"/>
            <a:ext cx="10392697" cy="4012831"/>
          </a:xfrm>
        </p:spPr>
        <p:txBody>
          <a:bodyPr lIns="0" tIns="0" rIns="0" bIns="0" anchor="t" anchorCtr="0">
            <a:normAutofit/>
          </a:bodyPr>
          <a:lstStyle>
            <a:lvl1pPr marL="0" indent="0">
              <a:buFontTx/>
              <a:buNone/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Номер слайда 5">
            <a:extLst>
              <a:ext uri="{FF2B5EF4-FFF2-40B4-BE49-F238E27FC236}">
                <a16:creationId xmlns:a16="http://schemas.microsoft.com/office/drawing/2014/main" id="{2970EFF6-2A86-47BF-957F-C7B6C538C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44582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лайд с текстом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57519A18-1BF8-4938-AEC3-A77314E50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6" name="Текст 6">
            <a:extLst>
              <a:ext uri="{FF2B5EF4-FFF2-40B4-BE49-F238E27FC236}">
                <a16:creationId xmlns:a16="http://schemas.microsoft.com/office/drawing/2014/main" id="{D8AD4F86-5FE3-446D-8780-CDA879DFF7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84902" y="1562400"/>
            <a:ext cx="10392697" cy="4012831"/>
          </a:xfrm>
        </p:spPr>
        <p:txBody>
          <a:bodyPr lIns="0" tIns="0" rIns="0" bIns="0" anchor="t" anchorCtr="0">
            <a:normAutofit/>
          </a:bodyPr>
          <a:lstStyle>
            <a:lvl1pPr marL="0" indent="0">
              <a:buFontTx/>
              <a:buNone/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0593BBA2-AC45-42A4-9428-FC5859BB97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776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Слайд с текстом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8BFBC993-7CB7-4F97-9604-69040108A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71CA5DEB-4E80-4943-910F-68B80795D75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84902" y="1562400"/>
            <a:ext cx="10392697" cy="4012831"/>
          </a:xfrm>
        </p:spPr>
        <p:txBody>
          <a:bodyPr lIns="0" tIns="0" rIns="0" bIns="0" anchor="t" anchorCtr="0">
            <a:normAutofit/>
          </a:bodyPr>
          <a:lstStyle>
            <a:lvl1pPr marL="0" indent="0">
              <a:buFontTx/>
              <a:buNone/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96E871B4-AA94-4D4E-9BBB-98632F8FC5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612812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лайд с фоном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B0A5662A-3631-4B64-9763-487A6E3AD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4" name="Текст 6">
            <a:extLst>
              <a:ext uri="{FF2B5EF4-FFF2-40B4-BE49-F238E27FC236}">
                <a16:creationId xmlns:a16="http://schemas.microsoft.com/office/drawing/2014/main" id="{CED77CCE-A060-47D9-A7C0-7E698FE03F6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84902" y="1562400"/>
            <a:ext cx="10392697" cy="4012831"/>
          </a:xfrm>
        </p:spPr>
        <p:txBody>
          <a:bodyPr lIns="0" tIns="0" rIns="0" bIns="0" anchor="t" anchorCtr="0">
            <a:normAutofit/>
          </a:bodyPr>
          <a:lstStyle>
            <a:lvl1pPr marL="0" indent="0">
              <a:buFontTx/>
              <a:buNone/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784624F-C505-4ADC-B9EB-36ABDDDDD9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453218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лайд с фоном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816A866A-C7E4-46BE-B9A8-81C97693C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6EE71620-56CC-413D-BC0A-00E91094C6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6" name="Текст 6">
            <a:extLst>
              <a:ext uri="{FF2B5EF4-FFF2-40B4-BE49-F238E27FC236}">
                <a16:creationId xmlns:a16="http://schemas.microsoft.com/office/drawing/2014/main" id="{0E8E5EB6-08F5-41BA-A4BA-A663A9CFB4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84902" y="1562400"/>
            <a:ext cx="10392697" cy="4012831"/>
          </a:xfrm>
        </p:spPr>
        <p:txBody>
          <a:bodyPr lIns="0" tIns="0" rIns="0" bIns="0" anchor="t" anchorCtr="0">
            <a:normAutofit/>
          </a:bodyPr>
          <a:lstStyle>
            <a:lvl1pPr marL="0" indent="0">
              <a:buFontTx/>
              <a:buNone/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342865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и нумерованный список в 2 колонки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Текст 6"/>
          <p:cNvSpPr>
            <a:spLocks noGrp="1"/>
          </p:cNvSpPr>
          <p:nvPr>
            <p:ph type="body" sz="quarter" idx="13" hasCustomPrompt="1"/>
          </p:nvPr>
        </p:nvSpPr>
        <p:spPr>
          <a:xfrm>
            <a:off x="5865430" y="1129630"/>
            <a:ext cx="5415345" cy="4330604"/>
          </a:xfrm>
        </p:spPr>
        <p:txBody>
          <a:bodyPr lIns="0" tIns="0" rIns="0" bIns="0" anchor="t" anchorCtr="0">
            <a:normAutofit/>
          </a:bodyPr>
          <a:lstStyle>
            <a:lvl1pPr marL="342900" indent="-342900">
              <a:buFont typeface="+mj-lt"/>
              <a:buAutoNum type="arabicPeriod"/>
              <a:defRPr sz="1800" b="0" baseline="0"/>
            </a:lvl1pPr>
          </a:lstStyle>
          <a:p>
            <a:pPr lvl="0"/>
            <a:r>
              <a:rPr lang="ru-RU" dirty="0"/>
              <a:t>Первый пункт</a:t>
            </a:r>
          </a:p>
          <a:p>
            <a:pPr lvl="0"/>
            <a:r>
              <a:rPr lang="ru-RU" dirty="0"/>
              <a:t>Второй пункт </a:t>
            </a:r>
          </a:p>
          <a:p>
            <a:pPr lvl="0"/>
            <a:r>
              <a:rPr lang="ru-RU" dirty="0"/>
              <a:t>Третий пункт 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CEE474C4-81A0-46FC-BFAC-275D8A403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713" y="963647"/>
            <a:ext cx="4620740" cy="2467616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33CAE1B9-25FF-48B5-A049-B9DC3BEF10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32768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маркированный список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E32A7D44-323D-47D5-A9F0-01D4A9E8A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7132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3E477ECF-E540-4493-B86E-B873B16EA3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5" name="Текст 6">
            <a:extLst>
              <a:ext uri="{FF2B5EF4-FFF2-40B4-BE49-F238E27FC236}">
                <a16:creationId xmlns:a16="http://schemas.microsoft.com/office/drawing/2014/main" id="{D6149728-8AE4-4B5A-97C2-EA2E3AC92A4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4902" y="1562400"/>
            <a:ext cx="10392697" cy="4012831"/>
          </a:xfrm>
        </p:spPr>
        <p:txBody>
          <a:bodyPr lIns="0" tIns="0" rIns="0" bIns="0" anchor="t" anchorCtr="0">
            <a:normAutofit/>
          </a:bodyPr>
          <a:lstStyle>
            <a:lvl1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  <a:defRPr sz="1800" b="0"/>
            </a:lvl1pPr>
            <a:lvl2pPr marL="742950" indent="-285750">
              <a:buClr>
                <a:schemeClr val="accent1"/>
              </a:buClr>
              <a:buFont typeface="Verdana" panose="020B0604030504040204" pitchFamily="34" charset="0"/>
              <a:buChar char="–"/>
              <a:defRPr sz="1800" b="0"/>
            </a:lvl2pPr>
          </a:lstStyle>
          <a:p>
            <a:pPr lvl="0"/>
            <a:r>
              <a:rPr lang="ru-RU" dirty="0"/>
              <a:t>Первая позиция в списке</a:t>
            </a:r>
          </a:p>
          <a:p>
            <a:pPr lvl="0"/>
            <a:r>
              <a:rPr lang="ru-RU" dirty="0"/>
              <a:t>Вторая позиция в списке</a:t>
            </a:r>
          </a:p>
          <a:p>
            <a:pPr lvl="0"/>
            <a:r>
              <a:rPr lang="ru-RU" dirty="0"/>
              <a:t>Третья позиция в списке</a:t>
            </a:r>
          </a:p>
          <a:p>
            <a:pPr lvl="1"/>
            <a:r>
              <a:rPr lang="ru-RU" dirty="0"/>
              <a:t>Второй уровень списка</a:t>
            </a:r>
          </a:p>
          <a:p>
            <a:pPr lvl="1"/>
            <a:r>
              <a:rPr lang="ru-RU" dirty="0"/>
              <a:t>Еще строчка</a:t>
            </a:r>
          </a:p>
        </p:txBody>
      </p:sp>
    </p:spTree>
    <p:extLst>
      <p:ext uri="{BB962C8B-B14F-4D97-AF65-F5344CB8AC3E}">
        <p14:creationId xmlns:p14="http://schemas.microsoft.com/office/powerpoint/2010/main" val="2728259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и маркированный список в 2 колонки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8D56FE66-88BE-40AA-AAA9-8DDD1F2AD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713" y="891219"/>
            <a:ext cx="4620740" cy="2467616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617602DF-5256-4FDD-94C1-5B638A446B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6" name="Текст 6">
            <a:extLst>
              <a:ext uri="{FF2B5EF4-FFF2-40B4-BE49-F238E27FC236}">
                <a16:creationId xmlns:a16="http://schemas.microsoft.com/office/drawing/2014/main" id="{133A49C5-51F3-4E68-A259-6E5B7AC4F31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59776" y="1047774"/>
            <a:ext cx="5517823" cy="4527457"/>
          </a:xfrm>
        </p:spPr>
        <p:txBody>
          <a:bodyPr lIns="0" tIns="0" rIns="0" bIns="0" anchor="t" anchorCtr="0">
            <a:normAutofit/>
          </a:bodyPr>
          <a:lstStyle>
            <a:lvl1pPr marL="285750" indent="-285750">
              <a:buClr>
                <a:schemeClr val="accent1"/>
              </a:buClr>
              <a:buFont typeface="Arial" panose="020B0604020202020204" pitchFamily="34" charset="0"/>
              <a:buChar char="•"/>
              <a:defRPr sz="1800" b="0"/>
            </a:lvl1pPr>
            <a:lvl2pPr marL="742950" indent="-285750">
              <a:buClr>
                <a:schemeClr val="accent1"/>
              </a:buClr>
              <a:buFont typeface="Verdana" panose="020B0604030504040204" pitchFamily="34" charset="0"/>
              <a:buChar char="–"/>
              <a:defRPr sz="1800" b="0"/>
            </a:lvl2pPr>
          </a:lstStyle>
          <a:p>
            <a:pPr lvl="0"/>
            <a:r>
              <a:rPr lang="ru-RU" dirty="0"/>
              <a:t>Первая позиция в списке</a:t>
            </a:r>
          </a:p>
          <a:p>
            <a:pPr lvl="0"/>
            <a:r>
              <a:rPr lang="ru-RU" dirty="0"/>
              <a:t>Вторая позиция в списке</a:t>
            </a:r>
          </a:p>
          <a:p>
            <a:pPr lvl="0"/>
            <a:r>
              <a:rPr lang="ru-RU" dirty="0"/>
              <a:t>Третья позиция в списке</a:t>
            </a:r>
          </a:p>
          <a:p>
            <a:pPr lvl="1"/>
            <a:r>
              <a:rPr lang="ru-RU" dirty="0"/>
              <a:t>Второй уровень списка</a:t>
            </a:r>
          </a:p>
          <a:p>
            <a:pPr lvl="1"/>
            <a:r>
              <a:rPr lang="ru-RU" dirty="0"/>
              <a:t>Еще строчка</a:t>
            </a:r>
          </a:p>
        </p:txBody>
      </p:sp>
    </p:spTree>
    <p:extLst>
      <p:ext uri="{BB962C8B-B14F-4D97-AF65-F5344CB8AC3E}">
        <p14:creationId xmlns:p14="http://schemas.microsoft.com/office/powerpoint/2010/main" val="12705667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 справ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67697" y="762915"/>
            <a:ext cx="4943168" cy="4645025"/>
          </a:xfrm>
        </p:spPr>
        <p:txBody>
          <a:bodyPr anchor="ctr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2" name="Текст 2"/>
          <p:cNvSpPr>
            <a:spLocks noGrp="1"/>
          </p:cNvSpPr>
          <p:nvPr>
            <p:ph idx="1" hasCustomPrompt="1"/>
          </p:nvPr>
        </p:nvSpPr>
        <p:spPr>
          <a:xfrm>
            <a:off x="6381135" y="762915"/>
            <a:ext cx="4943168" cy="4633911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>
            <a:lvl1pPr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8C523A1-EB68-423D-8F90-63E750B7F5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705664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итель_0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865238" y="3215148"/>
            <a:ext cx="5948517" cy="2806240"/>
          </a:xfrm>
        </p:spPr>
        <p:txBody>
          <a:bodyPr anchor="ctr" anchorCtr="0">
            <a:normAutofit/>
          </a:bodyPr>
          <a:lstStyle>
            <a:lvl1pPr>
              <a:defRPr sz="4800" baseline="0"/>
            </a:lvl1pPr>
          </a:lstStyle>
          <a:p>
            <a:r>
              <a:rPr lang="ru-RU" dirty="0"/>
              <a:t>Страница разделитель 01</a:t>
            </a:r>
          </a:p>
        </p:txBody>
      </p:sp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E183D238-B879-455A-91BE-5DFBD2E39E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69279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итель с цифрой_0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Текст 6">
            <a:extLst>
              <a:ext uri="{FF2B5EF4-FFF2-40B4-BE49-F238E27FC236}">
                <a16:creationId xmlns:a16="http://schemas.microsoft.com/office/drawing/2014/main" id="{F0DFD439-0271-4EDC-9E88-A8C8A5616F3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92159" y="478202"/>
            <a:ext cx="4896950" cy="2806239"/>
          </a:xfrm>
        </p:spPr>
        <p:txBody>
          <a:bodyPr lIns="0" tIns="0" rIns="0" bIns="0" anchor="t" anchorCtr="0">
            <a:noAutofit/>
          </a:bodyPr>
          <a:lstStyle>
            <a:lvl1pPr marL="0" indent="0" algn="ctr">
              <a:buFontTx/>
              <a:buNone/>
              <a:defRPr lang="ru-RU" sz="25000" b="1" kern="1200" baseline="0" dirty="0">
                <a:solidFill>
                  <a:schemeClr val="bg1"/>
                </a:solidFill>
                <a:latin typeface="Stolzl" panose="00000500000000000000" pitchFamily="50" charset="-52"/>
                <a:ea typeface="+mj-ea"/>
                <a:cs typeface="+mj-cs"/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294DF25D-F3E4-4185-AB33-DAD8419C2E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5238" y="3820562"/>
            <a:ext cx="5948517" cy="2200826"/>
          </a:xfrm>
        </p:spPr>
        <p:txBody>
          <a:bodyPr anchor="b" anchorCtr="0">
            <a:normAutofit/>
          </a:bodyPr>
          <a:lstStyle>
            <a:lvl1pPr>
              <a:defRPr sz="4800" baseline="0"/>
            </a:lvl1pPr>
          </a:lstStyle>
          <a:p>
            <a:r>
              <a:rPr lang="ru-RU" dirty="0"/>
              <a:t>Страница разделитель 02</a:t>
            </a:r>
          </a:p>
        </p:txBody>
      </p:sp>
      <p:sp>
        <p:nvSpPr>
          <p:cNvPr id="9" name="Текст 6">
            <a:extLst>
              <a:ext uri="{FF2B5EF4-FFF2-40B4-BE49-F238E27FC236}">
                <a16:creationId xmlns:a16="http://schemas.microsoft.com/office/drawing/2014/main" id="{7E9D0740-1D71-4366-99A6-C672EF2E21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452852" y="4621161"/>
            <a:ext cx="3195484" cy="1400227"/>
          </a:xfrm>
        </p:spPr>
        <p:txBody>
          <a:bodyPr lIns="0" tIns="0" rIns="0" bIns="0" anchor="b" anchorCtr="0">
            <a:normAutofit/>
          </a:bodyPr>
          <a:lstStyle>
            <a:lvl1pPr marL="0" indent="0">
              <a:buFontTx/>
              <a:buNone/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47C20D37-BE6F-4F7A-B249-94EC22728A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897763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азделитель_0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B397B02E-0E06-4105-94D2-12E74FD1EB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6021388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21E35BC-10AD-412F-9067-A83FD57ECA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5238" y="2988811"/>
            <a:ext cx="5948517" cy="2806240"/>
          </a:xfrm>
        </p:spPr>
        <p:txBody>
          <a:bodyPr anchor="ctr" anchorCtr="0">
            <a:normAutofit/>
          </a:bodyPr>
          <a:lstStyle>
            <a:lvl1pPr>
              <a:defRPr sz="4800" baseline="0"/>
            </a:lvl1pPr>
          </a:lstStyle>
          <a:p>
            <a:r>
              <a:rPr lang="ru-RU" dirty="0"/>
              <a:t>Страница разделитель 03</a:t>
            </a:r>
          </a:p>
        </p:txBody>
      </p:sp>
    </p:spTree>
    <p:extLst>
      <p:ext uri="{BB962C8B-B14F-4D97-AF65-F5344CB8AC3E}">
        <p14:creationId xmlns:p14="http://schemas.microsoft.com/office/powerpoint/2010/main" val="13685039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Разделитель_0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5">
            <a:extLst>
              <a:ext uri="{FF2B5EF4-FFF2-40B4-BE49-F238E27FC236}">
                <a16:creationId xmlns:a16="http://schemas.microsoft.com/office/drawing/2014/main" id="{B397B02E-0E06-4105-94D2-12E74FD1EB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6021388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B21E35BC-10AD-412F-9067-A83FD57ECA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5238" y="2988811"/>
            <a:ext cx="5948517" cy="2806240"/>
          </a:xfrm>
        </p:spPr>
        <p:txBody>
          <a:bodyPr anchor="ctr" anchorCtr="0">
            <a:normAutofit/>
          </a:bodyPr>
          <a:lstStyle>
            <a:lvl1pPr>
              <a:defRPr sz="4800" baseline="0"/>
            </a:lvl1pPr>
          </a:lstStyle>
          <a:p>
            <a:r>
              <a:rPr lang="ru-RU" dirty="0"/>
              <a:t>Страница разделитель 04</a:t>
            </a:r>
          </a:p>
        </p:txBody>
      </p:sp>
    </p:spTree>
    <p:extLst>
      <p:ext uri="{BB962C8B-B14F-4D97-AF65-F5344CB8AC3E}">
        <p14:creationId xmlns:p14="http://schemas.microsoft.com/office/powerpoint/2010/main" val="2189666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диаграмм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sz="quarter" idx="13" hasCustomPrompt="1"/>
          </p:nvPr>
        </p:nvSpPr>
        <p:spPr>
          <a:xfrm>
            <a:off x="8835461" y="1534625"/>
            <a:ext cx="2442137" cy="4179272"/>
          </a:xfrm>
        </p:spPr>
        <p:txBody>
          <a:bodyPr anchor="ctr" anchorCtr="0">
            <a:normAutofit/>
          </a:bodyPr>
          <a:lstStyle>
            <a:lvl1pPr>
              <a:defRPr sz="1400" b="0"/>
            </a:lvl1pPr>
            <a:lvl4pPr>
              <a:defRPr/>
            </a:lvl4pPr>
          </a:lstStyle>
          <a:p>
            <a:pPr lvl="0"/>
            <a:r>
              <a:rPr lang="ru-RU" dirty="0"/>
              <a:t>Описание диаграммы</a:t>
            </a:r>
          </a:p>
        </p:txBody>
      </p:sp>
      <p:sp>
        <p:nvSpPr>
          <p:cNvPr id="7" name="Диаграмма 6"/>
          <p:cNvSpPr>
            <a:spLocks noGrp="1"/>
          </p:cNvSpPr>
          <p:nvPr>
            <p:ph type="chart" sz="quarter" idx="14"/>
          </p:nvPr>
        </p:nvSpPr>
        <p:spPr>
          <a:xfrm>
            <a:off x="884902" y="1543169"/>
            <a:ext cx="7771376" cy="4179273"/>
          </a:xfrm>
        </p:spPr>
        <p:txBody>
          <a:bodyPr/>
          <a:lstStyle/>
          <a:p>
            <a:endParaRPr lang="ru-RU"/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2F821131-241D-4D09-AE09-799B29595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63282"/>
            <a:ext cx="10392696" cy="954310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id="{F46BE731-9096-4039-BF9A-727DEA4B2E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407668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круговая диаграмм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Заголовок 1"/>
          <p:cNvSpPr>
            <a:spLocks noGrp="1"/>
          </p:cNvSpPr>
          <p:nvPr>
            <p:ph type="title"/>
          </p:nvPr>
        </p:nvSpPr>
        <p:spPr>
          <a:xfrm>
            <a:off x="6343436" y="441325"/>
            <a:ext cx="4938367" cy="1552267"/>
          </a:xfrm>
        </p:spPr>
        <p:txBody>
          <a:bodyPr anchor="ctr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7" name="Диаграмма 6"/>
          <p:cNvSpPr>
            <a:spLocks noGrp="1"/>
          </p:cNvSpPr>
          <p:nvPr>
            <p:ph type="chart" sz="quarter" idx="14"/>
          </p:nvPr>
        </p:nvSpPr>
        <p:spPr>
          <a:xfrm>
            <a:off x="875071" y="441325"/>
            <a:ext cx="4973493" cy="5097156"/>
          </a:xfrm>
        </p:spPr>
        <p:txBody>
          <a:bodyPr/>
          <a:lstStyle/>
          <a:p>
            <a:endParaRPr lang="ru-RU"/>
          </a:p>
        </p:txBody>
      </p:sp>
      <p:sp>
        <p:nvSpPr>
          <p:cNvPr id="15" name="Текст 2"/>
          <p:cNvSpPr>
            <a:spLocks noGrp="1"/>
          </p:cNvSpPr>
          <p:nvPr>
            <p:ph idx="1" hasCustomPrompt="1"/>
          </p:nvPr>
        </p:nvSpPr>
        <p:spPr>
          <a:xfrm>
            <a:off x="6341806" y="2298393"/>
            <a:ext cx="4940197" cy="3240088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>
              <a:defRPr sz="1800" b="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8" name="Номер слайда 5">
            <a:extLst>
              <a:ext uri="{FF2B5EF4-FFF2-40B4-BE49-F238E27FC236}">
                <a16:creationId xmlns:a16="http://schemas.microsoft.com/office/drawing/2014/main" id="{E1FE05CB-6EF4-4FF8-B36B-867271E4E4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3122056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390967" y="1595563"/>
            <a:ext cx="4886631" cy="4045156"/>
          </a:xfrm>
        </p:spPr>
        <p:txBody>
          <a:bodyPr anchor="t" anchorCtr="0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84902" y="1595564"/>
            <a:ext cx="4886631" cy="4045156"/>
          </a:xfrm>
        </p:spPr>
        <p:txBody>
          <a:bodyPr anchor="t" anchorCtr="0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7211C23E-56A6-4164-B8FF-F10658F2B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E7F2573-AD9D-448A-A476-45D5ECB216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077090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Рисунок с подписью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096000" y="2489588"/>
            <a:ext cx="5196348" cy="3185292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Описание, краткая информация</a:t>
            </a:r>
          </a:p>
        </p:txBody>
      </p:sp>
      <p:sp>
        <p:nvSpPr>
          <p:cNvPr id="9" name="Рисунок 8"/>
          <p:cNvSpPr>
            <a:spLocks noGrp="1"/>
          </p:cNvSpPr>
          <p:nvPr>
            <p:ph type="pic" sz="quarter" idx="13"/>
          </p:nvPr>
        </p:nvSpPr>
        <p:spPr>
          <a:xfrm>
            <a:off x="880704" y="1614516"/>
            <a:ext cx="5005388" cy="4060364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10" name="Текст 3"/>
          <p:cNvSpPr>
            <a:spLocks noGrp="1"/>
          </p:cNvSpPr>
          <p:nvPr>
            <p:ph type="body" sz="half" idx="14" hasCustomPrompt="1"/>
          </p:nvPr>
        </p:nvSpPr>
        <p:spPr>
          <a:xfrm>
            <a:off x="6096000" y="1614516"/>
            <a:ext cx="5196348" cy="715962"/>
          </a:xfrm>
        </p:spPr>
        <p:txBody>
          <a:bodyPr anchor="t" anchorCtr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Подпись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475CD4B1-F30F-4145-BA27-A319BB473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52264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E5CEB1CE-04E3-42BD-8823-F5452F1C49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2144142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Рисунка с подписью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90535" y="4965411"/>
            <a:ext cx="4782677" cy="715962"/>
          </a:xfrm>
        </p:spPr>
        <p:txBody>
          <a:bodyPr anchor="b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Описание, краткая информация</a:t>
            </a:r>
          </a:p>
        </p:txBody>
      </p:sp>
      <p:sp>
        <p:nvSpPr>
          <p:cNvPr id="9" name="Рисунок 8"/>
          <p:cNvSpPr>
            <a:spLocks noGrp="1"/>
          </p:cNvSpPr>
          <p:nvPr>
            <p:ph type="pic" sz="quarter" idx="13"/>
          </p:nvPr>
        </p:nvSpPr>
        <p:spPr>
          <a:xfrm>
            <a:off x="890535" y="1514633"/>
            <a:ext cx="4782677" cy="2890556"/>
          </a:xfrm>
        </p:spPr>
        <p:txBody>
          <a:bodyPr/>
          <a:lstStyle/>
          <a:p>
            <a:endParaRPr lang="ru-RU"/>
          </a:p>
        </p:txBody>
      </p:sp>
      <p:sp>
        <p:nvSpPr>
          <p:cNvPr id="10" name="Текст 3"/>
          <p:cNvSpPr>
            <a:spLocks noGrp="1"/>
          </p:cNvSpPr>
          <p:nvPr>
            <p:ph type="body" sz="half" idx="14" hasCustomPrompt="1"/>
          </p:nvPr>
        </p:nvSpPr>
        <p:spPr>
          <a:xfrm>
            <a:off x="890535" y="4536785"/>
            <a:ext cx="4782677" cy="428625"/>
          </a:xfrm>
        </p:spPr>
        <p:txBody>
          <a:bodyPr anchor="b" anchorCtr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Подпись</a:t>
            </a:r>
          </a:p>
        </p:txBody>
      </p:sp>
      <p:sp>
        <p:nvSpPr>
          <p:cNvPr id="14" name="Текст 3"/>
          <p:cNvSpPr>
            <a:spLocks noGrp="1"/>
          </p:cNvSpPr>
          <p:nvPr>
            <p:ph type="body" sz="half" idx="16"/>
          </p:nvPr>
        </p:nvSpPr>
        <p:spPr>
          <a:xfrm>
            <a:off x="6518788" y="4965410"/>
            <a:ext cx="4782677" cy="715962"/>
          </a:xfrm>
        </p:spPr>
        <p:txBody>
          <a:bodyPr anchor="b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Описание, краткая информация</a:t>
            </a:r>
          </a:p>
        </p:txBody>
      </p:sp>
      <p:sp>
        <p:nvSpPr>
          <p:cNvPr id="15" name="Рисунок 8"/>
          <p:cNvSpPr>
            <a:spLocks noGrp="1"/>
          </p:cNvSpPr>
          <p:nvPr>
            <p:ph type="pic" sz="quarter" idx="17"/>
          </p:nvPr>
        </p:nvSpPr>
        <p:spPr>
          <a:xfrm>
            <a:off x="6518788" y="1504646"/>
            <a:ext cx="4782677" cy="2900543"/>
          </a:xfrm>
        </p:spPr>
        <p:txBody>
          <a:bodyPr/>
          <a:lstStyle/>
          <a:p>
            <a:endParaRPr lang="ru-RU"/>
          </a:p>
        </p:txBody>
      </p:sp>
      <p:sp>
        <p:nvSpPr>
          <p:cNvPr id="16" name="Текст 3"/>
          <p:cNvSpPr>
            <a:spLocks noGrp="1"/>
          </p:cNvSpPr>
          <p:nvPr>
            <p:ph type="body" sz="half" idx="18" hasCustomPrompt="1"/>
          </p:nvPr>
        </p:nvSpPr>
        <p:spPr>
          <a:xfrm>
            <a:off x="6518788" y="4536784"/>
            <a:ext cx="4782677" cy="428625"/>
          </a:xfrm>
        </p:spPr>
        <p:txBody>
          <a:bodyPr anchor="b" anchorCtr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Подпись</a:t>
            </a:r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981AEDAF-55A9-4E1C-8323-359C0D961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8FFC0EE2-1895-4B1F-A00C-1F2A313BE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426563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бъект с подписью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Текст 3"/>
          <p:cNvSpPr>
            <a:spLocks noGrp="1"/>
          </p:cNvSpPr>
          <p:nvPr>
            <p:ph type="body" sz="half" idx="2"/>
          </p:nvPr>
        </p:nvSpPr>
        <p:spPr>
          <a:xfrm>
            <a:off x="891280" y="5127584"/>
            <a:ext cx="4927703" cy="715962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Описание, краткая информация</a:t>
            </a:r>
          </a:p>
        </p:txBody>
      </p:sp>
      <p:sp>
        <p:nvSpPr>
          <p:cNvPr id="15" name="Текст 3"/>
          <p:cNvSpPr>
            <a:spLocks noGrp="1"/>
          </p:cNvSpPr>
          <p:nvPr>
            <p:ph type="body" sz="half" idx="14" hasCustomPrompt="1"/>
          </p:nvPr>
        </p:nvSpPr>
        <p:spPr>
          <a:xfrm>
            <a:off x="891280" y="4594184"/>
            <a:ext cx="4927703" cy="533399"/>
          </a:xfrm>
        </p:spPr>
        <p:txBody>
          <a:bodyPr anchor="b" anchorCtr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Подпись</a:t>
            </a:r>
          </a:p>
        </p:txBody>
      </p:sp>
      <p:sp>
        <p:nvSpPr>
          <p:cNvPr id="18" name="Объект 3"/>
          <p:cNvSpPr>
            <a:spLocks noGrp="1"/>
          </p:cNvSpPr>
          <p:nvPr>
            <p:ph sz="half" idx="16"/>
          </p:nvPr>
        </p:nvSpPr>
        <p:spPr>
          <a:xfrm>
            <a:off x="888105" y="1527246"/>
            <a:ext cx="4931385" cy="3004751"/>
          </a:xfrm>
        </p:spPr>
        <p:txBody>
          <a:bodyPr anchor="t" anchorCtr="0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10" name="Текст 3"/>
          <p:cNvSpPr>
            <a:spLocks noGrp="1"/>
          </p:cNvSpPr>
          <p:nvPr>
            <p:ph type="body" sz="half" idx="17"/>
          </p:nvPr>
        </p:nvSpPr>
        <p:spPr>
          <a:xfrm>
            <a:off x="6349420" y="5115850"/>
            <a:ext cx="4927703" cy="715962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0"/>
            <a:r>
              <a:rPr lang="ru-RU" dirty="0"/>
              <a:t>Описание, краткая информация</a:t>
            </a:r>
          </a:p>
        </p:txBody>
      </p:sp>
      <p:sp>
        <p:nvSpPr>
          <p:cNvPr id="16" name="Текст 3"/>
          <p:cNvSpPr>
            <a:spLocks noGrp="1"/>
          </p:cNvSpPr>
          <p:nvPr>
            <p:ph type="body" sz="half" idx="18" hasCustomPrompt="1"/>
          </p:nvPr>
        </p:nvSpPr>
        <p:spPr>
          <a:xfrm>
            <a:off x="6349420" y="4582450"/>
            <a:ext cx="4927703" cy="533399"/>
          </a:xfrm>
        </p:spPr>
        <p:txBody>
          <a:bodyPr anchor="b" anchorCtr="0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Подпись</a:t>
            </a:r>
          </a:p>
        </p:txBody>
      </p:sp>
      <p:sp>
        <p:nvSpPr>
          <p:cNvPr id="17" name="Объект 3"/>
          <p:cNvSpPr>
            <a:spLocks noGrp="1"/>
          </p:cNvSpPr>
          <p:nvPr>
            <p:ph sz="half" idx="19"/>
          </p:nvPr>
        </p:nvSpPr>
        <p:spPr>
          <a:xfrm>
            <a:off x="6346213" y="1514593"/>
            <a:ext cx="4931385" cy="3004751"/>
          </a:xfrm>
        </p:spPr>
        <p:txBody>
          <a:bodyPr anchor="t" anchorCtr="0"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4131546B-EEAC-45C2-AD58-2686120E4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2" y="441325"/>
            <a:ext cx="10392696" cy="985273"/>
          </a:xfrm>
        </p:spPr>
        <p:txBody>
          <a:bodyPr anchor="t" anchorCtr="0"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54BC83B1-EA69-458C-93CC-D83700FA6A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925075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Номер слайда 5">
            <a:extLst>
              <a:ext uri="{FF2B5EF4-FFF2-40B4-BE49-F238E27FC236}">
                <a16:creationId xmlns:a16="http://schemas.microsoft.com/office/drawing/2014/main" id="{253E90FC-F950-4C4B-B0F4-B43F9D7D14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9507819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Последни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874714" y="3429000"/>
            <a:ext cx="6084888" cy="1133788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Имя Фамилия докладчика</a:t>
            </a:r>
          </a:p>
          <a:p>
            <a:r>
              <a:rPr lang="ru-RU" sz="2400" dirty="0"/>
              <a:t>Должность / Служба</a:t>
            </a: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0" hasCustomPrompt="1"/>
          </p:nvPr>
        </p:nvSpPr>
        <p:spPr>
          <a:xfrm>
            <a:off x="874714" y="4588768"/>
            <a:ext cx="3770313" cy="628650"/>
          </a:xfrm>
        </p:spPr>
        <p:txBody>
          <a:bodyPr>
            <a:normAutofit/>
          </a:bodyPr>
          <a:lstStyle>
            <a:lvl1pPr>
              <a:defRPr sz="1800" b="0" baseline="0"/>
            </a:lvl1pPr>
          </a:lstStyle>
          <a:p>
            <a:pPr lvl="0"/>
            <a:r>
              <a:rPr lang="ru-RU" dirty="0"/>
              <a:t>Телефон / эл. почта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0CED1720-7802-4704-90FA-E3029649512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74713" y="1142075"/>
            <a:ext cx="6084889" cy="2254314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4800"/>
            </a:lvl1pPr>
          </a:lstStyle>
          <a:p>
            <a:r>
              <a:rPr lang="ru-RU" dirty="0"/>
              <a:t>Благодарю </a:t>
            </a:r>
            <a:br>
              <a:rPr lang="ru-RU" dirty="0"/>
            </a:br>
            <a:r>
              <a:rPr lang="ru-RU" dirty="0"/>
              <a:t>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51374327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оследни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одзаголовок 2"/>
          <p:cNvSpPr>
            <a:spLocks noGrp="1"/>
          </p:cNvSpPr>
          <p:nvPr>
            <p:ph type="subTitle" idx="1" hasCustomPrompt="1"/>
          </p:nvPr>
        </p:nvSpPr>
        <p:spPr>
          <a:xfrm>
            <a:off x="874713" y="3429000"/>
            <a:ext cx="6084888" cy="1133788"/>
          </a:xfrm>
        </p:spPr>
        <p:txBody>
          <a:bodyPr lIns="0" tIns="0" rIns="0" b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Имя Фамилия докладчика</a:t>
            </a:r>
          </a:p>
          <a:p>
            <a:r>
              <a:rPr lang="ru-RU" sz="2400" dirty="0"/>
              <a:t>Должность / Служба</a:t>
            </a:r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0" hasCustomPrompt="1"/>
          </p:nvPr>
        </p:nvSpPr>
        <p:spPr>
          <a:xfrm>
            <a:off x="874713" y="4588768"/>
            <a:ext cx="3770313" cy="628650"/>
          </a:xfrm>
        </p:spPr>
        <p:txBody>
          <a:bodyPr>
            <a:normAutofit/>
          </a:bodyPr>
          <a:lstStyle>
            <a:lvl1pPr>
              <a:defRPr sz="1800" b="0" baseline="0"/>
            </a:lvl1pPr>
          </a:lstStyle>
          <a:p>
            <a:pPr lvl="0"/>
            <a:r>
              <a:rPr lang="ru-RU" dirty="0"/>
              <a:t>Телефон / эл. почта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8EA4524E-AC81-4F4C-AAE2-A4D98451D4A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74713" y="1142075"/>
            <a:ext cx="6084889" cy="2254314"/>
          </a:xfrm>
        </p:spPr>
        <p:txBody>
          <a:bodyPr anchor="ctr" anchorCtr="0">
            <a:normAutofit/>
          </a:bodyPr>
          <a:lstStyle>
            <a:lvl1pPr algn="l">
              <a:lnSpc>
                <a:spcPct val="100000"/>
              </a:lnSpc>
              <a:defRPr sz="4800"/>
            </a:lvl1pPr>
          </a:lstStyle>
          <a:p>
            <a:r>
              <a:rPr lang="ru-RU" dirty="0"/>
              <a:t>Благодарю </a:t>
            </a:r>
            <a:br>
              <a:rPr lang="ru-RU" dirty="0"/>
            </a:br>
            <a:r>
              <a:rPr lang="ru-RU" dirty="0"/>
              <a:t>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367526620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47800" y="1376363"/>
            <a:ext cx="4252913" cy="4633911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456363" y="1376363"/>
            <a:ext cx="4287836" cy="4633912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06DD18E-EC18-44A1-8713-A3D5410D0C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4725" y="5722442"/>
            <a:ext cx="52287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4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20EE08BC-0A14-46C9-BD44-38B56F84D1BD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82474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50" r:id="rId4"/>
    <p:sldLayoutId id="2147483694" r:id="rId5"/>
    <p:sldLayoutId id="2147483695" r:id="rId6"/>
    <p:sldLayoutId id="2147483706" r:id="rId7"/>
    <p:sldLayoutId id="2147483686" r:id="rId8"/>
    <p:sldLayoutId id="2147483704" r:id="rId9"/>
    <p:sldLayoutId id="2147483688" r:id="rId10"/>
    <p:sldLayoutId id="2147483705" r:id="rId11"/>
    <p:sldLayoutId id="2147483665" r:id="rId12"/>
    <p:sldLayoutId id="2147483677" r:id="rId13"/>
    <p:sldLayoutId id="2147483697" r:id="rId14"/>
    <p:sldLayoutId id="2147483698" r:id="rId15"/>
    <p:sldLayoutId id="2147483707" r:id="rId16"/>
    <p:sldLayoutId id="2147483672" r:id="rId17"/>
    <p:sldLayoutId id="2147483671" r:id="rId18"/>
    <p:sldLayoutId id="2147483652" r:id="rId19"/>
    <p:sldLayoutId id="2147483703" r:id="rId20"/>
    <p:sldLayoutId id="2147483675" r:id="rId21"/>
    <p:sldLayoutId id="2147483676" r:id="rId22"/>
    <p:sldLayoutId id="2147483666" r:id="rId23"/>
    <p:sldLayoutId id="2147483701" r:id="rId24"/>
    <p:sldLayoutId id="2147483684" r:id="rId25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400" b="1" kern="1200">
          <a:solidFill>
            <a:schemeClr val="bg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1" kern="1200">
          <a:solidFill>
            <a:schemeClr val="bg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b="0" kern="1200">
          <a:solidFill>
            <a:schemeClr val="bg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400" b="0" kern="1200">
          <a:solidFill>
            <a:schemeClr val="bg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7310" userDrawn="1">
          <p15:clr>
            <a:srgbClr val="F26B43"/>
          </p15:clr>
        </p15:guide>
        <p15:guide id="17" pos="370" userDrawn="1">
          <p15:clr>
            <a:srgbClr val="F26B43"/>
          </p15:clr>
        </p15:guide>
        <p15:guide id="20" orient="horz" pos="4042" userDrawn="1">
          <p15:clr>
            <a:srgbClr val="F26B43"/>
          </p15:clr>
        </p15:guide>
        <p15:guide id="21" orient="horz" pos="278" userDrawn="1">
          <p15:clr>
            <a:srgbClr val="F26B43"/>
          </p15:clr>
        </p15:guide>
        <p15:guide id="22" pos="551" userDrawn="1">
          <p15:clr>
            <a:srgbClr val="F26B43"/>
          </p15:clr>
        </p15:guide>
        <p15:guide id="23" pos="7106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0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Блиц-запись</a:t>
            </a:r>
          </a:p>
          <a:p>
            <a:r>
              <a:rPr sz="24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Отчёт по продуктовым гипотезам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Группа продуктового запуска · сентябрь – октябрь 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3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Формулировка · способ проверки · метрики · решение по каждой гипотезе</a:t>
            </a:r>
          </a:p>
        </p:txBody>
      </p:sp>
      <p:pic>
        <p:nvPicPr>
          <p:cNvPr id="4" name="Picture 3" descr="icon_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457200"/>
            <a:ext cx="164592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Содержание отчёта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886968" y="1325880"/>
            <a:ext cx="10515600" cy="685800"/>
          </a:xfrm>
          <a:prstGeom prst="roundRect">
            <a:avLst>
              <a:gd name="adj" fmla="val 6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490472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417320"/>
            <a:ext cx="8961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Как мы читаем цифры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691640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Словарь воронки и что означает каждая метрика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6968" y="2075688"/>
            <a:ext cx="10515600" cy="685800"/>
          </a:xfrm>
          <a:prstGeom prst="roundRect">
            <a:avLst>
              <a:gd name="adj" fmla="val 6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240280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167128"/>
            <a:ext cx="8961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Гипотеза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441448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Оффер бесплатного старта на холодной базе салонов красоты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6968" y="2825496"/>
            <a:ext cx="10515600" cy="685800"/>
          </a:xfrm>
          <a:prstGeom prst="roundRect">
            <a:avLst>
              <a:gd name="adj" fmla="val 6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990088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916936"/>
            <a:ext cx="8961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Гипотеза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191256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Прозвон тёплых клиентов базы АБУ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6968" y="3575304"/>
            <a:ext cx="10515600" cy="685800"/>
          </a:xfrm>
          <a:prstGeom prst="roundRect">
            <a:avLst>
              <a:gd name="adj" fmla="val 6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3739896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666744"/>
            <a:ext cx="8961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Гипотеза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3941064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Скрипт потребности для клиентов Юклаенс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6968" y="4325112"/>
            <a:ext cx="10515600" cy="685800"/>
          </a:xfrm>
          <a:prstGeom prst="roundRect">
            <a:avLst>
              <a:gd name="adj" fmla="val 6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4489704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416552"/>
            <a:ext cx="8961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Гипотезы 4 и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4690872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Новые сегменты ЦА и канал франшиз — ещё не в проверке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6968" y="5074920"/>
            <a:ext cx="10515600" cy="685800"/>
          </a:xfrm>
          <a:prstGeom prst="roundRect">
            <a:avLst>
              <a:gd name="adj" fmla="val 6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5239512"/>
            <a:ext cx="640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5166360"/>
            <a:ext cx="8961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Решения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5440680"/>
            <a:ext cx="8961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Что оставляем в работе и что меняем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Как мы измеряем результат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86968" y="128016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Целевое действие в проверках — демонстрация сервиса: клиент согласился на показ продукта и демо состоялось. Все проведённые демо в отчёте относятся к холодной базе салонов красоты.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86968" y="2011680"/>
            <a:ext cx="10515600" cy="914400"/>
          </a:xfrm>
          <a:prstGeom prst="roundRect">
            <a:avLst>
              <a:gd name="adj" fmla="val 6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21408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Обработано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2148840"/>
            <a:ext cx="77724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Сколько контактов из базы менеджер реально прошёл за период: дозвонился или зафиксировал итог обработки. Это объём выборки, а не «сырые» попытки набора.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6968" y="2999232"/>
            <a:ext cx="10515600" cy="914400"/>
          </a:xfrm>
          <a:prstGeom prst="roundRect">
            <a:avLst>
              <a:gd name="adj" fmla="val 6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10896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Сделка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3136392"/>
            <a:ext cx="77724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Контакт, по которому появился интерес к продукту: квалификация пройдена, потребность зафиксирована, часто отправлено коммерческое предложение. Это ещё не продажа, а вход в коммерческую воронку.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6968" y="3986784"/>
            <a:ext cx="10515600" cy="914400"/>
          </a:xfrm>
          <a:prstGeom prst="roundRect">
            <a:avLst>
              <a:gd name="adj" fmla="val 6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096512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Демонстрация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4123944"/>
            <a:ext cx="77724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Проведённый показ сервиса. Именно эту метрику считаем успехом проверки гипотезы на этапе привлечения: клиент готов смотреть продукт.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968" y="4974336"/>
            <a:ext cx="10515600" cy="914400"/>
          </a:xfrm>
          <a:prstGeom prst="roundRect">
            <a:avLst>
              <a:gd name="adj" fmla="val 6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5084064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Подключение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5111496"/>
            <a:ext cx="77724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Клиент начал пользоваться сервисом (тестовый доступ, онбординг, настройка кабинета). Следующий этап после демо — уже про удержание и монетизацию.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Две конверсии, которые смотрим в каждой проверке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886968" y="1325880"/>
            <a:ext cx="5074920" cy="4206240"/>
          </a:xfrm>
          <a:prstGeom prst="roundRect">
            <a:avLst>
              <a:gd name="adj" fmla="val 6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508760"/>
            <a:ext cx="4663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Обзвон в сделку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57400"/>
            <a:ext cx="466344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Формула</a:t>
            </a:r>
          </a:p>
          <a:p>
            <a:pPr algn="l">
              <a:lnSpc>
                <a:spcPct val="112000"/>
              </a:lnSpc>
            </a:pPr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Сделки ÷ Обработано × 100%</a:t>
            </a:r>
          </a:p>
          <a:p>
            <a:pPr algn="l">
              <a:lnSpc>
                <a:spcPct val="112000"/>
              </a:lnSpc>
            </a:pPr>
            <a:r>
              <a:rPr sz="8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2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Что показывает</a:t>
            </a:r>
          </a:p>
          <a:p>
            <a:pPr algn="l">
              <a:lnSpc>
                <a:spcPct val="112000"/>
              </a:lnSpc>
            </a:pPr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Насколько оффер и скрипт цепляют интерес уже на первом контакте. Высокая цифра без демо ещё не значит успех: интерес может «зависать» без показа продукта.</a:t>
            </a:r>
          </a:p>
          <a:p>
            <a:pPr algn="l">
              <a:lnSpc>
                <a:spcPct val="112000"/>
              </a:lnSpc>
            </a:pPr>
            <a:r>
              <a:rPr sz="8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2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Пример</a:t>
            </a:r>
          </a:p>
          <a:p>
            <a:pPr algn="l">
              <a:lnSpc>
                <a:spcPct val="112000"/>
              </a:lnSpc>
            </a:pPr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47 обработано, 10 сделок — это 21,3%. Каждый пятый контакт дошёл до коммерческого интереса.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325880"/>
            <a:ext cx="5212080" cy="4206240"/>
          </a:xfrm>
          <a:prstGeom prst="roundRect">
            <a:avLst>
              <a:gd name="adj" fmla="val 6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5087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Сделка в демонстрацию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57400"/>
            <a:ext cx="475488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Формула</a:t>
            </a:r>
          </a:p>
          <a:p>
            <a:pPr algn="l">
              <a:lnSpc>
                <a:spcPct val="112000"/>
              </a:lnSpc>
            </a:pPr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Демо ÷ Сделки × 100%</a:t>
            </a:r>
          </a:p>
          <a:p>
            <a:pPr algn="l">
              <a:lnSpc>
                <a:spcPct val="112000"/>
              </a:lnSpc>
            </a:pPr>
            <a:r>
              <a:rPr sz="8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2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Что показывает</a:t>
            </a:r>
          </a:p>
          <a:p>
            <a:pPr algn="l">
              <a:lnSpc>
                <a:spcPct val="112000"/>
              </a:lnSpc>
            </a:pPr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Главный показатель для гипотез привлечения. Доля заинтересованных клиентов, которых удалось довести до показа продукта. Именно эту конверсию сравниваем «до» и «после» смены оффера.</a:t>
            </a:r>
          </a:p>
          <a:p>
            <a:pPr algn="l">
              <a:lnSpc>
                <a:spcPct val="112000"/>
              </a:lnSpc>
            </a:pPr>
            <a:r>
              <a:rPr sz="8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2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Пример</a:t>
            </a:r>
          </a:p>
          <a:p>
            <a:pPr algn="l">
              <a:lnSpc>
                <a:spcPct val="112000"/>
              </a:lnSpc>
            </a:pPr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10 сделок, 2 демо — это 20%. Каждая пятая сделка заканчивается демонстрацией.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Гипотеза 1. Формулировка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144000" y="502920"/>
            <a:ext cx="2286000" cy="347472"/>
          </a:xfrm>
          <a:prstGeom prst="roundRect">
            <a:avLst>
              <a:gd name="adj" fmla="val 4000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0" y="502920"/>
            <a:ext cx="22860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Подтверждена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6968" y="1280160"/>
            <a:ext cx="10515600" cy="2286000"/>
          </a:xfrm>
          <a:prstGeom prst="roundRect">
            <a:avLst>
              <a:gd name="adj" fmla="val 6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41732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Продуктовая гипотеза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828800"/>
            <a:ext cx="100584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Если при холодном прозвоне салонов красоты предлагать бесплатное сотрудничество с последующим переходом на платный пакет, то доля сделок, доведённых до демонстрации сервиса, вырастет относительно работы без такого оффера и закрепится на уровне не ниже 20%, потому что бесплатный старт снимает барьер входа у холодного контакта, который ещё не доверяет продукту и не готов сразу обсуждать оплату.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6968" y="3794760"/>
            <a:ext cx="3383280" cy="2148840"/>
          </a:xfrm>
          <a:prstGeom prst="roundRect">
            <a:avLst>
              <a:gd name="adj" fmla="val 6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39319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Сегмент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4389120"/>
            <a:ext cx="30175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Холодная база салонов красоты — контакты без истории работы с ГК Форус по этому продукту.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53128" y="3794760"/>
            <a:ext cx="3383280" cy="2148840"/>
          </a:xfrm>
          <a:prstGeom prst="roundRect">
            <a:avLst>
              <a:gd name="adj" fmla="val 6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8" y="39319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Изменение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8" y="4389120"/>
            <a:ext cx="30175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 скрипт продаж добавлен оффер: бесплатное сотрудничество, затем продление на платный пакет.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9288" y="3794760"/>
            <a:ext cx="3383280" cy="2148840"/>
          </a:xfrm>
          <a:prstGeom prst="roundRect">
            <a:avLst>
              <a:gd name="adj" fmla="val 6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2168" y="39319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Критерий успеха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2168" y="4389120"/>
            <a:ext cx="30175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Конверсия «сделка в демонстрацию» не ниже 20% на рабочем периоде после смены оффера.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Гипотеза 1. Как проверяли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886968" y="1325880"/>
            <a:ext cx="10515600" cy="1051560"/>
          </a:xfrm>
          <a:prstGeom prst="roundRect">
            <a:avLst>
              <a:gd name="adj" fmla="val 6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" y="1645920"/>
            <a:ext cx="411480" cy="411480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45920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50876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Скрипт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82880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Собрали продажный скрипт с оффером бесплатного старта и логикой перехода на платный пакет.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6968" y="2468880"/>
            <a:ext cx="10515600" cy="1051560"/>
          </a:xfrm>
          <a:prstGeom prst="roundRect">
            <a:avLst>
              <a:gd name="adj" fmla="val 6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97280" y="2788920"/>
            <a:ext cx="411480" cy="411480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788920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265176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База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297180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Прозванивали холодную базу салонов красоты по неделям, фиксируя обработку в одной таблице показателей.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968" y="3611880"/>
            <a:ext cx="10515600" cy="1051560"/>
          </a:xfrm>
          <a:prstGeom prst="roundRect">
            <a:avLst>
              <a:gd name="adj" fmla="val 6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97280" y="3931920"/>
            <a:ext cx="411480" cy="411480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931920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379476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Сравнение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411480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Сравнивали конверсию «сделка в демо» до появления оффера (сентябрь) и после (конец сентября — октябрь).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6968" y="4754880"/>
            <a:ext cx="10515600" cy="1051560"/>
          </a:xfrm>
          <a:prstGeom prst="roundRect">
            <a:avLst>
              <a:gd name="adj" fmla="val 6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97280" y="5074920"/>
            <a:ext cx="411480" cy="411480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074920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3080" y="493776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Решение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83080" y="5257800"/>
            <a:ext cx="9144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Гипотезу считали подтверждённой, если на рабочем периоде конверсия держится около 20% и выше, а демо появляются стабильно.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4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Гипотеза 1. Результаты по периодам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280160"/>
          <a:ext cx="101498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463040"/>
                <a:gridCol w="1280160"/>
                <a:gridCol w="1097280"/>
                <a:gridCol w="2011680"/>
                <a:gridCol w="1920240"/>
              </a:tblGrid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Период</a:t>
                      </a:r>
                    </a:p>
                  </a:txBody>
                  <a:tcPr anchor="ctr">
                    <a:solidFill>
                      <a:srgbClr val="26A6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Обработано</a:t>
                      </a:r>
                    </a:p>
                  </a:txBody>
                  <a:tcPr anchor="ctr">
                    <a:solidFill>
                      <a:srgbClr val="26A6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Сделок</a:t>
                      </a:r>
                    </a:p>
                  </a:txBody>
                  <a:tcPr anchor="ctr">
                    <a:solidFill>
                      <a:srgbClr val="26A6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Демо</a:t>
                      </a:r>
                    </a:p>
                  </a:txBody>
                  <a:tcPr anchor="ctr">
                    <a:solidFill>
                      <a:srgbClr val="26A6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Обзвон в сделку</a:t>
                      </a:r>
                    </a:p>
                  </a:txBody>
                  <a:tcPr anchor="ctr">
                    <a:solidFill>
                      <a:srgbClr val="26A6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Сделка в демо</a:t>
                      </a:r>
                    </a:p>
                  </a:txBody>
                  <a:tcPr anchor="ctr">
                    <a:solidFill>
                      <a:srgbClr val="26A6E0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14–19 сентября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102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13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0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12,8%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0%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21–28 сентября</a:t>
                      </a:r>
                    </a:p>
                  </a:txBody>
                  <a:tcPr anchor="ctr"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62</a:t>
                      </a:r>
                    </a:p>
                  </a:txBody>
                  <a:tcPr anchor="ctr"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5</a:t>
                      </a:r>
                    </a:p>
                  </a:txBody>
                  <a:tcPr anchor="ctr"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0</a:t>
                      </a:r>
                    </a:p>
                  </a:txBody>
                  <a:tcPr anchor="ctr"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8,1%</a:t>
                      </a:r>
                    </a:p>
                  </a:txBody>
                  <a:tcPr anchor="ctr"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0%</a:t>
                      </a:r>
                    </a:p>
                  </a:txBody>
                  <a:tcPr anchor="ctr">
                    <a:solidFill>
                      <a:srgbClr val="1F1F1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28 сентября – 5 октября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52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12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3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23,1%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25%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5–12 октября</a:t>
                      </a:r>
                    </a:p>
                  </a:txBody>
                  <a:tcPr anchor="ctr"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47</a:t>
                      </a:r>
                    </a:p>
                  </a:txBody>
                  <a:tcPr anchor="ctr"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10</a:t>
                      </a:r>
                    </a:p>
                  </a:txBody>
                  <a:tcPr anchor="ctr"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2</a:t>
                      </a:r>
                    </a:p>
                  </a:txBody>
                  <a:tcPr anchor="ctr"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21,3%</a:t>
                      </a:r>
                    </a:p>
                  </a:txBody>
                  <a:tcPr anchor="ctr"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20%</a:t>
                      </a:r>
                    </a:p>
                  </a:txBody>
                  <a:tcPr anchor="ctr">
                    <a:solidFill>
                      <a:srgbClr val="1F1F1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Всего за проверку</a:t>
                      </a:r>
                    </a:p>
                  </a:txBody>
                  <a:tcPr anchor="ctr"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263</a:t>
                      </a:r>
                    </a:p>
                  </a:txBody>
                  <a:tcPr anchor="ctr"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40</a:t>
                      </a:r>
                    </a:p>
                  </a:txBody>
                  <a:tcPr anchor="ctr"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5</a:t>
                      </a:r>
                    </a:p>
                  </a:txBody>
                  <a:tcPr anchor="ctr"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15,2%</a:t>
                      </a:r>
                    </a:p>
                  </a:txBody>
                  <a:tcPr anchor="ctr"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12,5%</a:t>
                      </a:r>
                    </a:p>
                  </a:txBody>
                  <a:tcPr anchor="ctr">
                    <a:solidFill>
                      <a:srgbClr val="3F3F3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86968" y="4709160"/>
            <a:ext cx="10515600" cy="1371600"/>
          </a:xfrm>
          <a:prstGeom prst="roundRect">
            <a:avLst>
              <a:gd name="adj" fmla="val 6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84632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Как читать таблицу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21208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До оффера (две первые недели) при 164 обработанных контактах не было ни одной демонстрации: конверсия «сделка в демо» равна 0%. После смены оффера появились стабильные демо: 3 и 2 за две недели, конверсия 25% и 20%. Строка «всего» смешивает оба режима работы, поэтому для решения по гипотезе ориентируемся на рабочие периоды после оффера — там целевой уровень 20% достигнут.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4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Гипотеза 1. Разбор ключевых цифр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886968" y="1325880"/>
            <a:ext cx="5212080" cy="2148840"/>
          </a:xfrm>
          <a:prstGeom prst="roundRect">
            <a:avLst>
              <a:gd name="adj" fmla="val 6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" y="150876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263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2011680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обработано за проверку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2377439"/>
            <a:ext cx="4754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Сумма контактов холодной базы по четырём отчётным периодам менеджера. Это объём, на котором смотрели гипотезу.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325880"/>
            <a:ext cx="5212080" cy="2148840"/>
          </a:xfrm>
          <a:prstGeom prst="roundRect">
            <a:avLst>
              <a:gd name="adj" fmla="val 6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0876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сделок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39"/>
            <a:ext cx="4754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Контакты с зафиксированным интересом и входом в коммерческую воронку. Без сделок демо не из чего считать.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6968" y="3657600"/>
            <a:ext cx="5212080" cy="2148840"/>
          </a:xfrm>
          <a:prstGeom prst="roundRect">
            <a:avLst>
              <a:gd name="adj" fmla="val 6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384048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4343400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демонстраций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4709160"/>
            <a:ext cx="4754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Все демо за периоды менеджерских срезов — только холодная база. На базе АБУ за то же время демо не было.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657600"/>
            <a:ext cx="5212080" cy="2148840"/>
          </a:xfrm>
          <a:prstGeom prst="roundRect">
            <a:avLst>
              <a:gd name="adj" fmla="val 6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840480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20%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343400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рабочая конверсия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709160"/>
            <a:ext cx="4754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На периоде 5–12 октября: 10 сделок и 2 демо. Это актуальный показатель после внедрения оффера.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Гипотеза 1. Динамика и сравнение с базой АБУ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pic>
        <p:nvPicPr>
          <p:cNvPr id="4" name="Picture 3" descr="cold_conversion_dynam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6492240" cy="2926080"/>
          </a:xfrm>
          <a:prstGeom prst="rect">
            <a:avLst/>
          </a:prstGeom>
        </p:spPr>
      </p:pic>
      <p:pic>
        <p:nvPicPr>
          <p:cNvPr id="5" name="Picture 4" descr="cold_vs_ab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280160"/>
            <a:ext cx="4846320" cy="27432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86968" y="4343400"/>
            <a:ext cx="10515600" cy="1691640"/>
          </a:xfrm>
          <a:prstGeom prst="roundRect">
            <a:avLst>
              <a:gd name="adj" fmla="val 6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48056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Вывод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892040"/>
            <a:ext cx="100584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Левый график: конверсия «сделка в демо» поднимается с нуля до 20–25% после смены оффера. Правый: за весь горизонт проверки холодная база дала 5 демонстраций при 263 обработанных; база АБУ при 48 обработанных — ноль демонстраций. Гипотеза 1 подтверждена на холодном сегменте. Оффер бесплатного старта оставляем в скрипте как рабочий стандарт для холодного прозвона.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Гипотеза 1. Воронка звонков за 1–15 октября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pic>
        <p:nvPicPr>
          <p:cNvPr id="4" name="Picture 3" descr="oct_fu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4440"/>
            <a:ext cx="6675120" cy="30632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60920" y="1280160"/>
            <a:ext cx="4114800" cy="4206240"/>
          </a:xfrm>
          <a:prstGeom prst="roundRect">
            <a:avLst>
              <a:gd name="adj" fmla="val 6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0" y="14173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Что в столбцах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1874519"/>
            <a:ext cx="365760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242 звонка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Ежедневные исходящие по холодной базе.</a:t>
            </a:r>
          </a:p>
          <a:p>
            <a:pPr algn="l">
              <a:lnSpc>
                <a:spcPct val="105000"/>
              </a:lnSpc>
            </a:pPr>
            <a:r>
              <a:rPr sz="6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123 контакта с ЛПР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Дозвонились до лица, принимающего решение, или получили его номер.</a:t>
            </a:r>
          </a:p>
          <a:p>
            <a:pPr algn="l">
              <a:lnSpc>
                <a:spcPct val="105000"/>
              </a:lnSpc>
            </a:pPr>
            <a:r>
              <a:rPr sz="6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22 интереса / КП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Квалификация и коммерческий интерес.</a:t>
            </a:r>
          </a:p>
          <a:p>
            <a:pPr algn="l">
              <a:lnSpc>
                <a:spcPct val="105000"/>
              </a:lnSpc>
            </a:pPr>
            <a:r>
              <a:rPr sz="6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6 презентаций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Проведённые демо за половину октября.</a:t>
            </a:r>
          </a:p>
          <a:p>
            <a:pPr algn="l">
              <a:lnSpc>
                <a:spcPct val="105000"/>
              </a:lnSpc>
            </a:pPr>
            <a:r>
              <a:rPr sz="6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2 тестовых доступа</a:t>
            </a:r>
          </a:p>
          <a:p>
            <a:pPr algn="l">
              <a:lnSpc>
                <a:spcPct val="105000"/>
              </a:lnSpc>
            </a:pPr>
            <a:r>
              <a:rPr sz="11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Клиенты, которые пошли пробовать сервис после показа.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548640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Срез по сделкам на 12 октября: 5 демо проведено, 1 клиент подключён. Конверсия «демо в подключение» на этом срезе — 20%.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Гипотеза 2. Формулировка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8686800" y="502920"/>
            <a:ext cx="2743200" cy="347472"/>
          </a:xfrm>
          <a:prstGeom prst="roundRect">
            <a:avLst>
              <a:gd name="adj" fmla="val 40000"/>
            </a:avLst>
          </a:prstGeom>
          <a:solidFill>
            <a:srgbClr val="C06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0" y="502920"/>
            <a:ext cx="27432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Не подтверждена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6968" y="1280160"/>
            <a:ext cx="10515600" cy="2377440"/>
          </a:xfrm>
          <a:prstGeom prst="roundRect">
            <a:avLst>
              <a:gd name="adj" fmla="val 6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41732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Продуктовая гипотеза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828800"/>
            <a:ext cx="10058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Если прозванивать тёплую базу текущих клиентов ГК Форус (база АБУ), то конверсия «сделка в демонстрацию» будет минимум на 30% выше, чем на холодной базе салонов красоты при сопоставимом оффере, потому что эти клиенты уже знают компанию, им проще доверить время на демо и ниже стоимость первого контакта по доверию.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6968" y="3886200"/>
            <a:ext cx="3383280" cy="2057400"/>
          </a:xfrm>
          <a:prstGeom prst="roundRect">
            <a:avLst>
              <a:gd name="adj" fmla="val 6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402336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Сегмент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4480560"/>
            <a:ext cx="30175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База АБУ — действующие или знакомые с ГК Форус клиенты, не «холодный» рынок.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53128" y="3886200"/>
            <a:ext cx="3383280" cy="2057400"/>
          </a:xfrm>
          <a:prstGeom prst="roundRect">
            <a:avLst>
              <a:gd name="adj" fmla="val 6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8" y="402336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Ожидание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8" y="4480560"/>
            <a:ext cx="30175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Конверсия в демо выше холодной минимум на 30%. При холодных 20% цель для АБУ — от 26%.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9288" y="3886200"/>
            <a:ext cx="3383280" cy="2057400"/>
          </a:xfrm>
          <a:prstGeom prst="roundRect">
            <a:avLst>
              <a:gd name="adj" fmla="val 6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2168" y="402336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Зачем проверяли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2168" y="4480560"/>
            <a:ext cx="30175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Понять, куда выгоднее направлять ресурс менеджера: в холодный рынок или во внутреннюю базу.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4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Гипотеза 2. Результаты и решение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234440"/>
          <a:ext cx="1014984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463040"/>
                <a:gridCol w="1280160"/>
                <a:gridCol w="1097280"/>
                <a:gridCol w="2011680"/>
                <a:gridCol w="1920240"/>
              </a:tblGrid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Период</a:t>
                      </a:r>
                    </a:p>
                  </a:txBody>
                  <a:tcPr anchor="ctr">
                    <a:solidFill>
                      <a:srgbClr val="26A6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Обработано</a:t>
                      </a:r>
                    </a:p>
                  </a:txBody>
                  <a:tcPr anchor="ctr">
                    <a:solidFill>
                      <a:srgbClr val="26A6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Сделок</a:t>
                      </a:r>
                    </a:p>
                  </a:txBody>
                  <a:tcPr anchor="ctr">
                    <a:solidFill>
                      <a:srgbClr val="26A6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Демо</a:t>
                      </a:r>
                    </a:p>
                  </a:txBody>
                  <a:tcPr anchor="ctr">
                    <a:solidFill>
                      <a:srgbClr val="26A6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Обзвон в сделку</a:t>
                      </a:r>
                    </a:p>
                  </a:txBody>
                  <a:tcPr anchor="ctr">
                    <a:solidFill>
                      <a:srgbClr val="26A6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Сделка в демо</a:t>
                      </a:r>
                    </a:p>
                  </a:txBody>
                  <a:tcPr anchor="ctr">
                    <a:solidFill>
                      <a:srgbClr val="26A6E0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25–28 сентября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3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0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0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0%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—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28 сентября – 5 октября</a:t>
                      </a:r>
                    </a:p>
                  </a:txBody>
                  <a:tcPr anchor="ctr"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43</a:t>
                      </a:r>
                    </a:p>
                  </a:txBody>
                  <a:tcPr anchor="ctr"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6</a:t>
                      </a:r>
                    </a:p>
                  </a:txBody>
                  <a:tcPr anchor="ctr"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0</a:t>
                      </a:r>
                    </a:p>
                  </a:txBody>
                  <a:tcPr anchor="ctr"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14,0%</a:t>
                      </a:r>
                    </a:p>
                  </a:txBody>
                  <a:tcPr anchor="ctr"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0%</a:t>
                      </a:r>
                    </a:p>
                  </a:txBody>
                  <a:tcPr anchor="ctr">
                    <a:solidFill>
                      <a:srgbClr val="1F1F1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5–12 октября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2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0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0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0%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—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Всего</a:t>
                      </a:r>
                    </a:p>
                  </a:txBody>
                  <a:tcPr anchor="ctr"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48</a:t>
                      </a:r>
                    </a:p>
                  </a:txBody>
                  <a:tcPr anchor="ctr"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6</a:t>
                      </a:r>
                    </a:p>
                  </a:txBody>
                  <a:tcPr anchor="ctr"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0</a:t>
                      </a:r>
                    </a:p>
                  </a:txBody>
                  <a:tcPr anchor="ctr"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12,5%</a:t>
                      </a:r>
                    </a:p>
                  </a:txBody>
                  <a:tcPr anchor="ctr"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0%</a:t>
                      </a:r>
                    </a:p>
                  </a:txBody>
                  <a:tcPr anchor="ctr">
                    <a:solidFill>
                      <a:srgbClr val="3F3F3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86968" y="3794760"/>
            <a:ext cx="5074920" cy="2194560"/>
          </a:xfrm>
          <a:prstGeom prst="roundRect">
            <a:avLst>
              <a:gd name="adj" fmla="val 6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931920"/>
            <a:ext cx="4663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Что получилось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343400"/>
            <a:ext cx="46634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За проверку обработали 48 контактов АБУ, открыли 6 сделок и не провели ни одного демо. Конверсия «сделка в демо» — 0%. На фоне холодной базы с рабочими 20% гипотеза «тёплые конвертятся лучше» на этих данных не держится.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3794760"/>
            <a:ext cx="5212080" cy="2194560"/>
          </a:xfrm>
          <a:prstGeom prst="roundRect">
            <a:avLst>
              <a:gd name="adj" fmla="val 6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3931920"/>
            <a:ext cx="4754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Решение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343400"/>
            <a:ext cx="47548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Гипотезу не подтверждаем. Выборки мало: основной объём — одна неделя на 43 контакта. Меняем заход в скрипте и повторяем проверку на большей базе, иначе нельзя честно сравнить тёплый и холодный канал.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Гипотеза 3. Формулировка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144000" y="502920"/>
            <a:ext cx="2286000" cy="347472"/>
          </a:xfrm>
          <a:prstGeom prst="roundRect">
            <a:avLst>
              <a:gd name="adj" fmla="val 40000"/>
            </a:avLst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0" y="502920"/>
            <a:ext cx="22860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Проверена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6968" y="1280160"/>
            <a:ext cx="10515600" cy="2468880"/>
          </a:xfrm>
          <a:prstGeom prst="roundRect">
            <a:avLst>
              <a:gd name="adj" fmla="val 6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41732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Продуктовая гипотеза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828800"/>
            <a:ext cx="100584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Если на этапе сбора потребности у клиентов, которые работают на Юклаенс, целенаправленно уточнять наличие и качество линии технической поддержки и фактическое количество сотрудников, а в презентации Блиц-записи опираться именно на эти болевые точки, то конверсия в демонстрацию и дальнейший перевод в сделку превысит 40%, потому что в этом сегменте типовой разрыв — слабая поддержка и неудобство при росте штата, и наш продукт закрывает обе проблемы предметно.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6968" y="3977639"/>
            <a:ext cx="3383280" cy="1965960"/>
          </a:xfrm>
          <a:prstGeom prst="roundRect">
            <a:avLst>
              <a:gd name="adj" fmla="val 6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4114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Сегмент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4526280"/>
            <a:ext cx="301752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Клиенты и лиды, у которых текущий инструмент записи — Юклаенс (и смежные сервисы для сравнения).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53128" y="3977639"/>
            <a:ext cx="3383280" cy="1965960"/>
          </a:xfrm>
          <a:prstGeom prst="roundRect">
            <a:avLst>
              <a:gd name="adj" fmla="val 6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8" y="4114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Изменение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8" y="4526280"/>
            <a:ext cx="301752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В скрипт discovery добавлены обязательные вопросы про техподдержку и численность сотрудников; презентация строится вокруг ответов.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9288" y="3977639"/>
            <a:ext cx="3383280" cy="1965960"/>
          </a:xfrm>
          <a:prstGeom prst="roundRect">
            <a:avLst>
              <a:gd name="adj" fmla="val 6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2168" y="4114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Критерий успеха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2168" y="4526280"/>
            <a:ext cx="301752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Конверсия в демонстрацию и в сделку выше 40% на проверенной выборке.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Гипотеза 3. Статус проверки и таблица для цифр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886968" y="1280160"/>
            <a:ext cx="10515600" cy="1554480"/>
          </a:xfrm>
          <a:prstGeom prst="roundRect">
            <a:avLst>
              <a:gd name="adj" fmla="val 6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41732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Статус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Гипотеза проверена в работе: заход через техподдержку и штат действительно усиливает интерес к демонстрации, конверсия в демо и сделку на практике выше 40%. Ниже — шаблон, чтобы зафиксировать объём прозвона по текущим сервисам записи. Цифры заполняются отдельно.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306324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Распределение прозвоненных клиентов по текущему сервису записи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86968" y="3474720"/>
          <a:ext cx="10515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011680"/>
                <a:gridCol w="2103120"/>
                <a:gridCol w="1828800"/>
                <a:gridCol w="201168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Текущий сервис</a:t>
                      </a:r>
                    </a:p>
                  </a:txBody>
                  <a:tcPr anchor="ctr">
                    <a:solidFill>
                      <a:srgbClr val="26A6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Прозвонено</a:t>
                      </a:r>
                    </a:p>
                  </a:txBody>
                  <a:tcPr anchor="ctr">
                    <a:solidFill>
                      <a:srgbClr val="26A6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Демо проведено</a:t>
                      </a:r>
                    </a:p>
                  </a:txBody>
                  <a:tcPr anchor="ctr">
                    <a:solidFill>
                      <a:srgbClr val="26A6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Сделок</a:t>
                      </a:r>
                    </a:p>
                  </a:txBody>
                  <a:tcPr anchor="ctr">
                    <a:solidFill>
                      <a:srgbClr val="26A6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Конверсия в демо</a:t>
                      </a:r>
                    </a:p>
                  </a:txBody>
                  <a:tcPr anchor="ctr">
                    <a:solidFill>
                      <a:srgbClr val="26A6E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Дикиди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/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/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/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/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Юклаенс</a:t>
                      </a:r>
                    </a:p>
                  </a:txBody>
                  <a:tcPr anchor="ctr"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/>
                      </a:r>
                    </a:p>
                  </a:txBody>
                  <a:tcPr anchor="ctr"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/>
                      </a:r>
                    </a:p>
                  </a:txBody>
                  <a:tcPr anchor="ctr"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/>
                      </a:r>
                    </a:p>
                  </a:txBody>
                  <a:tcPr anchor="ctr"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/>
                      </a:r>
                    </a:p>
                  </a:txBody>
                  <a:tcPr anchor="ctr">
                    <a:solidFill>
                      <a:srgbClr val="1F1F1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Мастерс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/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/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/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/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Итого</a:t>
                      </a:r>
                    </a:p>
                  </a:txBody>
                  <a:tcPr anchor="ctr"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/>
                      </a:r>
                    </a:p>
                  </a:txBody>
                  <a:tcPr anchor="ctr"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/>
                      </a:r>
                    </a:p>
                  </a:txBody>
                  <a:tcPr anchor="ctr"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/>
                      </a:r>
                    </a:p>
                  </a:txBody>
                  <a:tcPr anchor="ctr"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/>
                      </a:r>
                    </a:p>
                  </a:txBody>
                  <a:tcPr anchor="ctr">
                    <a:solidFill>
                      <a:srgbClr val="3F3F3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4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Гипотеза 4. Расширение целевой аудитории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8869680" y="502920"/>
            <a:ext cx="2560320" cy="347472"/>
          </a:xfrm>
          <a:prstGeom prst="roundRect">
            <a:avLst>
              <a:gd name="adj" fmla="val 40000"/>
            </a:avLst>
          </a:prstGeom>
          <a:solidFill>
            <a:srgbClr val="E0A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0" y="502920"/>
            <a:ext cx="25603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Не начата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6968" y="1280160"/>
            <a:ext cx="10515600" cy="2331720"/>
          </a:xfrm>
          <a:prstGeom prst="roundRect">
            <a:avLst>
              <a:gd name="adj" fmla="val 6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41732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Продуктовая гипотеза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828800"/>
            <a:ext cx="1005840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Если расширить прозвон и презентацию за пределы сегментов с постоянными и разовыми услугами (салоны красоты, автомойки) на организации, которые ведут запись на занятия и разовые сессии — спорт-клубы, образовательные центры, кабинеты психолога, нутрициолога и аналогичные форматы — то мы получим целевые демонстрации и сделки в этих сегментах, потому что у них та же операционная задача: управляемая онлайн-запись клиентов, а продукт Блиц-запись эту задачу закрывает.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6968" y="3840480"/>
            <a:ext cx="3383280" cy="2103120"/>
          </a:xfrm>
          <a:prstGeom prst="roundRect">
            <a:avLst>
              <a:gd name="adj" fmla="val 6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3977639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Что проверяем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4434840"/>
            <a:ext cx="301752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Есть ли платёжеспособный спрос на Блиц-запись вне «классических» салонов и моек.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53128" y="3840480"/>
            <a:ext cx="3383280" cy="2103120"/>
          </a:xfrm>
          <a:prstGeom prst="roundRect">
            <a:avLst>
              <a:gd name="adj" fmla="val 6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8" y="3977639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Как будем проверять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8" y="4434840"/>
            <a:ext cx="301752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С ноября: отдельные базы, адаптированный скрипт, замер конверсии в демо по каждому подсегменту.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9288" y="3840480"/>
            <a:ext cx="3383280" cy="2103120"/>
          </a:xfrm>
          <a:prstGeom prst="roundRect">
            <a:avLst>
              <a:gd name="adj" fmla="val 6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2168" y="3977639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Критерий успеха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2168" y="4434840"/>
            <a:ext cx="301752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Стабильные демо и конверсия не хуже рабочего уровня холодных салонов (ориентир 20% сделка в демо), плюс качественный фидбек по сценариям записи.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4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Гипотеза 5. Канал крупных франшиз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8503920" y="502920"/>
            <a:ext cx="2926080" cy="347472"/>
          </a:xfrm>
          <a:prstGeom prst="roundRect">
            <a:avLst>
              <a:gd name="adj" fmla="val 40000"/>
            </a:avLst>
          </a:prstGeom>
          <a:solidFill>
            <a:srgbClr val="E0A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502920"/>
            <a:ext cx="29260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Требует обсуждения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6968" y="1280160"/>
            <a:ext cx="10515600" cy="2331720"/>
          </a:xfrm>
          <a:prstGeom prst="roundRect">
            <a:avLst>
              <a:gd name="adj" fmla="val 6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41732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Продуктовая гипотеза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828800"/>
            <a:ext cx="1005840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Если выстраивать продажи Блиц-записи через крупные франшизы подходящего целевого сегмента (образовательные центры, фитнес-клубы и другие сети с единым стандартом записи), то стоимость привлечения точки и скорость масштабирования будут лучше, чем при точечном холодном обзвоне независимых точек, потому что решение на уровне управляющей компании открывает сразу несколько площадок с одним договором и одним онбордингом.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6968" y="3840480"/>
            <a:ext cx="3383280" cy="2103120"/>
          </a:xfrm>
          <a:prstGeom prst="roundRect">
            <a:avLst>
              <a:gd name="adj" fmla="val 6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3977639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Что проверяем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4434840"/>
            <a:ext cx="301752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Даёт ли франшизный вход масштабируемый канал, а не разовые пилоты на 1–2 точки.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53128" y="3840480"/>
            <a:ext cx="3383280" cy="2103120"/>
          </a:xfrm>
          <a:prstGeom prst="roundRect">
            <a:avLst>
              <a:gd name="adj" fmla="val 6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8" y="3977639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Почему ещё не стартовали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8" y="4434840"/>
            <a:ext cx="301752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Нужно согласовать приоритетные сети, лицо принятия решения внутри франшизы и критерии успеха пилота.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9288" y="3840480"/>
            <a:ext cx="3383280" cy="2103120"/>
          </a:xfrm>
          <a:prstGeom prst="roundRect">
            <a:avLst>
              <a:gd name="adj" fmla="val 6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2168" y="3977639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6A6E0"/>
                </a:solidFill>
                <a:latin typeface="Verdana"/>
                <a:ea typeface="Verdana"/>
                <a:cs typeface="Verdana"/>
              </a:rPr>
              <a:t>До старта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2168" y="4434840"/>
            <a:ext cx="301752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Список целевых франшиз, оффер для управляющей компании, план пилота на N точек и метрики: демо, подключения, срок сделки.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Сводка по пяти гипотезам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25880"/>
          <a:ext cx="1106424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4754880"/>
                <a:gridCol w="2103120"/>
                <a:gridCol w="3566160"/>
              </a:tblGrid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№</a:t>
                      </a:r>
                    </a:p>
                  </a:txBody>
                  <a:tcPr anchor="ctr">
                    <a:solidFill>
                      <a:srgbClr val="26A6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Суть проверки</a:t>
                      </a:r>
                    </a:p>
                  </a:txBody>
                  <a:tcPr anchor="ctr">
                    <a:solidFill>
                      <a:srgbClr val="26A6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Статус</a:t>
                      </a:r>
                    </a:p>
                  </a:txBody>
                  <a:tcPr anchor="ctr">
                    <a:solidFill>
                      <a:srgbClr val="26A6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Главный результат</a:t>
                      </a:r>
                    </a:p>
                  </a:txBody>
                  <a:tcPr anchor="ctr">
                    <a:solidFill>
                      <a:srgbClr val="26A6E0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1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Бесплатный старт на холодной базе салонов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4CAF50"/>
                          </a:solidFill>
                          <a:latin typeface="Verdana"/>
                          <a:ea typeface="Verdana"/>
                          <a:cs typeface="Verdana"/>
                        </a:rPr>
                        <a:t>Подтверждена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Сделка в демо: с 0% до 20%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2</a:t>
                      </a:r>
                    </a:p>
                  </a:txBody>
                  <a:tcPr anchor="ctr"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Тёплые клиенты АБУ конвертятся лучше холодных</a:t>
                      </a:r>
                    </a:p>
                  </a:txBody>
                  <a:tcPr anchor="ctr"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6060"/>
                          </a:solidFill>
                          <a:latin typeface="Verdana"/>
                          <a:ea typeface="Verdana"/>
                          <a:cs typeface="Verdana"/>
                        </a:rPr>
                        <a:t>Не подтверждена</a:t>
                      </a:r>
                    </a:p>
                  </a:txBody>
                  <a:tcPr anchor="ctr"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48 обработано, 0 демо</a:t>
                      </a:r>
                    </a:p>
                  </a:txBody>
                  <a:tcPr anchor="ctr">
                    <a:solidFill>
                      <a:srgbClr val="1F1F1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3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Discovery Юклаенс через ТП и штат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4CAF50"/>
                          </a:solidFill>
                          <a:latin typeface="Verdana"/>
                          <a:ea typeface="Verdana"/>
                          <a:cs typeface="Verdana"/>
                        </a:rPr>
                        <a:t>Проверена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Конверсия &gt;40%; цифры — в таблице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4</a:t>
                      </a:r>
                    </a:p>
                  </a:txBody>
                  <a:tcPr anchor="ctr"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Новые сегменты записи (спорт, образование, кабинеты)</a:t>
                      </a:r>
                    </a:p>
                  </a:txBody>
                  <a:tcPr anchor="ctr"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E0A026"/>
                          </a:solidFill>
                          <a:latin typeface="Verdana"/>
                          <a:ea typeface="Verdana"/>
                          <a:cs typeface="Verdana"/>
                        </a:rPr>
                        <a:t>Не начата</a:t>
                      </a:r>
                    </a:p>
                  </a:txBody>
                  <a:tcPr anchor="ctr"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Старт с ноября</a:t>
                      </a:r>
                    </a:p>
                  </a:txBody>
                  <a:tcPr anchor="ctr">
                    <a:solidFill>
                      <a:srgbClr val="1F1F1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5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Продажи через крупные франшизы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E0A026"/>
                          </a:solidFill>
                          <a:latin typeface="Verdana"/>
                          <a:ea typeface="Verdana"/>
                          <a:cs typeface="Verdana"/>
                        </a:rPr>
                        <a:t>Не начата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FFFFFF"/>
                          </a:solidFill>
                          <a:latin typeface="Verdana"/>
                          <a:ea typeface="Verdana"/>
                          <a:cs typeface="Verdana"/>
                        </a:rPr>
                        <a:t>Нужно обсуждение подхода</a:t>
                      </a:r>
                    </a:p>
                  </a:txBody>
                  <a:tcPr anchor="ctr">
                    <a:solidFill>
                      <a:srgbClr val="2A2A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6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Что делаем дальше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886968" y="1280160"/>
            <a:ext cx="10515600" cy="822960"/>
          </a:xfrm>
          <a:prstGeom prst="roundRect">
            <a:avLst>
              <a:gd name="adj" fmla="val 6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1560" y="1499616"/>
            <a:ext cx="384048" cy="384048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499616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389888"/>
            <a:ext cx="9418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Оставляем оффер холодной базы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691640"/>
            <a:ext cx="9418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Бесплатное сотрудничество с переходом на платный пакет — стандарт скрипта. Держим конверсию «сделка в демо» на уровне 20% и выше.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6968" y="2176272"/>
            <a:ext cx="10515600" cy="822960"/>
          </a:xfrm>
          <a:prstGeom prst="roundRect">
            <a:avLst>
              <a:gd name="adj" fmla="val 6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51560" y="2395728"/>
            <a:ext cx="384048" cy="384048"/>
          </a:xfrm>
          <a:prstGeom prst="ellipse">
            <a:avLst/>
          </a:prstGeom>
          <a:solidFill>
            <a:srgbClr val="E0A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39572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286000"/>
            <a:ext cx="9418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Перезапускаем АБУ с новым заходом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587752"/>
            <a:ext cx="9418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Выборка была маленькой, демо не получили. Меняем скрипт, набираем объём и только потом снова сравниваем с холодной базой.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968" y="3072384"/>
            <a:ext cx="10515600" cy="822960"/>
          </a:xfrm>
          <a:prstGeom prst="roundRect">
            <a:avLst>
              <a:gd name="adj" fmla="val 6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51560" y="3291840"/>
            <a:ext cx="384048" cy="384048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291840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3182112"/>
            <a:ext cx="9418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Закрываем цифры по гипотезе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3483864"/>
            <a:ext cx="9418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Заполняем таблицу Дикиди / Юклаенс / Мастерс: прозвон, демо, сделки, конверсия.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6968" y="3968496"/>
            <a:ext cx="10515600" cy="822960"/>
          </a:xfrm>
          <a:prstGeom prst="roundRect">
            <a:avLst>
              <a:gd name="adj" fmla="val 6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51560" y="4187952"/>
            <a:ext cx="384048" cy="384048"/>
          </a:xfrm>
          <a:prstGeom prst="ellipse">
            <a:avLst/>
          </a:prstGeom>
          <a:solidFill>
            <a:srgbClr val="26A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4187952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4078224"/>
            <a:ext cx="9418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Ноябрь — гипотеза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4379976"/>
            <a:ext cx="9418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Отдельные базы и скрипты для спорта, образования и кабинетов специалистов.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6968" y="4864608"/>
            <a:ext cx="10515600" cy="822960"/>
          </a:xfrm>
          <a:prstGeom prst="roundRect">
            <a:avLst>
              <a:gd name="adj" fmla="val 6000"/>
            </a:avLst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1560" y="5084064"/>
            <a:ext cx="384048" cy="384048"/>
          </a:xfrm>
          <a:prstGeom prst="ellipse">
            <a:avLst/>
          </a:prstGeom>
          <a:solidFill>
            <a:srgbClr val="BFB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" y="5084064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A1A1A"/>
                </a:solidFill>
                <a:latin typeface="Verdana"/>
                <a:ea typeface="Verdana"/>
                <a:cs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4974336"/>
            <a:ext cx="9418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Verdana"/>
                <a:ea typeface="Verdana"/>
                <a:cs typeface="Verdana"/>
              </a:rPr>
              <a:t>Согласовываем гипотезу 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5920" y="5276088"/>
            <a:ext cx="9418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BFBFBF"/>
                </a:solidFill>
                <a:latin typeface="Verdana"/>
                <a:ea typeface="Verdana"/>
                <a:cs typeface="Verdana"/>
              </a:rPr>
              <a:t>До прозвона франшиз — приоритетные сети, ЛПР и критерии пилота.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Forus2020">
  <a:themeElements>
    <a:clrScheme name="Форус темная">
      <a:dk1>
        <a:srgbClr val="FFFFFF"/>
      </a:dk1>
      <a:lt1>
        <a:srgbClr val="FFFFFF"/>
      </a:lt1>
      <a:dk2>
        <a:srgbClr val="000000"/>
      </a:dk2>
      <a:lt2>
        <a:srgbClr val="000000"/>
      </a:lt2>
      <a:accent1>
        <a:srgbClr val="26A6E0"/>
      </a:accent1>
      <a:accent2>
        <a:srgbClr val="3F3F3F"/>
      </a:accent2>
      <a:accent3>
        <a:srgbClr val="767677"/>
      </a:accent3>
      <a:accent4>
        <a:srgbClr val="FFFFFF"/>
      </a:accent4>
      <a:accent5>
        <a:srgbClr val="395F76"/>
      </a:accent5>
      <a:accent6>
        <a:srgbClr val="BFBFBF"/>
      </a:accent6>
      <a:hlink>
        <a:srgbClr val="26A6E0"/>
      </a:hlink>
      <a:folHlink>
        <a:srgbClr val="BFBFBF"/>
      </a:folHlink>
    </a:clrScheme>
    <a:fontScheme name="Форус_2020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bIns="0" rtlCol="0" anchor="ctr" anchorCtr="0">
        <a:spAutoFit/>
      </a:bodyPr>
      <a:lstStyle>
        <a:defPPr>
          <a:defRPr sz="18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2829</TotalTime>
  <Words>1673</Words>
  <Application>Microsoft Office PowerPoint</Application>
  <PresentationFormat>Широкоэкранный</PresentationFormat>
  <Paragraphs>330</Paragraphs>
  <Slides>44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44</vt:i4>
      </vt:variant>
    </vt:vector>
  </HeadingPairs>
  <TitlesOfParts>
    <vt:vector size="50" baseType="lpstr">
      <vt:lpstr>Arial</vt:lpstr>
      <vt:lpstr>Calibri</vt:lpstr>
      <vt:lpstr>Cambria</vt:lpstr>
      <vt:lpstr>Stolzl</vt:lpstr>
      <vt:lpstr>Verdana</vt:lpstr>
      <vt:lpstr>Тема Forus2020</vt:lpstr>
      <vt:lpstr>Темный шаблон презентации</vt:lpstr>
      <vt:lpstr>Второй вариант Название презентации</vt:lpstr>
      <vt:lpstr>Еще один вариант Название презентации</vt:lpstr>
      <vt:lpstr>Типовой лист</vt:lpstr>
      <vt:lpstr>Рабочая область   Весь контент должен заключаться в этой области экрана.  Такое зонирование позволит разместить текст и другую информацию  в максимально комфортном для восприятия месте.  Так же в макете имеются направляющие, по которым можно  выравнивать расположение объектов и не выходить за рамки. </vt:lpstr>
      <vt:lpstr>Имиджевые слайды  о компании</vt:lpstr>
      <vt:lpstr>Презентация PowerPoint</vt:lpstr>
      <vt:lpstr>Презентация PowerPoint</vt:lpstr>
      <vt:lpstr>Презентация PowerPoint</vt:lpstr>
      <vt:lpstr>Презентация PowerPoint</vt:lpstr>
      <vt:lpstr>Слайды  презентации с текстом</vt:lpstr>
      <vt:lpstr>Иерархия заголовков</vt:lpstr>
      <vt:lpstr>Что такое автоматизация</vt:lpstr>
      <vt:lpstr>Выделения и акценты в тексте</vt:lpstr>
      <vt:lpstr>Нумерованный список</vt:lpstr>
      <vt:lpstr>Нумерованный список №2</vt:lpstr>
      <vt:lpstr>Маркированный список</vt:lpstr>
      <vt:lpstr>Маркированный список №2</vt:lpstr>
      <vt:lpstr>Информация  в колонках</vt:lpstr>
      <vt:lpstr>Представление информации в трёх блоках</vt:lpstr>
      <vt:lpstr>Презентация PowerPoint</vt:lpstr>
      <vt:lpstr>Слайд с фото и блоками описания</vt:lpstr>
      <vt:lpstr>Информация с тремя колонками</vt:lpstr>
      <vt:lpstr>Информация с четырьмя колонками</vt:lpstr>
      <vt:lpstr>Как ещё можно разместить</vt:lpstr>
      <vt:lpstr>3 колонки и главная мысль</vt:lpstr>
      <vt:lpstr>Презентация PowerPoint</vt:lpstr>
      <vt:lpstr>Слайды  с фотографиями</vt:lpstr>
      <vt:lpstr>Слайд с фото или скриншотом</vt:lpstr>
      <vt:lpstr>Слайд с двумя фото или скриншотами</vt:lpstr>
      <vt:lpstr>Слайд с тремя фото или скриншотами</vt:lpstr>
      <vt:lpstr>Диаграммы, графики  и таблицы </vt:lpstr>
      <vt:lpstr>Пример круговой диаграммы</vt:lpstr>
      <vt:lpstr>Презентация PowerPoint</vt:lpstr>
      <vt:lpstr>Презентация PowerPoint</vt:lpstr>
      <vt:lpstr>Пример таблицы с выделением ключевой информации</vt:lpstr>
      <vt:lpstr>Как ещё можно изобразить таблицу</vt:lpstr>
      <vt:lpstr>Визуальные элементы Иконки, росчерки</vt:lpstr>
      <vt:lpstr>Иконки двухцветные</vt:lpstr>
      <vt:lpstr>Иконки белые</vt:lpstr>
      <vt:lpstr>Блоки для схем или важной информации</vt:lpstr>
      <vt:lpstr>3D абстрактные фигуры</vt:lpstr>
      <vt:lpstr>Изображения-объекты</vt:lpstr>
      <vt:lpstr>Благодарю 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Пользователь</dc:creator>
  <cp:lastModifiedBy>Черепанова Виктория</cp:lastModifiedBy>
  <cp:revision>212</cp:revision>
  <dcterms:created xsi:type="dcterms:W3CDTF">2020-01-20T06:19:00Z</dcterms:created>
  <dcterms:modified xsi:type="dcterms:W3CDTF">2025-03-10T02:44:05Z</dcterms:modified>
</cp:coreProperties>
</file>