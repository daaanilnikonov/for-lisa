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Блиц-запись</a:t>
            </a:r>
          </a:p>
          <a:p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Рабочая встреча по продуктовому запуску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Отвалы · конкуренты · гипотезы · конверсии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Материалы ЦП и технический конкурентный анализ Артёма Саловарова</a:t>
            </a:r>
          </a:p>
        </p:txBody>
      </p:sp>
      <p:pic>
        <p:nvPicPr>
          <p:cNvPr id="4" name="Picture 3" descr="icon_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Повестка встречи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Статистика отвалов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64208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Причины, частоты, выводы по выгрузке лидов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463040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146304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2084832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677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176272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Эталонные звонки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4688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5 разборов для выравнивания скрипта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267712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2267712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" y="2889504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72384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980944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Анализ конкурентов: взгляд клиентов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2735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Что удерживает клиентов у текущих сервисов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78240" y="3072384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0" y="3072384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" y="3694176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3785616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Технический конкурентный анализ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078224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Отличия Блиц-записи по подходу и архитектуре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3877056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0" y="3877056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Артём Саловаров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" y="4498848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68172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590288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Анализ гипотез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882896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Статус проверки и решения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78240" y="4681728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0" y="4681728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" y="5303520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548640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5394960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Цифры по конверсиям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687568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Воронка холодной базы и базы АБУ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5486400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0" y="548640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Статистика отвалов — обзор выборки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258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08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1945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лидов в выгрузке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Выгрузка лидов Блиц, менеджер Коршак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84448" y="13258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1508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1608" y="21945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отвалов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60604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Лиды с финальной негативной или тупиковой стадией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3258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508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1945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работе / успех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60604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Оценка готовности, уточнение, конверсия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408" y="13258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1508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6568" y="21945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доля отвалов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260604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От объёма всей выгрузки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3611880"/>
            <a:ext cx="10515600" cy="2286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947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Как считали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Взяли стадии канбана из выгрузки и сгруппировали похожие формулировки в обобщённые причины. В «отвалы» не попали лиды на этапах оценки готовности, уточнения потребности и успешные конверсии (КП, подключение, ожидание ответа). Если в стадии было несколько сигналов, приоритет отдавали более конкретной причине (например, «пользуются Masters» важнее общего «неинтересно»).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Причины отвалов (таблица, часть 1)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4300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822960"/>
                <a:gridCol w="7315200"/>
              </a:tblGrid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Причина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Кол-во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Доля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Комментарий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Недозвон / нет контакта с ЛПР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58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43.6%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Самый частый сценарий: трубку не берут, точка закрыта в момент звонка, до лица принятия решения не доходим. База «шумная» — нужен повтор в другое время, мессенджер и проверка актуальности контакта до обзвона.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Сбросили трубку / отказ от разговора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15.0%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Контакт состоялся, но разговор обрывают сразу после представления. Холодный заход воспринимается как спам: критичны первые 10–15 секунд скрипта и понятная ценность без давления.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Неинтересно / отказ без конкретной причины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18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13.5%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Короткий отказ без диагностики потребности. Либо боли действительно нет, либо менеджер не успел выйти на проблему. Стоит усиливать вопросы discovery до оффера продукта.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Устраивает текущий сервис конкурента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9.0%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Клиенты сидят на Dikidi (часто бесплатный тариф), Masters, YCLIENTS, Арнике или своей разработке. Привычка и «нас всё устраивает» сильнее бесплатного старта. Нужен заход через конкретный разрыв текущего сервиса, а не через «есть альтернатива».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 подходит формат онлайн-записи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6.8%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Запись ведут по звонку, лично или через Telegram; нужна квалификация клиента до слота. Чистый self-service им не подходит. В презентации важно показывать сценарии с ручным контролем записи, а не только виджет «записался сам».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Причина не зафиксирована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3.0%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В CRM стоит стадия «Другое» без пояснения. Теряем аналитику: нужна дисциплина фиксации причины в комментарии или отдельном поле.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Причины отвалов (таблица, часть 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822960"/>
                <a:gridCol w="73152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Причина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Кол-во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Доля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Комментарий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Бизнес закрыт или не работает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2.3%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Точка не работает, закрывается или удалена из справочников. Часть базы устарела — имеет смысл чистить по 2ГИС/сайту до прозвона.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Отказ после КП или демо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2.3%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Дошли до коммерческого предложения или показа, но решения не получили. Мало кейсов, но каждый стоит разбирать: что не закрыли на демо и в КП.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Отложили решение / перенести контакт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1.5%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Жёсткого отказа нет: просят связаться позже. Это follow-up, а не финальный отвал — нужен календарь повторных касаний.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 целевая аудитория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1.5%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В базе попались точки вне сегмента (например, магазин или медклиника). Фильтр ЦА до обзвона снижает пустые звонки.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Некорректный или мёртвый номер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1.5%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Номер не обслуживается или указан неверно. Ошибка данных в источнике базы.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86968" y="521208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349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Источник: выгрузка лиды Блиц Коршак. Обобщение выполнено по тексту стадии канбана; похожие формулировки («недозвон», «закрыты, недозвон», «не связались с ЛПР») сведены в одну причину.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Частота причин отвала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4" name="Picture 3" descr="dropoff_frequ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5214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Структура отвалов и выводы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dropoff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4023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309360" y="1325880"/>
            <a:ext cx="5120640" cy="44805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150876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Выводы для работы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965960"/>
            <a:ext cx="46634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8000"/>
              </a:lnSpc>
            </a:pPr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Больше 40% отвалов — недозвон.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Сначала чистим базу и канал доступа к ЛПР, иначе скрипт некому продавать.</a:t>
            </a:r>
          </a:p>
          <a:p>
            <a:pPr>
              <a:lnSpc>
                <a:spcPct val="108000"/>
              </a:lnSpc>
            </a:pPr>
            <a:r>
              <a:rPr sz="6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Сброс трубки — второй по весу сигнал.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Переписываем первые секунды звонка: кто мы и зачем звоним без «продажи с порога».</a:t>
            </a:r>
          </a:p>
          <a:p>
            <a:pPr>
              <a:lnSpc>
                <a:spcPct val="108000"/>
              </a:lnSpc>
            </a:pPr>
            <a:r>
              <a:rPr sz="6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Конкуренты держат лояльность.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Dikidi / Masters / YCLIENTS / Арника — заход только через конкретный разрыв.</a:t>
            </a:r>
          </a:p>
          <a:p>
            <a:pPr>
              <a:lnSpc>
                <a:spcPct val="108000"/>
              </a:lnSpc>
            </a:pPr>
            <a:r>
              <a:rPr sz="6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Часть ЦА не хочет чистую онлайн-запись.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 демо показывать сценарии с ручным контролем слота.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Эталонные звонки (5 шт.) — блок ЦП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8016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Разбор пяти эталонных звонков для выравнивания скрипта и качества discovery. Материалы и выводы вносит ЦП.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96596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14884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60604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96596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14884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260604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9288" y="196596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4884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60604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93192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114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45720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53128" y="393192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114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45720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Конкуренты глазами клиентов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3444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Что удерживает клиентов у текущих сервисов — по отвалам прозвона и рыночному обзору конкурентов.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82880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Dikidi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993392"/>
            <a:ext cx="7680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Часто сидят на бесплатном тарифе. Переход «на платное у нас» конкурирует с «бесплатно у них», даже если функционала меньше.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" y="288036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Masters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44952"/>
            <a:ext cx="7680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Удобно мастерам и соло. Клиенты говорят, что всё устраивает; даже бесплатный оффер не всегда сдвигает.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39319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YCLIENTS (ЮК)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096512"/>
            <a:ext cx="7680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Долгая привычка (кейсы «5 лет»), интеграции и ощущение «большой системы». Переход воспринимается как риск.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498348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12064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Арника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148072"/>
            <a:ext cx="7680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Скидки на продление, календарь, аналитика и интеграции «в одном окне». Лояльность поддерживается условиями вендора.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Что это значит для нашего захода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2588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Не продавать «ещё одну запись»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уже записывает. Нужна конкретная боль: поддержка, штат, деньги за неиспользуемые модули, жёсткость тарифа.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51460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97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Бесплатный старт — не универсальный ключ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 холодной базе оффер сработал. На фоне Dikidi Free и привычного Masters его часто недостаточно.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370332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86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Спрашивать текущий сервис обязательно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519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Без названия конкурента нельзя выбрать правильный угол презентации. Это уже подтверждено гипотезой по Юклаенс.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489204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074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Показывать модульность и рост «по мере нужды»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Против перегруженных пакетов конкурентов: платишь только за то, чем пользуешься — это язык малого бизнеса.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Технический конкурентный анализ — Артём Саловаров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34440"/>
            <a:ext cx="384048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34440"/>
            <a:ext cx="3840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Технический анализ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7830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 текущем этапе Блиц-запись активно развивается. Некорректно утверждать существенное техническое превосходство над зрелыми конкурентами (YCLIENTS, DIKIDI и др.) по числу функций, интеграций или глубине автоматизации. Отличие — в подходе к развитию продукта, архитектуре и работе с бизнесом.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3017520"/>
            <a:ext cx="10515600" cy="28346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Три принципа позиционирования сейчас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10058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Гибкость — бизнес адаптирует функциональность под свои процессы, а не наоборот.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Модульность — компания выбирает нужные инструменты и не переплачивает за лишнее.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Совместное развитие — учитываем запросы бизнеса и делаем востребованные доработки, в том числе на специальных условиях для участников развития продукта.</a:t>
            </a:r>
          </a:p>
          <a:p>
            <a:pPr>
              <a:lnSpc>
                <a:spcPct val="112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12000"/>
              </a:lnSpc>
            </a:pPr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Конкурируем подходом к клиенту и гибкостью предложения, а не технологическим превосходством.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Ключевые отличия (1–3)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1. Гибкость под конкретный бизнес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Включать и отключать функции, настраивать под отрасль, упрощать интерфейс до нужного набора. Цель — система под процессы компании. Часть возможностей ещё в целевой модели продукта.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83464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2. Модульная система и гибкое ценообразование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Конструктор тарифов вместо жёсткого пакета. База — запись и расписание; модули «Команда», «Клиенты», «Финансы» подключаются отдельно. Актуально для малого бизнеса с путём масштабирования.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438912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262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3. Развитие на обратной связи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описывает задачу — команда оценивает типовость и реализуемость. Типовые доработки могут войти в продукт; для инициатора — на специальных условиях. Индивидуальные кейсы — отдельно.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Ключевые отличия (4–6)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4. Отраслевая адаптация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универсальный «одинаковый для всех» продукт. Фокус: бьюти и автоуслуги. Салоны — мастера, длительность, повторные визиты. Мойки — посты, загрузка, длительность. Малый бизнес — быстрый старт; растущий — модули без смены системы.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83464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5. Старт с минимального набора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Сначала запись и расписание, затем расширение. Снижает порог входа для тех, кто вёл запись вручную и не готов сразу к тяжёлой CRM.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438912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262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Открытость к интеграциям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Направление развития: мессенджеры, маркетинг, платежи, аналитика, отраслевые системы. Конкретные интеграции — по спросу и приоритетам. Это план, а не обещание «уже всё есть».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Анализ гипотез — сводный статус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2588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846320"/>
                <a:gridCol w="2103120"/>
                <a:gridCol w="347472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№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Суть проверки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Статус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Главный результат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Бесплатный старт на холодной базе салонов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CAF50"/>
                          </a:solidFill>
                          <a:latin typeface="Verdana"/>
                          <a:ea typeface="Verdana"/>
                          <a:cs typeface="Verdana"/>
                        </a:rPr>
                        <a:t>Подтверждена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Сделка в демо: с 0% до 20%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Тёплые клиенты АБУ конвертятся лучше холодных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C06060"/>
                          </a:solidFill>
                          <a:latin typeface="Verdana"/>
                          <a:ea typeface="Verdana"/>
                          <a:cs typeface="Verdana"/>
                        </a:rPr>
                        <a:t>Не подтверждена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48 обработано, 0 демо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Discovery Юклаенс через техподдержку и штат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CAF50"/>
                          </a:solidFill>
                          <a:latin typeface="Verdana"/>
                          <a:ea typeface="Verdana"/>
                          <a:cs typeface="Verdana"/>
                        </a:rPr>
                        <a:t>Проверена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Конверсия выше 40%; цифры — в таблице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Новые сегменты (спорт, образование, кабинеты)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0A026"/>
                          </a:solidFill>
                          <a:latin typeface="Verdana"/>
                          <a:ea typeface="Verdana"/>
                          <a:cs typeface="Verdana"/>
                        </a:rPr>
                        <a:t>Не начата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Старт с ноября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Продажи через крупные франшизы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0A026"/>
                          </a:solidFill>
                          <a:latin typeface="Verdana"/>
                          <a:ea typeface="Verdana"/>
                          <a:cs typeface="Verdana"/>
                        </a:rPr>
                        <a:t>Не начата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Нужно обсуждение подхода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Гипотеза 1 — подтверждена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144000" y="502920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502920"/>
            <a:ext cx="22860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Подтверждена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123444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Формулировка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00584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при холодном прозвоне салонов красоты предлагать бесплатное сотрудничество с последующим переходом на платный пакет, то доля сделок, доведённых до демонстрации, вырастет и закрепится на уровне не ниже 20%, потому что бесплатный старт снимает барьер входа у холодного контакта.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86968" y="3246120"/>
          <a:ext cx="1051560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645920"/>
                <a:gridCol w="1463040"/>
                <a:gridCol w="26517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Период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Обработано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Сделок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Сделка в 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14–19 сентября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102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21–28 сентября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28 сентября – 5 октября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5–12 октября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47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Итого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263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40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12,5%*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6968" y="59436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* Итого смешивает режимы до и после оффера. Рабочий показатель после смены оффера — 20%.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Гипотеза 1 — динамика конверсии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4" name="Picture 3" descr="cold_convers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315200" cy="3200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83280" cy="4114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55448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Разбор цифр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2011680"/>
            <a:ext cx="29260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263 обработано</a:t>
            </a:r>
          </a:p>
          <a:p>
            <a:pPr>
              <a:lnSpc>
                <a:spcPct val="112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объём холодной базы за проверку</a:t>
            </a:r>
          </a:p>
          <a:p>
            <a:pPr>
              <a:lnSpc>
                <a:spcPct val="112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12000"/>
              </a:lnSpc>
            </a:pPr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 демонстраций</a:t>
            </a:r>
          </a:p>
          <a:p>
            <a:pPr>
              <a:lnSpc>
                <a:spcPct val="112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все демо — с холодной базы</a:t>
            </a:r>
          </a:p>
          <a:p>
            <a:pPr>
              <a:lnSpc>
                <a:spcPct val="112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12000"/>
              </a:lnSpc>
            </a:pPr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20% сейчас</a:t>
            </a:r>
          </a:p>
          <a:p>
            <a:pPr>
              <a:lnSpc>
                <a:spcPct val="112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10 сделок и 2 демо за 5–12.10</a:t>
            </a:r>
          </a:p>
          <a:p>
            <a:pPr>
              <a:lnSpc>
                <a:spcPct val="112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12000"/>
              </a:lnSpc>
            </a:pPr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Было 0%</a:t>
            </a:r>
          </a:p>
          <a:p>
            <a:pPr>
              <a:lnSpc>
                <a:spcPct val="112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164 контакта до оффера — без демо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Гипотеза 2 — не подтверждена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686800" y="502920"/>
            <a:ext cx="2743200" cy="347472"/>
          </a:xfrm>
          <a:prstGeom prst="roundRect">
            <a:avLst>
              <a:gd name="adj" fmla="val 40000"/>
            </a:avLst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502920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подтверждена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123444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Формулировка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прозванивать тёплую базу клиентов ГК Форус (АБУ), то конверсия «сделка в демонстрацию» будет минимум на 30% выше, чем на холодной базе, потому что клиенты уже знают компанию.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86968" y="301752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645920"/>
                <a:gridCol w="1463040"/>
                <a:gridCol w="265176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Период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Обработано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Сделок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Сделка в 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25–28 сентября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—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28 сентября – 5 октября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43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5–12 октября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—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Итого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48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6968" y="53949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Решение: гипотезу не подтверждаем на текущей выборке. Меняем заход в скрипте и повторяем на большем объёме — иначе нельзя честно сравнить тёплый и холодный канал.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Гипотеза 3 — проверена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144000" y="502920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502920"/>
            <a:ext cx="22860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Проверена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123444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Формулировка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916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у клиентов Юклаенс на сборе потребности уточнять линию техподдержки и численность сотрудников и строить презентацию вокруг этих болей, то конверсия в демо и сделку превысит 40%, потому что именно здесь типовой разрыв конкурента.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346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Распределение прозвоненных по текущему сервису записи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86968" y="3200400"/>
          <a:ext cx="105156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011680"/>
                <a:gridCol w="1828800"/>
                <a:gridCol w="1828800"/>
                <a:gridCol w="228600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Текущий сервис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Прозвонено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Сделок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Конверсия в 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Дикиди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0,0%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Юклаенс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4,5%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Мастерс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0,0%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Итого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66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11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1,5%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86968" y="55321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Пользователь сервиса: явная отметка в стадии канбана или ссылка на онлайн-запись этого сервиса в карточке лида (dikidi / yclients / mst.link). Демо — проведённая демонстрация по тексту стадии. Сделка — стадия «сконвертирован» или «оценка готовности к покупке». Конверсия в демо = демо ÷ прозвонено.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Гипотезы 4 и 5 — ещё не в проверке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21945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869680" y="1417320"/>
            <a:ext cx="2286000" cy="320040"/>
          </a:xfrm>
          <a:prstGeom prst="roundRect">
            <a:avLst>
              <a:gd name="adj" fmla="val 40000"/>
            </a:avLst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141732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Не начата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74980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Гипотеза 4. Расширение 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74519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расширить прозвон на спорт-клубы, образовательные центры и кабинеты специалистов (психолог, нутрициолог и др.), то получим демо и сделки в этих сегментах, потому что у них та же задача управляемой записи. План: активная проверка с ноября. Критерий — конверсия сделка в демо не хуже рабочего уровня холодных салонов (ориентир 20%).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3703320"/>
            <a:ext cx="10515600" cy="21945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03920" y="3840480"/>
            <a:ext cx="2651760" cy="320040"/>
          </a:xfrm>
          <a:prstGeom prst="roundRect">
            <a:avLst>
              <a:gd name="adj" fmla="val 40000"/>
            </a:avLst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3840480"/>
            <a:ext cx="26517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Требует обсуждения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Гипотеза 5. Крупные франшизы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продавать через крупные франшизы целевого сегмента, то стоимость привлечения точки и скорость масштабирования будут лучше точечного холодного обзвона, потому что решение управляющей компании открывает несколько площадок. До старта: список сетей, ЛПР, оффер и критерии пилота.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6. Цифры по конверсиям — как обычно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34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Две ключевые конверсии: «обзвон в сделку» = сделки ÷ обработано; «сделка в демо» = демо ÷ сделки. Целевое действие — демонстрация.</a:t>
            </a:r>
          </a:p>
        </p:txBody>
      </p:sp>
      <p:pic>
        <p:nvPicPr>
          <p:cNvPr id="5" name="Picture 4" descr="cold_vs_a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5943600" cy="3291840"/>
          </a:xfrm>
          <a:prstGeom prst="rect">
            <a:avLst/>
          </a:prstGeom>
        </p:spPr>
      </p:pic>
      <p:pic>
        <p:nvPicPr>
          <p:cNvPr id="6" name="Picture 5" descr="oct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5303520" cy="2743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86968" y="521208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349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Холодная база: 263 обработано, 5 демо, рабочая конверсия сделка в демо 20%. АБУ: 48 обработано, 0 демо. Воронка звонков 1–15.10: 242 звонка, 6 презентаций, 2 тестовых доступа.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Решения и следующие шаги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1444752"/>
            <a:ext cx="365760" cy="36576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44475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371600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Отвалы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64592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Снижать недозвон (качество базы, мессенджер, время) и переписать первые секунды звонка.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029968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194560"/>
            <a:ext cx="365760" cy="36576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1945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121408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Эталонные звонки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39572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ЦП закрывает 5 разборов и фиксирует правки скрипта.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2779776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2944368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443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871216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145536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Оффер бесплатного старта оставляем стандартом холодного прозвона.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" y="3529584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694176"/>
            <a:ext cx="365760" cy="365760"/>
          </a:xfrm>
          <a:prstGeom prst="ellipse">
            <a:avLst/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9417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3621024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895344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Новый заход по АБУ и повторная проверка на большей выборке.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" y="4279392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" y="4443984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443984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370832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645152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ЦП заполняет таблицу Дикиди / Юклаенс / Мастерс.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" y="5029200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1560" y="5193792"/>
            <a:ext cx="365760" cy="365760"/>
          </a:xfrm>
          <a:prstGeom prst="ellipse">
            <a:avLst/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19379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120640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Гипотезы 4–5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39496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Ноябрь — новые сегменты; франшизы — после согласования подхода.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26A6E0"/>
      </a:hlink>
      <a:folHlink>
        <a:srgbClr val="BFBFBF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