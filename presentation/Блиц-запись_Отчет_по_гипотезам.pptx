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6"/>
  </p:notesMasterIdLst>
  <p:handoutMasterIdLst>
    <p:handoutMasterId r:id="rId4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Шафрановый шаблон" id="{FBFB8EBD-73BD-4F84-9F02-556D73907D89}">
          <p14:sldIdLst>
            <p14:sldId id="277"/>
            <p14:sldId id="297"/>
            <p14:sldId id="296"/>
            <p14:sldId id="278"/>
            <p14:sldId id="295"/>
            <p14:sldId id="309"/>
            <p14:sldId id="310"/>
            <p14:sldId id="319"/>
            <p14:sldId id="318"/>
            <p14:sldId id="314"/>
            <p14:sldId id="271"/>
            <p14:sldId id="261"/>
            <p14:sldId id="294"/>
            <p14:sldId id="279"/>
            <p14:sldId id="280"/>
            <p14:sldId id="290"/>
            <p14:sldId id="281"/>
            <p14:sldId id="291"/>
            <p14:sldId id="300"/>
            <p14:sldId id="298"/>
            <p14:sldId id="299"/>
            <p14:sldId id="306"/>
            <p14:sldId id="292"/>
            <p14:sldId id="293"/>
            <p14:sldId id="308"/>
            <p14:sldId id="313"/>
            <p14:sldId id="316"/>
            <p14:sldId id="303"/>
            <p14:sldId id="272"/>
            <p14:sldId id="273"/>
            <p14:sldId id="305"/>
            <p14:sldId id="304"/>
            <p14:sldId id="258"/>
            <p14:sldId id="259"/>
            <p14:sldId id="260"/>
            <p14:sldId id="282"/>
            <p14:sldId id="307"/>
            <p14:sldId id="284"/>
            <p14:sldId id="301"/>
            <p14:sldId id="285"/>
            <p14:sldId id="288"/>
            <p14:sldId id="315"/>
            <p14:sldId id="320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F66"/>
    <a:srgbClr val="D64A4A"/>
    <a:srgbClr val="385E75"/>
    <a:srgbClr val="F7D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96395" autoAdjust="0"/>
  </p:normalViewPr>
  <p:slideViewPr>
    <p:cSldViewPr snapToGrid="0">
      <p:cViewPr varScale="1">
        <p:scale>
          <a:sx n="101" d="100"/>
          <a:sy n="101" d="100"/>
        </p:scale>
        <p:origin x="882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2406" y="-54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78FD9-E883-405F-84A7-48BE6C1C4639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D83DF0-6FC0-4BAF-9BAA-AC3E7DD339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4204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F1DD30-20F5-456A-A91D-5E5E2AE4E96B}" type="datetimeFigureOut">
              <a:rPr lang="ru-RU" smtClean="0"/>
              <a:t>10.03.2025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AD6420-324F-4B35-AE1D-31198132CD0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850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1592673"/>
            <a:ext cx="6084889" cy="311440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452140"/>
            <a:ext cx="608488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4866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1081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9CBBFDCD-7D7F-4B80-B8B1-819A1E32F0B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3215147"/>
            <a:ext cx="9891610" cy="2081865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6000"/>
            </a:lvl1pPr>
          </a:lstStyle>
          <a:p>
            <a:r>
              <a:rPr lang="ru-RU" dirty="0"/>
              <a:t>Название</a:t>
            </a:r>
            <a:br>
              <a:rPr lang="ru-RU" dirty="0"/>
            </a:br>
            <a:r>
              <a:rPr lang="ru-RU" dirty="0"/>
              <a:t>Заголовок доклада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43FBD1AF-C1AA-4706-8044-A437628082D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74714" y="5297013"/>
            <a:ext cx="9891608" cy="776557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48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/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3BC5D02F-6A7F-488D-8863-2E7D5E916A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970EFF6-2A86-47BF-957F-C7B6C538C6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44582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7519A18-1BF8-4938-AEC3-A77314E5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D8AD4F86-5FE3-446D-8780-CDA879DFF7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0593BBA2-AC45-42A4-9428-FC5859BB9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7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Слайд с текст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BFBC993-7CB7-4F97-9604-69040108A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1CA5DEB-4E80-4943-910F-68B80795D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96E871B4-AA94-4D4E-9BBB-98632F8F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1281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0A5662A-3631-4B64-9763-487A6E3AD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CED77CCE-A060-47D9-A7C0-7E698FE03F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84624F-C505-4ADC-B9EB-36ABDDDDD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45321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лайд с фоном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16A866A-C7E4-46BE-B9A8-81C97693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6EE71620-56CC-413D-BC0A-00E91094C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0E8E5EB6-08F5-41BA-A4BA-A663A9CFB4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34286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нуме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6"/>
          <p:cNvSpPr>
            <a:spLocks noGrp="1"/>
          </p:cNvSpPr>
          <p:nvPr>
            <p:ph type="body" sz="quarter" idx="13" hasCustomPrompt="1"/>
          </p:nvPr>
        </p:nvSpPr>
        <p:spPr>
          <a:xfrm>
            <a:off x="5865430" y="1129630"/>
            <a:ext cx="5415345" cy="4330604"/>
          </a:xfrm>
        </p:spPr>
        <p:txBody>
          <a:bodyPr lIns="0" tIns="0" rIns="0" bIns="0" anchor="t" anchorCtr="0">
            <a:normAutofit/>
          </a:bodyPr>
          <a:lstStyle>
            <a:lvl1pPr marL="342900" indent="-342900">
              <a:buFont typeface="+mj-lt"/>
              <a:buAutoNum type="arabicPeriod"/>
              <a:defRPr sz="1800" b="0" baseline="0"/>
            </a:lvl1pPr>
          </a:lstStyle>
          <a:p>
            <a:pPr lvl="0"/>
            <a:r>
              <a:rPr lang="ru-RU" dirty="0"/>
              <a:t>Первый пункт</a:t>
            </a:r>
          </a:p>
          <a:p>
            <a:pPr lvl="0"/>
            <a:r>
              <a:rPr lang="ru-RU" dirty="0"/>
              <a:t>Второй пункт </a:t>
            </a:r>
          </a:p>
          <a:p>
            <a:pPr lvl="0"/>
            <a:r>
              <a:rPr lang="ru-RU" dirty="0"/>
              <a:t>Третий пункт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EE474C4-81A0-46FC-BFAC-275D8A40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963647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3CAE1B9-25FF-48B5-A049-B9DC3BEF1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276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маркированный список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32A7D44-323D-47D5-A9F0-01D4A9E8A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7132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3E477ECF-E540-4493-B86E-B873B16EA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6149728-8AE4-4B5A-97C2-EA2E3AC92A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4902" y="1562400"/>
            <a:ext cx="10392697" cy="4012831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2728259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маркированный список в 2 колонки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D56FE66-88BE-40AA-AAA9-8DDD1F2AD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13" y="891219"/>
            <a:ext cx="4620740" cy="2467616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617602DF-5256-4FDD-94C1-5B638A446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6" name="Текст 6">
            <a:extLst>
              <a:ext uri="{FF2B5EF4-FFF2-40B4-BE49-F238E27FC236}">
                <a16:creationId xmlns:a16="http://schemas.microsoft.com/office/drawing/2014/main" id="{133A49C5-51F3-4E68-A259-6E5B7AC4F3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59776" y="1047774"/>
            <a:ext cx="5517823" cy="4527457"/>
          </a:xfrm>
        </p:spPr>
        <p:txBody>
          <a:bodyPr lIns="0" tIns="0" rIns="0" bIns="0" anchor="t" anchorCtr="0">
            <a:normAutofit/>
          </a:bodyPr>
          <a:lstStyle>
            <a:lvl1pPr marL="285750" indent="-285750">
              <a:buClr>
                <a:schemeClr val="accent1"/>
              </a:buClr>
              <a:buFont typeface="Arial" panose="020B0604020202020204" pitchFamily="34" charset="0"/>
              <a:buChar char="•"/>
              <a:defRPr sz="1800" b="0"/>
            </a:lvl1pPr>
            <a:lvl2pPr marL="742950" indent="-285750">
              <a:buClr>
                <a:schemeClr val="accent1"/>
              </a:buClr>
              <a:buFont typeface="Verdana" panose="020B0604030504040204" pitchFamily="34" charset="0"/>
              <a:buChar char="–"/>
              <a:defRPr sz="1800" b="0"/>
            </a:lvl2pPr>
          </a:lstStyle>
          <a:p>
            <a:pPr lvl="0"/>
            <a:r>
              <a:rPr lang="ru-RU" dirty="0"/>
              <a:t>Первая позиция в списке</a:t>
            </a:r>
          </a:p>
          <a:p>
            <a:pPr lvl="0"/>
            <a:r>
              <a:rPr lang="ru-RU" dirty="0"/>
              <a:t>Вторая позиция в списке</a:t>
            </a:r>
          </a:p>
          <a:p>
            <a:pPr lvl="0"/>
            <a:r>
              <a:rPr lang="ru-RU" dirty="0"/>
              <a:t>Третья позиция в списке</a:t>
            </a:r>
          </a:p>
          <a:p>
            <a:pPr lvl="1"/>
            <a:r>
              <a:rPr lang="ru-RU" dirty="0"/>
              <a:t>Второй уровень списка</a:t>
            </a:r>
          </a:p>
          <a:p>
            <a:pPr lvl="1"/>
            <a:r>
              <a:rPr lang="ru-RU" dirty="0"/>
              <a:t>Еще строчка</a:t>
            </a:r>
          </a:p>
        </p:txBody>
      </p:sp>
    </p:spTree>
    <p:extLst>
      <p:ext uri="{BB962C8B-B14F-4D97-AF65-F5344CB8AC3E}">
        <p14:creationId xmlns:p14="http://schemas.microsoft.com/office/powerpoint/2010/main" val="1270566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 справ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7697" y="762915"/>
            <a:ext cx="4943168" cy="4645025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2" name="Текст 2"/>
          <p:cNvSpPr>
            <a:spLocks noGrp="1"/>
          </p:cNvSpPr>
          <p:nvPr>
            <p:ph idx="1" hasCustomPrompt="1"/>
          </p:nvPr>
        </p:nvSpPr>
        <p:spPr>
          <a:xfrm>
            <a:off x="6381135" y="762915"/>
            <a:ext cx="4943168" cy="4633911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C523A1-EB68-423D-8F90-63E750B7F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0566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 hasCustomPrompt="1"/>
          </p:nvPr>
        </p:nvSpPr>
        <p:spPr>
          <a:xfrm>
            <a:off x="865238" y="3215148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01</a:t>
            </a:r>
          </a:p>
        </p:txBody>
      </p:sp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E183D238-B879-455A-91BE-5DFBD2E39E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927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 с цифрой_0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6">
            <a:extLst>
              <a:ext uri="{FF2B5EF4-FFF2-40B4-BE49-F238E27FC236}">
                <a16:creationId xmlns:a16="http://schemas.microsoft.com/office/drawing/2014/main" id="{F0DFD439-0271-4EDC-9E88-A8C8A5616F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92159" y="478202"/>
            <a:ext cx="4896950" cy="2806239"/>
          </a:xfrm>
        </p:spPr>
        <p:txBody>
          <a:bodyPr lIns="0" tIns="0" rIns="0" bIns="0" anchor="t" anchorCtr="0">
            <a:noAutofit/>
          </a:bodyPr>
          <a:lstStyle>
            <a:lvl1pPr marL="0" indent="0" algn="ctr">
              <a:buFontTx/>
              <a:buNone/>
              <a:defRPr lang="ru-RU" sz="25000" b="1" kern="1200" baseline="0" dirty="0">
                <a:solidFill>
                  <a:schemeClr val="bg1"/>
                </a:solidFill>
                <a:latin typeface="Stolzl" panose="00000500000000000000" pitchFamily="50" charset="-52"/>
                <a:ea typeface="+mj-ea"/>
                <a:cs typeface="+mj-cs"/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94DF25D-F3E4-4185-AB33-DAD8419C2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3820562"/>
            <a:ext cx="5948517" cy="2200826"/>
          </a:xfrm>
        </p:spPr>
        <p:txBody>
          <a:bodyPr anchor="b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02</a:t>
            </a:r>
          </a:p>
        </p:txBody>
      </p:sp>
      <p:sp>
        <p:nvSpPr>
          <p:cNvPr id="9" name="Текст 6">
            <a:extLst>
              <a:ext uri="{FF2B5EF4-FFF2-40B4-BE49-F238E27FC236}">
                <a16:creationId xmlns:a16="http://schemas.microsoft.com/office/drawing/2014/main" id="{7E9D0740-1D71-4366-99A6-C672EF2E21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452852" y="4621161"/>
            <a:ext cx="3195484" cy="1400227"/>
          </a:xfrm>
        </p:spPr>
        <p:txBody>
          <a:bodyPr lIns="0" tIns="0" rIns="0" bIns="0" anchor="b" anchorCtr="0">
            <a:normAutofit/>
          </a:bodyPr>
          <a:lstStyle>
            <a:lvl1pPr marL="0" indent="0">
              <a:buFontTx/>
              <a:buNone/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47C20D37-BE6F-4F7A-B249-94EC22728A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9776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03</a:t>
            </a:r>
          </a:p>
        </p:txBody>
      </p:sp>
    </p:spTree>
    <p:extLst>
      <p:ext uri="{BB962C8B-B14F-4D97-AF65-F5344CB8AC3E}">
        <p14:creationId xmlns:p14="http://schemas.microsoft.com/office/powerpoint/2010/main" val="1368503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азделитель_0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5">
            <a:extLst>
              <a:ext uri="{FF2B5EF4-FFF2-40B4-BE49-F238E27FC236}">
                <a16:creationId xmlns:a16="http://schemas.microsoft.com/office/drawing/2014/main" id="{B397B02E-0E06-4105-94D2-12E74FD1E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6021388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1E35BC-10AD-412F-9067-A83FD57EC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238" y="2988811"/>
            <a:ext cx="5948517" cy="2806240"/>
          </a:xfrm>
        </p:spPr>
        <p:txBody>
          <a:bodyPr anchor="ctr" anchorCtr="0">
            <a:normAutofit/>
          </a:bodyPr>
          <a:lstStyle>
            <a:lvl1pPr>
              <a:defRPr sz="4800" baseline="0"/>
            </a:lvl1pPr>
          </a:lstStyle>
          <a:p>
            <a:r>
              <a:rPr lang="ru-RU" dirty="0"/>
              <a:t>Страница разделитель 04</a:t>
            </a:r>
          </a:p>
        </p:txBody>
      </p:sp>
    </p:spTree>
    <p:extLst>
      <p:ext uri="{BB962C8B-B14F-4D97-AF65-F5344CB8AC3E}">
        <p14:creationId xmlns:p14="http://schemas.microsoft.com/office/powerpoint/2010/main" val="2189666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sz="quarter" idx="13" hasCustomPrompt="1"/>
          </p:nvPr>
        </p:nvSpPr>
        <p:spPr>
          <a:xfrm>
            <a:off x="8835461" y="1534625"/>
            <a:ext cx="2442137" cy="4179272"/>
          </a:xfrm>
        </p:spPr>
        <p:txBody>
          <a:bodyPr anchor="ctr" anchorCtr="0">
            <a:normAutofit/>
          </a:bodyPr>
          <a:lstStyle>
            <a:lvl1pPr>
              <a:defRPr sz="1400" b="0"/>
            </a:lvl1pPr>
            <a:lvl4pPr>
              <a:defRPr/>
            </a:lvl4pPr>
          </a:lstStyle>
          <a:p>
            <a:pPr lvl="0"/>
            <a:r>
              <a:rPr lang="ru-RU" dirty="0"/>
              <a:t>Описание диаграммы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84902" y="1543169"/>
            <a:ext cx="7771376" cy="417927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2F821131-241D-4D09-AE09-799B29595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63282"/>
            <a:ext cx="10392696" cy="954310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F46BE731-9096-4039-BF9A-727DEA4B2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07668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круговая диаграмм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6343436" y="441325"/>
            <a:ext cx="4938367" cy="1552267"/>
          </a:xfrm>
        </p:spPr>
        <p:txBody>
          <a:bodyPr anchor="ctr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Диаграмма 6"/>
          <p:cNvSpPr>
            <a:spLocks noGrp="1"/>
          </p:cNvSpPr>
          <p:nvPr>
            <p:ph type="chart" sz="quarter" idx="14"/>
          </p:nvPr>
        </p:nvSpPr>
        <p:spPr>
          <a:xfrm>
            <a:off x="875071" y="441325"/>
            <a:ext cx="4973493" cy="5097156"/>
          </a:xfrm>
        </p:spPr>
        <p:txBody>
          <a:bodyPr/>
          <a:lstStyle/>
          <a:p>
            <a:endParaRPr lang="ru-RU"/>
          </a:p>
        </p:txBody>
      </p:sp>
      <p:sp>
        <p:nvSpPr>
          <p:cNvPr id="15" name="Текст 2"/>
          <p:cNvSpPr>
            <a:spLocks noGrp="1"/>
          </p:cNvSpPr>
          <p:nvPr>
            <p:ph idx="1" hasCustomPrompt="1"/>
          </p:nvPr>
        </p:nvSpPr>
        <p:spPr>
          <a:xfrm>
            <a:off x="6341806" y="2298393"/>
            <a:ext cx="4940197" cy="3240088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>
              <a:defRPr sz="1800" b="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E1FE05CB-6EF4-4FF8-B36B-867271E4E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12205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390967" y="1595563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84902" y="1595564"/>
            <a:ext cx="4886631" cy="4045156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7211C23E-56A6-4164-B8FF-F10658F2B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2573-AD9D-448A-A476-45D5ECB21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077090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Рисунок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00" y="2489588"/>
            <a:ext cx="5196348" cy="3185292"/>
          </a:xfrm>
        </p:spPr>
        <p:txBody>
          <a:bodyPr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80704" y="1614516"/>
            <a:ext cx="5005388" cy="406036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6096000" y="1614516"/>
            <a:ext cx="5196348" cy="715962"/>
          </a:xfrm>
        </p:spPr>
        <p:txBody>
          <a:bodyPr anchor="t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75CD4B1-F30F-4145-BA27-A319BB473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52264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E5CEB1CE-04E3-42BD-8823-F5452F1C4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214414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Рисунка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90535" y="4965411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9" name="Рисунок 8"/>
          <p:cNvSpPr>
            <a:spLocks noGrp="1"/>
          </p:cNvSpPr>
          <p:nvPr>
            <p:ph type="pic" sz="quarter" idx="13"/>
          </p:nvPr>
        </p:nvSpPr>
        <p:spPr>
          <a:xfrm>
            <a:off x="890535" y="1514633"/>
            <a:ext cx="4782677" cy="2890556"/>
          </a:xfrm>
        </p:spPr>
        <p:txBody>
          <a:bodyPr/>
          <a:lstStyle/>
          <a:p>
            <a:endParaRPr lang="ru-RU"/>
          </a:p>
        </p:txBody>
      </p:sp>
      <p:sp>
        <p:nvSpPr>
          <p:cNvPr id="10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0535" y="4536785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4" name="Текст 3"/>
          <p:cNvSpPr>
            <a:spLocks noGrp="1"/>
          </p:cNvSpPr>
          <p:nvPr>
            <p:ph type="body" sz="half" idx="16"/>
          </p:nvPr>
        </p:nvSpPr>
        <p:spPr>
          <a:xfrm>
            <a:off x="6518788" y="4965410"/>
            <a:ext cx="4782677" cy="715962"/>
          </a:xfrm>
        </p:spPr>
        <p:txBody>
          <a:bodyPr anchor="b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Рисунок 8"/>
          <p:cNvSpPr>
            <a:spLocks noGrp="1"/>
          </p:cNvSpPr>
          <p:nvPr>
            <p:ph type="pic" sz="quarter" idx="17"/>
          </p:nvPr>
        </p:nvSpPr>
        <p:spPr>
          <a:xfrm>
            <a:off x="6518788" y="1504646"/>
            <a:ext cx="4782677" cy="2900543"/>
          </a:xfrm>
        </p:spPr>
        <p:txBody>
          <a:bodyPr/>
          <a:lstStyle/>
          <a:p>
            <a:endParaRPr lang="ru-RU"/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518788" y="4536784"/>
            <a:ext cx="4782677" cy="428625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981AEDAF-55A9-4E1C-8323-359C0D96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8FFC0EE2-1895-4B1F-A00C-1F2A313BE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242656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бъект с подписью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Текст 3"/>
          <p:cNvSpPr>
            <a:spLocks noGrp="1"/>
          </p:cNvSpPr>
          <p:nvPr>
            <p:ph type="body" sz="half" idx="2"/>
          </p:nvPr>
        </p:nvSpPr>
        <p:spPr>
          <a:xfrm>
            <a:off x="891280" y="5127584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5" name="Текст 3"/>
          <p:cNvSpPr>
            <a:spLocks noGrp="1"/>
          </p:cNvSpPr>
          <p:nvPr>
            <p:ph type="body" sz="half" idx="14" hasCustomPrompt="1"/>
          </p:nvPr>
        </p:nvSpPr>
        <p:spPr>
          <a:xfrm>
            <a:off x="891280" y="4594184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8" name="Объект 3"/>
          <p:cNvSpPr>
            <a:spLocks noGrp="1"/>
          </p:cNvSpPr>
          <p:nvPr>
            <p:ph sz="half" idx="16"/>
          </p:nvPr>
        </p:nvSpPr>
        <p:spPr>
          <a:xfrm>
            <a:off x="888105" y="1527246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10" name="Текст 3"/>
          <p:cNvSpPr>
            <a:spLocks noGrp="1"/>
          </p:cNvSpPr>
          <p:nvPr>
            <p:ph type="body" sz="half" idx="17"/>
          </p:nvPr>
        </p:nvSpPr>
        <p:spPr>
          <a:xfrm>
            <a:off x="6349420" y="5115850"/>
            <a:ext cx="4927703" cy="715962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Образец текста</a:t>
            </a:r>
          </a:p>
          <a:p>
            <a:pPr lvl="0"/>
            <a:r>
              <a:rPr lang="ru-RU" dirty="0"/>
              <a:t>Описание, краткая информация</a:t>
            </a:r>
          </a:p>
        </p:txBody>
      </p:sp>
      <p:sp>
        <p:nvSpPr>
          <p:cNvPr id="16" name="Текст 3"/>
          <p:cNvSpPr>
            <a:spLocks noGrp="1"/>
          </p:cNvSpPr>
          <p:nvPr>
            <p:ph type="body" sz="half" idx="18" hasCustomPrompt="1"/>
          </p:nvPr>
        </p:nvSpPr>
        <p:spPr>
          <a:xfrm>
            <a:off x="6349420" y="4582450"/>
            <a:ext cx="4927703" cy="533399"/>
          </a:xfrm>
        </p:spPr>
        <p:txBody>
          <a:bodyPr anchor="b" anchorCtr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dirty="0"/>
              <a:t>Подпись</a:t>
            </a:r>
          </a:p>
        </p:txBody>
      </p:sp>
      <p:sp>
        <p:nvSpPr>
          <p:cNvPr id="17" name="Объект 3"/>
          <p:cNvSpPr>
            <a:spLocks noGrp="1"/>
          </p:cNvSpPr>
          <p:nvPr>
            <p:ph sz="half" idx="19"/>
          </p:nvPr>
        </p:nvSpPr>
        <p:spPr>
          <a:xfrm>
            <a:off x="6346213" y="1514593"/>
            <a:ext cx="4931385" cy="3004751"/>
          </a:xfrm>
        </p:spPr>
        <p:txBody>
          <a:bodyPr anchor="t" anchorCtr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31546B-EEAC-45C2-AD58-2686120E4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902" y="441325"/>
            <a:ext cx="10392696" cy="985273"/>
          </a:xfrm>
        </p:spPr>
        <p:txBody>
          <a:bodyPr anchor="t" anchorCtr="0"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54BC83B1-EA69-458C-93CC-D83700FA6A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25075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253E90FC-F950-4C4B-B0F4-B43F9D7D1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950781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4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4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CED1720-7802-4704-90FA-E3029649512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5137432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следни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874713" y="3429000"/>
            <a:ext cx="6084888" cy="1133788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 b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Имя Фамилия докладчика</a:t>
            </a:r>
          </a:p>
          <a:p>
            <a:r>
              <a:rPr lang="ru-RU" sz="2400" dirty="0"/>
              <a:t>Должность / Служба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4588768"/>
            <a:ext cx="3770313" cy="628650"/>
          </a:xfrm>
        </p:spPr>
        <p:txBody>
          <a:bodyPr>
            <a:normAutofit/>
          </a:bodyPr>
          <a:lstStyle>
            <a:lvl1pPr>
              <a:defRPr sz="1800" b="0" baseline="0"/>
            </a:lvl1pPr>
          </a:lstStyle>
          <a:p>
            <a:pPr lvl="0"/>
            <a:r>
              <a:rPr lang="ru-RU" dirty="0"/>
              <a:t>Телефон / эл. почта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8EA4524E-AC81-4F4C-AAE2-A4D98451D4A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74713" y="1142075"/>
            <a:ext cx="6084889" cy="2254314"/>
          </a:xfrm>
        </p:spPr>
        <p:txBody>
          <a:bodyPr anchor="ctr" anchorCtr="0">
            <a:normAutofit/>
          </a:bodyPr>
          <a:lstStyle>
            <a:lvl1pPr algn="l">
              <a:lnSpc>
                <a:spcPct val="100000"/>
              </a:lnSpc>
              <a:defRPr sz="4800"/>
            </a:lvl1pPr>
          </a:lstStyle>
          <a:p>
            <a:r>
              <a:rPr lang="ru-RU" dirty="0"/>
              <a:t>Благодарю 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6752662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447800" y="1376363"/>
            <a:ext cx="4252913" cy="4633911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456363" y="1376363"/>
            <a:ext cx="4287836" cy="4633912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6DD18E-EC18-44A1-8713-A3D5410D0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4725" y="5722442"/>
            <a:ext cx="522873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20EE08BC-0A14-46C9-BD44-38B56F84D1BD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474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50" r:id="rId4"/>
    <p:sldLayoutId id="2147483694" r:id="rId5"/>
    <p:sldLayoutId id="2147483695" r:id="rId6"/>
    <p:sldLayoutId id="2147483706" r:id="rId7"/>
    <p:sldLayoutId id="2147483686" r:id="rId8"/>
    <p:sldLayoutId id="2147483704" r:id="rId9"/>
    <p:sldLayoutId id="2147483688" r:id="rId10"/>
    <p:sldLayoutId id="2147483705" r:id="rId11"/>
    <p:sldLayoutId id="2147483665" r:id="rId12"/>
    <p:sldLayoutId id="2147483677" r:id="rId13"/>
    <p:sldLayoutId id="2147483697" r:id="rId14"/>
    <p:sldLayoutId id="2147483698" r:id="rId15"/>
    <p:sldLayoutId id="2147483707" r:id="rId16"/>
    <p:sldLayoutId id="2147483672" r:id="rId17"/>
    <p:sldLayoutId id="2147483671" r:id="rId18"/>
    <p:sldLayoutId id="2147483652" r:id="rId19"/>
    <p:sldLayoutId id="2147483703" r:id="rId20"/>
    <p:sldLayoutId id="2147483675" r:id="rId21"/>
    <p:sldLayoutId id="2147483676" r:id="rId22"/>
    <p:sldLayoutId id="2147483666" r:id="rId23"/>
    <p:sldLayoutId id="2147483701" r:id="rId24"/>
    <p:sldLayoutId id="2147483684" r:id="rId2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1" kern="1200">
          <a:solidFill>
            <a:schemeClr val="bg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kern="1200">
          <a:solidFill>
            <a:schemeClr val="bg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b="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7310" userDrawn="1">
          <p15:clr>
            <a:srgbClr val="F26B43"/>
          </p15:clr>
        </p15:guide>
        <p15:guide id="17" pos="370" userDrawn="1">
          <p15:clr>
            <a:srgbClr val="F26B43"/>
          </p15:clr>
        </p15:guide>
        <p15:guide id="20" orient="horz" pos="4042" userDrawn="1">
          <p15:clr>
            <a:srgbClr val="F26B43"/>
          </p15:clr>
        </p15:guide>
        <p15:guide id="21" orient="horz" pos="278" userDrawn="1">
          <p15:clr>
            <a:srgbClr val="F26B43"/>
          </p15:clr>
        </p15:guide>
        <p15:guide id="22" pos="551" userDrawn="1">
          <p15:clr>
            <a:srgbClr val="F26B43"/>
          </p15:clr>
        </p15:guide>
        <p15:guide id="23" pos="710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Блиц-запись</a:t>
            </a:r>
          </a:p>
          <a:p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Отчёт по проработанным гипотезам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Группа продуктового запуска · сентябрь – октябрь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3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Статус проверки · способ проверки · цифры по базам · конверсии в демонстрацию</a:t>
            </a:r>
          </a:p>
        </p:txBody>
      </p:sp>
      <p:pic>
        <p:nvPicPr>
          <p:cNvPr id="4" name="Picture 3" descr="icon_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4572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Сводный статус гипотез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6968" y="141732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0"/>
                <a:gridCol w="2560320"/>
              </a:tblGrid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№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Гипотеза (кратко)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Статус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Холодная база: бесплатное сотрудничество → рост конверсии в демо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Подтверждена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Тёплые клиенты (АБУ): конверсия в демо выше холодной на 30%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Не подтверждена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Юклаенс: упор на техподдержку и штат → конверсия &gt;40%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4CAF50"/>
                          </a:solidFill>
                          <a:latin typeface="Verdana"/>
                          <a:ea typeface="Verdana"/>
                          <a:cs typeface="Verdana"/>
                        </a:rPr>
                        <a:t>Проверена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ЦА шире разовых услуг: спорт, образование, кабинеты специалистов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FBFBF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Продвижение через крупные франшизы целевого сегмента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FBFBF"/>
                          </a:solidFill>
                          <a:latin typeface="Verdana"/>
                          <a:ea typeface="Verdana"/>
                          <a:cs typeface="Verdana"/>
                        </a:rPr>
                        <a:t>Не начата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" y="56235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Целевое действие во всех проверках — демонстрация сервиса. Все проведённые демо — по холодной базе.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Холодная база — бесплатное сотрудничество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74519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При работе с холодной базой (салоны красоты) конверсия в демонстрацию растёт, если предлагать бесплатное сотрудничество с последующим переходом на платный пакет.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971800"/>
            <a:ext cx="5074920" cy="27432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10896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Способ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Составление скрипта продаж с оффером бесплатного старта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Прозвон холодной базы салонов красоты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Фиксация воронки: обзвон → сделка → демо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Сравнение конверсии до и после смены оффера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71800"/>
            <a:ext cx="5212080" cy="2743200"/>
          </a:xfrm>
          <a:prstGeom prst="roundRect">
            <a:avLst>
              <a:gd name="adj" fmla="val 6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0896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66160"/>
            <a:ext cx="4754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Подтверждена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Конверсия сделка → демо: 20%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(было 0% до смены оффера)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Все демонстрации — с холодной базы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Цифры по периодам (холодная база)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6968" y="1325880"/>
          <a:ext cx="105156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1371600"/>
                <a:gridCol w="1188720"/>
                <a:gridCol w="2286000"/>
                <a:gridCol w="2377440"/>
              </a:tblGrid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Обзвон→сделка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Сделка→демо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14.09–19.09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12,75%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21.09–28.09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8,06%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28.09–05.10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23,08%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05.10–12.10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47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21,28%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263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5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15,2%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12,5%*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" y="452628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* Итоговая сделка→демо по всем периодам (5/40). Актуальный рабочий показатель после смены оффера — 20% (период 05–12.10). До оффера (14–28.09) — 0 демо при 164 обработанных.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" y="51206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5193792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56235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обработано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448" y="51206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5888" y="5193792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56235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демонстраций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51206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193792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56235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конверсия сейчас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9408" y="51206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8" y="5193792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0% → 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56235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динамика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Динамика конверсии и сравнение баз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4" name="Picture 3" descr="cold_convers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400800" cy="2880360"/>
          </a:xfrm>
          <a:prstGeom prst="rect">
            <a:avLst/>
          </a:prstGeom>
        </p:spPr>
      </p:pic>
      <p:pic>
        <p:nvPicPr>
          <p:cNvPr id="5" name="Picture 4" descr="cold_vs_ab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25880"/>
            <a:ext cx="4846320" cy="2743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" y="4434840"/>
            <a:ext cx="10515600" cy="15544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Вывод по гипотезе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После внедрения оффера «бесплатное сотрудничество → платный пакет» конверсия сделка→демо выросла с 0% до 20–25%. На периоде 05–12.10: 47 обработано, 10 сделок, 2 демо (20%). Демонстраций с базы АБУ за тот же горизонт —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1. Воронка холодной базы, 01–15.10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4" name="Picture 3" descr="oct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766560" cy="30175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371600"/>
            <a:ext cx="3840480" cy="4114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8120" y="155448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Сводка за 01–15.10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01168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Звонков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201168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45059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Контакт с ЛПР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450592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889504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Интерес / КП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2889504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328416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Презентаций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3328416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Тестовый доступ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3767328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206240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Онбординг / ЛК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420624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53949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Источник: ежедневная воронка прозвона холодной базы салонов красоты. За октябрь по сделкам (срез на 12.10): 5 демо проведено, 1 клиент подключён; конверсия демо→подключение — 20%.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2. Тёплые клиенты (база АБУ)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При проработке текущих клиентов ГК Форус конверсия в демонстрацию будет выше на 30%, чем на холодной базе: клиенты тёплые и уже знают компанию.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743200"/>
            <a:ext cx="5074920" cy="1828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Способ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46634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Скрипт для базы АБУ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Прозвон тёплых клиентов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Сравнение конверсии с холодной базой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74320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Статус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4754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C06060"/>
                </a:solidFill>
                <a:latin typeface="Verdana"/>
                <a:ea typeface="Verdana"/>
                <a:cs typeface="Verdana"/>
              </a:rPr>
              <a:t>Не подтверждена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Маленькая база и мало звонков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Меняем заход, повторим проверку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86968" y="4754880"/>
          <a:ext cx="10515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1371600"/>
                <a:gridCol w="1188720"/>
                <a:gridCol w="2286000"/>
                <a:gridCol w="2377440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Период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Обработано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Сделок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Обзвон→сделка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Сделка→демо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25.09–28.09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3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28.09–05.10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43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13,95%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05.10–12.10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2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—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48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6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12,5%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0%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Гипотеза 3. Юклаенс — техподдержка и штат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2588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Формулировка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На этапе сбора потребности у клиентов Юклаенс важно уточнять линию технической поддержки и количество сотрудников — именно здесь типичная боль. Презентация Блиц-записи с акцентом на эти точки даёт высокую конверсию в демо и в сделку (более 40%).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2926080"/>
            <a:ext cx="5074920" cy="155448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Способ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Доработка скрипта сбора потребности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Акцент в презентации на ТП и штат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• Замер конверсии в демо и сделку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26080"/>
            <a:ext cx="5212080" cy="1554480"/>
          </a:xfrm>
          <a:prstGeom prst="roundRect">
            <a:avLst>
              <a:gd name="adj" fmla="val 6000"/>
            </a:avLst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4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Статус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47472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Проверена — подтверждается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Конверсия в демо/сделку &gt;40%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Цифры по сегментам — ниже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6634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Распределение прозвоненных клиентов по текущим сервисам записи (заполнить)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886968" y="502920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2286000"/>
                <a:gridCol w="228600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Сервис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Кол-во прозвоненных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Демо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Конверсия</a:t>
                      </a:r>
                    </a:p>
                  </a:txBody>
                  <a:tcPr anchor="ctr">
                    <a:solidFill>
                      <a:srgbClr val="26A6E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Дикиди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Юклаенс</a:t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1F1F1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Мастерс</a:t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2A2A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>Итого</a:t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Verdana"/>
                          <a:ea typeface="Verdana"/>
                          <a:cs typeface="Verdana"/>
                        </a:rPr>
                        <a:t/>
                      </a:r>
                    </a:p>
                  </a:txBody>
                  <a:tcPr anchor="ctr">
                    <a:solidFill>
                      <a:srgbClr val="3F3F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Гипотезы 4 и 5 — новые, проверка не начата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515600" cy="21488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7772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4. Расширение ЦА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0" y="1554480"/>
            <a:ext cx="2468880" cy="36576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554480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Не начата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Продукт нужен не только сегментам с постоянными/разовыми услугами (салоны, автомойки), но и тем, кто ведёт запись на занятия и разовые сессии: спорт-клубы, образовательные центры, кабинеты психолога, нутрициолога и др.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План: активная проработка с ноября. Способ — скрипт + прозвон новых сегментов + замер конверсии в демо.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" y="370332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40480"/>
            <a:ext cx="7772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6A6E0"/>
                </a:solidFill>
                <a:latin typeface="Verdana"/>
                <a:ea typeface="Verdana"/>
                <a:cs typeface="Verdana"/>
              </a:rPr>
              <a:t>Гипотеза 5. Крупные франшизы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3886200"/>
            <a:ext cx="2468880" cy="365760"/>
          </a:xfrm>
          <a:prstGeom prst="roundRect">
            <a:avLst>
              <a:gd name="adj" fmla="val 40000"/>
            </a:avLst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3886200"/>
            <a:ext cx="2468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Требует обсуждения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3891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Для текущей позиции продукта продвижение возможно через работу с крупными франшизами подходящего целевого сегмента (образовательные центры, фитнес-клубы и др.).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Статус: проверка не начата. Нужно согласовать подход, приоритетные сети и критерии успеха.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Итоги и следующие шаги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6968" y="137160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572768"/>
            <a:ext cx="384048" cy="384048"/>
          </a:xfrm>
          <a:prstGeom prst="ellipse">
            <a:avLst/>
          </a:prstGeom>
          <a:solidFill>
            <a:srgbClr val="26A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727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8132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Закрепить оффер холодной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83080"/>
            <a:ext cx="9418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Бесплатное сотрудничество → платный пакет. Рабочая конверсия сделка→демо — 20%.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" y="224028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441448"/>
            <a:ext cx="384048" cy="384048"/>
          </a:xfrm>
          <a:prstGeom prst="ellipse">
            <a:avLst/>
          </a:prstGeom>
          <a:solidFill>
            <a:srgbClr val="E0A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5000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Перезапустить базу АБУ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51760"/>
            <a:ext cx="9418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Гипотеза не подтвердилась на малой выборке (48 обработано, 0 демо). Меняем заход и повторяем.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10896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310128"/>
            <a:ext cx="384048" cy="38404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101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1868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Юклаенс — зафиксировать цифры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520440"/>
            <a:ext cx="9418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Гипотеза проверена. Дозаполнить таблицу: Дикиди / Юклаенс / Мастерс.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397764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4178808"/>
            <a:ext cx="384048" cy="384048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1788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08736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Ноябрь: новые сегменты 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389120"/>
            <a:ext cx="9418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Старт гипотезы 4 (спорт, образование, кабинеты специалистов).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" y="484632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3F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5047488"/>
            <a:ext cx="384048" cy="384048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047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  <a:latin typeface="Verdana"/>
                <a:ea typeface="Verdana"/>
                <a:cs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95604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Обсудить франшизы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257800"/>
            <a:ext cx="9418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BFBFBF"/>
                </a:solidFill>
                <a:latin typeface="Verdana"/>
                <a:ea typeface="Verdana"/>
                <a:cs typeface="Verdana"/>
              </a:rPr>
              <a:t>Гипотеза 5 — без старта до согласования подхода и приоритетных сетей.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Forus2020">
  <a:themeElements>
    <a:clrScheme name="Форус темная">
      <a:dk1>
        <a:srgbClr val="FFFFFF"/>
      </a:dk1>
      <a:lt1>
        <a:srgbClr val="FFFFFF"/>
      </a:lt1>
      <a:dk2>
        <a:srgbClr val="000000"/>
      </a:dk2>
      <a:lt2>
        <a:srgbClr val="000000"/>
      </a:lt2>
      <a:accent1>
        <a:srgbClr val="26A6E0"/>
      </a:accent1>
      <a:accent2>
        <a:srgbClr val="3F3F3F"/>
      </a:accent2>
      <a:accent3>
        <a:srgbClr val="767677"/>
      </a:accent3>
      <a:accent4>
        <a:srgbClr val="FFFFFF"/>
      </a:accent4>
      <a:accent5>
        <a:srgbClr val="395F76"/>
      </a:accent5>
      <a:accent6>
        <a:srgbClr val="BFBFBF"/>
      </a:accent6>
      <a:hlink>
        <a:srgbClr val="26A6E0"/>
      </a:hlink>
      <a:folHlink>
        <a:srgbClr val="BFBFBF"/>
      </a:folHlink>
    </a:clrScheme>
    <a:fontScheme name="Форус_2020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 anchor="ctr" anchorCtr="0">
        <a:spAutoFit/>
      </a:bodyPr>
      <a:lstStyle>
        <a:defPP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2829</TotalTime>
  <Words>1673</Words>
  <Application>Microsoft Office PowerPoint</Application>
  <PresentationFormat>Широкоэкранный</PresentationFormat>
  <Paragraphs>330</Paragraphs>
  <Slides>44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Cambria</vt:lpstr>
      <vt:lpstr>Stolzl</vt:lpstr>
      <vt:lpstr>Verdana</vt:lpstr>
      <vt:lpstr>Тема Forus2020</vt:lpstr>
      <vt:lpstr>Темный шаблон презентации</vt:lpstr>
      <vt:lpstr>Второй вариант Название презентации</vt:lpstr>
      <vt:lpstr>Еще один вариант Название презентации</vt:lpstr>
      <vt:lpstr>Типовой лист</vt:lpstr>
      <vt:lpstr>Рабочая область   Весь контент должен заключаться в этой области экрана.  Такое зонирование позволит разместить текст и другую информацию  в максимально комфортном для восприятия месте.  Так же в макете имеются направляющие, по которым можно  выравнивать расположение объектов и не выходить за рамки. </vt:lpstr>
      <vt:lpstr>Имиджевые слайды  о компании</vt:lpstr>
      <vt:lpstr>Презентация PowerPoint</vt:lpstr>
      <vt:lpstr>Презентация PowerPoint</vt:lpstr>
      <vt:lpstr>Презентация PowerPoint</vt:lpstr>
      <vt:lpstr>Презентация PowerPoint</vt:lpstr>
      <vt:lpstr>Слайды  презентации с текстом</vt:lpstr>
      <vt:lpstr>Иерархия заголовков</vt:lpstr>
      <vt:lpstr>Что такое автоматизация</vt:lpstr>
      <vt:lpstr>Выделения и акценты в тексте</vt:lpstr>
      <vt:lpstr>Нумерованный список</vt:lpstr>
      <vt:lpstr>Нумерованный список №2</vt:lpstr>
      <vt:lpstr>Маркированный список</vt:lpstr>
      <vt:lpstr>Маркированный список №2</vt:lpstr>
      <vt:lpstr>Информация  в колонках</vt:lpstr>
      <vt:lpstr>Представление информации в трёх блоках</vt:lpstr>
      <vt:lpstr>Презентация PowerPoint</vt:lpstr>
      <vt:lpstr>Слайд с фото и блоками описания</vt:lpstr>
      <vt:lpstr>Информация с тремя колонками</vt:lpstr>
      <vt:lpstr>Информация с четырьмя колонками</vt:lpstr>
      <vt:lpstr>Как ещё можно разместить</vt:lpstr>
      <vt:lpstr>3 колонки и главная мысль</vt:lpstr>
      <vt:lpstr>Презентация PowerPoint</vt:lpstr>
      <vt:lpstr>Слайды  с фотографиями</vt:lpstr>
      <vt:lpstr>Слайд с фото или скриншотом</vt:lpstr>
      <vt:lpstr>Слайд с двумя фото или скриншотами</vt:lpstr>
      <vt:lpstr>Слайд с тремя фото или скриншотами</vt:lpstr>
      <vt:lpstr>Диаграммы, графики  и таблицы </vt:lpstr>
      <vt:lpstr>Пример круговой диаграммы</vt:lpstr>
      <vt:lpstr>Презентация PowerPoint</vt:lpstr>
      <vt:lpstr>Презентация PowerPoint</vt:lpstr>
      <vt:lpstr>Пример таблицы с выделением ключевой информации</vt:lpstr>
      <vt:lpstr>Как ещё можно изобразить таблицу</vt:lpstr>
      <vt:lpstr>Визуальные элементы Иконки, росчерки</vt:lpstr>
      <vt:lpstr>Иконки двухцветные</vt:lpstr>
      <vt:lpstr>Иконки белые</vt:lpstr>
      <vt:lpstr>Блоки для схем или важной информации</vt:lpstr>
      <vt:lpstr>3D абстрактные фигуры</vt:lpstr>
      <vt:lpstr>Изображения-объекты</vt:lpstr>
      <vt:lpstr>Благодарю 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Черепанова Виктория</cp:lastModifiedBy>
  <cp:revision>212</cp:revision>
  <dcterms:created xsi:type="dcterms:W3CDTF">2020-01-20T06:19:00Z</dcterms:created>
  <dcterms:modified xsi:type="dcterms:W3CDTF">2025-03-10T02:44:05Z</dcterms:modified>
</cp:coreProperties>
</file>