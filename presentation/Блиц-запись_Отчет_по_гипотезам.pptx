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Шафрановый шаблон" id="{FBFB8EBD-73BD-4F84-9F02-556D73907D89}">
          <p14:sldIdLst>
            <p14:sldId id="277"/>
            <p14:sldId id="297"/>
            <p14:sldId id="296"/>
            <p14:sldId id="278"/>
            <p14:sldId id="295"/>
            <p14:sldId id="309"/>
            <p14:sldId id="310"/>
            <p14:sldId id="319"/>
            <p14:sldId id="318"/>
            <p14:sldId id="314"/>
            <p14:sldId id="271"/>
            <p14:sldId id="261"/>
            <p14:sldId id="294"/>
            <p14:sldId id="279"/>
            <p14:sldId id="280"/>
            <p14:sldId id="290"/>
            <p14:sldId id="281"/>
            <p14:sldId id="291"/>
            <p14:sldId id="300"/>
            <p14:sldId id="298"/>
            <p14:sldId id="299"/>
            <p14:sldId id="306"/>
            <p14:sldId id="292"/>
            <p14:sldId id="293"/>
            <p14:sldId id="308"/>
            <p14:sldId id="313"/>
            <p14:sldId id="316"/>
            <p14:sldId id="303"/>
            <p14:sldId id="272"/>
            <p14:sldId id="273"/>
            <p14:sldId id="305"/>
            <p14:sldId id="304"/>
            <p14:sldId id="258"/>
            <p14:sldId id="259"/>
            <p14:sldId id="260"/>
            <p14:sldId id="282"/>
            <p14:sldId id="307"/>
            <p14:sldId id="284"/>
            <p14:sldId id="301"/>
            <p14:sldId id="285"/>
            <p14:sldId id="288"/>
            <p14:sldId id="315"/>
            <p14:sldId id="320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F66"/>
    <a:srgbClr val="D64A4A"/>
    <a:srgbClr val="385E75"/>
    <a:srgbClr val="F7DB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5" autoAdjust="0"/>
    <p:restoredTop sz="96395" autoAdjust="0"/>
  </p:normalViewPr>
  <p:slideViewPr>
    <p:cSldViewPr snapToGrid="0">
      <p:cViewPr varScale="1">
        <p:scale>
          <a:sx n="101" d="100"/>
          <a:sy n="101" d="100"/>
        </p:scale>
        <p:origin x="882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2406" y="-54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178FD9-E883-405F-84A7-48BE6C1C4639}" type="datetimeFigureOut">
              <a:rPr lang="ru-RU" smtClean="0"/>
              <a:t>10.03.2025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D83DF0-6FC0-4BAF-9BAA-AC3E7DD339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4204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F1DD30-20F5-456A-A91D-5E5E2AE4E96B}" type="datetimeFigureOut">
              <a:rPr lang="ru-RU" smtClean="0"/>
              <a:t>10.03.2025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AD6420-324F-4B35-AE1D-31198132CD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3850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74713" y="1592673"/>
            <a:ext cx="6084889" cy="311440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5452140"/>
            <a:ext cx="608488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48669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74713" y="3215147"/>
            <a:ext cx="9891610" cy="208186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5297013"/>
            <a:ext cx="989160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1081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9CBBFDCD-7D7F-4B80-B8B1-819A1E32F0B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3215147"/>
            <a:ext cx="9891610" cy="208186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43FBD1AF-C1AA-4706-8044-A437628082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74714" y="5297013"/>
            <a:ext cx="989160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5648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"/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3BC5D02F-6A7F-488D-8863-2E7D5E916A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2970EFF6-2A86-47BF-957F-C7B6C538C6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445828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7519A18-1BF8-4938-AEC3-A77314E50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D8AD4F86-5FE3-446D-8780-CDA879DFF7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0593BBA2-AC45-42A4-9428-FC5859BB97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776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BFBC993-7CB7-4F97-9604-69040108A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71CA5DEB-4E80-4943-910F-68B80795D7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96E871B4-AA94-4D4E-9BBB-98632F8FC5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61281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фон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B0A5662A-3631-4B64-9763-487A6E3AD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CED77CCE-A060-47D9-A7C0-7E698FE03F6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84624F-C505-4ADC-B9EB-36ABDDDDD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45321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 с фон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16A866A-C7E4-46BE-B9A8-81C97693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6EE71620-56CC-413D-BC0A-00E91094C6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0E8E5EB6-08F5-41BA-A4BA-A663A9CFB4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342865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нумерованный список в 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Текст 6"/>
          <p:cNvSpPr>
            <a:spLocks noGrp="1"/>
          </p:cNvSpPr>
          <p:nvPr>
            <p:ph type="body" sz="quarter" idx="13" hasCustomPrompt="1"/>
          </p:nvPr>
        </p:nvSpPr>
        <p:spPr>
          <a:xfrm>
            <a:off x="5865430" y="1129630"/>
            <a:ext cx="5415345" cy="4330604"/>
          </a:xfrm>
        </p:spPr>
        <p:txBody>
          <a:bodyPr lIns="0" tIns="0" rIns="0" bIns="0" anchor="t" anchorCtr="0">
            <a:normAutofit/>
          </a:bodyPr>
          <a:lstStyle>
            <a:lvl1pPr marL="342900" indent="-342900">
              <a:buFont typeface="+mj-lt"/>
              <a:buAutoNum type="arabicPeriod"/>
              <a:defRPr sz="1800" b="0" baseline="0"/>
            </a:lvl1pPr>
          </a:lstStyle>
          <a:p>
            <a:pPr lvl="0"/>
            <a:r>
              <a:rPr lang="ru-RU" dirty="0"/>
              <a:t>Первый пункт</a:t>
            </a:r>
          </a:p>
          <a:p>
            <a:pPr lvl="0"/>
            <a:r>
              <a:rPr lang="ru-RU" dirty="0"/>
              <a:t>Второй пункт </a:t>
            </a:r>
          </a:p>
          <a:p>
            <a:pPr lvl="0"/>
            <a:r>
              <a:rPr lang="ru-RU" dirty="0"/>
              <a:t>Третий пункт 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CEE474C4-81A0-46FC-BFAC-275D8A403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3" y="963647"/>
            <a:ext cx="4620740" cy="2467616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3CAE1B9-25FF-48B5-A049-B9DC3BEF10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32768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маркированный спис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32A7D44-323D-47D5-A9F0-01D4A9E8A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7132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E477ECF-E540-4493-B86E-B873B16EA3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6149728-8AE4-4B5A-97C2-EA2E3AC92A4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  <a:defRPr sz="1800" b="0"/>
            </a:lvl1pPr>
            <a:lvl2pPr marL="742950" indent="-285750">
              <a:buClr>
                <a:schemeClr val="accent1"/>
              </a:buClr>
              <a:buFont typeface="Verdana" panose="020B0604030504040204" pitchFamily="34" charset="0"/>
              <a:buChar char="–"/>
              <a:defRPr sz="1800" b="0"/>
            </a:lvl2pPr>
          </a:lstStyle>
          <a:p>
            <a:pPr lvl="0"/>
            <a:r>
              <a:rPr lang="ru-RU" dirty="0"/>
              <a:t>Первая позиция в списке</a:t>
            </a:r>
          </a:p>
          <a:p>
            <a:pPr lvl="0"/>
            <a:r>
              <a:rPr lang="ru-RU" dirty="0"/>
              <a:t>Вторая позиция в списке</a:t>
            </a:r>
          </a:p>
          <a:p>
            <a:pPr lvl="0"/>
            <a:r>
              <a:rPr lang="ru-RU" dirty="0"/>
              <a:t>Третья позиция в списке</a:t>
            </a:r>
          </a:p>
          <a:p>
            <a:pPr lvl="1"/>
            <a:r>
              <a:rPr lang="ru-RU" dirty="0"/>
              <a:t>Второй уровень списка</a:t>
            </a:r>
          </a:p>
          <a:p>
            <a:pPr lvl="1"/>
            <a:r>
              <a:rPr lang="ru-RU" dirty="0"/>
              <a:t>Еще строчка</a:t>
            </a:r>
          </a:p>
        </p:txBody>
      </p:sp>
    </p:spTree>
    <p:extLst>
      <p:ext uri="{BB962C8B-B14F-4D97-AF65-F5344CB8AC3E}">
        <p14:creationId xmlns:p14="http://schemas.microsoft.com/office/powerpoint/2010/main" val="2728259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маркированный список в 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8D56FE66-88BE-40AA-AAA9-8DDD1F2AD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3" y="891219"/>
            <a:ext cx="4620740" cy="2467616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617602DF-5256-4FDD-94C1-5B638A446B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133A49C5-51F3-4E68-A259-6E5B7AC4F3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59776" y="1047774"/>
            <a:ext cx="5517823" cy="4527457"/>
          </a:xfrm>
        </p:spPr>
        <p:txBody>
          <a:bodyPr lIns="0" tIns="0" rIns="0" bIns="0" anchor="t" anchorCtr="0">
            <a:normAutofit/>
          </a:bodyPr>
          <a:lstStyle>
            <a:lvl1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  <a:defRPr sz="1800" b="0"/>
            </a:lvl1pPr>
            <a:lvl2pPr marL="742950" indent="-285750">
              <a:buClr>
                <a:schemeClr val="accent1"/>
              </a:buClr>
              <a:buFont typeface="Verdana" panose="020B0604030504040204" pitchFamily="34" charset="0"/>
              <a:buChar char="–"/>
              <a:defRPr sz="1800" b="0"/>
            </a:lvl2pPr>
          </a:lstStyle>
          <a:p>
            <a:pPr lvl="0"/>
            <a:r>
              <a:rPr lang="ru-RU" dirty="0"/>
              <a:t>Первая позиция в списке</a:t>
            </a:r>
          </a:p>
          <a:p>
            <a:pPr lvl="0"/>
            <a:r>
              <a:rPr lang="ru-RU" dirty="0"/>
              <a:t>Вторая позиция в списке</a:t>
            </a:r>
          </a:p>
          <a:p>
            <a:pPr lvl="0"/>
            <a:r>
              <a:rPr lang="ru-RU" dirty="0"/>
              <a:t>Третья позиция в списке</a:t>
            </a:r>
          </a:p>
          <a:p>
            <a:pPr lvl="1"/>
            <a:r>
              <a:rPr lang="ru-RU" dirty="0"/>
              <a:t>Второй уровень списка</a:t>
            </a:r>
          </a:p>
          <a:p>
            <a:pPr lvl="1"/>
            <a:r>
              <a:rPr lang="ru-RU" dirty="0"/>
              <a:t>Еще строчка</a:t>
            </a:r>
          </a:p>
        </p:txBody>
      </p:sp>
    </p:spTree>
    <p:extLst>
      <p:ext uri="{BB962C8B-B14F-4D97-AF65-F5344CB8AC3E}">
        <p14:creationId xmlns:p14="http://schemas.microsoft.com/office/powerpoint/2010/main" val="12705667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 справ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67697" y="762915"/>
            <a:ext cx="4943168" cy="4645025"/>
          </a:xfrm>
        </p:spPr>
        <p:txBody>
          <a:bodyPr anchor="ctr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/>
          <p:cNvSpPr>
            <a:spLocks noGrp="1"/>
          </p:cNvSpPr>
          <p:nvPr>
            <p:ph idx="1" hasCustomPrompt="1"/>
          </p:nvPr>
        </p:nvSpPr>
        <p:spPr>
          <a:xfrm>
            <a:off x="6381135" y="762915"/>
            <a:ext cx="4943168" cy="4633911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C523A1-EB68-423D-8F90-63E750B7F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705664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0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865238" y="3215148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01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E183D238-B879-455A-91BE-5DFBD2E39E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9279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 с цифрой_0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Текст 6">
            <a:extLst>
              <a:ext uri="{FF2B5EF4-FFF2-40B4-BE49-F238E27FC236}">
                <a16:creationId xmlns:a16="http://schemas.microsoft.com/office/drawing/2014/main" id="{F0DFD439-0271-4EDC-9E88-A8C8A5616F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92159" y="478202"/>
            <a:ext cx="4896950" cy="2806239"/>
          </a:xfrm>
        </p:spPr>
        <p:txBody>
          <a:bodyPr lIns="0" tIns="0" rIns="0" bIns="0" anchor="t" anchorCtr="0">
            <a:noAutofit/>
          </a:bodyPr>
          <a:lstStyle>
            <a:lvl1pPr marL="0" indent="0" algn="ctr">
              <a:buFontTx/>
              <a:buNone/>
              <a:defRPr lang="ru-RU" sz="25000" b="1" kern="1200" baseline="0" dirty="0">
                <a:solidFill>
                  <a:schemeClr val="bg1"/>
                </a:solidFill>
                <a:latin typeface="Stolzl" panose="00000500000000000000" pitchFamily="50" charset="-52"/>
                <a:ea typeface="+mj-ea"/>
                <a:cs typeface="+mj-cs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94DF25D-F3E4-4185-AB33-DAD8419C2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3820562"/>
            <a:ext cx="5948517" cy="2200826"/>
          </a:xfrm>
        </p:spPr>
        <p:txBody>
          <a:bodyPr anchor="b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02</a:t>
            </a:r>
          </a:p>
        </p:txBody>
      </p:sp>
      <p:sp>
        <p:nvSpPr>
          <p:cNvPr id="9" name="Текст 6">
            <a:extLst>
              <a:ext uri="{FF2B5EF4-FFF2-40B4-BE49-F238E27FC236}">
                <a16:creationId xmlns:a16="http://schemas.microsoft.com/office/drawing/2014/main" id="{7E9D0740-1D71-4366-99A6-C672EF2E21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52852" y="4621161"/>
            <a:ext cx="3195484" cy="1400227"/>
          </a:xfrm>
        </p:spPr>
        <p:txBody>
          <a:bodyPr lIns="0" tIns="0" rIns="0" bIns="0" anchor="b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47C20D37-BE6F-4F7A-B249-94EC22728A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897763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0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397B02E-0E06-4105-94D2-12E74FD1E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6021388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1E35BC-10AD-412F-9067-A83FD57EC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2988811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03</a:t>
            </a:r>
          </a:p>
        </p:txBody>
      </p:sp>
    </p:spTree>
    <p:extLst>
      <p:ext uri="{BB962C8B-B14F-4D97-AF65-F5344CB8AC3E}">
        <p14:creationId xmlns:p14="http://schemas.microsoft.com/office/powerpoint/2010/main" val="1368503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азделитель_0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397B02E-0E06-4105-94D2-12E74FD1E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6021388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1E35BC-10AD-412F-9067-A83FD57EC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2988811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04</a:t>
            </a:r>
          </a:p>
        </p:txBody>
      </p:sp>
    </p:spTree>
    <p:extLst>
      <p:ext uri="{BB962C8B-B14F-4D97-AF65-F5344CB8AC3E}">
        <p14:creationId xmlns:p14="http://schemas.microsoft.com/office/powerpoint/2010/main" val="2189666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диаграмм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3" hasCustomPrompt="1"/>
          </p:nvPr>
        </p:nvSpPr>
        <p:spPr>
          <a:xfrm>
            <a:off x="8835461" y="1534625"/>
            <a:ext cx="2442137" cy="4179272"/>
          </a:xfrm>
        </p:spPr>
        <p:txBody>
          <a:bodyPr anchor="ctr" anchorCtr="0">
            <a:normAutofit/>
          </a:bodyPr>
          <a:lstStyle>
            <a:lvl1pPr>
              <a:defRPr sz="1400" b="0"/>
            </a:lvl1pPr>
            <a:lvl4pPr>
              <a:defRPr/>
            </a:lvl4pPr>
          </a:lstStyle>
          <a:p>
            <a:pPr lvl="0"/>
            <a:r>
              <a:rPr lang="ru-RU" dirty="0"/>
              <a:t>Описание диаграммы</a:t>
            </a:r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>
          <a:xfrm>
            <a:off x="884902" y="1543169"/>
            <a:ext cx="7771376" cy="4179273"/>
          </a:xfrm>
        </p:spPr>
        <p:txBody>
          <a:bodyPr/>
          <a:lstStyle/>
          <a:p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2F821131-241D-4D09-AE09-799B29595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63282"/>
            <a:ext cx="10392696" cy="954310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F46BE731-9096-4039-BF9A-727DEA4B2E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407668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круговая диаграмм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6343436" y="441325"/>
            <a:ext cx="4938367" cy="1552267"/>
          </a:xfrm>
        </p:spPr>
        <p:txBody>
          <a:bodyPr anchor="ctr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>
          <a:xfrm>
            <a:off x="875071" y="441325"/>
            <a:ext cx="4973493" cy="5097156"/>
          </a:xfrm>
        </p:spPr>
        <p:txBody>
          <a:bodyPr/>
          <a:lstStyle/>
          <a:p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idx="1" hasCustomPrompt="1"/>
          </p:nvPr>
        </p:nvSpPr>
        <p:spPr>
          <a:xfrm>
            <a:off x="6341806" y="2298393"/>
            <a:ext cx="4940197" cy="3240088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E1FE05CB-6EF4-4FF8-B36B-867271E4E4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312205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390967" y="1595563"/>
            <a:ext cx="4886631" cy="4045156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84902" y="1595564"/>
            <a:ext cx="4886631" cy="4045156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7211C23E-56A6-4164-B8FF-F10658F2B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7F2573-AD9D-448A-A476-45D5ECB21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077090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исунок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96000" y="2489588"/>
            <a:ext cx="5196348" cy="3185292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>
          <a:xfrm>
            <a:off x="880704" y="1614516"/>
            <a:ext cx="5005388" cy="4060364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6096000" y="1614516"/>
            <a:ext cx="5196348" cy="715962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475CD4B1-F30F-4145-BA27-A319BB473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52264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E5CEB1CE-04E3-42BD-8823-F5452F1C49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214414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Рисунка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90535" y="4965411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>
          <a:xfrm>
            <a:off x="890535" y="1514633"/>
            <a:ext cx="4782677" cy="2890556"/>
          </a:xfrm>
        </p:spPr>
        <p:txBody>
          <a:bodyPr/>
          <a:lstStyle/>
          <a:p>
            <a:endParaRPr lang="ru-RU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890535" y="4536785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4" name="Текст 3"/>
          <p:cNvSpPr>
            <a:spLocks noGrp="1"/>
          </p:cNvSpPr>
          <p:nvPr>
            <p:ph type="body" sz="half" idx="16"/>
          </p:nvPr>
        </p:nvSpPr>
        <p:spPr>
          <a:xfrm>
            <a:off x="6518788" y="4965410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5" name="Рисунок 8"/>
          <p:cNvSpPr>
            <a:spLocks noGrp="1"/>
          </p:cNvSpPr>
          <p:nvPr>
            <p:ph type="pic" sz="quarter" idx="17"/>
          </p:nvPr>
        </p:nvSpPr>
        <p:spPr>
          <a:xfrm>
            <a:off x="6518788" y="1504646"/>
            <a:ext cx="4782677" cy="2900543"/>
          </a:xfrm>
        </p:spPr>
        <p:txBody>
          <a:bodyPr/>
          <a:lstStyle/>
          <a:p>
            <a:endParaRPr lang="ru-RU"/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>
          <a:xfrm>
            <a:off x="6518788" y="4536784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981AEDAF-55A9-4E1C-8323-359C0D96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8FFC0EE2-1895-4B1F-A00C-1F2A313BE3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42656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бъект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Текст 3"/>
          <p:cNvSpPr>
            <a:spLocks noGrp="1"/>
          </p:cNvSpPr>
          <p:nvPr>
            <p:ph type="body" sz="half" idx="2"/>
          </p:nvPr>
        </p:nvSpPr>
        <p:spPr>
          <a:xfrm>
            <a:off x="891280" y="5127584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5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891280" y="4594184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8" name="Объект 3"/>
          <p:cNvSpPr>
            <a:spLocks noGrp="1"/>
          </p:cNvSpPr>
          <p:nvPr>
            <p:ph sz="half" idx="16"/>
          </p:nvPr>
        </p:nvSpPr>
        <p:spPr>
          <a:xfrm>
            <a:off x="888105" y="1527246"/>
            <a:ext cx="4931385" cy="3004751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10" name="Текст 3"/>
          <p:cNvSpPr>
            <a:spLocks noGrp="1"/>
          </p:cNvSpPr>
          <p:nvPr>
            <p:ph type="body" sz="half" idx="17"/>
          </p:nvPr>
        </p:nvSpPr>
        <p:spPr>
          <a:xfrm>
            <a:off x="6349420" y="5115850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>
          <a:xfrm>
            <a:off x="6349420" y="4582450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7" name="Объект 3"/>
          <p:cNvSpPr>
            <a:spLocks noGrp="1"/>
          </p:cNvSpPr>
          <p:nvPr>
            <p:ph sz="half" idx="19"/>
          </p:nvPr>
        </p:nvSpPr>
        <p:spPr>
          <a:xfrm>
            <a:off x="6346213" y="1514593"/>
            <a:ext cx="4931385" cy="3004751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4131546B-EEAC-45C2-AD58-2686120E4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54BC83B1-EA69-458C-93CC-D83700FA6A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25075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253E90FC-F950-4C4B-B0F4-B43F9D7D14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50781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следни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3429000"/>
            <a:ext cx="6084888" cy="1133788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4" y="4588768"/>
            <a:ext cx="3770313" cy="628650"/>
          </a:xfrm>
        </p:spPr>
        <p:txBody>
          <a:bodyPr>
            <a:normAutofit/>
          </a:bodyPr>
          <a:lstStyle>
            <a:lvl1pPr>
              <a:defRPr sz="1800" b="0" baseline="0"/>
            </a:lvl1pPr>
          </a:lstStyle>
          <a:p>
            <a:pPr lvl="0"/>
            <a:r>
              <a:rPr lang="ru-RU" dirty="0"/>
              <a:t>Телефон / эл. почта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0CED1720-7802-4704-90FA-E3029649512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r>
              <a:rPr lang="ru-RU" dirty="0"/>
              <a:t>Благодарю 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5137432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следни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3" y="3429000"/>
            <a:ext cx="6084888" cy="1133788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4588768"/>
            <a:ext cx="3770313" cy="628650"/>
          </a:xfrm>
        </p:spPr>
        <p:txBody>
          <a:bodyPr>
            <a:normAutofit/>
          </a:bodyPr>
          <a:lstStyle>
            <a:lvl1pPr>
              <a:defRPr sz="1800" b="0" baseline="0"/>
            </a:lvl1pPr>
          </a:lstStyle>
          <a:p>
            <a:pPr lvl="0"/>
            <a:r>
              <a:rPr lang="ru-RU" dirty="0"/>
              <a:t>Телефон / эл. почта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8EA4524E-AC81-4F4C-AAE2-A4D98451D4A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r>
              <a:rPr lang="ru-RU" dirty="0"/>
              <a:t>Благодарю 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67526620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47800" y="1376363"/>
            <a:ext cx="4252913" cy="4633911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456363" y="1376363"/>
            <a:ext cx="4287836" cy="4633912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06DD18E-EC18-44A1-8713-A3D5410D0C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82474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50" r:id="rId4"/>
    <p:sldLayoutId id="2147483694" r:id="rId5"/>
    <p:sldLayoutId id="2147483695" r:id="rId6"/>
    <p:sldLayoutId id="2147483706" r:id="rId7"/>
    <p:sldLayoutId id="2147483686" r:id="rId8"/>
    <p:sldLayoutId id="2147483704" r:id="rId9"/>
    <p:sldLayoutId id="2147483688" r:id="rId10"/>
    <p:sldLayoutId id="2147483705" r:id="rId11"/>
    <p:sldLayoutId id="2147483665" r:id="rId12"/>
    <p:sldLayoutId id="2147483677" r:id="rId13"/>
    <p:sldLayoutId id="2147483697" r:id="rId14"/>
    <p:sldLayoutId id="2147483698" r:id="rId15"/>
    <p:sldLayoutId id="2147483707" r:id="rId16"/>
    <p:sldLayoutId id="2147483672" r:id="rId17"/>
    <p:sldLayoutId id="2147483671" r:id="rId18"/>
    <p:sldLayoutId id="2147483652" r:id="rId19"/>
    <p:sldLayoutId id="2147483703" r:id="rId20"/>
    <p:sldLayoutId id="2147483675" r:id="rId21"/>
    <p:sldLayoutId id="2147483676" r:id="rId22"/>
    <p:sldLayoutId id="2147483666" r:id="rId23"/>
    <p:sldLayoutId id="2147483701" r:id="rId24"/>
    <p:sldLayoutId id="2147483684" r:id="rId2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bg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1" kern="1200">
          <a:solidFill>
            <a:schemeClr val="bg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kern="1200">
          <a:solidFill>
            <a:schemeClr val="bg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b="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7310" userDrawn="1">
          <p15:clr>
            <a:srgbClr val="F26B43"/>
          </p15:clr>
        </p15:guide>
        <p15:guide id="17" pos="370" userDrawn="1">
          <p15:clr>
            <a:srgbClr val="F26B43"/>
          </p15:clr>
        </p15:guide>
        <p15:guide id="20" orient="horz" pos="4042" userDrawn="1">
          <p15:clr>
            <a:srgbClr val="F26B43"/>
          </p15:clr>
        </p15:guide>
        <p15:guide id="21" orient="horz" pos="278" userDrawn="1">
          <p15:clr>
            <a:srgbClr val="F26B43"/>
          </p15:clr>
        </p15:guide>
        <p15:guide id="22" pos="551" userDrawn="1">
          <p15:clr>
            <a:srgbClr val="F26B43"/>
          </p15:clr>
        </p15:guide>
        <p15:guide id="23" pos="710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0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Блиц-запись</a:t>
            </a:r>
          </a:p>
          <a:p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Рабочая встреча по продуктовому запуску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Отвалы · конкуренты · гипотезы · конверсии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Материалы ЦП и технический конкурентный анализ Артёма Саловарова</a:t>
            </a:r>
          </a:p>
        </p:txBody>
      </p:sp>
      <p:pic>
        <p:nvPicPr>
          <p:cNvPr id="4" name="Picture 3" descr="icon_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57200"/>
            <a:ext cx="164592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Повестка встречи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280160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71600"/>
            <a:ext cx="6858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Статистика отвалов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664208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Причины, частоты, выводы по выгрузке лидов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463040"/>
            <a:ext cx="2377440" cy="365760"/>
          </a:xfrm>
          <a:prstGeom prst="roundRect">
            <a:avLst>
              <a:gd name="adj" fmla="val 4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1463040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ЦП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" y="2084832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26771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176272"/>
            <a:ext cx="6858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Эталонные звонки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468880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5 разборов для выравнивания скрипта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0" y="2267712"/>
            <a:ext cx="2377440" cy="365760"/>
          </a:xfrm>
          <a:prstGeom prst="roundRect">
            <a:avLst>
              <a:gd name="adj" fmla="val 4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0" y="2267712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ЦП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968" y="2889504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072384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2980944"/>
            <a:ext cx="6858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Анализ конкурентов: взгляд клиентов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2735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Что удерживает клиентов у текущих сервисов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78240" y="3072384"/>
            <a:ext cx="2377440" cy="365760"/>
          </a:xfrm>
          <a:prstGeom prst="roundRect">
            <a:avLst>
              <a:gd name="adj" fmla="val 4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0" y="3072384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ЦП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6968" y="3694176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3877056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3785616"/>
            <a:ext cx="6858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Технический конкурентный анализ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078224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Отличия Блиц-записи по подходу и архитектуре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78240" y="3877056"/>
            <a:ext cx="2377440" cy="365760"/>
          </a:xfrm>
          <a:prstGeom prst="roundRect">
            <a:avLst>
              <a:gd name="adj" fmla="val 4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0" y="3877056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Артём Саловаров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6968" y="4498848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468172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5920" y="4590288"/>
            <a:ext cx="6858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Анализ гипотез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882896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Статус проверки и решения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78240" y="4681728"/>
            <a:ext cx="2377440" cy="365760"/>
          </a:xfrm>
          <a:prstGeom prst="roundRect">
            <a:avLst>
              <a:gd name="adj" fmla="val 4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0" y="4681728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ЦП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6968" y="5303520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560" y="548640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45920" y="5394960"/>
            <a:ext cx="6858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Цифры по конверсиям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687568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Воронка холодной базы и базы АБУ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778240" y="5486400"/>
            <a:ext cx="2377440" cy="365760"/>
          </a:xfrm>
          <a:prstGeom prst="roundRect">
            <a:avLst>
              <a:gd name="adj" fmla="val 4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78240" y="5486400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ЦП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Статистика отвалов — обзор выборки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325880"/>
            <a:ext cx="256032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508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1945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лидов в выгрузке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Выгрузка лидов Блиц, менеджер Коршак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84448" y="1325880"/>
            <a:ext cx="256032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21608" y="1508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133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1608" y="21945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отвалов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1608" y="260604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Лиды с финальной негативной или тупиковой стадией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1928" y="1325880"/>
            <a:ext cx="256032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1508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1945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 работе / успех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60604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Оценка готовности, уточнение, конверсия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9408" y="1325880"/>
            <a:ext cx="256032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16568" y="1508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82%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16568" y="21945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доля отвалов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6568" y="260604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От объёма всей выгрузки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68" y="3611880"/>
            <a:ext cx="10515600" cy="22860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7947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Как считали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20624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Взяли стадии канбана из выгрузки и сгруппировали похожие формулировки в обобщённые причины. В «отвалы» не попали лиды на этапах оценки готовности, уточнения потребности и успешные конверсии (КП, подключение, ожидание ответа). Если в стадии было несколько сигналов, приоритет отдавали более конкретной причине (например, «пользуются Masters» важнее общего «неинтересно»).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Причины отвалов (таблица, часть 1)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43000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14400"/>
                <a:gridCol w="822960"/>
                <a:gridCol w="7315200"/>
              </a:tblGrid>
              <a:tr h="692331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Причина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Кол-во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Доля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Комментарий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Недозвон / нет контакта с ЛПР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58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43.6%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Самый частый сценарий: трубку не берут, точка закрыта в момент звонка, до лица принятия решения не доходим. База «шумная» — нужен повтор в другое время, мессенджер и проверка актуальности контакта до обзвона.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Сбросили трубку / отказ от разговора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20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15.0%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Контакт состоялся, но разговор обрывают сразу после представления. Холодный заход воспринимается как спам: критичны первые 10–15 секунд скрипта и понятная ценность без давления.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Неинтересно / отказ без конкретной причины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18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13.5%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Короткий отказ без диагностики потребности. Либо боли действительно нет, либо менеджер не успел выйти на проблему. Стоит усиливать вопросы discovery до оффера продукта.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Устраивает текущий сервис конкурента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12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9.0%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Клиенты сидят на Dikidi (часто бесплатный тариф), Masters, YCLIENTS, Арнике или своей разработке. Привычка и «нас всё устраивает» сильнее бесплатного старта. Нужен заход через конкретный разрыв текущего сервиса, а не через «есть альтернатива».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Не подходит формат онлайн-записи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9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6.8%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Запись ведут по звонку, лично или через Telegram; нужна квалификация клиента до слота. Чистый self-service им не подходит. В презентации важно показывать сценарии с ручным контролем записи, а не только виджет «записался сам».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692334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Причина не зафиксирована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4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3.0%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В CRM стоит стадия «Другое» без пояснения. Теряем аналитику: нужна дисциплина фиксации причины в комментарии или отдельном поле.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Причины отвалов (таблица, часть 2)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14400"/>
                <a:gridCol w="822960"/>
                <a:gridCol w="731520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Причина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Кол-во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Доля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Комментарий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Бизнес закрыт или не работает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3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2.3%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Точка не работает, закрывается или удалена из справочников. Часть базы устарела — имеет смысл чистить по 2ГИС/сайту до прозвона.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Отказ после КП или демо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3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2.3%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Дошли до коммерческого предложения или показа, но решения не получили. Мало кейсов, но каждый стоит разбирать: что не закрыли на демо и в КП.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Отложили решение / перенести контакт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1.5%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Жёсткого отказа нет: просят связаться позже. Это follow-up, а не финальный отвал — нужен календарь повторных касаний.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Не целевая аудитория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1.5%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В базе попались точки вне сегмента (например, магазин или медклиника). Фильтр ЦА до обзвона снижает пустые звонки.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Некорректный или мёртвый номер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1.5%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Номер не обслуживается или указан неверно. Ошибка данных в источнике базы.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86968" y="5212080"/>
            <a:ext cx="10515600" cy="82296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53492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Источник: выгрузка лиды Блиц Коршак. Обобщение выполнено по тексту стадии канбана; похожие формулировки («недозвон», «закрыты, недозвон», «не связались с ЛПР») сведены в одну причину.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Частота причин отвала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pic>
        <p:nvPicPr>
          <p:cNvPr id="4" name="Picture 3" descr="dropoff_frequ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5214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Структура отвалов и выводы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pic>
        <p:nvPicPr>
          <p:cNvPr id="4" name="Picture 3" descr="dropoff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5669280" cy="40233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309360" y="1325880"/>
            <a:ext cx="5120640" cy="448056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37960" y="150876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Выводы для работы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1965960"/>
            <a:ext cx="46634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8000"/>
              </a:lnSpc>
            </a:pPr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Больше 40% отвалов — недозвон.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Сначала чистим базу и канал доступа к ЛПР, иначе скрипт некому продавать.</a:t>
            </a:r>
          </a:p>
          <a:p>
            <a:pPr>
              <a:lnSpc>
                <a:spcPct val="108000"/>
              </a:lnSpc>
            </a:pPr>
            <a:r>
              <a:rPr sz="6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Сброс трубки — второй по весу сигнал.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Переписываем первые секунды звонка: кто мы и зачем звоним без «продажи с порога».</a:t>
            </a:r>
          </a:p>
          <a:p>
            <a:pPr>
              <a:lnSpc>
                <a:spcPct val="108000"/>
              </a:lnSpc>
            </a:pPr>
            <a:r>
              <a:rPr sz="6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Конкуренты держат лояльность.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Dikidi / Masters / YCLIENTS / Арника — заход только через конкретный разрыв.</a:t>
            </a:r>
          </a:p>
          <a:p>
            <a:pPr>
              <a:lnSpc>
                <a:spcPct val="108000"/>
              </a:lnSpc>
            </a:pPr>
            <a:r>
              <a:rPr sz="6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Часть ЦА не хочет чистую онлайн-запись.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В демо показывать сценарии с ручным контролем слота.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Эталонные звонки (5 шт.) — блок ЦП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28016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Разбор пяти эталонных звонков для выравнивания скрипта и качества discovery. Материалы и выводы вносит ЦП.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" y="1965960"/>
            <a:ext cx="3383280" cy="17830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14884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Звонок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260604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Контекст / что сделано хорошо / что усилить — заполняется ЦП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3128" y="1965960"/>
            <a:ext cx="3383280" cy="17830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214884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Звонок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6008" y="260604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Контекст / что сделано хорошо / что усилить — заполняется ЦП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9288" y="1965960"/>
            <a:ext cx="3383280" cy="17830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4884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Звонок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60604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Контекст / что сделано хорошо / что усилить — заполняется ЦП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" y="3931920"/>
            <a:ext cx="3383280" cy="17830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41148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Звонок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457200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Контекст / что сделано хорошо / что усилить — заполняется ЦП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53128" y="3931920"/>
            <a:ext cx="3383280" cy="17830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41148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Звонок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457200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Контекст / что сделано хорошо / что усилить — заполняется ЦП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Конкуренты глазами клиентов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23444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Что удерживает клиентов у текущих сервисов — по отвалам прозвона и рыночному обзору конкурентов.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" y="1828800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Dikidi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993392"/>
            <a:ext cx="76809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Часто сидят на бесплатном тарифе. Переход «на платное у нас» конкурирует с «бесплатно у них», даже если функционала меньше.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" y="2880360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Masters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044952"/>
            <a:ext cx="76809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Удобно мастерам и соло. Клиенты говорят, что всё устраивает; даже бесплатный оффер не всегда сдвигает.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" y="3931920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6908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YCLIENTS (ЮК)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096512"/>
            <a:ext cx="76809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Долгая привычка (кейсы «5 лет»), интеграции и ощущение «большой системы». Переход воспринимается как риск.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" y="4983480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12064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Арника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5148072"/>
            <a:ext cx="76809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Скидки на продление, календарь, аналитика и интеграции «в одном окне». Лояльность поддерживается условиями вендора.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Что это значит для нашего захода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325880"/>
            <a:ext cx="10515600" cy="10972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087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Не продавать «ещё одну запись»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7452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Клиент уже записывает. Нужна конкретная боль: поддержка, штат, деньги за неиспользуемые модули, жёсткость тарифа.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2514600"/>
            <a:ext cx="10515600" cy="10972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974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Бесплатный старт — не универсальный ключ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На холодной базе оффер сработал. На фоне Dikidi Free и привычного Masters его часто недостаточно.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" y="3703320"/>
            <a:ext cx="10515600" cy="10972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8862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Спрашивать текущий сервис обязательно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25196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Без названия конкурента нельзя выбрать правильный угол презентации. Это уже подтверждено гипотезой по Юклаенс.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" y="4892040"/>
            <a:ext cx="10515600" cy="10972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074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Показывать модульность и рост «по мере нужды»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4406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Против перегруженных пакетов конкурентов: платишь только за то, чем пользуешься — это язык малого бизнеса.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Технический конкурентный анализ — Артём Саловаров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234440"/>
            <a:ext cx="3840480" cy="365760"/>
          </a:xfrm>
          <a:prstGeom prst="roundRect">
            <a:avLst>
              <a:gd name="adj" fmla="val 4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34440"/>
            <a:ext cx="3840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Технический анализ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7830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На текущем этапе Блиц-запись активно развивается. Некорректно утверждать существенное техническое превосходство над зрелыми конкурентами (YCLIENTS, DIKIDI и др.) по числу функций, интеграций или глубине автоматизации. Отличие — в подходе к развитию продукта, архитектуре и работе с бизнесом.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3017520"/>
            <a:ext cx="10515600" cy="283464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Три принципа позиционирования сейчас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100584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Гибкость — бизнес адаптирует функциональность под свои процессы, а не наоборот.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Модульность — компания выбирает нужные инструменты и не переплачивает за лишнее.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Совместное развитие — учитываем запросы бизнеса и делаем востребованные доработки, в том числе на специальных условиях для участников развития продукта.</a:t>
            </a:r>
          </a:p>
          <a:p>
            <a:pPr>
              <a:lnSpc>
                <a:spcPct val="112000"/>
              </a:lnSpc>
            </a:pPr>
            <a:r>
              <a:rPr sz="8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/>
            </a:r>
          </a:p>
          <a:p>
            <a:pPr>
              <a:lnSpc>
                <a:spcPct val="112000"/>
              </a:lnSpc>
            </a:pPr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Конкурируем подходом к клиенту и гибкостью предложения, а не технологическим превосходством.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Ключевые отличия (1–3)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280160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173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1. Гибкость под конкретный бизнес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83080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Включать и отключать функции, настраивать под отрасль, упрощать интерфейс до нужного набора. Цель — система под процессы компании. Часть возможностей ещё в целевой модели продукта.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2834640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2. Модульная система и гибкое ценообразование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337560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Конструктор тарифов вместо жёсткого пакета. База — запись и расписание; модули «Команда», «Клиенты», «Финансы» подключаются отдельно. Актуально для малого бизнеса с путём масштабирования.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" y="4389120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5262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3. Развитие на обратной связи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92040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Клиент описывает задачу — команда оценивает типовость и реализуемость. Типовые доработки могут войти в продукт; для инициатора — на специальных условиях. Индивидуальные кейсы — отдельно.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Ключевые отличия (4–6)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280160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173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4. Отраслевая адаптация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83080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Не универсальный «одинаковый для всех» продукт. Фокус: бьюти и автоуслуги. Салоны — мастера, длительность, повторные визиты. Мойки — посты, загрузка, длительность. Малый бизнес — быстрый старт; растущий — модули без смены системы.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2834640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5. Старт с минимального набора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337560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Сначала запись и расписание, затем расширение. Снижает порог входа для тех, кто вёл запись вручную и не готов сразу к тяжёлой CRM.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" y="4389120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5262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6. Открытость к интеграциям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92040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Направление развития: мессенджеры, маркетинг, платежи, аналитика, отраслевые системы. Конкретные интеграции — по спросу и приоритетам. Это план, а не обещание «уже всё есть».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Анализ гипотез — сводный статус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2588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846320"/>
                <a:gridCol w="2103120"/>
                <a:gridCol w="3474720"/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№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Суть проверки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Статус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Главный результат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Бесплатный старт на холодной базе салонов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4CAF50"/>
                          </a:solidFill>
                          <a:latin typeface="Verdana"/>
                          <a:ea typeface="Verdana"/>
                          <a:cs typeface="Verdana"/>
                        </a:rPr>
                        <a:t>Подтверждена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Сделка в демо: с 0% до 20%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Тёплые клиенты АБУ конвертятся лучше холодных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C06060"/>
                          </a:solidFill>
                          <a:latin typeface="Verdana"/>
                          <a:ea typeface="Verdana"/>
                          <a:cs typeface="Verdana"/>
                        </a:rPr>
                        <a:t>Не подтверждена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48 обработано, 0 демо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3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Discovery Юклаенс через техподдержку и штат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4CAF50"/>
                          </a:solidFill>
                          <a:latin typeface="Verdana"/>
                          <a:ea typeface="Verdana"/>
                          <a:cs typeface="Verdana"/>
                        </a:rPr>
                        <a:t>Проверена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Конверсия выше 40%; цифры — в таблице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4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Новые сегменты (спорт, образование, кабинеты)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0A026"/>
                          </a:solidFill>
                          <a:latin typeface="Verdana"/>
                          <a:ea typeface="Verdana"/>
                          <a:cs typeface="Verdana"/>
                        </a:rPr>
                        <a:t>Не начата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Старт с ноября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Продажи через крупные франшизы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0A026"/>
                          </a:solidFill>
                          <a:latin typeface="Verdana"/>
                          <a:ea typeface="Verdana"/>
                          <a:cs typeface="Verdana"/>
                        </a:rPr>
                        <a:t>Не начата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Нужно обсуждение подхода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Гипотеза 1 — подтверждена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144000" y="502920"/>
            <a:ext cx="2286000" cy="347472"/>
          </a:xfrm>
          <a:prstGeom prst="roundRect">
            <a:avLst>
              <a:gd name="adj" fmla="val 40000"/>
            </a:avLst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0" y="502920"/>
            <a:ext cx="22860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Подтверждена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6968" y="1234440"/>
            <a:ext cx="10515600" cy="18288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3716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Формулировка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00584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Если при холодном прозвоне салонов красоты предлагать бесплатное сотрудничество с последующим переходом на платный пакет, то доля сделок, доведённых до демонстрации, вырастет и закрепится на уровне не ниже 20%, потому что бесплатный старт снимает барьер входа у холодного контакта.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86968" y="3246120"/>
          <a:ext cx="1051560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1645920"/>
                <a:gridCol w="1463040"/>
                <a:gridCol w="26517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Период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Обработано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Сделок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Демо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Сделка в демо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14–19 сентября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102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13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21–28 сентября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62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28 сентября – 5 октября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52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12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3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25%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5–12 октября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47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10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20%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Итого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263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40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12,5%*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6968" y="59436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* Итого смешивает режимы до и после оффера. Рабочий показатель после смены оффера — 20%.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Гипотеза 1 — динамика конверсии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pic>
        <p:nvPicPr>
          <p:cNvPr id="4" name="Picture 3" descr="cold_conversion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7315200" cy="32004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83280" cy="41148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155448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Разбор цифр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2011680"/>
            <a:ext cx="29260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263 обработано</a:t>
            </a:r>
          </a:p>
          <a:p>
            <a:pPr>
              <a:lnSpc>
                <a:spcPct val="112000"/>
              </a:lnSpc>
            </a:pPr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объём холодной базы за проверку</a:t>
            </a:r>
          </a:p>
          <a:p>
            <a:pPr>
              <a:lnSpc>
                <a:spcPct val="112000"/>
              </a:lnSpc>
            </a:pPr>
            <a:r>
              <a:rPr sz="8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/>
            </a:r>
          </a:p>
          <a:p>
            <a:pPr>
              <a:lnSpc>
                <a:spcPct val="112000"/>
              </a:lnSpc>
            </a:pPr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 демонстраций</a:t>
            </a:r>
          </a:p>
          <a:p>
            <a:pPr>
              <a:lnSpc>
                <a:spcPct val="112000"/>
              </a:lnSpc>
            </a:pPr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все демо — с холодной базы</a:t>
            </a:r>
          </a:p>
          <a:p>
            <a:pPr>
              <a:lnSpc>
                <a:spcPct val="112000"/>
              </a:lnSpc>
            </a:pPr>
            <a:r>
              <a:rPr sz="8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/>
            </a:r>
          </a:p>
          <a:p>
            <a:pPr>
              <a:lnSpc>
                <a:spcPct val="112000"/>
              </a:lnSpc>
            </a:pPr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20% сейчас</a:t>
            </a:r>
          </a:p>
          <a:p>
            <a:pPr>
              <a:lnSpc>
                <a:spcPct val="112000"/>
              </a:lnSpc>
            </a:pPr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10 сделок и 2 демо за 5–12.10</a:t>
            </a:r>
          </a:p>
          <a:p>
            <a:pPr>
              <a:lnSpc>
                <a:spcPct val="112000"/>
              </a:lnSpc>
            </a:pPr>
            <a:r>
              <a:rPr sz="8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/>
            </a:r>
          </a:p>
          <a:p>
            <a:pPr>
              <a:lnSpc>
                <a:spcPct val="112000"/>
              </a:lnSpc>
            </a:pPr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Было 0%</a:t>
            </a:r>
          </a:p>
          <a:p>
            <a:pPr>
              <a:lnSpc>
                <a:spcPct val="112000"/>
              </a:lnSpc>
            </a:pPr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164 контакта до оффера — без демо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Гипотеза 2 — не подтверждена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686800" y="502920"/>
            <a:ext cx="2743200" cy="347472"/>
          </a:xfrm>
          <a:prstGeom prst="roundRect">
            <a:avLst>
              <a:gd name="adj" fmla="val 40000"/>
            </a:avLst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0" y="502920"/>
            <a:ext cx="27432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Не подтверждена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6968" y="1234440"/>
            <a:ext cx="10515600" cy="15544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3716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Формулировка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Если прозванивать тёплую базу клиентов ГК Форус (АБУ), то конверсия «сделка в демонстрацию» будет минимум на 30% выше, чем на холодной базе, потому что клиенты уже знают компанию.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86968" y="3017520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1645920"/>
                <a:gridCol w="1463040"/>
                <a:gridCol w="265176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Период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Обработано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Сделок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Демо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Сделка в демо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25–28 сентября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3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—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28 сентября – 5 октября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43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6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5–12 октября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—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Итого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48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6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0%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6968" y="539496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Решение: гипотезу не подтверждаем на текущей выборке. Меняем заход в скрипте и повторяем на большем объёме — иначе нельзя честно сравнить тёплый и холодный канал.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Гипотеза 3 — проверена (цифры ЦП)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144000" y="502920"/>
            <a:ext cx="2286000" cy="347472"/>
          </a:xfrm>
          <a:prstGeom prst="roundRect">
            <a:avLst>
              <a:gd name="adj" fmla="val 40000"/>
            </a:avLst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0" y="502920"/>
            <a:ext cx="22860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Проверена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6968" y="1234440"/>
            <a:ext cx="10515600" cy="169164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3716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Формулировка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00584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Если у клиентов Юклаенс на сборе потребности уточнять линию техподдержки и численность сотрудников и строить презентацию вокруг этих болей, то конверсия в демо и сделку превысит 40%, потому что именно здесь типовой разрыв конкурента.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1089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Распределение прозвоненных по текущему сервису — заполняет ЦП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86968" y="352044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011680"/>
                <a:gridCol w="1828800"/>
                <a:gridCol w="1828800"/>
                <a:gridCol w="22860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Текущий сервис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Прозвонено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Демо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Сделок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Конверсия в демо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Дикиди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Юклаенс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Мастерс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Итого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Гипотезы 4 и 5 — ещё не в проверке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280160"/>
            <a:ext cx="10515600" cy="219456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869680" y="1417320"/>
            <a:ext cx="2286000" cy="320040"/>
          </a:xfrm>
          <a:prstGeom prst="roundRect">
            <a:avLst>
              <a:gd name="adj" fmla="val 40000"/>
            </a:avLst>
          </a:prstGeom>
          <a:solidFill>
            <a:srgbClr val="E0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0" y="1417320"/>
            <a:ext cx="2286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Не начата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417320"/>
            <a:ext cx="74980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Гипотеза 4. Расширение 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874519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Если расширить прозвон на спорт-клубы, образовательные центры и кабинеты специалистов (психолог, нутрициолог и др.), то получим демо и сделки в этих сегментах, потому что у них та же задача управляемой записи. План: активная проверка с ноября. Критерий — конверсия сделка в демо не хуже рабочего уровня холодных салонов (ориентир 20%).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" y="3703320"/>
            <a:ext cx="10515600" cy="219456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03920" y="3840480"/>
            <a:ext cx="2651760" cy="320040"/>
          </a:xfrm>
          <a:prstGeom prst="roundRect">
            <a:avLst>
              <a:gd name="adj" fmla="val 40000"/>
            </a:avLst>
          </a:prstGeom>
          <a:solidFill>
            <a:srgbClr val="E0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3840480"/>
            <a:ext cx="26517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Требует обсуждения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8404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Гипотеза 5. Крупные франшизы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9768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Если продавать через крупные франшизы целевого сегмента, то стоимость привлечения точки и скорость масштабирования будут лучше точечного холодного обзвона, потому что решение управляющей компании открывает несколько площадок. До старта: список сетей, ЛПР, оффер и критерии пилота.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6. Цифры по конверсиям — как обычно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234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Две ключевые конверсии: «обзвон в сделку» = сделки ÷ обработано; «сделка в демо» = демо ÷ сделки. Целевое действие — демонстрация.</a:t>
            </a:r>
          </a:p>
        </p:txBody>
      </p:sp>
      <p:pic>
        <p:nvPicPr>
          <p:cNvPr id="5" name="Picture 4" descr="cold_vs_ab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5943600" cy="3291840"/>
          </a:xfrm>
          <a:prstGeom prst="rect">
            <a:avLst/>
          </a:prstGeom>
        </p:spPr>
      </p:pic>
      <p:pic>
        <p:nvPicPr>
          <p:cNvPr id="6" name="Picture 5" descr="oct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83080"/>
            <a:ext cx="5303520" cy="2743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86968" y="5212080"/>
            <a:ext cx="10515600" cy="82296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3492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Холодная база: 263 обработано, 5 демо, рабочая конверсия сделка в демо 20%. АБУ: 48 обработано, 0 демо. Воронка звонков 1–15.10: 242 звонка, 6 презентаций, 2 тестовых доступа.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Решения и следующие шаги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280160"/>
            <a:ext cx="10515600" cy="6858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1444752"/>
            <a:ext cx="365760" cy="36576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44475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371600"/>
            <a:ext cx="9509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Отвалы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645920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Снижать недозвон (качество базы, мессенджер, время) и переписать первые секунды звонка.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" y="2029968"/>
            <a:ext cx="10515600" cy="6858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2194560"/>
            <a:ext cx="365760" cy="36576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19456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121408"/>
            <a:ext cx="9509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Эталонные звонки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395728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ЦП закрывает 5 разборов и фиксирует правки скрипта.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" y="2779776"/>
            <a:ext cx="10515600" cy="6858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2944368"/>
            <a:ext cx="365760" cy="36576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9443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2871216"/>
            <a:ext cx="9509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Гипотеза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145536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Оффер бесплатного старта оставляем стандартом холодного прозвона.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" y="3529584"/>
            <a:ext cx="10515600" cy="6858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3694176"/>
            <a:ext cx="365760" cy="365760"/>
          </a:xfrm>
          <a:prstGeom prst="ellipse">
            <a:avLst/>
          </a:prstGeom>
          <a:solidFill>
            <a:srgbClr val="E0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69417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3621024"/>
            <a:ext cx="9509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Гипотеза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895344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Новый заход по АБУ и повторная проверка на большей выборке.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" y="4279392"/>
            <a:ext cx="10515600" cy="6858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1560" y="4443984"/>
            <a:ext cx="365760" cy="36576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4443984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370832"/>
            <a:ext cx="9509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Гипотеза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4645152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ЦП заполняет таблицу Дикиди / Юклаенс / Мастерс.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6968" y="5029200"/>
            <a:ext cx="10515600" cy="6858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1560" y="5193792"/>
            <a:ext cx="365760" cy="365760"/>
          </a:xfrm>
          <a:prstGeom prst="ellipse">
            <a:avLst/>
          </a:prstGeom>
          <a:solidFill>
            <a:srgbClr val="E0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519379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5120640"/>
            <a:ext cx="9509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Гипотезы 4–5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5394960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Ноябрь — новые сегменты; франшизы — после согласования подхода.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Forus2020">
  <a:themeElements>
    <a:clrScheme name="Форус темная">
      <a:dk1>
        <a:srgbClr val="FFFFFF"/>
      </a:dk1>
      <a:lt1>
        <a:srgbClr val="FFFFFF"/>
      </a:lt1>
      <a:dk2>
        <a:srgbClr val="000000"/>
      </a:dk2>
      <a:lt2>
        <a:srgbClr val="000000"/>
      </a:lt2>
      <a:accent1>
        <a:srgbClr val="26A6E0"/>
      </a:accent1>
      <a:accent2>
        <a:srgbClr val="3F3F3F"/>
      </a:accent2>
      <a:accent3>
        <a:srgbClr val="767677"/>
      </a:accent3>
      <a:accent4>
        <a:srgbClr val="FFFFFF"/>
      </a:accent4>
      <a:accent5>
        <a:srgbClr val="395F76"/>
      </a:accent5>
      <a:accent6>
        <a:srgbClr val="BFBFBF"/>
      </a:accent6>
      <a:hlink>
        <a:srgbClr val="26A6E0"/>
      </a:hlink>
      <a:folHlink>
        <a:srgbClr val="BFBFBF"/>
      </a:folHlink>
    </a:clrScheme>
    <a:fontScheme name="Форус_2020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 anchor="ctr" anchorCtr="0">
        <a:spAutoFit/>
      </a:bodyPr>
      <a:lstStyle>
        <a:defPPr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2829</TotalTime>
  <Words>1673</Words>
  <Application>Microsoft Office PowerPoint</Application>
  <PresentationFormat>Широкоэкранный</PresentationFormat>
  <Paragraphs>330</Paragraphs>
  <Slides>44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44</vt:i4>
      </vt:variant>
    </vt:vector>
  </HeadingPairs>
  <TitlesOfParts>
    <vt:vector size="50" baseType="lpstr">
      <vt:lpstr>Arial</vt:lpstr>
      <vt:lpstr>Calibri</vt:lpstr>
      <vt:lpstr>Cambria</vt:lpstr>
      <vt:lpstr>Stolzl</vt:lpstr>
      <vt:lpstr>Verdana</vt:lpstr>
      <vt:lpstr>Тема Forus2020</vt:lpstr>
      <vt:lpstr>Темный шаблон презентации</vt:lpstr>
      <vt:lpstr>Второй вариант Название презентации</vt:lpstr>
      <vt:lpstr>Еще один вариант Название презентации</vt:lpstr>
      <vt:lpstr>Типовой лист</vt:lpstr>
      <vt:lpstr>Рабочая область   Весь контент должен заключаться в этой области экрана.  Такое зонирование позволит разместить текст и другую информацию  в максимально комфортном для восприятия месте.  Так же в макете имеются направляющие, по которым можно  выравнивать расположение объектов и не выходить за рамки. </vt:lpstr>
      <vt:lpstr>Имиджевые слайды  о компании</vt:lpstr>
      <vt:lpstr>Презентация PowerPoint</vt:lpstr>
      <vt:lpstr>Презентация PowerPoint</vt:lpstr>
      <vt:lpstr>Презентация PowerPoint</vt:lpstr>
      <vt:lpstr>Презентация PowerPoint</vt:lpstr>
      <vt:lpstr>Слайды  презентации с текстом</vt:lpstr>
      <vt:lpstr>Иерархия заголовков</vt:lpstr>
      <vt:lpstr>Что такое автоматизация</vt:lpstr>
      <vt:lpstr>Выделения и акценты в тексте</vt:lpstr>
      <vt:lpstr>Нумерованный список</vt:lpstr>
      <vt:lpstr>Нумерованный список №2</vt:lpstr>
      <vt:lpstr>Маркированный список</vt:lpstr>
      <vt:lpstr>Маркированный список №2</vt:lpstr>
      <vt:lpstr>Информация  в колонках</vt:lpstr>
      <vt:lpstr>Представление информации в трёх блоках</vt:lpstr>
      <vt:lpstr>Презентация PowerPoint</vt:lpstr>
      <vt:lpstr>Слайд с фото и блоками описания</vt:lpstr>
      <vt:lpstr>Информация с тремя колонками</vt:lpstr>
      <vt:lpstr>Информация с четырьмя колонками</vt:lpstr>
      <vt:lpstr>Как ещё можно разместить</vt:lpstr>
      <vt:lpstr>3 колонки и главная мысль</vt:lpstr>
      <vt:lpstr>Презентация PowerPoint</vt:lpstr>
      <vt:lpstr>Слайды  с фотографиями</vt:lpstr>
      <vt:lpstr>Слайд с фото или скриншотом</vt:lpstr>
      <vt:lpstr>Слайд с двумя фото или скриншотами</vt:lpstr>
      <vt:lpstr>Слайд с тремя фото или скриншотами</vt:lpstr>
      <vt:lpstr>Диаграммы, графики  и таблицы </vt:lpstr>
      <vt:lpstr>Пример круговой диаграммы</vt:lpstr>
      <vt:lpstr>Презентация PowerPoint</vt:lpstr>
      <vt:lpstr>Презентация PowerPoint</vt:lpstr>
      <vt:lpstr>Пример таблицы с выделением ключевой информации</vt:lpstr>
      <vt:lpstr>Как ещё можно изобразить таблицу</vt:lpstr>
      <vt:lpstr>Визуальные элементы Иконки, росчерки</vt:lpstr>
      <vt:lpstr>Иконки двухцветные</vt:lpstr>
      <vt:lpstr>Иконки белые</vt:lpstr>
      <vt:lpstr>Блоки для схем или важной информации</vt:lpstr>
      <vt:lpstr>3D абстрактные фигуры</vt:lpstr>
      <vt:lpstr>Изображения-объекты</vt:lpstr>
      <vt:lpstr>Благодарю 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</dc:creator>
  <cp:lastModifiedBy>Черепанова Виктория</cp:lastModifiedBy>
  <cp:revision>212</cp:revision>
  <dcterms:created xsi:type="dcterms:W3CDTF">2020-01-20T06:19:00Z</dcterms:created>
  <dcterms:modified xsi:type="dcterms:W3CDTF">2025-03-10T02:44:05Z</dcterms:modified>
</cp:coreProperties>
</file>