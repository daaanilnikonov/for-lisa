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rels" ContentType="application/vnd.openxmlformats-package.relationships+xml"/>
  <Default Extension="jpeg" ContentType="image/jpeg"/>
  <Default Extension="png" ContentType="image/png"/>
  <Default Extension="bin" ContentType="application/vnd.openxmlformats-officedocument.oleObject"/>
  <Default Extension="wmf" ContentType="image/x-wmf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44614414-3CAC-4348-9700-D7FD471E328C}">
  <a:tblStyle styleId="{44614414-3CAC-4348-9700-D7FD471E328C}" styleName="Table_0">
    <a:wholeTbl>
      <a:tcTxStyle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39" d="100"/>
          <a:sy n="139" d="100"/>
        </p:scale>
        <p:origin x="804" y="144"/>
      </p:cViewPr>
      <p:guideLst>
        <p:guide pos="162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449960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7219183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259995" name="Google Shape;51;g2c024994ad9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399652772" name="Google Shape;52;g2c024994ad9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911257" name="Google Shape;63;g2c024994ad9_0_1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232707183" name="Google Shape;64;g2c024994ad9_0_1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83689" name="Google Shape;112;g2c024994ad9_0_9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625793113" name="Google Shape;113;g2c024994ad9_0_9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564097" name="Google Shape;123;g2c024994ad9_0_10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510565" name="Google Shape;124;g2c024994ad9_0_10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863270788" name="Google Shape;125;g2c024994ad9_0_105:notes"/>
          <p:cNvSpPr txBox="1">
            <a:spLocks noGrp="1"/>
          </p:cNvSpPr>
          <p:nvPr>
            <p:ph type="sldNum" idx="12"/>
          </p:nvPr>
        </p:nvSpPr>
        <p:spPr bwMode="auto">
          <a:xfrm>
            <a:off x="388501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348586" name="Google Shape;140;g2c024994ad9_0_16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6277479" name="Google Shape;141;g2c024994ad9_0_16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994251224" name="Google Shape;142;g2c024994ad9_0_164:notes"/>
          <p:cNvSpPr txBox="1">
            <a:spLocks noGrp="1"/>
          </p:cNvSpPr>
          <p:nvPr>
            <p:ph type="sldNum" idx="12"/>
          </p:nvPr>
        </p:nvSpPr>
        <p:spPr bwMode="auto">
          <a:xfrm>
            <a:off x="388501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807772" name="Google Shape;155;g2c024994ad9_0_17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5565082" name="Google Shape;156;g2c024994ad9_0_17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57827767" name="Google Shape;157;g2c024994ad9_0_178:notes"/>
          <p:cNvSpPr txBox="1">
            <a:spLocks noGrp="1"/>
          </p:cNvSpPr>
          <p:nvPr>
            <p:ph type="sldNum" idx="12"/>
          </p:nvPr>
        </p:nvSpPr>
        <p:spPr bwMode="auto">
          <a:xfrm>
            <a:off x="388501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509594" name="Google Shape;170;g2c024994ad9_0_192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9255986" name="Google Shape;171;g2c024994ad9_0_19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340567164" name="Google Shape;172;g2c024994ad9_0_192:notes"/>
          <p:cNvSpPr txBox="1">
            <a:spLocks noGrp="1"/>
          </p:cNvSpPr>
          <p:nvPr>
            <p:ph type="sldNum" idx="12"/>
          </p:nvPr>
        </p:nvSpPr>
        <p:spPr bwMode="auto">
          <a:xfrm>
            <a:off x="388501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498446" name="Google Shape;181;g2c024994ad9_0_20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1136195" name="Google Shape;182;g2c024994ad9_0_20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732113384" name="Google Shape;183;g2c024994ad9_0_203:notes"/>
          <p:cNvSpPr txBox="1">
            <a:spLocks noGrp="1"/>
          </p:cNvSpPr>
          <p:nvPr>
            <p:ph type="sldNum" idx="12"/>
          </p:nvPr>
        </p:nvSpPr>
        <p:spPr bwMode="auto">
          <a:xfrm>
            <a:off x="388501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431071" name="Google Shape;198;g2c024994ad9_0_31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529360062" name="Google Shape;199;g2c024994ad9_0_31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438498" name="Google Shape;211;g2c57f924a21_0_1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581926480" name="Google Shape;212;g2c57f924a21_0_1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155414" name="Google Shape;231;g2c024994ad9_0_337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603619509" name="Google Shape;232;g2c024994ad9_0_337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061874" name="Google Shape;246;g2c024994ad9_0_39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95035863" name="Google Shape;247;g2c024994ad9_0_39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71685" name="Google Shape;257;g2c024994ad9_0_40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45163910" name="Google Shape;258;g2c024994ad9_0_40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199391" name="Google Shape;272;g2c024994ad9_0_417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2019675270" name="Google Shape;273;g2c024994ad9_0_417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904919" name="Google Shape;284;g2c024994ad9_0_427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72694002" name="Google Shape;285;g2c024994ad9_0_427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459876" name="Google Shape;10;p2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839874640" name="Google Shape;11;p2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2001675472" name="Google Shape;12;p2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868912" name="Google Shape;14;p3"/>
          <p:cNvSpPr txBox="1">
            <a:spLocks noGrp="1"/>
          </p:cNvSpPr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951121907" name="Google Shape;15;p3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767621" name="Google Shape;17;p4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2261312" name="Google Shape;18;p4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19687181" name="Google Shape;19;p4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550403" name="Google Shape;21;p5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5698497" name="Google Shape;22;p5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02142712" name="Google Shape;23;p5"/>
          <p:cNvSpPr txBox="1">
            <a:spLocks noGrp="1"/>
          </p:cNvSpPr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899483460" name="Google Shape;24;p5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806371" name="Google Shape;26;p6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763327" name="Google Shape;27;p6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289774" name="Google Shape;29;p7"/>
          <p:cNvSpPr txBox="1">
            <a:spLocks noGrp="1"/>
          </p:cNvSpPr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363336486" name="Google Shape;30;p7"/>
          <p:cNvSpPr txBox="1">
            <a:spLocks noGrp="1"/>
          </p:cNvSpPr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507488694" name="Google Shape;31;p7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452843" name="Google Shape;33;p8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320218555" name="Google Shape;34;p8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844130" name="Google Shape;36;p9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0073805" name="Google Shape;37;p9"/>
          <p:cNvSpPr txBox="1">
            <a:spLocks noGrp="1"/>
          </p:cNvSpPr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1295392762" name="Google Shape;38;p9"/>
          <p:cNvSpPr txBox="1">
            <a:spLocks noGrp="1"/>
          </p:cNvSpPr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1233962458" name="Google Shape;39;p9"/>
          <p:cNvSpPr txBox="1">
            <a:spLocks noGrp="1"/>
          </p:cNvSpPr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54750049" name="Google Shape;40;p9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386803" name="Google Shape;42;p10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03977998" name="Google Shape;43;p10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890758" name="Google Shape;45;p11"/>
          <p:cNvSpPr txBox="1">
            <a:spLocks noGrp="1"/>
          </p:cNvSpPr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99054444" name="Google Shape;46;p11"/>
          <p:cNvSpPr txBox="1">
            <a:spLocks noGrp="1"/>
          </p:cNvSpPr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82108509" name="Google Shape;47;p1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737910" name="Google Shape;49;p12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792653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64071521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22855297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jpg"/><Relationship Id="rId12" Type="http://schemas.openxmlformats.org/officeDocument/2006/relationships/image" Target="../media/image13.png"/><Relationship Id="rId13" Type="http://schemas.openxmlformats.org/officeDocument/2006/relationships/image" Target="../media/image1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3.png"/><Relationship Id="rId8" Type="http://schemas.openxmlformats.org/officeDocument/2006/relationships/image" Target="../media/image1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3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6.png"/><Relationship Id="rId7" Type="http://schemas.openxmlformats.org/officeDocument/2006/relationships/image" Target="../media/image2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3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0.png"/><Relationship Id="rId7" Type="http://schemas.openxmlformats.org/officeDocument/2006/relationships/hyperlink" Target="https://astral.ru/trainer/astraldocs/index.html" TargetMode="External"/><Relationship Id="rId8" Type="http://schemas.openxmlformats.org/officeDocument/2006/relationships/image" Target="../media/image4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1.png"/><Relationship Id="rId6" Type="http://schemas.openxmlformats.org/officeDocument/2006/relationships/image" Target="../media/image2.png"/><Relationship Id="rId7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5908433" name="Google Shape;54;p13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000" y="-5700"/>
            <a:ext cx="9177999" cy="514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5740750" name="Google Shape;55;p13"/>
          <p:cNvSpPr txBox="1"/>
          <p:nvPr/>
        </p:nvSpPr>
        <p:spPr bwMode="auto">
          <a:xfrm>
            <a:off x="365645" y="750294"/>
            <a:ext cx="5078100" cy="17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ru" sz="5700" b="1" i="0" u="none" strike="noStrike" cap="none">
                <a:solidFill>
                  <a:srgbClr val="FFDE08"/>
                </a:solidFill>
                <a:latin typeface="Comfortaa"/>
                <a:ea typeface="Comfortaa"/>
                <a:cs typeface="Comfortaa"/>
              </a:rPr>
              <a:t>Доки</a:t>
            </a:r>
            <a:endParaRPr sz="5700" b="1" i="0" u="none" strike="noStrike" cap="none">
              <a:solidFill>
                <a:srgbClr val="FFDE08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>
              <a:solidFill>
                <a:schemeClr val="lt1"/>
              </a:solidFill>
              <a:latin typeface="Avenir"/>
              <a:ea typeface="Avenir"/>
              <a:cs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>
              <a:solidFill>
                <a:schemeClr val="lt1"/>
              </a:solidFill>
              <a:latin typeface="Avenir"/>
              <a:ea typeface="Avenir"/>
              <a:cs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ru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сервис электронного документооборота</a:t>
            </a:r>
            <a:endParaRPr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ru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с контрагентами</a:t>
            </a:r>
            <a:endParaRPr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1423780597" name="Google Shape;56;p13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114573" y="-2095775"/>
            <a:ext cx="5959376" cy="58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223094" name="Google Shape;57;p13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571999" y="-972525"/>
            <a:ext cx="2111626" cy="2111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080799" name="Google Shape;58;p13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8003774" y="3212851"/>
            <a:ext cx="1477250" cy="147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0989110" name="Google Shape;59;p13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3164375" y="3600950"/>
            <a:ext cx="855401" cy="85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514195" name="Google Shape;60;p13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8057700" y="994075"/>
            <a:ext cx="235349" cy="23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6812641" name="Google Shape;61;p13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3956575" y="333975"/>
            <a:ext cx="3852050" cy="424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5159296" name="Google Shape;66;p14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5967" y="6700"/>
            <a:ext cx="9155942" cy="51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9900261" name="Google Shape;67;p14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557550" y="-1708401"/>
            <a:ext cx="5449099" cy="544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962085" name="Google Shape;68;p14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2768099" y="1475401"/>
            <a:ext cx="2698950" cy="269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7095107" name="Google Shape;69;p14"/>
          <p:cNvSpPr txBox="1"/>
          <p:nvPr/>
        </p:nvSpPr>
        <p:spPr bwMode="auto">
          <a:xfrm>
            <a:off x="616314" y="373847"/>
            <a:ext cx="6018900" cy="1284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Доки позволяет работать </a:t>
            </a:r>
            <a:endParaRPr sz="14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с электронными документами </a:t>
            </a:r>
            <a:endParaRPr sz="14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когда, где и как удобно!</a:t>
            </a:r>
            <a:endParaRPr sz="14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</p:txBody>
      </p:sp>
      <p:grpSp>
        <p:nvGrpSpPr>
          <p:cNvPr id="1825306528" name="Google Shape;70;p14"/>
          <p:cNvGrpSpPr/>
          <p:nvPr/>
        </p:nvGrpSpPr>
        <p:grpSpPr bwMode="auto">
          <a:xfrm>
            <a:off x="3239337" y="2476879"/>
            <a:ext cx="2151787" cy="1451057"/>
            <a:chOff x="5359640" y="2571759"/>
            <a:chExt cx="2959003" cy="1995403"/>
          </a:xfrm>
        </p:grpSpPr>
        <p:grpSp>
          <p:nvGrpSpPr>
            <p:cNvPr id="71" name="Google Shape;71;p14"/>
            <p:cNvGrpSpPr/>
            <p:nvPr/>
          </p:nvGrpSpPr>
          <p:grpSpPr bwMode="auto">
            <a:xfrm>
              <a:off x="5359640" y="2571759"/>
              <a:ext cx="2959003" cy="1735588"/>
              <a:chOff x="6400262" y="2311768"/>
              <a:chExt cx="5538092" cy="3342813"/>
            </a:xfrm>
          </p:grpSpPr>
          <p:grpSp>
            <p:nvGrpSpPr>
              <p:cNvPr id="72" name="Google Shape;72;p14"/>
              <p:cNvGrpSpPr/>
              <p:nvPr/>
            </p:nvGrpSpPr>
            <p:grpSpPr bwMode="auto">
              <a:xfrm>
                <a:off x="6400262" y="2311768"/>
                <a:ext cx="5538092" cy="3342813"/>
                <a:chOff x="1055597" y="1950447"/>
                <a:chExt cx="6745545" cy="4071635"/>
              </a:xfrm>
            </p:grpSpPr>
            <p:pic>
              <p:nvPicPr>
                <p:cNvPr id="73" name="Google Shape;73;p14"/>
                <p:cNvPicPr/>
                <p:nvPr/>
              </p:nvPicPr>
              <p:blipFill rotWithShape="1">
                <a:blip r:embed="rId6">
                  <a:alphaModFix/>
                </a:blip>
                <a:stretch/>
              </p:blipFill>
              <p:spPr bwMode="auto">
                <a:xfrm>
                  <a:off x="1055597" y="1950447"/>
                  <a:ext cx="6745545" cy="40716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4" name="Google Shape;74;p14"/>
                <p:cNvSpPr/>
                <p:nvPr/>
              </p:nvSpPr>
              <p:spPr bwMode="auto">
                <a:xfrm>
                  <a:off x="1847685" y="2160307"/>
                  <a:ext cx="5184600" cy="324030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100"/>
                    <a:buFont typeface="Arial"/>
                    <a:buNone/>
                    <a:defRPr/>
                  </a:pPr>
                  <a:endParaRPr sz="21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endParaRPr>
                </a:p>
              </p:txBody>
            </p:sp>
          </p:grpSp>
          <p:grpSp>
            <p:nvGrpSpPr>
              <p:cNvPr id="75" name="Google Shape;75;p14"/>
              <p:cNvGrpSpPr/>
              <p:nvPr/>
            </p:nvGrpSpPr>
            <p:grpSpPr bwMode="auto">
              <a:xfrm>
                <a:off x="7068332" y="2438398"/>
                <a:ext cx="4214558" cy="2743545"/>
                <a:chOff x="6498162" y="898823"/>
                <a:chExt cx="4274400" cy="2782500"/>
              </a:xfrm>
            </p:grpSpPr>
            <p:sp>
              <p:nvSpPr>
                <p:cNvPr id="76" name="Google Shape;76;p14"/>
                <p:cNvSpPr/>
                <p:nvPr/>
              </p:nvSpPr>
              <p:spPr bwMode="auto">
                <a:xfrm>
                  <a:off x="6498162" y="898823"/>
                  <a:ext cx="4274400" cy="2782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  <a:defRPr/>
                  </a:pPr>
                  <a:endParaRPr sz="12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endParaRPr>
                </a:p>
              </p:txBody>
            </p:sp>
            <p:grpSp>
              <p:nvGrpSpPr>
                <p:cNvPr id="77" name="Google Shape;77;p14"/>
                <p:cNvGrpSpPr/>
                <p:nvPr/>
              </p:nvGrpSpPr>
              <p:grpSpPr bwMode="auto">
                <a:xfrm>
                  <a:off x="7509942" y="1375503"/>
                  <a:ext cx="1079893" cy="1243850"/>
                  <a:chOff x="4915096" y="979640"/>
                  <a:chExt cx="2496862" cy="2875954"/>
                </a:xfrm>
              </p:grpSpPr>
              <p:sp>
                <p:nvSpPr>
                  <p:cNvPr id="78" name="Google Shape;78;p14"/>
                  <p:cNvSpPr/>
                  <p:nvPr/>
                </p:nvSpPr>
                <p:spPr bwMode="auto">
                  <a:xfrm rot="-5400000">
                    <a:off x="4466294" y="2149644"/>
                    <a:ext cx="2157600" cy="1254300"/>
                  </a:xfrm>
                  <a:prstGeom prst="parallelogram">
                    <a:avLst>
                      <a:gd name="adj" fmla="val 57913"/>
                    </a:avLst>
                  </a:prstGeom>
                  <a:solidFill>
                    <a:srgbClr val="1B6AA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  <a:defRPr/>
                    </a:pPr>
                    <a:endParaRPr sz="1200" b="0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endParaRPr>
                  </a:p>
                </p:txBody>
              </p:sp>
              <p:grpSp>
                <p:nvGrpSpPr>
                  <p:cNvPr id="79" name="Google Shape;79;p14"/>
                  <p:cNvGrpSpPr/>
                  <p:nvPr/>
                </p:nvGrpSpPr>
                <p:grpSpPr bwMode="auto">
                  <a:xfrm>
                    <a:off x="4915096" y="979640"/>
                    <a:ext cx="2496862" cy="2871020"/>
                    <a:chOff x="5651806" y="-116780"/>
                    <a:chExt cx="4801657" cy="5521192"/>
                  </a:xfrm>
                </p:grpSpPr>
                <p:grpSp>
                  <p:nvGrpSpPr>
                    <p:cNvPr id="80" name="Google Shape;80;p14"/>
                    <p:cNvGrpSpPr/>
                    <p:nvPr/>
                  </p:nvGrpSpPr>
                  <p:grpSpPr bwMode="auto">
                    <a:xfrm>
                      <a:off x="5651806" y="-116780"/>
                      <a:ext cx="4801657" cy="5521192"/>
                      <a:chOff x="5651806" y="-116780"/>
                      <a:chExt cx="4801657" cy="5521192"/>
                    </a:xfrm>
                  </p:grpSpPr>
                  <p:sp>
                    <p:nvSpPr>
                      <p:cNvPr id="81" name="Google Shape;81;p14"/>
                      <p:cNvSpPr/>
                      <p:nvPr/>
                    </p:nvSpPr>
                    <p:spPr bwMode="auto">
                      <a:xfrm rot="5400000" flipH="1">
                        <a:off x="7182113" y="2133062"/>
                        <a:ext cx="4149000" cy="2393699"/>
                      </a:xfrm>
                      <a:prstGeom prst="parallelogram">
                        <a:avLst>
                          <a:gd name="adj" fmla="val 57913"/>
                        </a:avLst>
                      </a:prstGeom>
                      <a:solidFill>
                        <a:srgbClr val="A5779E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200"/>
                          <a:buFont typeface="Arial"/>
                          <a:buNone/>
                          <a:defRPr/>
                        </a:pPr>
                        <a:endParaRPr sz="12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82" name="Google Shape;82;p14"/>
                      <p:cNvSpPr/>
                      <p:nvPr/>
                    </p:nvSpPr>
                    <p:spPr bwMode="auto">
                      <a:xfrm>
                        <a:off x="5651806" y="-116780"/>
                        <a:ext cx="4796399" cy="2768400"/>
                      </a:xfrm>
                      <a:prstGeom prst="diamond">
                        <a:avLst/>
                      </a:prstGeom>
                      <a:gradFill>
                        <a:gsLst>
                          <a:gs pos="0">
                            <a:srgbClr val="48B49C"/>
                          </a:gs>
                          <a:gs pos="100000">
                            <a:srgbClr val="8ED2C3"/>
                          </a:gs>
                        </a:gsLst>
                        <a:lin ang="5400012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200"/>
                          <a:buFont typeface="Arial"/>
                          <a:buNone/>
                          <a:defRPr/>
                        </a:pPr>
                        <a:endParaRPr sz="12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endParaRPr>
                      </a:p>
                    </p:txBody>
                  </p:sp>
                  <p:grpSp>
                    <p:nvGrpSpPr>
                      <p:cNvPr id="83" name="Google Shape;83;p14"/>
                      <p:cNvGrpSpPr/>
                      <p:nvPr/>
                    </p:nvGrpSpPr>
                    <p:grpSpPr bwMode="auto">
                      <a:xfrm>
                        <a:off x="7260915" y="783530"/>
                        <a:ext cx="1597734" cy="926700"/>
                        <a:chOff x="3254113" y="1153362"/>
                        <a:chExt cx="1597734" cy="926700"/>
                      </a:xfrm>
                    </p:grpSpPr>
                    <p:sp>
                      <p:nvSpPr>
                        <p:cNvPr id="84" name="Google Shape;84;p14"/>
                        <p:cNvSpPr/>
                        <p:nvPr/>
                      </p:nvSpPr>
                      <p:spPr bwMode="auto">
                        <a:xfrm rot="-5400000">
                          <a:off x="3190213" y="1217262"/>
                          <a:ext cx="926700" cy="798900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rgbClr val="A5779E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200"/>
                            <a:buFont typeface="Arial"/>
                            <a:buNone/>
                            <a:defRPr/>
                          </a:pPr>
                          <a:endParaRPr sz="1200" b="0" i="0" u="none" strike="noStrike" cap="non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p:txBody>
                    </p:sp>
                    <p:sp>
                      <p:nvSpPr>
                        <p:cNvPr id="85" name="Google Shape;85;p14"/>
                        <p:cNvSpPr/>
                        <p:nvPr/>
                      </p:nvSpPr>
                      <p:spPr bwMode="auto">
                        <a:xfrm rot="5400000" flipH="1">
                          <a:off x="3989047" y="1217262"/>
                          <a:ext cx="926700" cy="798900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rgbClr val="1B6AA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200"/>
                            <a:buFont typeface="Arial"/>
                            <a:buNone/>
                            <a:defRPr/>
                          </a:pPr>
                          <a:endParaRPr sz="1200" b="0" i="0" u="none" strike="noStrike" cap="non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86" name="Google Shape;86;p14"/>
                      <p:cNvGrpSpPr/>
                      <p:nvPr/>
                    </p:nvGrpSpPr>
                    <p:grpSpPr bwMode="auto">
                      <a:xfrm rot="3599955">
                        <a:off x="6060846" y="2849645"/>
                        <a:ext cx="1597699" cy="926680"/>
                        <a:chOff x="3254113" y="1153362"/>
                        <a:chExt cx="1597734" cy="926700"/>
                      </a:xfrm>
                    </p:grpSpPr>
                    <p:sp>
                      <p:nvSpPr>
                        <p:cNvPr id="87" name="Google Shape;87;p14"/>
                        <p:cNvSpPr/>
                        <p:nvPr/>
                      </p:nvSpPr>
                      <p:spPr bwMode="auto">
                        <a:xfrm rot="-5400000">
                          <a:off x="3190213" y="1217262"/>
                          <a:ext cx="926700" cy="798900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rgbClr val="A5779E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200"/>
                            <a:buFont typeface="Arial"/>
                            <a:buNone/>
                            <a:defRPr/>
                          </a:pPr>
                          <a:endParaRPr sz="1200" b="0" i="0" u="none" strike="noStrike" cap="non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p:txBody>
                    </p:sp>
                    <p:sp>
                      <p:nvSpPr>
                        <p:cNvPr id="88" name="Google Shape;88;p14"/>
                        <p:cNvSpPr/>
                        <p:nvPr/>
                      </p:nvSpPr>
                      <p:spPr bwMode="auto">
                        <a:xfrm rot="5400000" flipH="1">
                          <a:off x="3989047" y="1217262"/>
                          <a:ext cx="926700" cy="798900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gradFill>
                          <a:gsLst>
                            <a:gs pos="0">
                              <a:srgbClr val="48B49C"/>
                            </a:gs>
                            <a:gs pos="100000">
                              <a:srgbClr val="4CB8A1"/>
                            </a:gs>
                          </a:gsLst>
                          <a:lin ang="5400012" scaled="0"/>
                        </a:gra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200"/>
                            <a:buFont typeface="Arial"/>
                            <a:buNone/>
                            <a:defRPr/>
                          </a:pPr>
                          <a:endParaRPr sz="1200" b="0" i="0" u="none" strike="noStrike" cap="non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89" name="Google Shape;89;p14"/>
                    <p:cNvGrpSpPr/>
                    <p:nvPr/>
                  </p:nvGrpSpPr>
                  <p:grpSpPr bwMode="auto">
                    <a:xfrm rot="7200043">
                      <a:off x="8462398" y="2852108"/>
                      <a:ext cx="1597699" cy="926680"/>
                      <a:chOff x="3254113" y="1153362"/>
                      <a:chExt cx="1597734" cy="926700"/>
                    </a:xfrm>
                  </p:grpSpPr>
                  <p:sp>
                    <p:nvSpPr>
                      <p:cNvPr id="90" name="Google Shape;90;p14"/>
                      <p:cNvSpPr/>
                      <p:nvPr/>
                    </p:nvSpPr>
                    <p:spPr bwMode="auto">
                      <a:xfrm rot="-5400000">
                        <a:off x="3190213" y="1217262"/>
                        <a:ext cx="926700" cy="79890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solidFill>
                        <a:srgbClr val="1B6AA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200"/>
                          <a:buFont typeface="Arial"/>
                          <a:buNone/>
                          <a:defRPr/>
                        </a:pPr>
                        <a:endParaRPr sz="12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91" name="Google Shape;91;p14"/>
                      <p:cNvSpPr/>
                      <p:nvPr/>
                    </p:nvSpPr>
                    <p:spPr bwMode="auto">
                      <a:xfrm rot="5400000" flipH="1">
                        <a:off x="3989047" y="1217262"/>
                        <a:ext cx="926700" cy="79890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gradFill>
                        <a:gsLst>
                          <a:gs pos="0">
                            <a:srgbClr val="48B49C"/>
                          </a:gs>
                          <a:gs pos="100000">
                            <a:srgbClr val="4CB8A1"/>
                          </a:gs>
                        </a:gsLst>
                        <a:lin ang="5400012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200"/>
                          <a:buFont typeface="Arial"/>
                          <a:buNone/>
                          <a:defRPr/>
                        </a:pPr>
                        <a:endParaRPr sz="12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endParaRPr>
                      </a:p>
                    </p:txBody>
                  </p:sp>
                </p:grpSp>
              </p:grpSp>
            </p:grpSp>
          </p:grpSp>
        </p:grpSp>
        <p:sp>
          <p:nvSpPr>
            <p:cNvPr id="92" name="Google Shape;92;p14"/>
            <p:cNvSpPr/>
            <p:nvPr/>
          </p:nvSpPr>
          <p:spPr bwMode="auto">
            <a:xfrm>
              <a:off x="5570255" y="4171162"/>
              <a:ext cx="2537699" cy="396000"/>
            </a:xfrm>
            <a:prstGeom prst="roundRect">
              <a:avLst>
                <a:gd name="adj" fmla="val 16667"/>
              </a:avLst>
            </a:prstGeom>
            <a:solidFill>
              <a:srgbClr val="745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defRPr/>
              </a:pPr>
              <a:r>
                <a:rPr lang="ru" sz="1200" b="0" i="0" u="none" strike="noStrike" cap="none">
                  <a:solidFill>
                    <a:srgbClr val="FFFFFF"/>
                  </a:solidFill>
                  <a:latin typeface="Comfortaa"/>
                  <a:ea typeface="Comfortaa"/>
                  <a:cs typeface="Comfortaa"/>
                </a:rPr>
                <a:t>Веб-кабинет</a:t>
              </a:r>
              <a:endParaRPr sz="1200" b="0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grpSp>
        <p:nvGrpSpPr>
          <p:cNvPr id="1855162911" name="Google Shape;93;p14"/>
          <p:cNvGrpSpPr/>
          <p:nvPr/>
        </p:nvGrpSpPr>
        <p:grpSpPr bwMode="auto">
          <a:xfrm>
            <a:off x="5671231" y="2496042"/>
            <a:ext cx="1423145" cy="1412717"/>
            <a:chOff x="3071731" y="3046354"/>
            <a:chExt cx="1423145" cy="1412717"/>
          </a:xfrm>
        </p:grpSpPr>
        <p:grpSp>
          <p:nvGrpSpPr>
            <p:cNvPr id="94" name="Google Shape;94;p14"/>
            <p:cNvGrpSpPr/>
            <p:nvPr/>
          </p:nvGrpSpPr>
          <p:grpSpPr bwMode="auto">
            <a:xfrm>
              <a:off x="3071731" y="3046354"/>
              <a:ext cx="1423145" cy="1412717"/>
              <a:chOff x="4589293" y="1421050"/>
              <a:chExt cx="1585500" cy="1573883"/>
            </a:xfrm>
          </p:grpSpPr>
          <p:sp>
            <p:nvSpPr>
              <p:cNvPr id="95" name="Google Shape;95;p14"/>
              <p:cNvSpPr/>
              <p:nvPr/>
            </p:nvSpPr>
            <p:spPr bwMode="auto">
              <a:xfrm>
                <a:off x="4804385" y="1421050"/>
                <a:ext cx="1155300" cy="128459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D8D8D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/>
                </a:pP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96" name="Google Shape;96;p14"/>
              <p:cNvSpPr/>
              <p:nvPr/>
            </p:nvSpPr>
            <p:spPr bwMode="auto">
              <a:xfrm>
                <a:off x="4589293" y="2673932"/>
                <a:ext cx="1585500" cy="321000"/>
              </a:xfrm>
              <a:prstGeom prst="roundRect">
                <a:avLst>
                  <a:gd name="adj" fmla="val 16667"/>
                </a:avLst>
              </a:prstGeom>
              <a:solidFill>
                <a:srgbClr val="7453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defRPr/>
                </a:pPr>
                <a:r>
                  <a:rPr lang="ru" sz="1300" b="0" i="0" u="none" strike="noStrike" cap="none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</a:rPr>
                  <a:t>API</a:t>
                </a:r>
                <a:endParaRPr sz="1300" b="0" i="0" u="none" strike="noStrike" cap="none">
                  <a:solidFill>
                    <a:srgbClr val="FFFFFF"/>
                  </a:solidFill>
                  <a:latin typeface="Comfortaa"/>
                  <a:ea typeface="Comfortaa"/>
                  <a:cs typeface="Comfortaa"/>
                </a:endParaRPr>
              </a:p>
            </p:txBody>
          </p:sp>
        </p:grpSp>
        <p:pic>
          <p:nvPicPr>
            <p:cNvPr id="97" name="Google Shape;97;p14"/>
            <p:cNvPicPr/>
            <p:nvPr/>
          </p:nvPicPr>
          <p:blipFill rotWithShape="1">
            <a:blip r:embed="rId7">
              <a:alphaModFix/>
            </a:blip>
            <a:srcRect l="0" t="-4580" r="0" b="4578"/>
            <a:stretch/>
          </p:blipFill>
          <p:spPr bwMode="auto">
            <a:xfrm>
              <a:off x="3379163" y="3166525"/>
              <a:ext cx="808275" cy="82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2024002" name="Google Shape;98;p14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 rot="10800000" flipH="1">
            <a:off x="5171050" y="2422925"/>
            <a:ext cx="502875" cy="53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3575913" name="Google Shape;99;p14"/>
          <p:cNvGrpSpPr/>
          <p:nvPr/>
        </p:nvGrpSpPr>
        <p:grpSpPr bwMode="auto">
          <a:xfrm>
            <a:off x="683876" y="2053380"/>
            <a:ext cx="2084228" cy="1876307"/>
            <a:chOff x="6094324" y="312425"/>
            <a:chExt cx="2322001" cy="2090360"/>
          </a:xfrm>
        </p:grpSpPr>
        <p:pic>
          <p:nvPicPr>
            <p:cNvPr id="100" name="Google Shape;100;p14"/>
            <p:cNvPicPr/>
            <p:nvPr/>
          </p:nvPicPr>
          <p:blipFill rotWithShape="1">
            <a:blip r:embed="rId9">
              <a:alphaModFix/>
            </a:blip>
            <a:stretch/>
          </p:blipFill>
          <p:spPr bwMode="auto">
            <a:xfrm>
              <a:off x="6094324" y="312425"/>
              <a:ext cx="2322001" cy="1850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4"/>
            <p:cNvSpPr/>
            <p:nvPr/>
          </p:nvSpPr>
          <p:spPr bwMode="auto">
            <a:xfrm>
              <a:off x="6257672" y="2081785"/>
              <a:ext cx="1995300" cy="321000"/>
            </a:xfrm>
            <a:prstGeom prst="roundRect">
              <a:avLst>
                <a:gd name="adj" fmla="val 16667"/>
              </a:avLst>
            </a:prstGeom>
            <a:solidFill>
              <a:srgbClr val="745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defRPr/>
              </a:pPr>
              <a:r>
                <a:rPr lang="ru" sz="1200" b="0" i="0" u="none" strike="noStrike" cap="none">
                  <a:solidFill>
                    <a:srgbClr val="FFFFFF"/>
                  </a:solidFill>
                  <a:latin typeface="Comfortaa"/>
                  <a:ea typeface="Comfortaa"/>
                  <a:cs typeface="Comfortaa"/>
                </a:rPr>
                <a:t>Работает из 1С</a:t>
              </a:r>
              <a:endParaRPr sz="1200" b="0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pic>
        <p:nvPicPr>
          <p:cNvPr id="1770347358" name="Google Shape;102;p14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 rot="10800000" flipH="1">
            <a:off x="924726" y="2834000"/>
            <a:ext cx="140350" cy="53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0151107" name="Google Shape;103;p14"/>
          <p:cNvGrpSpPr/>
          <p:nvPr/>
        </p:nvGrpSpPr>
        <p:grpSpPr bwMode="auto">
          <a:xfrm>
            <a:off x="7298538" y="1272060"/>
            <a:ext cx="1845458" cy="2636562"/>
            <a:chOff x="6968625" y="2224475"/>
            <a:chExt cx="2208014" cy="3136897"/>
          </a:xfrm>
        </p:grpSpPr>
        <p:pic>
          <p:nvPicPr>
            <p:cNvPr id="104" name="Google Shape;104;p14"/>
            <p:cNvPicPr/>
            <p:nvPr/>
          </p:nvPicPr>
          <p:blipFill rotWithShape="1">
            <a:blip r:embed="rId10">
              <a:alphaModFix/>
            </a:blip>
            <a:stretch/>
          </p:blipFill>
          <p:spPr bwMode="auto">
            <a:xfrm>
              <a:off x="6968625" y="2224475"/>
              <a:ext cx="2152801" cy="29494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4"/>
            <p:cNvSpPr/>
            <p:nvPr/>
          </p:nvSpPr>
          <p:spPr bwMode="auto">
            <a:xfrm>
              <a:off x="6968639" y="5016372"/>
              <a:ext cx="2208000" cy="345000"/>
            </a:xfrm>
            <a:prstGeom prst="roundRect">
              <a:avLst>
                <a:gd name="adj" fmla="val 16667"/>
              </a:avLst>
            </a:prstGeom>
            <a:solidFill>
              <a:srgbClr val="745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sz="1200">
                  <a:solidFill>
                    <a:srgbClr val="FFFFFF"/>
                  </a:solidFill>
                  <a:latin typeface="Comfortaa"/>
                  <a:ea typeface="Comfortaa"/>
                  <a:cs typeface="Comfortaa"/>
                </a:rPr>
                <a:t>Мобильная версия</a:t>
              </a:r>
              <a:endParaRPr sz="1200">
                <a:solidFill>
                  <a:srgbClr val="FFFFFF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sp>
        <p:nvSpPr>
          <p:cNvPr id="1012578400" name="Google Shape;106;p14"/>
          <p:cNvSpPr txBox="1"/>
          <p:nvPr/>
        </p:nvSpPr>
        <p:spPr bwMode="auto">
          <a:xfrm>
            <a:off x="7298550" y="3908750"/>
            <a:ext cx="30000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600" i="1">
                <a:solidFill>
                  <a:schemeClr val="dk1"/>
                </a:solidFill>
              </a:rPr>
              <a:t>Функционал мобильной версии будет </a:t>
            </a:r>
            <a:endParaRPr sz="600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600" i="1">
                <a:solidFill>
                  <a:schemeClr val="dk1"/>
                </a:solidFill>
              </a:rPr>
              <a:t>поэтапно появляться в течение 2026 года</a:t>
            </a:r>
            <a:endParaRPr sz="600" i="1">
              <a:solidFill>
                <a:schemeClr val="dk1"/>
              </a:solidFill>
            </a:endParaRPr>
          </a:p>
        </p:txBody>
      </p:sp>
      <p:pic>
        <p:nvPicPr>
          <p:cNvPr id="188399351" name="Google Shape;107;p14"/>
          <p:cNvPicPr/>
          <p:nvPr/>
        </p:nvPicPr>
        <p:blipFill rotWithShape="1">
          <a:blip r:embed="rId11">
            <a:alphaModFix/>
          </a:blip>
          <a:srcRect l="0" t="3428" r="0" b="35235"/>
          <a:stretch/>
        </p:blipFill>
        <p:spPr bwMode="auto">
          <a:xfrm>
            <a:off x="7552025" y="1326000"/>
            <a:ext cx="1011299" cy="1589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50193593" name="Google Shape;108;p14"/>
          <p:cNvPicPr/>
          <p:nvPr/>
        </p:nvPicPr>
        <p:blipFill rotWithShape="1">
          <a:blip r:embed="rId11">
            <a:alphaModFix/>
          </a:blip>
          <a:srcRect l="0" t="68185" r="0" b="0"/>
          <a:stretch/>
        </p:blipFill>
        <p:spPr bwMode="auto">
          <a:xfrm>
            <a:off x="7552025" y="2663950"/>
            <a:ext cx="1011299" cy="82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541718246" name="Google Shape;109;p14"/>
          <p:cNvPicPr/>
          <p:nvPr/>
        </p:nvPicPr>
        <p:blipFill rotWithShape="1">
          <a:blip r:embed="rId12">
            <a:alphaModFix/>
          </a:blip>
          <a:srcRect l="0" t="0" r="6313" b="0"/>
          <a:stretch/>
        </p:blipFill>
        <p:spPr bwMode="auto">
          <a:xfrm>
            <a:off x="747724" y="2142175"/>
            <a:ext cx="1952625" cy="1077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684748" name="Google Shape;315;p34"/>
          <p:cNvPicPr/>
          <p:nvPr/>
        </p:nvPicPr>
        <p:blipFill rotWithShape="1">
          <a:blip r:embed="rId13">
            <a:alphaModFix/>
          </a:blip>
          <a:srcRect l="7373" t="0" r="0" b="0"/>
          <a:stretch/>
        </p:blipFill>
        <p:spPr bwMode="auto">
          <a:xfrm>
            <a:off x="3507829" y="2594899"/>
            <a:ext cx="1628618" cy="951455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6389061" name="Google Shape;115;p15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000" y="-5700"/>
            <a:ext cx="9177999" cy="514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2935639" name="Google Shape;116;p15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2502435" y="-1499500"/>
            <a:ext cx="5214226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577569" name="Google Shape;117;p15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5154625" y="-669826"/>
            <a:ext cx="4568450" cy="45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523925" name="Google Shape;118;p15"/>
          <p:cNvSpPr txBox="1"/>
          <p:nvPr/>
        </p:nvSpPr>
        <p:spPr bwMode="auto">
          <a:xfrm>
            <a:off x="473888" y="896466"/>
            <a:ext cx="68088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/>
            </a:pPr>
            <a:r>
              <a:rPr lang="ru" sz="7200" b="1" i="0" u="none" strike="noStrike" cap="none">
                <a:solidFill>
                  <a:srgbClr val="FCC609"/>
                </a:solidFill>
                <a:latin typeface="Comfortaa"/>
                <a:ea typeface="Comfortaa"/>
                <a:cs typeface="Comfortaa"/>
              </a:rPr>
              <a:t>5</a:t>
            </a:r>
            <a:r>
              <a:rPr lang="ru" sz="3000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</a:rPr>
              <a:t> причин</a:t>
            </a:r>
            <a:br>
              <a:rPr lang="ru" sz="3000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</a:rPr>
            </a:br>
            <a:r>
              <a:rPr lang="ru" sz="3000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</a:rPr>
              <a:t>выбрать Доки</a:t>
            </a:r>
            <a:endParaRPr sz="2200" b="1" i="0" u="none" strike="noStrike" cap="none">
              <a:solidFill>
                <a:srgbClr val="FDE151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400595283" name="Google Shape;119;p15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4781825" y="701302"/>
            <a:ext cx="2934824" cy="393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521646" name="Google Shape;120;p15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4572000" y="3230722"/>
            <a:ext cx="1409825" cy="1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977695" name="Google Shape;121;p15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6825500" y="1842925"/>
            <a:ext cx="808250" cy="8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7306369" name="Google Shape;127;p16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5967" y="6700"/>
            <a:ext cx="9155942" cy="51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578392" name="Google Shape;128;p16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6357100" y="-1034226"/>
            <a:ext cx="4060674" cy="4060674"/>
          </a:xfrm>
          <a:prstGeom prst="rect">
            <a:avLst/>
          </a:prstGeom>
          <a:noFill/>
          <a:ln>
            <a:noFill/>
          </a:ln>
        </p:spPr>
      </p:pic>
      <p:sp>
        <p:nvSpPr>
          <p:cNvPr id="2022212659" name="Google Shape;129;p16"/>
          <p:cNvSpPr txBox="1"/>
          <p:nvPr/>
        </p:nvSpPr>
        <p:spPr bwMode="auto">
          <a:xfrm>
            <a:off x="480204" y="118595"/>
            <a:ext cx="48627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/>
            </a:pPr>
            <a:r>
              <a:rPr lang="ru" sz="2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Причина №1</a:t>
            </a:r>
            <a:endParaRPr sz="14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Удобная работа с ЭДО </a:t>
            </a:r>
            <a:endParaRPr sz="2000" b="1">
              <a:solidFill>
                <a:srgbClr val="7754FF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прямо из 1С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</a:endParaRPr>
          </a:p>
        </p:txBody>
      </p:sp>
      <p:sp>
        <p:nvSpPr>
          <p:cNvPr id="300821761" name="Google Shape;130;p16"/>
          <p:cNvSpPr txBox="1"/>
          <p:nvPr/>
        </p:nvSpPr>
        <p:spPr bwMode="auto">
          <a:xfrm>
            <a:off x="389475" y="1486725"/>
            <a:ext cx="4253400" cy="179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кнопка отправки документов по ЭДО интегрируется непосредственно в документы 1С, обеспечивая возможность отправки документов реализации 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в один клик — удобно, быстро и без необходимости в дополнительных действиях по выгрузке или загрузке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2D57"/>
              </a:buClr>
              <a:buSzPts val="1000"/>
              <a:buFont typeface="Manrope"/>
              <a:buNone/>
              <a:defRPr/>
            </a:pP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быстрая обработка поступлений — учетные документы 1С формируются на основе входящих электронных документов без расхождений в реквизитах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удобный вход в сервис — прямо из основного меню 1С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просмотр тарифа и остатка документов в тарифе прямо в 1С</a:t>
            </a:r>
            <a:endParaRPr sz="900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560907374" name="Google Shape;131;p16"/>
          <p:cNvPicPr/>
          <p:nvPr/>
        </p:nvPicPr>
        <p:blipFill rotWithShape="1">
          <a:blip r:embed="rId5">
            <a:alphaModFix/>
          </a:blip>
          <a:srcRect l="0" t="0" r="0" b="6278"/>
          <a:stretch/>
        </p:blipFill>
        <p:spPr bwMode="auto">
          <a:xfrm>
            <a:off x="5190500" y="2489731"/>
            <a:ext cx="3552600" cy="1868400"/>
          </a:xfrm>
          <a:prstGeom prst="roundRect">
            <a:avLst>
              <a:gd name="adj" fmla="val 9833"/>
            </a:avLst>
          </a:prstGeom>
          <a:noFill/>
          <a:ln w="158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27706048" name="Google Shape;132;p16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5190500" y="250824"/>
            <a:ext cx="3552600" cy="1836900"/>
          </a:xfrm>
          <a:prstGeom prst="roundRect">
            <a:avLst>
              <a:gd name="adj" fmla="val 12663"/>
            </a:avLst>
          </a:prstGeom>
          <a:noFill/>
          <a:ln>
            <a:noFill/>
          </a:ln>
        </p:spPr>
      </p:pic>
      <p:sp>
        <p:nvSpPr>
          <p:cNvPr id="1402685344" name="Google Shape;133;p16"/>
          <p:cNvSpPr/>
          <p:nvPr/>
        </p:nvSpPr>
        <p:spPr bwMode="auto">
          <a:xfrm>
            <a:off x="4771075" y="2014625"/>
            <a:ext cx="2307000" cy="383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Быстрый вход в сервис — </a:t>
            </a:r>
            <a:endParaRPr sz="800" i="0" u="none" strike="noStrike" cap="none">
              <a:solidFill>
                <a:srgbClr val="000000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прямо из основного меню 1С</a:t>
            </a:r>
            <a:endParaRPr sz="800" i="0" u="none" strike="noStrike" cap="none">
              <a:solidFill>
                <a:schemeClr val="lt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2000126722" name="Google Shape;134;p16"/>
          <p:cNvSpPr/>
          <p:nvPr/>
        </p:nvSpPr>
        <p:spPr bwMode="auto">
          <a:xfrm>
            <a:off x="4771075" y="4007150"/>
            <a:ext cx="2307000" cy="506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Отправка документов 1С по ЭДО </a:t>
            </a:r>
            <a:endParaRPr sz="800" i="0" u="none" strike="noStrike" cap="none">
              <a:solidFill>
                <a:schemeClr val="lt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в один клик по кнопке </a:t>
            </a:r>
            <a:endParaRPr sz="800" i="0" u="none" strike="noStrike" cap="none">
              <a:solidFill>
                <a:schemeClr val="lt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«Подписать и отправить» </a:t>
            </a:r>
            <a:endParaRPr sz="800" i="0" u="none" strike="noStrike" cap="none">
              <a:solidFill>
                <a:schemeClr val="lt1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638069502" name="Google Shape;135;p16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4708850" y="6690"/>
            <a:ext cx="692275" cy="6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118847" name="Google Shape;136;p16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4923504" y="3643249"/>
            <a:ext cx="155949" cy="15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469463" name="Google Shape;137;p16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4550222" y="1378022"/>
            <a:ext cx="239450" cy="23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208749" name="Google Shape;138;p16"/>
          <p:cNvSpPr/>
          <p:nvPr/>
        </p:nvSpPr>
        <p:spPr bwMode="auto">
          <a:xfrm>
            <a:off x="-503950" y="3560149"/>
            <a:ext cx="5212800" cy="638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1044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ru" sz="1000" i="0" u="none" strike="noStrike" cap="none">
                <a:solidFill>
                  <a:schemeClr val="lt1"/>
                </a:solidFill>
                <a:latin typeface="Montserrat"/>
                <a:ea typeface="Comfortaa Medium"/>
                <a:cs typeface="Comfortaa Medium"/>
              </a:rPr>
              <a:t>И всё это — без оплаты за интеграцию с 1С!</a:t>
            </a:r>
            <a:endParaRPr sz="1000">
              <a:latin typeface="Montserrat"/>
              <a:ea typeface="Comfortaa Medium"/>
              <a:cs typeface="Comfortaa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ru" sz="1000" i="0" u="none" strike="noStrike" cap="none">
                <a:solidFill>
                  <a:schemeClr val="lt1"/>
                </a:solidFill>
                <a:latin typeface="Montserrat"/>
                <a:ea typeface="Comfortaa Medium"/>
                <a:cs typeface="Comfortaa Medium"/>
              </a:rPr>
              <a:t>Вы платите только за тариф на отправку документов </a:t>
            </a:r>
            <a:endParaRPr sz="1000" i="0" u="none" strike="noStrike" cap="none">
              <a:solidFill>
                <a:schemeClr val="lt1"/>
              </a:solidFill>
              <a:latin typeface="Montserrat"/>
              <a:ea typeface="Comfortaa Medium"/>
              <a:cs typeface="Comfortaa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4378502" name="Google Shape;144;p17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5967" y="6700"/>
            <a:ext cx="9155942" cy="51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519223" name="Google Shape;145;p17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696049" y="-1187401"/>
            <a:ext cx="4568450" cy="45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205174" name="Google Shape;146;p17"/>
          <p:cNvSpPr txBox="1"/>
          <p:nvPr/>
        </p:nvSpPr>
        <p:spPr bwMode="auto">
          <a:xfrm>
            <a:off x="480204" y="289544"/>
            <a:ext cx="63135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/>
            </a:pPr>
            <a:r>
              <a:rPr lang="ru" sz="2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Причина №2</a:t>
            </a:r>
            <a:endParaRPr sz="14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 i="0" u="none" strike="noStrike" cap="none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Веб-кабинет</a:t>
            </a:r>
            <a:endParaRPr sz="2000" b="1" i="0" u="none" strike="noStrike" cap="none">
              <a:solidFill>
                <a:srgbClr val="262626"/>
              </a:solidFill>
              <a:latin typeface="Comfortaa"/>
              <a:ea typeface="Comfortaa"/>
              <a:cs typeface="Comfortaa"/>
            </a:endParaRPr>
          </a:p>
        </p:txBody>
      </p:sp>
      <p:sp>
        <p:nvSpPr>
          <p:cNvPr id="461274021" name="Google Shape;147;p17"/>
          <p:cNvSpPr txBox="1"/>
          <p:nvPr/>
        </p:nvSpPr>
        <p:spPr bwMode="auto">
          <a:xfrm>
            <a:off x="389000" y="1464975"/>
            <a:ext cx="3586500" cy="165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полная синхронизация между интерфейсами сервиса в 1С и веб-кабинете гарантирует моментальное обновление документов и статусов  в обоих интерфейсах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можно подписывать документы, даже не имея доступа к рабочему компьютеру с 1С — например, из дома, отпуска или командировки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можно создавать документы в 1С и передавать их на подписание руководителю: директор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 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за пару секунд подпишет документы в веб-кабинете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1920544617" name="Google Shape;148;p17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944450" y="2365663"/>
            <a:ext cx="3540600" cy="1830900"/>
          </a:xfrm>
          <a:prstGeom prst="roundRect">
            <a:avLst>
              <a:gd name="adj" fmla="val 11251"/>
            </a:avLst>
          </a:prstGeom>
          <a:noFill/>
          <a:ln>
            <a:noFill/>
          </a:ln>
        </p:spPr>
      </p:pic>
      <p:sp>
        <p:nvSpPr>
          <p:cNvPr id="2092314563" name="Google Shape;149;p17"/>
          <p:cNvSpPr/>
          <p:nvPr/>
        </p:nvSpPr>
        <p:spPr bwMode="auto">
          <a:xfrm>
            <a:off x="4762700" y="4121200"/>
            <a:ext cx="2315400" cy="383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Руководитель открывает документ в веб-кабинете и подписывает его</a:t>
            </a:r>
            <a:endParaRPr sz="1300" i="0" u="none" strike="noStrike" cap="none">
              <a:solidFill>
                <a:srgbClr val="000000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1996144420" name="Google Shape;150;p17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3058025" y="3290897"/>
            <a:ext cx="1409825" cy="1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3965171" name="Google Shape;151;p17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3707300" y="3206500"/>
            <a:ext cx="808250" cy="80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073550" name="Google Shape;152;p17"/>
          <p:cNvPicPr/>
          <p:nvPr/>
        </p:nvPicPr>
        <p:blipFill rotWithShape="1">
          <a:blip r:embed="rId8">
            <a:alphaModFix/>
          </a:blip>
          <a:srcRect l="9661" t="0" r="29186" b="40709"/>
          <a:stretch/>
        </p:blipFill>
        <p:spPr bwMode="auto">
          <a:xfrm>
            <a:off x="4898399" y="152100"/>
            <a:ext cx="3586500" cy="1798200"/>
          </a:xfrm>
          <a:prstGeom prst="roundRect">
            <a:avLst>
              <a:gd name="adj" fmla="val 9585"/>
            </a:avLst>
          </a:prstGeom>
          <a:noFill/>
          <a:ln>
            <a:noFill/>
          </a:ln>
        </p:spPr>
      </p:pic>
      <p:sp>
        <p:nvSpPr>
          <p:cNvPr id="1008758373" name="Google Shape;153;p17"/>
          <p:cNvSpPr/>
          <p:nvPr/>
        </p:nvSpPr>
        <p:spPr bwMode="auto">
          <a:xfrm>
            <a:off x="4762700" y="1874250"/>
            <a:ext cx="2315400" cy="383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900" b="0" i="0" u="none" strike="noStrike" cap="none">
                <a:solidFill>
                  <a:schemeClr val="lt1"/>
                </a:solidFill>
                <a:latin typeface="Montserrat"/>
                <a:ea typeface="Manrope Light"/>
                <a:cs typeface="Manrope Light"/>
              </a:rPr>
              <a:t>Б</a:t>
            </a: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ухгалтер создает документ в 1С и передает ссылку руководителю</a:t>
            </a:r>
            <a:endParaRPr sz="1300" i="0" u="none" strike="noStrike" cap="none">
              <a:solidFill>
                <a:srgbClr val="000000"/>
              </a:solidFill>
              <a:latin typeface="Montserrat"/>
              <a:ea typeface="Comfortaa"/>
              <a:cs typeface="Comforta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6987080" name="Google Shape;159;p18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5967" y="6700"/>
            <a:ext cx="9155942" cy="51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0311729" name="Google Shape;160;p18"/>
          <p:cNvSpPr txBox="1"/>
          <p:nvPr/>
        </p:nvSpPr>
        <p:spPr bwMode="auto">
          <a:xfrm>
            <a:off x="480204" y="1519186"/>
            <a:ext cx="3909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Гарантирует сохранность электронных документов.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Документы Доки надежно хранятся в облаке. 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Даже если с компьютером или информационной базой 1С что-то случится, документы в Доки не потеряются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1934365896" name="Google Shape;161;p18"/>
          <p:cNvSpPr txBox="1"/>
          <p:nvPr/>
        </p:nvSpPr>
        <p:spPr bwMode="auto">
          <a:xfrm>
            <a:off x="480204" y="289545"/>
            <a:ext cx="63135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/>
            </a:pPr>
            <a:r>
              <a:rPr lang="ru" sz="2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Причина №3</a:t>
            </a:r>
            <a:endParaRPr sz="22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 i="0" u="none" strike="noStrike" cap="none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Архив документов в облаке</a:t>
            </a:r>
            <a:endParaRPr sz="2000" b="1" i="0" u="none" strike="noStrike" cap="none">
              <a:solidFill>
                <a:srgbClr val="262626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297258756" name="Google Shape;162;p18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154625" y="-669826"/>
            <a:ext cx="4568450" cy="456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887444" name="Google Shape;163;p18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572000" y="3230722"/>
            <a:ext cx="1409825" cy="1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0546883" name="Google Shape;164;p18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7931900" y="598783"/>
            <a:ext cx="2376276" cy="237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291146" name="Google Shape;165;p18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3858625" y="598763"/>
            <a:ext cx="4256174" cy="4256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2767" name="Google Shape;166;p18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10599625" y="-3171725"/>
            <a:ext cx="4059900" cy="405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975735" name="Google Shape;167;p18"/>
          <p:cNvPicPr/>
          <p:nvPr/>
        </p:nvPicPr>
        <p:blipFill rotWithShape="1">
          <a:blip r:embed="rId9">
            <a:alphaModFix/>
          </a:blip>
          <a:stretch/>
        </p:blipFill>
        <p:spPr bwMode="auto">
          <a:xfrm>
            <a:off x="12957524" y="-118425"/>
            <a:ext cx="2029230" cy="172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8455130" name="Google Shape;168;p18"/>
          <p:cNvPicPr/>
          <p:nvPr/>
        </p:nvPicPr>
        <p:blipFill rotWithShape="1">
          <a:blip r:embed="rId10">
            <a:alphaModFix/>
          </a:blip>
          <a:stretch/>
        </p:blipFill>
        <p:spPr bwMode="auto">
          <a:xfrm>
            <a:off x="5868775" y="933900"/>
            <a:ext cx="2906325" cy="21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121813" name="Google Shape;159;p18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5967" y="6700"/>
            <a:ext cx="9155942" cy="51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767889" name="Google Shape;175;p19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975075" y="-952751"/>
            <a:ext cx="4568450" cy="456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917340" name="Google Shape;176;p19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309775" y="1895733"/>
            <a:ext cx="2376276" cy="2376276"/>
          </a:xfrm>
          <a:prstGeom prst="rect">
            <a:avLst/>
          </a:prstGeom>
          <a:noFill/>
          <a:ln>
            <a:noFill/>
          </a:ln>
        </p:spPr>
      </p:pic>
      <p:sp>
        <p:nvSpPr>
          <p:cNvPr id="60029306" name="Google Shape;177;p19"/>
          <p:cNvSpPr txBox="1"/>
          <p:nvPr/>
        </p:nvSpPr>
        <p:spPr bwMode="auto">
          <a:xfrm>
            <a:off x="358875" y="1639325"/>
            <a:ext cx="4261200" cy="163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интерфейс сервиса как в 1С, так и в веб-кабинете максимально простой — напоминает привычную электронную почту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при разработке интерфейс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а 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проводились юзабилити-тестирования 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и 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учитыва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лось 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мнение пользователей, что 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позволило сделать интерфейс Доки интуитивно понятным и обеспечить возможность 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легкого и быстрого старта работы с ЭДО —  без обращений в поддержку и изучения инструкций</a:t>
            </a:r>
            <a:endParaRPr sz="1300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1056496765" name="Google Shape;178;p19"/>
          <p:cNvSpPr txBox="1"/>
          <p:nvPr/>
        </p:nvSpPr>
        <p:spPr bwMode="auto">
          <a:xfrm>
            <a:off x="480204" y="289959"/>
            <a:ext cx="63135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/>
            </a:pPr>
            <a:r>
              <a:rPr lang="ru" sz="2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Причина №4</a:t>
            </a:r>
            <a:endParaRPr sz="22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 i="0" u="none" strike="noStrike" cap="none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Удобный интерфе</a:t>
            </a:r>
            <a:r>
              <a:rPr lang="ru" sz="2000" b="1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йс – </a:t>
            </a:r>
            <a:endParaRPr sz="2000" b="1">
              <a:solidFill>
                <a:srgbClr val="7754FF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проверено пользователями</a:t>
            </a:r>
            <a:endParaRPr sz="2000" b="1">
              <a:solidFill>
                <a:srgbClr val="7754FF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561301067" name="Google Shape;179;p19"/>
          <p:cNvPicPr/>
          <p:nvPr/>
        </p:nvPicPr>
        <p:blipFill rotWithShape="1">
          <a:blip r:embed="rId6">
            <a:alphaModFix/>
          </a:blip>
          <a:srcRect l="0" t="0" r="37158" b="41034"/>
          <a:stretch/>
        </p:blipFill>
        <p:spPr bwMode="auto">
          <a:xfrm>
            <a:off x="4620075" y="1037200"/>
            <a:ext cx="4516800" cy="2222400"/>
          </a:xfrm>
          <a:prstGeom prst="roundRect">
            <a:avLst>
              <a:gd name="adj" fmla="val 10235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1596840" name="Google Shape;185;p20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5967" y="6700"/>
            <a:ext cx="9155942" cy="51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256207" name="Google Shape;186;p20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121163" y="-1146351"/>
            <a:ext cx="4914025" cy="49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57446105" name="Google Shape;187;p20"/>
          <p:cNvSpPr txBox="1"/>
          <p:nvPr/>
        </p:nvSpPr>
        <p:spPr bwMode="auto">
          <a:xfrm>
            <a:off x="305425" y="1447350"/>
            <a:ext cx="4785900" cy="206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Многопользовательский режим с настройками прав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Работа </a:t>
            </a:r>
            <a:r>
              <a:rPr lang="ru-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в нескольких базах 1С с одним </a:t>
            </a:r>
            <a:r>
              <a:rPr lang="en-GB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ID </a:t>
            </a:r>
            <a:r>
              <a:rPr lang="ru-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ЭДО</a:t>
            </a:r>
            <a:endParaRPr/>
          </a:p>
          <a:p>
            <a:pPr marL="45720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Маршруты согласования документов (на исходящие документы, 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маршрутизация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 входящи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х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)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Пакетная отправка, включая массовую отправку пакетами и возможность настроить, чтобы при отправке документа с ним</a:t>
            </a: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 </a:t>
            </a: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в пакет автоматически добавлялись связанные документы 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ЭДО с физлицами</a:t>
            </a:r>
            <a:endParaRPr/>
          </a:p>
          <a:p>
            <a:pPr marL="45720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ЭДО для маркировки и прослеживаемости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72D57"/>
              </a:buClr>
              <a:buSzPts val="900"/>
              <a:buFont typeface="Comfortaa"/>
              <a:buChar char="●"/>
              <a:defRPr/>
            </a:pP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Удобная работа с доп. полями XML для маркетплейсов</a:t>
            </a:r>
            <a:b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</a:br>
            <a:r>
              <a:rPr lang="ru" sz="900" i="0" u="none" strike="noStrike" cap="none">
                <a:solidFill>
                  <a:schemeClr val="tx1"/>
                </a:solidFill>
                <a:latin typeface="Montserrat"/>
                <a:ea typeface="Comfortaa"/>
                <a:cs typeface="Comfortaa"/>
              </a:rPr>
              <a:t>и крупных контрагентов  и многое другое</a:t>
            </a:r>
            <a:endParaRPr sz="900" i="0" u="none" strike="noStrike" cap="none">
              <a:solidFill>
                <a:schemeClr val="tx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1315153958" name="Google Shape;188;p20"/>
          <p:cNvSpPr txBox="1"/>
          <p:nvPr/>
        </p:nvSpPr>
        <p:spPr bwMode="auto">
          <a:xfrm>
            <a:off x="404004" y="293224"/>
            <a:ext cx="63135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/>
            </a:pPr>
            <a:r>
              <a:rPr lang="ru" sz="22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Причина №5</a:t>
            </a:r>
            <a:endParaRPr sz="22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 i="0" u="none" strike="noStrike" cap="none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Широкая функциональность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000" b="1" i="0" u="none" strike="noStrike" cap="none">
                <a:solidFill>
                  <a:srgbClr val="7754FF"/>
                </a:solidFill>
                <a:latin typeface="Comfortaa"/>
                <a:ea typeface="Comfortaa"/>
                <a:cs typeface="Comfortaa"/>
              </a:rPr>
              <a:t>как в 1С, так и в веб-кабинете 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1048456390" name="Google Shape;189;p20"/>
          <p:cNvPicPr/>
          <p:nvPr/>
        </p:nvPicPr>
        <p:blipFill rotWithShape="1">
          <a:blip r:embed="rId5">
            <a:alphaModFix/>
          </a:blip>
          <a:srcRect l="0" t="0" r="25820" b="39246"/>
          <a:stretch/>
        </p:blipFill>
        <p:spPr bwMode="auto">
          <a:xfrm>
            <a:off x="5091325" y="509920"/>
            <a:ext cx="3538500" cy="1498500"/>
          </a:xfrm>
          <a:prstGeom prst="roundRect">
            <a:avLst>
              <a:gd name="adj" fmla="val 9097"/>
            </a:avLst>
          </a:prstGeom>
          <a:noFill/>
          <a:ln>
            <a:noFill/>
          </a:ln>
        </p:spPr>
      </p:pic>
      <p:sp>
        <p:nvSpPr>
          <p:cNvPr id="212765080" name="Google Shape;190;p20"/>
          <p:cNvSpPr/>
          <p:nvPr/>
        </p:nvSpPr>
        <p:spPr bwMode="auto">
          <a:xfrm>
            <a:off x="5053325" y="1923799"/>
            <a:ext cx="2462400" cy="383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Можно добавлять сотрудников и устанавливать для них права доступа</a:t>
            </a:r>
            <a:endParaRPr sz="800" i="0" u="none" strike="noStrike" cap="none">
              <a:solidFill>
                <a:schemeClr val="lt1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1094167800" name="Google Shape;194;p20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8311800" y="3125475"/>
            <a:ext cx="871151" cy="87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02616" name="Google Shape;195;p20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4303338" y="2941925"/>
            <a:ext cx="537324" cy="537324"/>
          </a:xfrm>
          <a:prstGeom prst="rect">
            <a:avLst/>
          </a:prstGeom>
          <a:noFill/>
          <a:ln>
            <a:noFill/>
          </a:ln>
        </p:spPr>
      </p:pic>
      <p:sp>
        <p:nvSpPr>
          <p:cNvPr id="1876501422" name="Google Shape;138;p16"/>
          <p:cNvSpPr/>
          <p:nvPr/>
        </p:nvSpPr>
        <p:spPr bwMode="auto">
          <a:xfrm>
            <a:off x="-503950" y="3560149"/>
            <a:ext cx="5212800" cy="638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1044000" tIns="45700" rIns="91425" bIns="45700" anchor="ctr" anchorCtr="0">
            <a:noAutofit/>
          </a:bodyPr>
          <a:lstStyle/>
          <a:p>
            <a:pPr marL="146050" lvl="4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000">
                <a:solidFill>
                  <a:schemeClr val="lt1"/>
                </a:solidFill>
                <a:latin typeface="Montserrat"/>
              </a:rPr>
              <a:t>Всё это делает Доки идеальным решением </a:t>
            </a:r>
            <a:endParaRPr/>
          </a:p>
          <a:p>
            <a:pPr marL="146050" lvl="4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000">
                <a:solidFill>
                  <a:schemeClr val="lt1"/>
                </a:solidFill>
                <a:latin typeface="Montserrat"/>
              </a:rPr>
              <a:t>для компаний любого размера: </a:t>
            </a:r>
            <a:endParaRPr/>
          </a:p>
          <a:p>
            <a:pPr marL="146050" lvl="4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000">
                <a:solidFill>
                  <a:schemeClr val="lt1"/>
                </a:solidFill>
                <a:latin typeface="Montserrat"/>
              </a:rPr>
              <a:t>от малого бизнеса до крупных корпораций</a:t>
            </a:r>
            <a:endParaRPr/>
          </a:p>
        </p:txBody>
      </p:sp>
      <p:pic>
        <p:nvPicPr>
          <p:cNvPr id="1306838040" name="Google Shape;244;p51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5091325" y="2437621"/>
            <a:ext cx="3538500" cy="1680457"/>
          </a:xfrm>
          <a:prstGeom prst="roundRect">
            <a:avLst>
              <a:gd name="adj" fmla="val 8491"/>
            </a:avLst>
          </a:prstGeom>
          <a:noFill/>
          <a:ln>
            <a:noFill/>
          </a:ln>
        </p:spPr>
      </p:pic>
      <p:sp>
        <p:nvSpPr>
          <p:cNvPr id="1461354568" name="Google Shape;193;p20"/>
          <p:cNvSpPr/>
          <p:nvPr/>
        </p:nvSpPr>
        <p:spPr bwMode="auto">
          <a:xfrm>
            <a:off x="5053325" y="4034575"/>
            <a:ext cx="2462400" cy="383700"/>
          </a:xfrm>
          <a:prstGeom prst="roundRect">
            <a:avLst>
              <a:gd name="adj" fmla="val 50000"/>
            </a:avLst>
          </a:prstGeom>
          <a:solidFill>
            <a:srgbClr val="775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Работа с маршрутами согласования</a:t>
            </a:r>
            <a:endParaRPr sz="800" i="0" u="none" strike="noStrike" cap="none">
              <a:solidFill>
                <a:schemeClr val="lt1"/>
              </a:solidFill>
              <a:latin typeface="Montserrat"/>
              <a:ea typeface="Comfortaa"/>
              <a:cs typeface="Comforta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8378169" name="Google Shape;201;p2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917" y="0"/>
            <a:ext cx="916789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958887" name="Google Shape;202;p2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840600" y="-2383500"/>
            <a:ext cx="4348800" cy="4348707"/>
          </a:xfrm>
          <a:prstGeom prst="rect">
            <a:avLst/>
          </a:prstGeom>
          <a:noFill/>
          <a:ln>
            <a:noFill/>
          </a:ln>
        </p:spPr>
      </p:pic>
      <p:sp>
        <p:nvSpPr>
          <p:cNvPr id="315500358" name="Google Shape;203;p21"/>
          <p:cNvSpPr txBox="1"/>
          <p:nvPr/>
        </p:nvSpPr>
        <p:spPr bwMode="auto">
          <a:xfrm>
            <a:off x="599521" y="416875"/>
            <a:ext cx="6068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300" b="1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Поддержка конфигураций 1С</a:t>
            </a:r>
            <a:endParaRPr sz="2300" b="1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1303762695" name="Google Shape;204;p2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4572000" y="4088976"/>
            <a:ext cx="488963" cy="48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2415519" name="Google Shape;205;p2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4392525" y="123825"/>
            <a:ext cx="251176" cy="25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942819" name="Google Shape;206;p2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8262879" y="2321386"/>
            <a:ext cx="251176" cy="25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1102343" name="Google Shape;207;p21"/>
          <p:cNvSpPr txBox="1"/>
          <p:nvPr/>
        </p:nvSpPr>
        <p:spPr bwMode="auto">
          <a:xfrm>
            <a:off x="629945" y="992377"/>
            <a:ext cx="8250584" cy="268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spcAft>
                <a:spcPts val="300"/>
              </a:spcAft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На данный момент работа с расширением Доки возможна  в программах 1С, использующих технологическую платформу 1С:Предприятие с версией </a:t>
            </a:r>
            <a:r>
              <a:rPr lang="ru-RU" sz="1000" b="0" i="0">
                <a:solidFill>
                  <a:srgbClr val="444444"/>
                </a:solidFill>
                <a:latin typeface="Montserrat"/>
              </a:rPr>
              <a:t>не ниже 8.3.24 и конфигурацией: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1С:Бухгалтерия предприятия 3.0 версии не ниже 3.0.141.39 (Базовая/Проф/Корп);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1С:Управление Торговлей 11 версии не ниже 11.5.14.59 (Проф);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1С:Управление торговлей алкогольной продукцией 11 версии не ниже 11.5.22.60 (Проф);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1С:Комплексная автоматизация 2.5 версии не ниже 2.5.14.59;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</a:t>
            </a:r>
            <a:r>
              <a:rPr lang="en-GB" sz="1000" b="0" i="0">
                <a:solidFill>
                  <a:srgbClr val="444444"/>
                </a:solidFill>
                <a:latin typeface="Montserrat"/>
              </a:rPr>
              <a:t>ERP </a:t>
            </a:r>
            <a:r>
              <a:rPr lang="ru-RU" sz="1000" b="0" i="0">
                <a:solidFill>
                  <a:srgbClr val="444444"/>
                </a:solidFill>
                <a:latin typeface="Montserrat"/>
              </a:rPr>
              <a:t>Управление предприятием 2.5 версии не ниже 2.5.14.59;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1С:Управление нашей фирмой 3.0 версии не ниже 3.0.4.45 (Проф);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1С:Розница 3.0 версии не ниже 3.0.4.45 (Проф);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1С:Управление холдингом 3.2 версии не ниже 3.2.5.10;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1С:Бухгалтерия государственного учреждения 2.0 версии не ниже 2.0.92.35 (Проф/Корп);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1С:Бухгалтерия строительной организации версии не ниже 3.1.146.31;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1С:Трактиръ версии не ниже 3.0.141.39;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1С-Рарус:Бухгалтерия для некоммерческой организации версии не ниже 3.0.141.39;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000" b="0" i="0">
                <a:solidFill>
                  <a:srgbClr val="444444"/>
                </a:solidFill>
                <a:latin typeface="Montserrat"/>
              </a:rPr>
              <a:t> с размещением в сервисах 1С:Фреш (1С:Бухгалтерия предприятия, 1С:Комплексная автоматизация, 1С:</a:t>
            </a:r>
            <a:r>
              <a:rPr lang="en-GB" sz="1000" b="0" i="0">
                <a:solidFill>
                  <a:srgbClr val="444444"/>
                </a:solidFill>
                <a:latin typeface="Montserrat"/>
              </a:rPr>
              <a:t>ERP </a:t>
            </a:r>
            <a:r>
              <a:rPr lang="ru-RU" sz="1000" b="0" i="0">
                <a:solidFill>
                  <a:srgbClr val="444444"/>
                </a:solidFill>
                <a:latin typeface="Montserrat"/>
              </a:rPr>
              <a:t>Управление предприятием, 1С:Управление нашей фирмой, 1С:Розница 3.0, 1С:Бухгалтерия государственного учреждения)</a:t>
            </a:r>
            <a:endParaRPr/>
          </a:p>
        </p:txBody>
      </p:sp>
      <p:sp>
        <p:nvSpPr>
          <p:cNvPr id="1294013125" name="Google Shape;208;p21"/>
          <p:cNvSpPr/>
          <p:nvPr/>
        </p:nvSpPr>
        <p:spPr bwMode="auto">
          <a:xfrm>
            <a:off x="-348975" y="3840715"/>
            <a:ext cx="6038700" cy="595705"/>
          </a:xfrm>
          <a:prstGeom prst="roundRect">
            <a:avLst>
              <a:gd name="adj" fmla="val 50000"/>
            </a:avLst>
          </a:prstGeom>
          <a:solidFill>
            <a:srgbClr val="EAE5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200">
              <a:solidFill>
                <a:srgbClr val="072D57"/>
              </a:solidFill>
            </a:endParaRPr>
          </a:p>
        </p:txBody>
      </p:sp>
      <p:sp>
        <p:nvSpPr>
          <p:cNvPr id="655627363" name="Google Shape;209;p21"/>
          <p:cNvSpPr txBox="1"/>
          <p:nvPr/>
        </p:nvSpPr>
        <p:spPr bwMode="auto">
          <a:xfrm>
            <a:off x="599521" y="3869185"/>
            <a:ext cx="45393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Список поддерживаемых конфигураций будет расширяться. Следите за обновлениями!</a:t>
            </a:r>
            <a:endParaRPr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2228609" name="Google Shape;214;p22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917" y="0"/>
            <a:ext cx="916789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859845" name="Google Shape;215;p22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840600" y="-2383500"/>
            <a:ext cx="4348800" cy="4348707"/>
          </a:xfrm>
          <a:prstGeom prst="rect">
            <a:avLst/>
          </a:prstGeom>
          <a:noFill/>
          <a:ln>
            <a:noFill/>
          </a:ln>
        </p:spPr>
      </p:pic>
      <p:sp>
        <p:nvSpPr>
          <p:cNvPr id="564483115" name="Google Shape;216;p22"/>
          <p:cNvSpPr txBox="1"/>
          <p:nvPr/>
        </p:nvSpPr>
        <p:spPr bwMode="auto">
          <a:xfrm>
            <a:off x="599535" y="2582608"/>
            <a:ext cx="23568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Подключение и доступ</a:t>
            </a:r>
            <a:br>
              <a:rPr lang="ru" sz="1000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</a:b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к сервису из 1С</a:t>
            </a:r>
            <a:br>
              <a:rPr lang="ru" sz="1000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</a:b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и веб-кабинета</a:t>
            </a:r>
            <a:endParaRPr sz="1000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н</a:t>
            </a:r>
            <a: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е нужно оплачивать интеграционные модули, 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чтобы работать с ЭДО в 1С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221863270" name="Google Shape;217;p22"/>
          <p:cNvSpPr txBox="1"/>
          <p:nvPr/>
        </p:nvSpPr>
        <p:spPr bwMode="auto">
          <a:xfrm>
            <a:off x="3226232" y="2582607"/>
            <a:ext cx="23568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Входящие </a:t>
            </a:r>
            <a:endParaRPr sz="1000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документы</a:t>
            </a:r>
            <a:endParaRPr sz="1000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>
              <a:solidFill>
                <a:srgbClr val="7954F7"/>
              </a:solidFill>
              <a:latin typeface="Montserrat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п</a:t>
            </a:r>
            <a: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олучайте и подписывайте входящие документы </a:t>
            </a:r>
            <a:b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</a:br>
            <a: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от контрагентов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884940769" name="Google Shape;218;p22"/>
          <p:cNvSpPr txBox="1"/>
          <p:nvPr/>
        </p:nvSpPr>
        <p:spPr bwMode="auto">
          <a:xfrm>
            <a:off x="5252293" y="2582607"/>
            <a:ext cx="32523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Промотариф:</a:t>
            </a:r>
            <a:endParaRPr sz="1000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безлимитные отправки </a:t>
            </a:r>
            <a:endParaRPr sz="1000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на 3 месяца</a:t>
            </a:r>
            <a:endParaRPr sz="1000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д</a:t>
            </a:r>
            <a: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ля новых клиентов * 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сервиса </a:t>
            </a:r>
            <a:r>
              <a:rPr lang="ru" sz="10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Доки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</p:txBody>
      </p:sp>
      <p:sp>
        <p:nvSpPr>
          <p:cNvPr id="516512690" name="Google Shape;219;p22"/>
          <p:cNvSpPr txBox="1"/>
          <p:nvPr/>
        </p:nvSpPr>
        <p:spPr bwMode="auto">
          <a:xfrm>
            <a:off x="599535" y="416882"/>
            <a:ext cx="44682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В Доки вы получаете </a:t>
            </a:r>
            <a:r>
              <a:rPr lang="ru" sz="2300" b="1" i="0" u="none" strike="noStrike" cap="none">
                <a:solidFill>
                  <a:srgbClr val="7954F7"/>
                </a:solidFill>
                <a:latin typeface="Comfortaa"/>
                <a:ea typeface="Comfortaa"/>
                <a:cs typeface="Comfortaa"/>
              </a:rPr>
              <a:t>БЕСПЛАТНО</a:t>
            </a:r>
            <a:endParaRPr sz="2300" b="1" i="0" u="none" strike="noStrike" cap="none">
              <a:solidFill>
                <a:srgbClr val="7954F7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236026549" name="Google Shape;220;p22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1254397" y="1503747"/>
            <a:ext cx="1047075" cy="1047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3158410" name="Google Shape;221;p22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3881106" y="1503747"/>
            <a:ext cx="1047075" cy="1047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749463" name="Google Shape;222;p22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6354904" y="1503747"/>
            <a:ext cx="1047075" cy="1047103"/>
          </a:xfrm>
          <a:prstGeom prst="rect">
            <a:avLst/>
          </a:prstGeom>
          <a:noFill/>
          <a:ln>
            <a:noFill/>
          </a:ln>
        </p:spPr>
      </p:pic>
      <p:sp>
        <p:nvSpPr>
          <p:cNvPr id="621815103" name="Google Shape;223;p22"/>
          <p:cNvSpPr txBox="1"/>
          <p:nvPr/>
        </p:nvSpPr>
        <p:spPr bwMode="auto">
          <a:xfrm>
            <a:off x="5979886" y="4004975"/>
            <a:ext cx="2649115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800" b="0" i="1" u="none" strike="noStrike" cap="none">
                <a:solidFill>
                  <a:srgbClr val="BFBFBF"/>
                </a:solidFill>
                <a:latin typeface="Montserrat"/>
                <a:ea typeface="Comfortaa"/>
                <a:cs typeface="Comfortaa"/>
              </a:rPr>
              <a:t>* Клиентам с учетной записью </a:t>
            </a:r>
            <a:endParaRPr sz="800" b="0" i="1" u="none" strike="noStrike" cap="none">
              <a:solidFill>
                <a:srgbClr val="BFBFBF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800" b="0" i="1" u="none" strike="noStrike" cap="none">
                <a:solidFill>
                  <a:srgbClr val="BFBFBF"/>
                </a:solidFill>
                <a:latin typeface="Montserrat"/>
                <a:ea typeface="Comfortaa"/>
                <a:cs typeface="Comfortaa"/>
              </a:rPr>
              <a:t>в сервисе Астрал.ЭДО  подключение промотарифа недоступно</a:t>
            </a:r>
            <a:endParaRPr sz="800" b="0" i="1" u="none" strike="noStrike" cap="none">
              <a:solidFill>
                <a:srgbClr val="BFBFBF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275803196" name="Google Shape;224;p22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2918575" y="3896926"/>
            <a:ext cx="488963" cy="48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962248" name="Google Shape;225;p22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067725" y="890025"/>
            <a:ext cx="251176" cy="25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603202" name="Google Shape;226;p22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8253425" y="3230350"/>
            <a:ext cx="251176" cy="25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336815" name="Google Shape;227;p22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6637590" y="1786887"/>
            <a:ext cx="481676" cy="48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747324" name="Google Shape;228;p22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4212824" y="1833063"/>
            <a:ext cx="435375" cy="434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2188115" name="Google Shape;229;p22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1567251" y="1833075"/>
            <a:ext cx="421350" cy="42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8633115" name="Google Shape;234;p23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917" y="0"/>
            <a:ext cx="916789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301520" name="Google Shape;235;p23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-1292675" y="3415000"/>
            <a:ext cx="5169276" cy="760675"/>
          </a:xfrm>
          <a:prstGeom prst="rect">
            <a:avLst/>
          </a:prstGeom>
          <a:noFill/>
          <a:ln>
            <a:noFill/>
          </a:ln>
        </p:spPr>
      </p:pic>
      <p:sp>
        <p:nvSpPr>
          <p:cNvPr id="763389883" name="Google Shape;237;p23"/>
          <p:cNvSpPr txBox="1"/>
          <p:nvPr/>
        </p:nvSpPr>
        <p:spPr bwMode="auto">
          <a:xfrm>
            <a:off x="496600" y="230400"/>
            <a:ext cx="67725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Тарифы на исходящие документы</a:t>
            </a:r>
            <a:endParaRPr sz="23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</p:txBody>
      </p:sp>
      <p:sp>
        <p:nvSpPr>
          <p:cNvPr id="2017792875" name="Google Shape;238;p23"/>
          <p:cNvSpPr txBox="1"/>
          <p:nvPr/>
        </p:nvSpPr>
        <p:spPr bwMode="auto">
          <a:xfrm>
            <a:off x="496600" y="2661801"/>
            <a:ext cx="46596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4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Для сравнения</a:t>
            </a:r>
            <a:endParaRPr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4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стоимость отправки </a:t>
            </a:r>
            <a:endParaRPr sz="1400" i="0" u="none" strike="noStrike" cap="none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400" u="none" strike="noStrike" cap="none">
                <a:solidFill>
                  <a:schemeClr val="dk1"/>
                </a:solidFill>
                <a:latin typeface="Montserrat Medium"/>
                <a:ea typeface="Comfortaa"/>
                <a:cs typeface="Comfortaa"/>
              </a:rPr>
              <a:t>1 бумажного документа ≈ 50 ₽</a:t>
            </a:r>
            <a:endParaRPr>
              <a:solidFill>
                <a:schemeClr val="dk1"/>
              </a:solidFill>
              <a:latin typeface="Montserrat Medium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 i="0" u="none" strike="noStrike" cap="none">
              <a:solidFill>
                <a:schemeClr val="dk1"/>
              </a:solidFill>
              <a:latin typeface="Montserrat"/>
              <a:ea typeface="Manrope"/>
              <a:cs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Отправка документов в Доки </a:t>
            </a:r>
            <a:endParaRPr u="none" strike="noStrike" cap="none"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u="none" strike="noStrike" cap="none">
                <a:solidFill>
                  <a:srgbClr val="7954F7"/>
                </a:solidFill>
                <a:latin typeface="Montserrat Medium"/>
                <a:ea typeface="Comfortaa"/>
                <a:cs typeface="Comfortaa"/>
              </a:rPr>
              <a:t>до 15 раз дешевле!</a:t>
            </a:r>
            <a:endParaRPr>
              <a:solidFill>
                <a:srgbClr val="7954F7"/>
              </a:solidFill>
              <a:latin typeface="Montserrat Medium"/>
              <a:ea typeface="Comfortaa"/>
              <a:cs typeface="Comfortaa"/>
            </a:endParaRPr>
          </a:p>
        </p:txBody>
      </p:sp>
      <p:sp>
        <p:nvSpPr>
          <p:cNvPr id="103813140" name="Google Shape;239;p23"/>
          <p:cNvSpPr txBox="1"/>
          <p:nvPr/>
        </p:nvSpPr>
        <p:spPr bwMode="auto">
          <a:xfrm>
            <a:off x="496600" y="969725"/>
            <a:ext cx="475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9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Выбирайте подходящий тариф. Чем больше количество документов, </a:t>
            </a:r>
            <a:endParaRPr sz="900" i="0" u="none" strike="noStrike" cap="none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900" i="0" u="none" strike="noStrike" cap="none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тем выгоднее стоимость отправки одного документа</a:t>
            </a:r>
            <a:endParaRPr sz="9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928613348" name="Google Shape;240;p23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482177" y="2563828"/>
            <a:ext cx="2883622" cy="192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712988" name="Google Shape;241;p23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6878681" y="2631107"/>
            <a:ext cx="1919194" cy="1493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658987" name="Google Shape;242;p23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4265051" y="3493664"/>
            <a:ext cx="1651590" cy="110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8850260" name="Google Shape;243;p23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6910569" y="-1017175"/>
            <a:ext cx="1855405" cy="185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7072473" name="Google Shape;244;p23"/>
          <p:cNvPicPr/>
          <p:nvPr/>
        </p:nvPicPr>
        <p:blipFill rotWithShape="1">
          <a:blip r:embed="rId9">
            <a:alphaModFix/>
          </a:blip>
          <a:stretch/>
        </p:blipFill>
        <p:spPr bwMode="auto">
          <a:xfrm>
            <a:off x="7126975" y="119300"/>
            <a:ext cx="668550" cy="668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5977049" name="Google Shape;359;p37"/>
          <p:cNvGraphicFramePr>
            <a:graphicFrameLocks xmlns:a="http://schemas.openxmlformats.org/drawingml/2006/main"/>
          </p:cNvGraphicFramePr>
          <p:nvPr/>
        </p:nvGraphicFramePr>
        <p:xfrm rot="0">
          <a:off x="574824" y="1412562"/>
          <a:ext cx="8136550" cy="872640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1749200"/>
                <a:gridCol w="480275"/>
                <a:gridCol w="595300"/>
                <a:gridCol w="580825"/>
                <a:gridCol w="580825"/>
                <a:gridCol w="580825"/>
                <a:gridCol w="580825"/>
                <a:gridCol w="580825"/>
                <a:gridCol w="580825"/>
                <a:gridCol w="580825"/>
                <a:gridCol w="623000"/>
                <a:gridCol w="623000"/>
              </a:tblGrid>
              <a:tr h="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Кол-во документов на год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FF5D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200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500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1 200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1 500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5 000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20 000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50 000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100 000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Стоимость тарифа, ₽ / год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FF5D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1 800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4 200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9 200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11 400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17 100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24 500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39 000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73 000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105 000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170 000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320 000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Стоимость 1 док-та, ₽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(справочно)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FF5D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9,00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8,40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7,67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7,60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5,70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4,90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3,90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3,65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3,50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3,40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900" b="0" i="0" u="none" strike="noStrike" cap="none">
                          <a:solidFill>
                            <a:srgbClr val="072C57"/>
                          </a:solidFill>
                          <a:latin typeface="Montserrat"/>
                          <a:ea typeface="Manrope"/>
                          <a:cs typeface="Manrope"/>
                        </a:rPr>
                        <a:t>3,20</a:t>
                      </a:r>
                      <a:endParaRPr sz="900" b="0" i="0" u="none" strike="noStrike" cap="none">
                        <a:solidFill>
                          <a:srgbClr val="072C57"/>
                        </a:solidFill>
                        <a:latin typeface="Montserrat"/>
                        <a:ea typeface="Manrope"/>
                        <a:cs typeface="Manrope"/>
                      </a:endParaRPr>
                    </a:p>
                  </a:txBody>
                  <a:tcPr marL="54000" marR="54000" marT="54000" marB="54000" anchor="ctr">
                    <a:lnL w="9525" algn="ctr">
                      <a:solidFill>
                        <a:srgbClr val="7754FF">
                          <a:alpha val="0"/>
                        </a:srgbClr>
                      </a:solidFill>
                    </a:lnL>
                    <a:lnR w="9525" algn="ctr">
                      <a:solidFill>
                        <a:srgbClr val="7754FF">
                          <a:alpha val="0"/>
                        </a:srgbClr>
                      </a:solidFill>
                    </a:lnR>
                    <a:lnT w="9525" algn="ctr">
                      <a:solidFill>
                        <a:srgbClr val="7754FF">
                          <a:alpha val="0"/>
                        </a:srgbClr>
                      </a:solidFill>
                    </a:lnT>
                    <a:lnB w="9525" algn="ctr">
                      <a:solidFill>
                        <a:srgbClr val="7754FF">
                          <a:alpha val="0"/>
                        </a:srgbClr>
                      </a:solidFill>
                    </a:lnB>
                    <a:solidFill>
                      <a:srgbClr val="F1E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8014357" name="Google Shape;249;p24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917" y="0"/>
            <a:ext cx="9167892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6604584" name="Google Shape;250;p24"/>
          <p:cNvGraphicFramePr>
            <a:graphicFrameLocks xmlns:a="http://schemas.openxmlformats.org/drawingml/2006/main"/>
          </p:cNvGraphicFramePr>
          <p:nvPr/>
        </p:nvGraphicFramePr>
        <p:xfrm rot="0">
          <a:off x="1191490" y="1417155"/>
          <a:ext cx="7411275" cy="213009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{44614414-3CAC-4348-9700-D7FD471E328C}</a:tableStyleId>
                <a:noFill/>
              </a:tblPr>
              <a:tblGrid>
                <a:gridCol w="3380500"/>
                <a:gridCol w="4030775"/>
              </a:tblGrid>
              <a:tr h="122585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r>
                        <a:rPr lang="ru" sz="1100">
                          <a:solidFill>
                            <a:srgbClr val="7954F7"/>
                          </a:solidFill>
                          <a:latin typeface="Montserrat"/>
                          <a:ea typeface="Comfortaa SemiBold"/>
                          <a:cs typeface="Comfortaa SemiBold"/>
                        </a:rPr>
                        <a:t>Экономьте деньги</a:t>
                      </a:r>
                      <a:endParaRPr sz="1000">
                        <a:solidFill>
                          <a:srgbClr val="7954F7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endParaRPr sz="1000" i="0" u="none" strike="noStrike" cap="none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Сократите расходы на бумагу, печать, 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курьерские и почтовые услуги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endParaRPr sz="1000" i="0" u="none" strike="noStrike" cap="none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</a:txBody>
                  <a:tcPr marL="63500" marR="63500" marT="63500" marB="63500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r>
                        <a:rPr lang="ru" sz="1100">
                          <a:solidFill>
                            <a:srgbClr val="7954F7"/>
                          </a:solidFill>
                          <a:latin typeface="Montserrat"/>
                          <a:ea typeface="Comfortaa SemiBold"/>
                          <a:cs typeface="Comfortaa SemiBold"/>
                        </a:rPr>
                        <a:t>Экономьте время</a:t>
                      </a:r>
                      <a:endParaRPr sz="1000">
                        <a:solidFill>
                          <a:srgbClr val="7954F7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endParaRPr sz="1000" i="0" u="none" strike="noStrike" cap="none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Подписание и отправка документа 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в Доки займет всего несколько секунд</a:t>
                      </a:r>
                      <a:endParaRPr sz="1000" i="0" u="none" strike="noStrike" cap="none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</a:txBody>
                  <a:tcPr marL="612000" marR="63500" marT="63500" marB="63500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</a:tr>
              <a:tr h="17780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r>
                        <a:rPr lang="ru" sz="1100">
                          <a:solidFill>
                            <a:srgbClr val="7954F7"/>
                          </a:solidFill>
                          <a:latin typeface="Montserrat"/>
                          <a:ea typeface="Comfortaa SemiBold"/>
                          <a:cs typeface="Comfortaa SemiBold"/>
                        </a:rPr>
                        <a:t>Ускорьте получение оплаты </a:t>
                      </a:r>
                      <a:endParaRPr sz="1000">
                        <a:solidFill>
                          <a:srgbClr val="7954F7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endParaRPr sz="1000" i="0" u="none" strike="noStrike" cap="none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Мгновенная доставка документов ускоряет оплату и учет НДС благодаря оперативному обмену закрывающими документами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</a:txBody>
                  <a:tcPr marL="63500" marR="63500" marT="63500" marB="63500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defRPr/>
                      </a:pPr>
                      <a:r>
                        <a:rPr lang="ru" sz="1100" i="0" u="none" strike="noStrike" cap="none">
                          <a:solidFill>
                            <a:srgbClr val="7954F7"/>
                          </a:solidFill>
                          <a:latin typeface="Montserrat"/>
                          <a:ea typeface="Comfortaa SemiBold"/>
                          <a:cs typeface="Comfortaa SemiBold"/>
                        </a:rPr>
                        <a:t>Сделайте документооборот прозрачным</a:t>
                      </a:r>
                      <a:br>
                        <a:rPr lang="ru" sz="1000" i="0" u="none" strike="noStrike" cap="none">
                          <a:solidFill>
                            <a:srgbClr val="7954F7"/>
                          </a:solidFill>
                          <a:latin typeface="Montserrat"/>
                          <a:ea typeface="Comfortaa"/>
                          <a:cs typeface="Comfortaa"/>
                        </a:rPr>
                      </a:br>
                      <a:endParaRPr sz="1000" i="0" u="none" strike="noStrike" cap="none">
                        <a:solidFill>
                          <a:srgbClr val="7954F7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Можно </a:t>
                      </a: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в любой момент </a:t>
                      </a: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посмотреть</a:t>
                      </a: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 статус электронн</a:t>
                      </a: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ого</a:t>
                      </a: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 документ</a:t>
                      </a: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а</a:t>
                      </a: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 и узнать, </a:t>
                      </a: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на каком 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  <a:defRPr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он этапе </a:t>
                      </a:r>
                      <a:r>
                        <a:rPr lang="ru" sz="10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Comfortaa"/>
                          <a:cs typeface="Comfortaa"/>
                        </a:rPr>
                        <a:t>— получен или уже подписан</a:t>
                      </a:r>
                      <a:endParaRPr sz="1000" i="0" u="none" strike="noStrike" cap="none">
                        <a:solidFill>
                          <a:schemeClr val="dk1"/>
                        </a:solidFill>
                        <a:latin typeface="Montserrat"/>
                        <a:ea typeface="Comfortaa"/>
                        <a:cs typeface="Comfortaa"/>
                      </a:endParaRPr>
                    </a:p>
                  </a:txBody>
                  <a:tcPr marL="612000" marR="63500" marT="63500" marB="63500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92635698" name="Google Shape;251;p24"/>
          <p:cNvSpPr txBox="1"/>
          <p:nvPr/>
        </p:nvSpPr>
        <p:spPr bwMode="auto">
          <a:xfrm>
            <a:off x="496600" y="230400"/>
            <a:ext cx="8307300" cy="9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Подключите Доки и оцените преимущества перехода на ЭДО</a:t>
            </a:r>
            <a:endParaRPr sz="23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</a:endParaRPr>
          </a:p>
        </p:txBody>
      </p:sp>
      <p:pic>
        <p:nvPicPr>
          <p:cNvPr id="551893409" name="Google Shape;252;p24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603034" y="1303455"/>
            <a:ext cx="512257" cy="51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1396181" name="Google Shape;253;p24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487757" y="2541409"/>
            <a:ext cx="512257" cy="51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741047" name="Google Shape;254;p24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4487758" y="1303454"/>
            <a:ext cx="512257" cy="51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458163" name="Google Shape;255;p24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603033" y="2541410"/>
            <a:ext cx="512257" cy="512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0894087" name="Google Shape;260;p25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917" y="0"/>
            <a:ext cx="91678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7347670" name="Google Shape;261;p25"/>
          <p:cNvSpPr txBox="1"/>
          <p:nvPr/>
        </p:nvSpPr>
        <p:spPr bwMode="auto">
          <a:xfrm>
            <a:off x="572800" y="230399"/>
            <a:ext cx="8307300" cy="1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3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Доки — это надежно</a:t>
            </a:r>
            <a:br>
              <a:rPr lang="ru" sz="2400" b="1" i="0" u="none" strike="noStrike" cap="non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</a:rPr>
            </a:br>
            <a:endParaRPr sz="2400" b="1" i="0" u="none" strike="noStrike" cap="none">
              <a:solidFill>
                <a:schemeClr val="dk1"/>
              </a:solidFill>
              <a:latin typeface="Manrope ExtraBold"/>
              <a:ea typeface="Manrope ExtraBold"/>
              <a:cs typeface="Manrope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 b="1">
              <a:solidFill>
                <a:schemeClr val="dk1"/>
              </a:solidFill>
              <a:latin typeface="Manrope ExtraBold"/>
              <a:ea typeface="Manrope ExtraBold"/>
              <a:cs typeface="Manrope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6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Разработчик Доки — группа компаний Астрал, 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6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</a:rPr>
              <a:t>надежный поставщик решений для бизнеса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 b="1" i="0" u="none" strike="noStrike" cap="none">
              <a:solidFill>
                <a:schemeClr val="dk1"/>
              </a:solidFill>
              <a:latin typeface="Manrope ExtraBold"/>
              <a:ea typeface="Manrope ExtraBold"/>
              <a:cs typeface="Manrope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 b="1" i="0" u="none" strike="noStrike" cap="none">
              <a:solidFill>
                <a:schemeClr val="dk1"/>
              </a:solidFill>
              <a:latin typeface="Manrope ExtraBold"/>
              <a:ea typeface="Manrope ExtraBold"/>
              <a:cs typeface="Manrope ExtraBold"/>
            </a:endParaRPr>
          </a:p>
        </p:txBody>
      </p:sp>
      <p:sp>
        <p:nvSpPr>
          <p:cNvPr id="1779599859" name="Google Shape;262;p25"/>
          <p:cNvSpPr txBox="1"/>
          <p:nvPr/>
        </p:nvSpPr>
        <p:spPr bwMode="auto">
          <a:xfrm>
            <a:off x="3644138" y="3096400"/>
            <a:ext cx="16821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создаем и развиваем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экосистему сервисов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для бизнеса</a:t>
            </a:r>
            <a:endParaRPr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103223594" name="Google Shape;263;p25"/>
          <p:cNvSpPr txBox="1"/>
          <p:nvPr/>
        </p:nvSpPr>
        <p:spPr bwMode="auto">
          <a:xfrm>
            <a:off x="5820275" y="3095025"/>
            <a:ext cx="24396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для бизнеса 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(ЭДО, Отчетность,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ОФД, подписи и др.)</a:t>
            </a:r>
            <a:endParaRPr>
              <a:solidFill>
                <a:schemeClr val="dk1"/>
              </a:solidFill>
              <a:latin typeface="Montserrat"/>
            </a:endParaRPr>
          </a:p>
        </p:txBody>
      </p:sp>
      <p:pic>
        <p:nvPicPr>
          <p:cNvPr id="575606074" name="Google Shape;264;p25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7094483" y="-856924"/>
            <a:ext cx="3848643" cy="384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547183335" name="Google Shape;265;p25"/>
          <p:cNvSpPr txBox="1"/>
          <p:nvPr/>
        </p:nvSpPr>
        <p:spPr bwMode="auto">
          <a:xfrm>
            <a:off x="572800" y="3096400"/>
            <a:ext cx="2415225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000">
                <a:solidFill>
                  <a:schemeClr val="dk1"/>
                </a:solidFill>
                <a:latin typeface="Montserrat"/>
                <a:ea typeface="Comfortaa"/>
                <a:cs typeface="Comfortaa"/>
              </a:rPr>
              <a:t>а также электронной отчетности, ЭПД, МЧД, аккредитованный удостоверяющий центр</a:t>
            </a:r>
            <a:endParaRPr sz="10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</p:txBody>
      </p:sp>
      <p:pic>
        <p:nvPicPr>
          <p:cNvPr id="325549528" name="Google Shape;266;p25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5820275" y="486686"/>
            <a:ext cx="1973129" cy="1973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181541" name="Google Shape;267;p25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6613709" y="387829"/>
            <a:ext cx="1682180" cy="2170829"/>
          </a:xfrm>
          <a:prstGeom prst="rect">
            <a:avLst/>
          </a:prstGeom>
          <a:noFill/>
          <a:ln>
            <a:noFill/>
          </a:ln>
        </p:spPr>
      </p:pic>
      <p:sp>
        <p:nvSpPr>
          <p:cNvPr id="395729499" name="Google Shape;268;p25"/>
          <p:cNvSpPr/>
          <p:nvPr/>
        </p:nvSpPr>
        <p:spPr bwMode="auto">
          <a:xfrm>
            <a:off x="587725" y="2741324"/>
            <a:ext cx="2439600" cy="338100"/>
          </a:xfrm>
          <a:prstGeom prst="roundRect">
            <a:avLst>
              <a:gd name="adj" fmla="val 50000"/>
            </a:avLst>
          </a:prstGeom>
          <a:solidFill>
            <a:srgbClr val="745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100">
                <a:solidFill>
                  <a:srgbClr val="FFFFFF"/>
                </a:solidFill>
                <a:latin typeface="Montserrat"/>
                <a:ea typeface="Comfortaa SemiBold"/>
                <a:cs typeface="Comfortaa SemiBold"/>
              </a:rPr>
              <a:t>Надежный оператор ЭДО</a:t>
            </a:r>
            <a:endParaRPr sz="13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819481358" name="Google Shape;269;p25"/>
          <p:cNvSpPr/>
          <p:nvPr/>
        </p:nvSpPr>
        <p:spPr bwMode="auto">
          <a:xfrm>
            <a:off x="3206513" y="2758300"/>
            <a:ext cx="2439600" cy="338100"/>
          </a:xfrm>
          <a:prstGeom prst="roundRect">
            <a:avLst>
              <a:gd name="adj" fmla="val 50000"/>
            </a:avLst>
          </a:prstGeom>
          <a:solidFill>
            <a:srgbClr val="745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100">
                <a:solidFill>
                  <a:srgbClr val="FFFFFF"/>
                </a:solidFill>
                <a:latin typeface="Montserrat"/>
                <a:ea typeface="Comfortaa SemiBold"/>
                <a:cs typeface="Comfortaa SemiBold"/>
              </a:rPr>
              <a:t>Более 20 лет</a:t>
            </a:r>
            <a:endParaRPr sz="13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8514332" name="Google Shape;270;p25"/>
          <p:cNvSpPr/>
          <p:nvPr/>
        </p:nvSpPr>
        <p:spPr bwMode="auto">
          <a:xfrm>
            <a:off x="5825300" y="2758300"/>
            <a:ext cx="2439600" cy="338100"/>
          </a:xfrm>
          <a:prstGeom prst="roundRect">
            <a:avLst>
              <a:gd name="adj" fmla="val 50000"/>
            </a:avLst>
          </a:prstGeom>
          <a:solidFill>
            <a:srgbClr val="745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100">
                <a:solidFill>
                  <a:srgbClr val="FFFFFF"/>
                </a:solidFill>
                <a:latin typeface="Montserrat"/>
                <a:ea typeface="Comfortaa SemiBold"/>
                <a:cs typeface="Comfortaa SemiBold"/>
              </a:rPr>
              <a:t>50+ продуктов и услуг</a:t>
            </a:r>
            <a:endParaRPr sz="1100">
              <a:solidFill>
                <a:srgbClr val="FFFFFF"/>
              </a:solidFill>
              <a:latin typeface="Montserrat"/>
              <a:ea typeface="Comfortaa SemiBold"/>
              <a:cs typeface="Comfortaa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1797101" name="Google Shape;275;p26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000" y="-5700"/>
            <a:ext cx="9177999" cy="514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4165919" name="Google Shape;276;p26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6623145" y="-946724"/>
            <a:ext cx="3848643" cy="384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9465582" name="Google Shape;277;p26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863350" y="61513"/>
            <a:ext cx="4689926" cy="468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897530" name="Google Shape;278;p26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4516950" y="649437"/>
            <a:ext cx="3688826" cy="38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831407383" name="Google Shape;279;p26"/>
          <p:cNvSpPr txBox="1"/>
          <p:nvPr/>
        </p:nvSpPr>
        <p:spPr bwMode="auto">
          <a:xfrm>
            <a:off x="420400" y="458101"/>
            <a:ext cx="8307300" cy="1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500" b="0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Хотите познакомиться </a:t>
            </a:r>
            <a:endParaRPr sz="2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500" b="0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с Доки поближе?</a:t>
            </a:r>
            <a:endParaRPr sz="2500" b="1" i="0" u="none" strike="noStrike" cap="none">
              <a:solidFill>
                <a:schemeClr val="lt1"/>
              </a:solidFill>
              <a:latin typeface="Manrope ExtraBold"/>
              <a:ea typeface="Manrope ExtraBold"/>
              <a:cs typeface="Manrope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500" b="1" i="0" u="none" strike="noStrike" cap="none">
              <a:solidFill>
                <a:schemeClr val="lt1"/>
              </a:solidFill>
              <a:latin typeface="Manrope ExtraBold"/>
              <a:ea typeface="Manrope ExtraBold"/>
              <a:cs typeface="Manrope ExtraBold"/>
            </a:endParaRPr>
          </a:p>
        </p:txBody>
      </p:sp>
      <p:sp>
        <p:nvSpPr>
          <p:cNvPr id="393061083" name="Google Shape;280;p26"/>
          <p:cNvSpPr/>
          <p:nvPr/>
        </p:nvSpPr>
        <p:spPr bwMode="auto">
          <a:xfrm>
            <a:off x="476450" y="2571360"/>
            <a:ext cx="1402200" cy="340200"/>
          </a:xfrm>
          <a:prstGeom prst="roundRect">
            <a:avLst>
              <a:gd name="adj" fmla="val 44902"/>
            </a:avLst>
          </a:prstGeom>
          <a:solidFill>
            <a:srgbClr val="FC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ru" sz="1100" i="0" u="sng" strike="noStrike" cap="none">
                <a:solidFill>
                  <a:srgbClr val="7954F7"/>
                </a:solidFill>
                <a:latin typeface="Montserrat"/>
                <a:ea typeface="Comfortaa Medium"/>
                <a:cs typeface="Comfortaa Medium"/>
                <a:hlinkClick r:id="rId7" tooltip=""/>
              </a:rPr>
              <a:t>Открыть</a:t>
            </a:r>
            <a:endParaRPr sz="1100" i="0" u="none" strike="noStrike" cap="none">
              <a:solidFill>
                <a:srgbClr val="7954F7"/>
              </a:solidFill>
              <a:latin typeface="Montserrat"/>
              <a:ea typeface="Comfortaa Medium"/>
              <a:cs typeface="Comfortaa Medium"/>
            </a:endParaRPr>
          </a:p>
        </p:txBody>
      </p:sp>
      <p:sp>
        <p:nvSpPr>
          <p:cNvPr id="811285989" name="Google Shape;281;p26"/>
          <p:cNvSpPr txBox="1"/>
          <p:nvPr/>
        </p:nvSpPr>
        <p:spPr bwMode="auto">
          <a:xfrm>
            <a:off x="420400" y="1655275"/>
            <a:ext cx="4614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" sz="12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Попробуйте наши интерактивные тренажеры:</a:t>
            </a:r>
            <a:br>
              <a:rPr lang="ru" sz="1200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</a:br>
            <a:r>
              <a:rPr lang="ru" sz="12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это кликабельные прототипы с подсказками </a:t>
            </a:r>
            <a:endParaRPr sz="1200">
              <a:latin typeface="Montserrat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" sz="1200" i="0" u="none" strike="noStrike" cap="none">
                <a:solidFill>
                  <a:schemeClr val="lt1"/>
                </a:solidFill>
                <a:latin typeface="Montserrat"/>
                <a:ea typeface="Comfortaa"/>
                <a:cs typeface="Comfortaa"/>
              </a:rPr>
              <a:t>для знакомства с интерфейсом и ключевыми функциями Доки до его установки</a:t>
            </a:r>
            <a:endParaRPr sz="1200">
              <a:latin typeface="Montserrat"/>
              <a:ea typeface="Comfortaa"/>
              <a:cs typeface="Comfortaa"/>
            </a:endParaRPr>
          </a:p>
        </p:txBody>
      </p:sp>
      <p:pic>
        <p:nvPicPr>
          <p:cNvPr id="621705935" name="Google Shape;282;p26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476451" y="2996650"/>
            <a:ext cx="1402200" cy="1371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8429065" name="Google Shape;287;p27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7000" y="-5700"/>
            <a:ext cx="9177999" cy="514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860060" name="Google Shape;288;p27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6684808" y="-380598"/>
            <a:ext cx="3848643" cy="384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620388" name="Google Shape;289;p27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-2785625" y="2425199"/>
            <a:ext cx="7071689" cy="1891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3618883" name="Google Shape;290;p27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4331977" y="404750"/>
            <a:ext cx="4287676" cy="4229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4677600" name="Google Shape;291;p27"/>
          <p:cNvSpPr txBox="1"/>
          <p:nvPr/>
        </p:nvSpPr>
        <p:spPr bwMode="auto">
          <a:xfrm>
            <a:off x="542976" y="1090675"/>
            <a:ext cx="38487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Переходите на </a:t>
            </a:r>
            <a:r>
              <a:rPr lang="ru" sz="2300" b="1" i="0" u="none" strike="noStrike" cap="none">
                <a:solidFill>
                  <a:srgbClr val="FCC609"/>
                </a:solidFill>
                <a:latin typeface="Comfortaa"/>
                <a:ea typeface="Comfortaa"/>
                <a:cs typeface="Comfortaa"/>
              </a:rPr>
              <a:t>Доки</a:t>
            </a:r>
            <a:endParaRPr b="1">
              <a:solidFill>
                <a:srgbClr val="FCC609"/>
              </a:solidFill>
              <a:latin typeface="Comfortaa"/>
              <a:ea typeface="Comfortaa"/>
              <a:cs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/>
            </a:pPr>
            <a:r>
              <a:rPr lang="ru" sz="23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прямо сейчас</a:t>
            </a:r>
            <a:r>
              <a:rPr lang="ru" sz="2300" b="1">
                <a:solidFill>
                  <a:schemeClr val="lt1"/>
                </a:solidFill>
                <a:latin typeface="Comfortaa"/>
                <a:ea typeface="Comfortaa"/>
                <a:cs typeface="Comfortaa"/>
              </a:rPr>
              <a:t>!</a:t>
            </a:r>
            <a:endParaRPr sz="2300" b="1">
              <a:solidFill>
                <a:schemeClr val="lt1"/>
              </a:solidFill>
              <a:latin typeface="Comfortaa"/>
              <a:ea typeface="Comfortaa"/>
              <a:cs typeface="Comfortaa"/>
            </a:endParaRPr>
          </a:p>
        </p:txBody>
      </p:sp>
      <p:sp>
        <p:nvSpPr>
          <p:cNvPr id="1039020361" name="Google Shape;292;p27"/>
          <p:cNvSpPr txBox="1"/>
          <p:nvPr/>
        </p:nvSpPr>
        <p:spPr bwMode="auto">
          <a:xfrm>
            <a:off x="542976" y="2641074"/>
            <a:ext cx="3848700" cy="148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300">
                <a:solidFill>
                  <a:schemeClr val="dk1"/>
                </a:solidFill>
                <a:latin typeface="Montserrat"/>
                <a:ea typeface="Comfortaa Medium"/>
                <a:cs typeface="Comfortaa Medium"/>
              </a:rPr>
              <a:t>Для подключения сервиса обратитесь </a:t>
            </a:r>
            <a:endParaRPr sz="1300">
              <a:solidFill>
                <a:schemeClr val="dk1"/>
              </a:solidFill>
              <a:latin typeface="Montserrat"/>
              <a:ea typeface="Comfortaa Medium"/>
              <a:cs typeface="Comfortaa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defRPr/>
            </a:pPr>
            <a:r>
              <a:rPr lang="ru" sz="1300">
                <a:solidFill>
                  <a:schemeClr val="dk1"/>
                </a:solidFill>
                <a:latin typeface="Montserrat"/>
                <a:ea typeface="Comfortaa Medium"/>
                <a:cs typeface="Comfortaa Medium"/>
              </a:rPr>
              <a:t>в вашу обслуживающую организацию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defRPr/>
            </a:pPr>
            <a:endParaRPr lang="ru" sz="1300">
              <a:solidFill>
                <a:schemeClr val="dk1"/>
              </a:solidFill>
              <a:latin typeface="Montserrat"/>
              <a:ea typeface="Comfortaa"/>
              <a:cs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300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Ваш менеджер: </a:t>
            </a:r>
            <a:r>
              <a:rPr lang="ru-RU" sz="1300" b="1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Юнусова Юлиана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300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Email:</a:t>
            </a:r>
            <a:r>
              <a:rPr lang="ru-RU" sz="1300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 </a:t>
            </a:r>
            <a:r>
              <a:rPr lang="en-US" sz="1300" b="1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yuyunusova@forus.ru</a:t>
            </a:r>
            <a:endParaRPr lang="en-GB" sz="1300" b="1">
              <a:solidFill>
                <a:schemeClr val="dk1"/>
              </a:solidFill>
              <a:latin typeface="Montserrat"/>
              <a:ea typeface="Montserrat Medium"/>
              <a:cs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-RU" sz="1300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Телефон: </a:t>
            </a:r>
            <a:r>
              <a:rPr lang="en-US" sz="1300" b="1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+7 3952 78-00-00 </a:t>
            </a:r>
            <a:r>
              <a:rPr lang="ru-RU" sz="1300" b="1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доб</a:t>
            </a:r>
            <a:r>
              <a:rPr lang="en-US" sz="1300" b="1">
                <a:solidFill>
                  <a:schemeClr val="dk1"/>
                </a:solidFill>
                <a:latin typeface="Montserrat"/>
                <a:ea typeface="Montserrat Medium"/>
                <a:cs typeface="Montserrat Medium"/>
              </a:rPr>
              <a:t> 8200</a:t>
            </a:r>
            <a:endParaRPr lang="ru-RU" sz="1300" b="1">
              <a:solidFill>
                <a:schemeClr val="dk1"/>
              </a:solidFill>
              <a:latin typeface="Montserrat"/>
              <a:ea typeface="Montserrat Medium"/>
              <a:cs typeface="Montserrat Medium"/>
            </a:endParaRPr>
          </a:p>
        </p:txBody>
      </p:sp>
      <p:pic>
        <p:nvPicPr>
          <p:cNvPr id="382597837" name="Google Shape;294;p27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5106090" y="3500350"/>
            <a:ext cx="3467650" cy="925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onlyoffice/9.2.1.1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Юнусова Юлиана</dc:creator>
  <cp:lastModifiedBy>Юнусова Юлиана Семеновна</cp:lastModifiedBy>
  <cp:revision>10</cp:revision>
  <dcterms:modified xsi:type="dcterms:W3CDTF">2026-08-05T09:26:28Z</dcterms:modified>
</cp:coreProperties>
</file>