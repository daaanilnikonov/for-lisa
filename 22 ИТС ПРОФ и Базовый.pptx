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59" r:id="rId4"/>
    <p:sldId id="260" r:id="rId5"/>
    <p:sldId id="285" r:id="rId6"/>
    <p:sldId id="293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292" r:id="rId16"/>
    <p:sldId id="282" r:id="rId17"/>
    <p:sldId id="313" r:id="rId18"/>
    <p:sldId id="265" r:id="rId19"/>
    <p:sldId id="314" r:id="rId20"/>
    <p:sldId id="315" r:id="rId21"/>
    <p:sldId id="280" r:id="rId22"/>
    <p:sldId id="301" r:id="rId23"/>
    <p:sldId id="275" r:id="rId24"/>
    <p:sldId id="27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типина Алина" initials="АА" lastIdx="4" clrIdx="0">
    <p:extLst>
      <p:ext uri="{19B8F6BF-5375-455C-9EA6-DF929625EA0E}">
        <p15:presenceInfo xmlns:p15="http://schemas.microsoft.com/office/powerpoint/2012/main" userId="S-1-5-21-1343024091-1202660629-1606980848-42248" providerId="AD"/>
      </p:ext>
    </p:extLst>
  </p:cmAuthor>
  <p:cmAuthor id="2" name="Дворяк Александра" initials="ДА" lastIdx="7" clrIdx="1">
    <p:extLst>
      <p:ext uri="{19B8F6BF-5375-455C-9EA6-DF929625EA0E}">
        <p15:presenceInfo xmlns:p15="http://schemas.microsoft.com/office/powerpoint/2012/main" userId="S::ADvoryak@forus.ru::300ba6f5-b950-4b17-a088-2056938093f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5F2"/>
    <a:srgbClr val="FFF7E6"/>
    <a:srgbClr val="F2F1F8"/>
    <a:srgbClr val="F0F5F9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964" autoAdjust="0"/>
  </p:normalViewPr>
  <p:slideViewPr>
    <p:cSldViewPr snapToGrid="0">
      <p:cViewPr>
        <p:scale>
          <a:sx n="100" d="100"/>
          <a:sy n="100" d="100"/>
        </p:scale>
        <p:origin x="7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9D9F8A2-2BBE-444A-93C0-6690B000B1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A8C93B-77E9-4242-869D-5DC87F27F5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CE08F-693C-40DE-BF27-8857DCE167B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AA4DB5-2587-41F5-8866-CC181A67EB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992318-D0B9-4E48-9435-99C03812AB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56B4A-5C5C-4533-A7E9-7AAB47CE5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817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2EA54-E326-4041-8A7C-57561D637231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1AA01-EE7D-4714-A3C3-235D544C0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17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7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818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930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945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21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9F46A2-5809-EB62-6F6B-8EA61A2148C0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2048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85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04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DD03-1EF9-E0FF-9780-5E39A9A2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628AE98-D1A9-E83B-E1DC-FBB6DAEE9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7F037C0-2ACC-C5A8-5AA6-438FD8EFE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3C84FC-25FC-D4CE-7653-F60C2405E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978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432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Сделать слайд чего клиенту может не хватить в базовом: сервисов – надо докупать, часы консультаций. сделать файл с расчетом, где купил базовый, а потом докупил сервисы (ЭДО, контрагент) и часы </a:t>
            </a:r>
            <a:r>
              <a:rPr lang="ru-RU" dirty="0" err="1"/>
              <a:t>коснультации</a:t>
            </a:r>
            <a:r>
              <a:rPr lang="ru-RU" dirty="0"/>
              <a:t> – сделать сравнение, а что было бы, если бы он сразу купил тариф </a:t>
            </a:r>
            <a:r>
              <a:rPr lang="ru-RU" dirty="0" err="1"/>
              <a:t>проф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9F46A2-5809-EB62-6F6B-8EA61A2148C0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9F46A2-5809-EB62-6F6B-8EA61A2148C0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0450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7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E52BD4-C712-E46A-BA90-FFD3815E7D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55" y="5968180"/>
            <a:ext cx="1164321" cy="412946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0BEE8F9-ABA1-D4AE-0D69-FE2848DCB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98298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A28BEC7-544E-4025-F0A7-30A7F3FAC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602038"/>
            <a:ext cx="98298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211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A7B331-CA26-9D0F-1D01-419A03F9F1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55" y="5968180"/>
            <a:ext cx="1164321" cy="41294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FBB793-7B69-10ED-191B-204200373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98298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349DCE5-4D0B-E28E-2657-4CD119501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602038"/>
            <a:ext cx="98298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9617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A7B331-CA26-9D0F-1D01-419A03F9F1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55" y="5968180"/>
            <a:ext cx="1164321" cy="41294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FBB793-7B69-10ED-191B-204200373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98298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349DCE5-4D0B-E28E-2657-4CD119501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602038"/>
            <a:ext cx="98298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80405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бъект 2">
            <a:extLst>
              <a:ext uri="{FF2B5EF4-FFF2-40B4-BE49-F238E27FC236}">
                <a16:creationId xmlns:a16="http://schemas.microsoft.com/office/drawing/2014/main" id="{83356922-D05E-3B37-9715-CAA55CE29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6B1B9B58-60EF-F684-A747-79C344EFA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7445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EC11C27F-72D5-5A56-15DE-07382E8B6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22D45EC-390E-AAEE-CBD1-DA709503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3760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BA2AD5A9-CA2D-5BDC-3A84-C7102B064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241256A-7FAA-3B8E-76E6-06324703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9684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79D4D8CE-ECAF-4CF6-BC4D-6C709FEF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1291D9F-FED0-54A0-BAC3-3F5DD3D5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1441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0BDEDDC0-A0C9-4878-CD28-C8067142E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1D172CA-358A-C2A0-7F3E-D67B5690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3315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DA68190F-2375-B2E9-9E95-8C348C6FC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149592B-515A-76C8-288B-178CDF10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325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ADBF5DE5-7278-FDDD-DD3A-8BA01FCAD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EE9D964-D224-DFCB-2F81-4EAB3F90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8860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81040EB4-C71B-7CC9-5404-8DA45197E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90A41D7-0539-AAD8-6A58-433736B9F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54512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79301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9025A71-2EE6-CDDD-20B4-07A338DD50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7370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9025A71-2EE6-CDDD-20B4-07A338DD50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rgbClr val="F0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26341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9025A71-2EE6-CDDD-20B4-07A338DD50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rgbClr val="F2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7866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9025A71-2EE6-CDDD-20B4-07A338DD50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rgbClr val="E9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1287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457715D-FB3F-6F26-D85B-515DEEA8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298487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F765FCB-3EA3-008C-2D37-2C2B9745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5852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6AA9FD2-99C3-F22E-7274-A3B58C18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43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A8E095C-ABE2-6070-5E2A-4322413C3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159706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F2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A067A16-065F-4868-A31A-F7747ACE4311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FD9A14E9-0EF1-4399-B1CD-0BD049825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6660729-DEA9-47A5-830C-AEF7A6B1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11984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solidFill>
          <a:srgbClr val="E9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F4A02F7-6681-40E2-8302-19DB30EB2F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525A3E8-0883-4163-B3DE-76251232A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03598A-67B9-4310-9E71-B38C6A4F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672317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1368614-C91C-4759-8B7A-4995DECE055E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A14C0AE-AC9D-467E-A923-9AD076CD0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9F50580-C85F-416D-B151-34E03749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092496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224FDAE-08C4-42C9-97D3-8111D5F90ED6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7A357F2-E01D-4472-8FC5-66DC17203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5CA3A9B-1C3A-4370-A13E-919E91DA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246613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71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951CE-2D25-9FFB-0107-0B7D24BA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38B776-54C8-246C-6744-B3C0A903A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52D969-7547-6E3C-E6A7-9AA932255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82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CF24DCFE-9351-4CF2-9E75-D1F1B05DA29E}" type="datetimeFigureOut">
              <a:rPr lang="ru-RU" smtClean="0"/>
              <a:pPr/>
              <a:t>20.08.2026</a:t>
            </a:fld>
            <a:endParaRPr lang="ru-RU" sz="110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8FE1FC-5153-1591-4E0D-D865005F4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82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ru-RU" sz="110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6EAD03-A57F-6B01-F4F4-C03F43FCA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82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D3B242F3-1981-41BA-AF38-4F45D628B96F}" type="slidenum">
              <a:rPr lang="ru-RU" smtClean="0"/>
              <a:pPr/>
              <a:t>‹#›</a:t>
            </a:fld>
            <a:endParaRPr lang="ru-RU" sz="1100"/>
          </a:p>
        </p:txBody>
      </p:sp>
    </p:spTree>
    <p:extLst>
      <p:ext uri="{BB962C8B-B14F-4D97-AF65-F5344CB8AC3E}">
        <p14:creationId xmlns:p14="http://schemas.microsoft.com/office/powerpoint/2010/main" val="222430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83" r:id="rId3"/>
    <p:sldLayoutId id="2147483650" r:id="rId4"/>
    <p:sldLayoutId id="2147483673" r:id="rId5"/>
    <p:sldLayoutId id="2147483670" r:id="rId6"/>
    <p:sldLayoutId id="2147483671" r:id="rId7"/>
    <p:sldLayoutId id="2147483672" r:id="rId8"/>
    <p:sldLayoutId id="2147483669" r:id="rId9"/>
    <p:sldLayoutId id="2147483661" r:id="rId10"/>
    <p:sldLayoutId id="2147483662" r:id="rId11"/>
    <p:sldLayoutId id="2147483663" r:id="rId12"/>
    <p:sldLayoutId id="2147483674" r:id="rId13"/>
    <p:sldLayoutId id="2147483675" r:id="rId14"/>
    <p:sldLayoutId id="2147483676" r:id="rId15"/>
    <p:sldLayoutId id="2147483677" r:id="rId16"/>
    <p:sldLayoutId id="2147483665" r:id="rId17"/>
    <p:sldLayoutId id="2147483666" r:id="rId18"/>
    <p:sldLayoutId id="2147483667" r:id="rId19"/>
    <p:sldLayoutId id="2147483668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its.1c.ru/" TargetMode="Externa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5378357-44BA-712F-393A-2D769555B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974" y="4474787"/>
            <a:ext cx="1632866" cy="15753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C32867-1EAC-2BD0-5537-E28A95F74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2967">
            <a:off x="9040531" y="1034172"/>
            <a:ext cx="2193337" cy="172880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3BFC7-B825-FBD7-B68E-E91DD0FCF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94813"/>
            <a:ext cx="98298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5000" b="1" dirty="0"/>
              <a:t>Тарифы 1С:КП </a:t>
            </a:r>
            <a:br>
              <a:rPr lang="ru-RU" sz="5000" b="1" dirty="0"/>
            </a:br>
            <a:r>
              <a:rPr lang="ru-RU" sz="5000" b="1" dirty="0"/>
              <a:t>ПРОФ и Базовый</a:t>
            </a:r>
          </a:p>
        </p:txBody>
      </p:sp>
      <p:sp>
        <p:nvSpPr>
          <p:cNvPr id="8" name="Подзаголовок 4">
            <a:extLst>
              <a:ext uri="{FF2B5EF4-FFF2-40B4-BE49-F238E27FC236}">
                <a16:creationId xmlns:a16="http://schemas.microsoft.com/office/drawing/2014/main" id="{8989A37F-02F5-F595-A47B-2949575DC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026938"/>
            <a:ext cx="5781675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dirty="0"/>
              <a:t>Алина Антипина</a:t>
            </a:r>
            <a:br>
              <a:rPr lang="ru-RU" dirty="0"/>
            </a:br>
            <a:r>
              <a:rPr lang="ru-RU" dirty="0"/>
              <a:t>Ведущий менеджер отдела продаж 1С и ИТС. Коммерция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61EEE7-AFA7-60ED-7025-A8433D029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897" y="1596179"/>
            <a:ext cx="4152951" cy="40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9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8179-0BC4-0C1E-A47D-CA3F9BCF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ACB14A2-6E81-4B9C-88E3-0EBF093E5C24}"/>
              </a:ext>
            </a:extLst>
          </p:cNvPr>
          <p:cNvSpPr/>
          <p:nvPr/>
        </p:nvSpPr>
        <p:spPr>
          <a:xfrm>
            <a:off x="685800" y="4545336"/>
            <a:ext cx="4016829" cy="711200"/>
          </a:xfrm>
          <a:prstGeom prst="roundRect">
            <a:avLst>
              <a:gd name="adj" fmla="val 165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Базовый</a:t>
            </a:r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EDDB0ED-D221-4723-AF1F-FABCCD358E8E}"/>
              </a:ext>
            </a:extLst>
          </p:cNvPr>
          <p:cNvSpPr/>
          <p:nvPr/>
        </p:nvSpPr>
        <p:spPr>
          <a:xfrm>
            <a:off x="685800" y="3706218"/>
            <a:ext cx="4016829" cy="711200"/>
          </a:xfrm>
          <a:prstGeom prst="roundRect">
            <a:avLst>
              <a:gd name="adj" fmla="val 138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4D1412-B667-126C-20A1-805B211D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структура </a:t>
            </a:r>
            <a:br>
              <a:rPr lang="ru-RU" b="1" dirty="0"/>
            </a:br>
            <a:r>
              <a:rPr lang="ru-RU" b="1" dirty="0"/>
              <a:t>обучения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DD35B-2F07-D63A-B848-232671525B18}"/>
              </a:ext>
            </a:extLst>
          </p:cNvPr>
          <p:cNvSpPr txBox="1"/>
          <p:nvPr/>
        </p:nvSpPr>
        <p:spPr>
          <a:xfrm>
            <a:off x="685801" y="1931095"/>
            <a:ext cx="441795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Цель</a:t>
            </a:r>
          </a:p>
          <a:p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Ознакомление с тарифами 1С:КП ПРОФ/Базовый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8A797-AAEB-2ADB-DD65-4FB9FB575F56}"/>
              </a:ext>
            </a:extLst>
          </p:cNvPr>
          <p:cNvSpPr txBox="1"/>
          <p:nvPr/>
        </p:nvSpPr>
        <p:spPr>
          <a:xfrm>
            <a:off x="685800" y="3157359"/>
            <a:ext cx="1876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Структура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F7B486-BAD4-CD92-C716-69D19C35A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050" y="530339"/>
            <a:ext cx="2326184" cy="140523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3BE4BEE-7FB1-8E39-9619-4F9303561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 rot="21011249">
            <a:off x="5438813" y="166197"/>
            <a:ext cx="2133522" cy="21335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EEAFAF-ABA8-B843-A365-D0D37935D263}"/>
              </a:ext>
            </a:extLst>
          </p:cNvPr>
          <p:cNvSpPr txBox="1"/>
          <p:nvPr/>
        </p:nvSpPr>
        <p:spPr>
          <a:xfrm>
            <a:off x="719504" y="4700881"/>
            <a:ext cx="43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ova" panose="020B0504020202020204" pitchFamily="34" charset="0"/>
                <a:cs typeface="Aharoni" panose="020F0502020204030204" pitchFamily="2" charset="-79"/>
              </a:rPr>
              <a:t>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FE0152-727B-9EF5-2C77-6276E63BECEF}"/>
              </a:ext>
            </a:extLst>
          </p:cNvPr>
          <p:cNvSpPr txBox="1"/>
          <p:nvPr/>
        </p:nvSpPr>
        <p:spPr>
          <a:xfrm>
            <a:off x="723900" y="3867735"/>
            <a:ext cx="43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ova" panose="020B0504020202020204" pitchFamily="34" charset="0"/>
                <a:cs typeface="Aharoni" panose="020F0502020204030204" pitchFamily="2" charset="-79"/>
              </a:rPr>
              <a:t>1)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46A44F0-9CD7-4018-A782-34BBEBEEEE84}"/>
              </a:ext>
            </a:extLst>
          </p:cNvPr>
          <p:cNvSpPr/>
          <p:nvPr/>
        </p:nvSpPr>
        <p:spPr>
          <a:xfrm>
            <a:off x="685800" y="5378482"/>
            <a:ext cx="4016829" cy="711200"/>
          </a:xfrm>
          <a:prstGeom prst="roundRect">
            <a:avLst>
              <a:gd name="adj" fmla="val 138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Сравнение тарифов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E6090-5BAA-4BAF-99AF-F62201B88641}"/>
              </a:ext>
            </a:extLst>
          </p:cNvPr>
          <p:cNvSpPr txBox="1"/>
          <p:nvPr/>
        </p:nvSpPr>
        <p:spPr>
          <a:xfrm>
            <a:off x="719504" y="5567626"/>
            <a:ext cx="43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ova" panose="020B0504020202020204" pitchFamily="34" charset="0"/>
                <a:cs typeface="Aharoni" panose="020F0502020204030204" pitchFamily="2" charset="-79"/>
              </a:rPr>
              <a:t>3)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8D08A9E-730E-A51C-0C95-B5F05A4EA84F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13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2B9CD00-EEE4-13B2-8D41-1EAC29CCE2DF}"/>
              </a:ext>
            </a:extLst>
          </p:cNvPr>
          <p:cNvSpPr/>
          <p:nvPr/>
        </p:nvSpPr>
        <p:spPr>
          <a:xfrm>
            <a:off x="688227" y="675507"/>
            <a:ext cx="2019804" cy="334409"/>
          </a:xfrm>
          <a:prstGeom prst="roundRect">
            <a:avLst>
              <a:gd name="adj" fmla="val 50000"/>
            </a:avLst>
          </a:prstGeom>
          <a:solidFill>
            <a:srgbClr val="F2F1F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Предыдущий урок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1224317-9BDB-45B6-99C6-7D1E36DD22D6}"/>
              </a:ext>
            </a:extLst>
          </p:cNvPr>
          <p:cNvSpPr/>
          <p:nvPr/>
        </p:nvSpPr>
        <p:spPr>
          <a:xfrm>
            <a:off x="699685" y="2367612"/>
            <a:ext cx="5941437" cy="1650465"/>
          </a:xfrm>
          <a:prstGeom prst="roundRect">
            <a:avLst>
              <a:gd name="adj" fmla="val 8803"/>
            </a:avLst>
          </a:prstGeom>
          <a:solidFill>
            <a:srgbClr val="F2F1F8"/>
          </a:solidFill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Самые часто используемые виды тарифов: </a:t>
            </a:r>
            <a:br>
              <a:rPr lang="ru-RU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1С:КП ПРОФ и 1С:КП Базовый</a:t>
            </a:r>
          </a:p>
          <a:p>
            <a:endParaRPr lang="ru-RU" sz="16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Закрывают базовые потребности бизнеса </a:t>
            </a:r>
            <a:b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 консультационной и технической поддержке.</a:t>
            </a:r>
          </a:p>
        </p:txBody>
      </p:sp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D5D462DA-B793-42C0-9EE7-CE6E2CD7B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27" y="1033373"/>
            <a:ext cx="6629400" cy="64633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Договор 1С:КП </a:t>
            </a:r>
            <a:endParaRPr lang="ru-RU" sz="1800" b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8CDDE9-B2CC-4175-9479-B40782F748EB}"/>
              </a:ext>
            </a:extLst>
          </p:cNvPr>
          <p:cNvSpPr txBox="1"/>
          <p:nvPr/>
        </p:nvSpPr>
        <p:spPr>
          <a:xfrm>
            <a:off x="699685" y="4213470"/>
            <a:ext cx="57853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500"/>
              </a:spcBef>
              <a:tabLst>
                <a:tab pos="457200" algn="l"/>
              </a:tabLst>
            </a:pPr>
            <a:r>
              <a:rPr lang="ru-RU" sz="160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Чтобы уверенно отвечать клиенту и не ошибиться </a:t>
            </a:r>
            <a:br>
              <a:rPr lang="ru-RU" sz="160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 рекомендацией, нужно чётко понимать: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DEA85-A9DB-A4C0-7856-DD7F89E8B4E3}"/>
              </a:ext>
            </a:extLst>
          </p:cNvPr>
          <p:cNvSpPr txBox="1"/>
          <p:nvPr/>
        </p:nvSpPr>
        <p:spPr>
          <a:xfrm>
            <a:off x="699685" y="158503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– договор с официальным доступом</a:t>
            </a:r>
            <a:b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к поддержке</a:t>
            </a:r>
            <a:r>
              <a:rPr lang="ru-RU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обновлениям и сервисам 1С.</a:t>
            </a: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85E4184-6EAC-C794-E6E9-5941B96A5E76}"/>
              </a:ext>
            </a:extLst>
          </p:cNvPr>
          <p:cNvSpPr/>
          <p:nvPr/>
        </p:nvSpPr>
        <p:spPr>
          <a:xfrm>
            <a:off x="769580" y="4872336"/>
            <a:ext cx="2864754" cy="446702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даёт каждый тариф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7EA21E2-6E03-C7C7-7BB2-A21B03DB5683}"/>
              </a:ext>
            </a:extLst>
          </p:cNvPr>
          <p:cNvSpPr/>
          <p:nvPr/>
        </p:nvSpPr>
        <p:spPr>
          <a:xfrm>
            <a:off x="3748462" y="4872336"/>
            <a:ext cx="2649919" cy="446702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Кому какой подходит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D7FB4EB-DC22-DEBC-9375-FEF81229B230}"/>
              </a:ext>
            </a:extLst>
          </p:cNvPr>
          <p:cNvSpPr/>
          <p:nvPr/>
        </p:nvSpPr>
        <p:spPr>
          <a:xfrm>
            <a:off x="769580" y="5419681"/>
            <a:ext cx="3877065" cy="446702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чём принципиальная разница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9235B62E-701A-9DA9-5F05-52028530C106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Изображение выглядит как черный, темнот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6E2E83-B963-6376-79E3-5659E7D95D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14" r="1"/>
          <a:stretch/>
        </p:blipFill>
        <p:spPr>
          <a:xfrm rot="17849751" flipH="1">
            <a:off x="4835978" y="1001866"/>
            <a:ext cx="3513002" cy="181266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9139E09-5A89-2DE3-9F43-7D8F08A32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6777">
            <a:off x="5920079" y="121611"/>
            <a:ext cx="1587543" cy="269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4">
            <a:extLst>
              <a:ext uri="{FF2B5EF4-FFF2-40B4-BE49-F238E27FC236}">
                <a16:creationId xmlns:a16="http://schemas.microsoft.com/office/drawing/2014/main" id="{F1A0CE2F-FB31-4850-8A62-C8BA71E06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3440"/>
            <a:ext cx="6284167" cy="690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— это тариф включающий в себя различные сервисы и консультационную поддержку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A13B336-90D4-99A5-25B0-B49E71AE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1С:КП ПРОФ</a:t>
            </a:r>
          </a:p>
        </p:txBody>
      </p:sp>
      <p:pic>
        <p:nvPicPr>
          <p:cNvPr id="15" name="Рисунок 10" descr="Изображение выглядит как черный, темнота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13207D-146E-0E52-129B-3A430E60FC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4263" y="2425250"/>
            <a:ext cx="647700" cy="5251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F96912-92EC-375E-984F-195BF7DE0B11}"/>
              </a:ext>
            </a:extLst>
          </p:cNvPr>
          <p:cNvSpPr txBox="1"/>
          <p:nvPr/>
        </p:nvSpPr>
        <p:spPr>
          <a:xfrm>
            <a:off x="1510425" y="2393003"/>
            <a:ext cx="5160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Закрывает 90% потребностей клиентов (в регулярной поддержке продуктов 1С)</a:t>
            </a:r>
            <a:endParaRPr lang="ru-R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8FF582-6C2F-3142-E0A1-5ACE3105FBC4}"/>
              </a:ext>
            </a:extLst>
          </p:cNvPr>
          <p:cNvSpPr txBox="1"/>
          <p:nvPr/>
        </p:nvSpPr>
        <p:spPr>
          <a:xfrm>
            <a:off x="1510426" y="3259950"/>
            <a:ext cx="4517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Клиент экономит за счет комплексного подхода</a:t>
            </a:r>
            <a:endParaRPr lang="ru-RU" sz="2000" dirty="0"/>
          </a:p>
        </p:txBody>
      </p:sp>
      <p:pic>
        <p:nvPicPr>
          <p:cNvPr id="21" name="Рисунок 10" descr="Изображение выглядит как черный, темнота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C35C85-0B9E-066B-0620-E9CA54963F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4263" y="3241289"/>
            <a:ext cx="647700" cy="525112"/>
          </a:xfrm>
          <a:prstGeom prst="rect">
            <a:avLst/>
          </a:prstGeom>
        </p:spPr>
      </p:pic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C0297AD-6BF1-B9F6-8345-7E7490C80DE4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43A413E-91F3-F40B-901E-B1AA9FC7B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638" y="4204940"/>
            <a:ext cx="2479876" cy="195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9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9CD5-E959-209C-9E4D-9071FE62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CE11380-266A-E5DA-581A-B9E0641F085B}"/>
              </a:ext>
            </a:extLst>
          </p:cNvPr>
          <p:cNvSpPr/>
          <p:nvPr/>
        </p:nvSpPr>
        <p:spPr>
          <a:xfrm>
            <a:off x="685800" y="3428691"/>
            <a:ext cx="5607698" cy="100957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Методическая часть: </a:t>
            </a: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консультации, лектории, калькуляторы, изменения 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законодательстве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ADDC538-A79C-5C94-2F3A-CCC269469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108" y="4002923"/>
            <a:ext cx="1532676" cy="99238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FD13DD3-958A-FEA6-4E16-D88486FC6F27}"/>
              </a:ext>
            </a:extLst>
          </p:cNvPr>
          <p:cNvSpPr/>
          <p:nvPr/>
        </p:nvSpPr>
        <p:spPr>
          <a:xfrm>
            <a:off x="688229" y="675507"/>
            <a:ext cx="2116518" cy="3344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8DC48-AA11-26B2-6C96-C57DA288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05331"/>
            <a:ext cx="4772608" cy="966065"/>
          </a:xfrm>
        </p:spPr>
        <p:txBody>
          <a:bodyPr>
            <a:normAutofit/>
          </a:bodyPr>
          <a:lstStyle/>
          <a:p>
            <a:r>
              <a:rPr lang="ru-RU" dirty="0"/>
              <a:t>Что входит в тариф КП ПРОФ от 1С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56A091D-417A-841F-F640-6E2A6DD3EA1E}"/>
              </a:ext>
            </a:extLst>
          </p:cNvPr>
          <p:cNvSpPr/>
          <p:nvPr/>
        </p:nvSpPr>
        <p:spPr>
          <a:xfrm>
            <a:off x="685800" y="2332653"/>
            <a:ext cx="5607698" cy="8347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Сервисная часть: </a:t>
            </a: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работы 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 контрагентами и сдачи отчетности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A2844A7-289A-770F-0D02-07F84334D4B3}"/>
              </a:ext>
            </a:extLst>
          </p:cNvPr>
          <p:cNvSpPr/>
          <p:nvPr/>
        </p:nvSpPr>
        <p:spPr>
          <a:xfrm>
            <a:off x="685800" y="4717562"/>
            <a:ext cx="5607698" cy="8347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Техническая часть: </a:t>
            </a: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обновления, консультации по тех вопросам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10988B5-186D-58AA-2C4F-C767D6953805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79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579AD5C-F6DB-FA5D-C03F-763DDBEA6F07}"/>
              </a:ext>
            </a:extLst>
          </p:cNvPr>
          <p:cNvSpPr/>
          <p:nvPr/>
        </p:nvSpPr>
        <p:spPr bwMode="auto">
          <a:xfrm>
            <a:off x="5813659" y="2268540"/>
            <a:ext cx="4896000" cy="4225418"/>
          </a:xfrm>
          <a:prstGeom prst="roundRect">
            <a:avLst>
              <a:gd name="adj" fmla="val 5405"/>
            </a:avLst>
          </a:prstGeom>
          <a:solidFill>
            <a:srgbClr val="F2F1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ru-RU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Бонусы</a:t>
            </a:r>
            <a:endParaRPr lang="ru-RU" sz="2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5% кэшбек 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 Линии консультаций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 каждый УПД, подписанный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 1С-ЭДО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+ 1 час Сопровождения 1С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 оплате продления договора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более чем за 1 месяц до окончания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Форус.Комплимент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 минут при обращении на линию консультаций в предпраздничный день</a:t>
            </a:r>
            <a:endParaRPr lang="ru-RU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8647454-9411-0CA7-FA58-681CCF555619}"/>
              </a:ext>
            </a:extLst>
          </p:cNvPr>
          <p:cNvSpPr/>
          <p:nvPr/>
        </p:nvSpPr>
        <p:spPr>
          <a:xfrm>
            <a:off x="685800" y="2268540"/>
            <a:ext cx="4896000" cy="4225418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>
            <a:solidFill>
              <a:srgbClr val="E9F5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ru-RU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Онлайн-поддержка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Форус-чат и личный кабинет Форус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Простой вопрос (1 вопрос в день,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более 10 минут)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Обновление / настройка </a:t>
            </a:r>
            <a:r>
              <a:rPr lang="ru-RU" sz="16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автообновления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программ 1С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Линия консультаций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(4 часа в год бесплатно)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Предоставление разработок Форус: видео-уроки, инструкции, отчёты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доработки (установка за счёт пакета услуг)</a:t>
            </a:r>
          </a:p>
          <a:p>
            <a:endParaRPr lang="ru-RU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55EC89A-EE86-4F57-B2C9-8CEE2026B334}"/>
              </a:ext>
            </a:extLst>
          </p:cNvPr>
          <p:cNvSpPr/>
          <p:nvPr/>
        </p:nvSpPr>
        <p:spPr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F61D2D-6061-5B79-A9BC-7D361B0B1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813" y="307775"/>
            <a:ext cx="4268188" cy="293927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CE927-3F1F-0F2C-D1AB-B60038C71163}"/>
              </a:ext>
            </a:extLst>
          </p:cNvPr>
          <p:cNvSpPr txBox="1">
            <a:spLocks/>
          </p:cNvSpPr>
          <p:nvPr/>
        </p:nvSpPr>
        <p:spPr>
          <a:xfrm>
            <a:off x="685800" y="1105331"/>
            <a:ext cx="4772608" cy="966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dirty="0"/>
              <a:t>Дополнительные преимущества от нас</a:t>
            </a:r>
          </a:p>
        </p:txBody>
      </p:sp>
    </p:spTree>
    <p:extLst>
      <p:ext uri="{BB962C8B-B14F-4D97-AF65-F5344CB8AC3E}">
        <p14:creationId xmlns:p14="http://schemas.microsoft.com/office/powerpoint/2010/main" val="682421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3FD90527-839F-CEF4-98BC-1161B2576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629400" cy="1054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Сервисы, включенные в тариф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66F9A11-89C1-A4CD-6D16-9EF49E79B140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02B4D3A-D366-E870-A910-676D60D9FC22}"/>
              </a:ext>
            </a:extLst>
          </p:cNvPr>
          <p:cNvSpPr/>
          <p:nvPr/>
        </p:nvSpPr>
        <p:spPr>
          <a:xfrm>
            <a:off x="685800" y="4010450"/>
            <a:ext cx="6840560" cy="2282657"/>
          </a:xfrm>
          <a:prstGeom prst="roundRect">
            <a:avLst>
              <a:gd name="adj" fmla="val 7992"/>
            </a:avLst>
          </a:prstGeom>
          <a:solidFill>
            <a:schemeClr val="bg1"/>
          </a:solidFill>
          <a:ln>
            <a:solidFill>
              <a:srgbClr val="F0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1С-ЭДО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Отправка до 100 комплектов документов в месяц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Получение документов без ограничений</a:t>
            </a:r>
          </a:p>
          <a:p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80AA81C-645B-DB4E-12FC-FE78DBD9B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046" y="4116835"/>
            <a:ext cx="617043" cy="617043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92CC58B-4D78-E86B-A706-A8B0B956DA13}"/>
              </a:ext>
            </a:extLst>
          </p:cNvPr>
          <p:cNvSpPr/>
          <p:nvPr/>
        </p:nvSpPr>
        <p:spPr bwMode="auto"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F0F5F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59E91C1-8B2D-0539-4F1D-A7A5E8D097E7}"/>
              </a:ext>
            </a:extLst>
          </p:cNvPr>
          <p:cNvSpPr/>
          <p:nvPr/>
        </p:nvSpPr>
        <p:spPr>
          <a:xfrm>
            <a:off x="685800" y="1590290"/>
            <a:ext cx="6840560" cy="2282657"/>
          </a:xfrm>
          <a:prstGeom prst="roundRect">
            <a:avLst>
              <a:gd name="adj" fmla="val 7846"/>
            </a:avLst>
          </a:prstGeom>
          <a:solidFill>
            <a:schemeClr val="bg1"/>
          </a:solidFill>
          <a:ln>
            <a:solidFill>
              <a:srgbClr val="F0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1С-Отчетность для каждого учреждения</a:t>
            </a:r>
          </a:p>
          <a:p>
            <a:pPr>
              <a:spcAft>
                <a:spcPts val="600"/>
              </a:spcAft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Бесплатная сдача отчетности для 1 юридического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лица или 1 ИП непосредственно из программы 1С</a:t>
            </a:r>
          </a:p>
          <a:p>
            <a:pPr marL="625475">
              <a:spcAft>
                <a:spcPts val="600"/>
              </a:spcAft>
            </a:pPr>
            <a:endParaRPr lang="ru-RU" sz="16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685D74A-1919-C08C-A2FA-9984435DD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046" y="1727793"/>
            <a:ext cx="615600" cy="615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E3B0FE6-079E-97F2-EA55-AAD0D554DA2B}"/>
              </a:ext>
            </a:extLst>
          </p:cNvPr>
          <p:cNvSpPr txBox="1"/>
          <p:nvPr/>
        </p:nvSpPr>
        <p:spPr>
          <a:xfrm>
            <a:off x="783966" y="3001028"/>
            <a:ext cx="65312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Экономия на бухгалтерских сервисах, отправка отчётности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без выгрузки и загрузки в сторонние программы, автоматическая проверка перед отправкой, снижение риска ошибок и штрафов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CA1E45-0B58-7FD0-6CF2-BC4948FD2DFA}"/>
              </a:ext>
            </a:extLst>
          </p:cNvPr>
          <p:cNvSpPr txBox="1"/>
          <p:nvPr/>
        </p:nvSpPr>
        <p:spPr>
          <a:xfrm>
            <a:off x="783966" y="5457307"/>
            <a:ext cx="65021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Ускорение передачи документов, исключение риска потери документов, электронный архив и быстрый доступ к нему, сокращение времени на ввод первичных документов</a:t>
            </a:r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C6F6AAA8-FBB7-281F-3778-D44758A2B231}"/>
              </a:ext>
            </a:extLst>
          </p:cNvPr>
          <p:cNvGrpSpPr/>
          <p:nvPr/>
        </p:nvGrpSpPr>
        <p:grpSpPr>
          <a:xfrm>
            <a:off x="783966" y="2634181"/>
            <a:ext cx="2413544" cy="336185"/>
            <a:chOff x="783966" y="2862545"/>
            <a:chExt cx="2413544" cy="33618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F0B92CC1-850F-C4C4-E3FB-086A1734543B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68BDBCD4-3938-A102-B63A-F5DD5B8C3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50DED382-E311-6519-6233-FA02D6EFD83B}"/>
              </a:ext>
            </a:extLst>
          </p:cNvPr>
          <p:cNvGrpSpPr/>
          <p:nvPr/>
        </p:nvGrpSpPr>
        <p:grpSpPr>
          <a:xfrm>
            <a:off x="783966" y="5078063"/>
            <a:ext cx="2413544" cy="336185"/>
            <a:chOff x="783966" y="2862545"/>
            <a:chExt cx="2413544" cy="336185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658FEA80-CE74-9E7B-6D0E-27BE1FD5249F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0649325B-02F4-0DDC-9B1E-2C5D8804E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621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A3264-D58D-9223-66DC-1624064A7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F4AC488-436F-958B-DCA0-EBEA5934C510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3AF8127-43FC-37B9-ACA8-6A8FEDFF8391}"/>
              </a:ext>
            </a:extLst>
          </p:cNvPr>
          <p:cNvSpPr/>
          <p:nvPr/>
        </p:nvSpPr>
        <p:spPr>
          <a:xfrm>
            <a:off x="685800" y="4010450"/>
            <a:ext cx="6840560" cy="2282657"/>
          </a:xfrm>
          <a:prstGeom prst="roundRect">
            <a:avLst>
              <a:gd name="adj" fmla="val 7992"/>
            </a:avLst>
          </a:prstGeom>
          <a:solidFill>
            <a:schemeClr val="bg1"/>
          </a:solidFill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1С:Сверка 2.0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Автоматическая сверка счетов-фактур, первичных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банковских документов с контрагентами в 1С:БП</a:t>
            </a:r>
          </a:p>
          <a:p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EE7D96A-1E48-9C1A-8FA4-64E66A0C1347}"/>
              </a:ext>
            </a:extLst>
          </p:cNvPr>
          <p:cNvSpPr/>
          <p:nvPr/>
        </p:nvSpPr>
        <p:spPr bwMode="auto"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F2F1F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C237047-113D-5C99-595D-A0C938F1F96F}"/>
              </a:ext>
            </a:extLst>
          </p:cNvPr>
          <p:cNvSpPr/>
          <p:nvPr/>
        </p:nvSpPr>
        <p:spPr>
          <a:xfrm>
            <a:off x="685800" y="1590290"/>
            <a:ext cx="6840560" cy="2282657"/>
          </a:xfrm>
          <a:prstGeom prst="roundRect">
            <a:avLst>
              <a:gd name="adj" fmla="val 7846"/>
            </a:avLst>
          </a:prstGeom>
          <a:solidFill>
            <a:schemeClr val="bg1"/>
          </a:solidFill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1С:Контрагент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7200 автозаполнений реквизитов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360 отчетов «Проверка контрагента»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317372-C4E8-E16F-F27D-8625EE083B06}"/>
              </a:ext>
            </a:extLst>
          </p:cNvPr>
          <p:cNvSpPr txBox="1"/>
          <p:nvPr/>
        </p:nvSpPr>
        <p:spPr>
          <a:xfrm>
            <a:off x="783965" y="3001028"/>
            <a:ext cx="67423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Быстрое заполнение карточек по ИНН, исключение ошибок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в реквизитах, проверка благонадёжности, снижение риска работы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с недобросовестными поставщиками</a:t>
            </a:r>
          </a:p>
          <a:p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E57E2F-31B1-FA39-4193-D3952EA99084}"/>
              </a:ext>
            </a:extLst>
          </p:cNvPr>
          <p:cNvSpPr txBox="1"/>
          <p:nvPr/>
        </p:nvSpPr>
        <p:spPr>
          <a:xfrm>
            <a:off x="783965" y="5457307"/>
            <a:ext cx="67423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Экономия времени на ручной сверке, исключение ошибок и расхождений, оперативное выявление неоплаченных документов, контроль дебиторской и кредиторской задолженности</a:t>
            </a:r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1312507-88E8-0A29-11D6-5C992DB2B51D}"/>
              </a:ext>
            </a:extLst>
          </p:cNvPr>
          <p:cNvGrpSpPr/>
          <p:nvPr/>
        </p:nvGrpSpPr>
        <p:grpSpPr>
          <a:xfrm>
            <a:off x="783966" y="2634181"/>
            <a:ext cx="2413544" cy="336185"/>
            <a:chOff x="783966" y="2862545"/>
            <a:chExt cx="2413544" cy="33618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323CD84D-25B4-23D6-0227-78863B079118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33167A10-1B5B-0655-8C3F-2D8700B6C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463B669A-7897-D230-062A-CC58680E9D87}"/>
              </a:ext>
            </a:extLst>
          </p:cNvPr>
          <p:cNvGrpSpPr/>
          <p:nvPr/>
        </p:nvGrpSpPr>
        <p:grpSpPr>
          <a:xfrm>
            <a:off x="783966" y="5029688"/>
            <a:ext cx="2413544" cy="336185"/>
            <a:chOff x="783966" y="2862545"/>
            <a:chExt cx="2413544" cy="336185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493D1A9D-FF14-33EB-7253-1718EC1C5B62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CB3A1E8-FE28-791C-1FC9-ECBB93BD3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E5FF70-5285-241E-F537-6F4641294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046" y="1727793"/>
            <a:ext cx="617043" cy="61704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FD36F07-4F48-522B-C2DF-A70CC79B35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767" y="4116835"/>
            <a:ext cx="615600" cy="61560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FDD8EF5-C1EF-4525-6700-DCDAD091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629400" cy="1054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Сервисы, включенные в тариф</a:t>
            </a:r>
          </a:p>
        </p:txBody>
      </p:sp>
    </p:spTree>
    <p:extLst>
      <p:ext uri="{BB962C8B-B14F-4D97-AF65-F5344CB8AC3E}">
        <p14:creationId xmlns:p14="http://schemas.microsoft.com/office/powerpoint/2010/main" val="65938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08C0-066D-E4EA-0306-1BA54591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C972B50-D5DE-2557-4AFB-F11BC33C7944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066AB12-557C-7D02-99CD-44B03FFA019D}"/>
              </a:ext>
            </a:extLst>
          </p:cNvPr>
          <p:cNvSpPr/>
          <p:nvPr/>
        </p:nvSpPr>
        <p:spPr>
          <a:xfrm>
            <a:off x="685800" y="3880828"/>
            <a:ext cx="6840560" cy="2412279"/>
          </a:xfrm>
          <a:prstGeom prst="roundRect">
            <a:avLst>
              <a:gd name="adj" fmla="val 7992"/>
            </a:avLst>
          </a:prstGeom>
          <a:solidFill>
            <a:schemeClr val="bg1"/>
          </a:solidFill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1С:ДиректБанк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Отправка платежей и получение выписок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напрямую из 1С</a:t>
            </a:r>
          </a:p>
          <a:p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B0C5A10-B037-4EE3-60AE-66F6BA55F3EF}"/>
              </a:ext>
            </a:extLst>
          </p:cNvPr>
          <p:cNvSpPr/>
          <p:nvPr/>
        </p:nvSpPr>
        <p:spPr bwMode="auto"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77E8ADC-D85E-D60F-E335-EA7709E2EEEC}"/>
              </a:ext>
            </a:extLst>
          </p:cNvPr>
          <p:cNvSpPr/>
          <p:nvPr/>
        </p:nvSpPr>
        <p:spPr>
          <a:xfrm>
            <a:off x="685800" y="1590291"/>
            <a:ext cx="6840560" cy="2109474"/>
          </a:xfrm>
          <a:prstGeom prst="roundRect">
            <a:avLst>
              <a:gd name="adj" fmla="val 7846"/>
            </a:avLst>
          </a:prstGeom>
          <a:solidFill>
            <a:schemeClr val="bg1"/>
          </a:solidFill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1С:Номенклатура</a:t>
            </a:r>
            <a:b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 10 000 карточек товаров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08EFD5-B3DF-9876-47D7-8D6C4AA63CCA}"/>
              </a:ext>
            </a:extLst>
          </p:cNvPr>
          <p:cNvSpPr txBox="1"/>
          <p:nvPr/>
        </p:nvSpPr>
        <p:spPr>
          <a:xfrm>
            <a:off x="783965" y="2722554"/>
            <a:ext cx="65312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Готовое наполнение справочников товарами с характеристиками, исключение ошибок в описании, единый каталог для всех программ 1С в компании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7A8D41-509A-3B79-5D7C-1CBA6016DC9C}"/>
              </a:ext>
            </a:extLst>
          </p:cNvPr>
          <p:cNvSpPr txBox="1"/>
          <p:nvPr/>
        </p:nvSpPr>
        <p:spPr>
          <a:xfrm>
            <a:off x="783965" y="5373379"/>
            <a:ext cx="67423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Экономия времени на загрузку выписок, исключение ошибок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при ручном вводе, актуальный остаток на счете в любой момент, отправка платежей без выхода в клиент-банк</a:t>
            </a:r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CDDD502C-0C50-03C4-DA1F-F7C3EE8CCE4F}"/>
              </a:ext>
            </a:extLst>
          </p:cNvPr>
          <p:cNvGrpSpPr/>
          <p:nvPr/>
        </p:nvGrpSpPr>
        <p:grpSpPr>
          <a:xfrm>
            <a:off x="783966" y="2355707"/>
            <a:ext cx="2413544" cy="336185"/>
            <a:chOff x="783966" y="2862545"/>
            <a:chExt cx="2413544" cy="33618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10BA5F82-9C66-C2A4-B6B6-F862B8E79BA0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98B7862-EADE-604C-A58C-6ADF473D6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6DAAF5F4-43A0-B692-2764-26B2449F6EBD}"/>
              </a:ext>
            </a:extLst>
          </p:cNvPr>
          <p:cNvGrpSpPr/>
          <p:nvPr/>
        </p:nvGrpSpPr>
        <p:grpSpPr>
          <a:xfrm>
            <a:off x="783966" y="4968442"/>
            <a:ext cx="2413544" cy="336185"/>
            <a:chOff x="783966" y="2862545"/>
            <a:chExt cx="2413544" cy="336185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4C988A26-AB0D-F44F-D9A8-12319D2B030C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A548EB80-EF3D-91FF-EB3D-17E0AC5B4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D1F27B-CEA0-30F2-5D4F-F8D10B54E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045" y="1727793"/>
            <a:ext cx="615600" cy="6156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462E9AF-A446-DECA-62B8-AC3485C5F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600" y="4021585"/>
            <a:ext cx="615600" cy="61560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8D5508-A17A-2CC2-931A-4E40E702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629400" cy="1054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Сервисы, включенные в тариф</a:t>
            </a:r>
          </a:p>
        </p:txBody>
      </p:sp>
    </p:spTree>
    <p:extLst>
      <p:ext uri="{BB962C8B-B14F-4D97-AF65-F5344CB8AC3E}">
        <p14:creationId xmlns:p14="http://schemas.microsoft.com/office/powerpoint/2010/main" val="3296999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6BEE-EEBF-FF6F-B607-16AC7B07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3C812C1-3E88-EF37-9C29-C0E26D940D37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0078100-722B-F70F-EE49-6FEA5E2B3F8E}"/>
              </a:ext>
            </a:extLst>
          </p:cNvPr>
          <p:cNvSpPr/>
          <p:nvPr/>
        </p:nvSpPr>
        <p:spPr>
          <a:xfrm>
            <a:off x="685800" y="4329034"/>
            <a:ext cx="6840560" cy="2049173"/>
          </a:xfrm>
          <a:prstGeom prst="roundRect">
            <a:avLst>
              <a:gd name="adj" fmla="val 7992"/>
            </a:avLst>
          </a:prstGeom>
          <a:solidFill>
            <a:schemeClr val="bg1"/>
          </a:solidFill>
          <a:ln>
            <a:solidFill>
              <a:srgbClr val="E9F5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1С:Кабинет сотрудника на 45 дней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Кадровый электронный документооборот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A6F98CB-87E5-FDBA-865E-525CE6A1F6C1}"/>
              </a:ext>
            </a:extLst>
          </p:cNvPr>
          <p:cNvSpPr/>
          <p:nvPr/>
        </p:nvSpPr>
        <p:spPr bwMode="auto"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5B5B49B-DBEC-53A4-1F8B-212674F08497}"/>
              </a:ext>
            </a:extLst>
          </p:cNvPr>
          <p:cNvSpPr/>
          <p:nvPr/>
        </p:nvSpPr>
        <p:spPr>
          <a:xfrm>
            <a:off x="685800" y="1590290"/>
            <a:ext cx="6840560" cy="2494938"/>
          </a:xfrm>
          <a:prstGeom prst="roundRect">
            <a:avLst>
              <a:gd name="adj" fmla="val 7846"/>
            </a:avLst>
          </a:prstGeom>
          <a:solidFill>
            <a:schemeClr val="bg1"/>
          </a:solidFill>
          <a:ln>
            <a:solidFill>
              <a:srgbClr val="E9F5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1С:Распознавание первичных документов (РПД)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Единоразово на год 250 страниц. Сервис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распознает сканы или фотографии первичных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документов и подготовит их для ввода в 1С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3106FF-538D-2E87-C1D3-0C31188AF9D0}"/>
              </a:ext>
            </a:extLst>
          </p:cNvPr>
          <p:cNvSpPr txBox="1"/>
          <p:nvPr/>
        </p:nvSpPr>
        <p:spPr>
          <a:xfrm>
            <a:off x="783965" y="3199873"/>
            <a:ext cx="6531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Сокращение времени на ввод первичных документов, исключение ошибок при ручном заполнении, быстрая обработка накладных, счетов и актов, экономия на обработке бумажных документов</a:t>
            </a:r>
          </a:p>
          <a:p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25994D-C321-B2F8-DED9-5FF7E7DD7B1C}"/>
              </a:ext>
            </a:extLst>
          </p:cNvPr>
          <p:cNvSpPr txBox="1"/>
          <p:nvPr/>
        </p:nvSpPr>
        <p:spPr>
          <a:xfrm>
            <a:off x="783965" y="5497735"/>
            <a:ext cx="65312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Переход на электронный кадровый документооборот, быстрый обмен документами с сотрудниками, экономия на бумаге и печати, удобное хранение кадровых документов</a:t>
            </a:r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1019CF14-868A-4170-70EB-27CD059FB4C1}"/>
              </a:ext>
            </a:extLst>
          </p:cNvPr>
          <p:cNvGrpSpPr/>
          <p:nvPr/>
        </p:nvGrpSpPr>
        <p:grpSpPr>
          <a:xfrm>
            <a:off x="783966" y="2833026"/>
            <a:ext cx="2413544" cy="336185"/>
            <a:chOff x="783966" y="2862545"/>
            <a:chExt cx="2413544" cy="33618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23E52C23-C66D-8179-A64C-69CF3027DE84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B92ED6BD-BF6C-9D71-7F38-FD3452BA9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C439F902-6E88-2B0A-297E-45E1023FD439}"/>
              </a:ext>
            </a:extLst>
          </p:cNvPr>
          <p:cNvGrpSpPr/>
          <p:nvPr/>
        </p:nvGrpSpPr>
        <p:grpSpPr>
          <a:xfrm>
            <a:off x="783966" y="5092798"/>
            <a:ext cx="2413544" cy="336185"/>
            <a:chOff x="783966" y="2862545"/>
            <a:chExt cx="2413544" cy="336185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30A2A854-B1B0-F54F-D9EA-89C6AAE15FAD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ADEB6A29-7967-24AA-F0C6-5F7ACE310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905E7B-ED65-777B-6A91-497B7D821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046" y="1727793"/>
            <a:ext cx="615600" cy="6156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8524B6A-D52D-8477-08EA-AC23D90E5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600" y="4469791"/>
            <a:ext cx="615600" cy="61560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6B6C64C-2674-1D53-C417-C98FD5C3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629400" cy="1054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Сервисы, включенные в тариф</a:t>
            </a:r>
          </a:p>
        </p:txBody>
      </p:sp>
    </p:spTree>
    <p:extLst>
      <p:ext uri="{BB962C8B-B14F-4D97-AF65-F5344CB8AC3E}">
        <p14:creationId xmlns:p14="http://schemas.microsoft.com/office/powerpoint/2010/main" val="1033514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7F64-19DC-9C89-57AB-5BA52E18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C1F321D-1D68-4A9C-EE12-CC79CBBCB194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8ED78FA-4213-6BCC-3140-3149FFB52582}"/>
              </a:ext>
            </a:extLst>
          </p:cNvPr>
          <p:cNvSpPr/>
          <p:nvPr/>
        </p:nvSpPr>
        <p:spPr>
          <a:xfrm>
            <a:off x="685800" y="4050610"/>
            <a:ext cx="6840560" cy="2253882"/>
          </a:xfrm>
          <a:prstGeom prst="roundRect">
            <a:avLst>
              <a:gd name="adj" fmla="val 7992"/>
            </a:avLst>
          </a:prstGeom>
          <a:solidFill>
            <a:schemeClr val="bg1"/>
          </a:solidFill>
          <a:ln>
            <a:solidFill>
              <a:srgbClr val="F0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1С:Облачный архив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 Гб облачного пространства для резервных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копий баз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1B54C02-9584-36F8-452D-2779E4F29CD6}"/>
              </a:ext>
            </a:extLst>
          </p:cNvPr>
          <p:cNvSpPr/>
          <p:nvPr/>
        </p:nvSpPr>
        <p:spPr bwMode="auto"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F0F5F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1B2502D-BC14-A67C-2ED8-D29FF00B3480}"/>
              </a:ext>
            </a:extLst>
          </p:cNvPr>
          <p:cNvSpPr/>
          <p:nvPr/>
        </p:nvSpPr>
        <p:spPr>
          <a:xfrm>
            <a:off x="685800" y="1590290"/>
            <a:ext cx="6840560" cy="2326400"/>
          </a:xfrm>
          <a:prstGeom prst="roundRect">
            <a:avLst>
              <a:gd name="adj" fmla="val 7846"/>
            </a:avLst>
          </a:prstGeom>
          <a:solidFill>
            <a:schemeClr val="bg1"/>
          </a:solidFill>
          <a:ln>
            <a:solidFill>
              <a:srgbClr val="F0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1С:Линк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Удаленный доступ к информационным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базам 1С через интернет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9682BE-98C7-4473-DD73-8BE24F71DF1B}"/>
              </a:ext>
            </a:extLst>
          </p:cNvPr>
          <p:cNvSpPr txBox="1"/>
          <p:nvPr/>
        </p:nvSpPr>
        <p:spPr>
          <a:xfrm>
            <a:off x="783965" y="2973938"/>
            <a:ext cx="65312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Работа в 1С из любого места – дома, в командировке,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из филиала. Безопасное подключение через браузер.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Быстрая помощь специалистов без выезда на офис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317319-D5DF-E46E-A138-7A3D40F12E4A}"/>
              </a:ext>
            </a:extLst>
          </p:cNvPr>
          <p:cNvSpPr txBox="1"/>
          <p:nvPr/>
        </p:nvSpPr>
        <p:spPr>
          <a:xfrm>
            <a:off x="783966" y="5443829"/>
            <a:ext cx="631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Автоматическое резервное копирование баз 1С, защита данных от потери, восстановление в любой момент, доступ к копиям </a:t>
            </a:r>
          </a:p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из любой точки</a:t>
            </a:r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DB46B81-0B27-16E0-CE37-2AAF81483E35}"/>
              </a:ext>
            </a:extLst>
          </p:cNvPr>
          <p:cNvGrpSpPr/>
          <p:nvPr/>
        </p:nvGrpSpPr>
        <p:grpSpPr>
          <a:xfrm>
            <a:off x="783966" y="2556587"/>
            <a:ext cx="2413544" cy="336185"/>
            <a:chOff x="783966" y="2862545"/>
            <a:chExt cx="2413544" cy="33618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AC4B72CD-1627-450B-6A47-D60BF5B55AEB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DD333154-015F-5F62-2A09-C8B7BA3D1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A906CE16-7186-E98F-7E55-610BCF01FB4C}"/>
              </a:ext>
            </a:extLst>
          </p:cNvPr>
          <p:cNvGrpSpPr/>
          <p:nvPr/>
        </p:nvGrpSpPr>
        <p:grpSpPr>
          <a:xfrm>
            <a:off x="783966" y="5038892"/>
            <a:ext cx="2413544" cy="336185"/>
            <a:chOff x="783966" y="2862545"/>
            <a:chExt cx="2413544" cy="336185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DB8ADC23-41D2-4501-F7FB-336B9C32A4E9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5E227833-91DC-4047-F1F8-7232A85F1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F4593C9-50D3-B729-332E-026221759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046" y="1727793"/>
            <a:ext cx="617043" cy="61704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901471E-31F3-383A-851C-3C780D03A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157" y="4198586"/>
            <a:ext cx="617043" cy="617043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AB11B0-BBE9-5C46-58E2-D2980E51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629400" cy="1054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Сервисы, включенные в тариф</a:t>
            </a:r>
          </a:p>
        </p:txBody>
      </p:sp>
    </p:spTree>
    <p:extLst>
      <p:ext uri="{BB962C8B-B14F-4D97-AF65-F5344CB8AC3E}">
        <p14:creationId xmlns:p14="http://schemas.microsoft.com/office/powerpoint/2010/main" val="1337592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67D9-EF18-B1C5-D668-85CDAD18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398DF33-57C7-2DD0-C1A1-2DD6A071A3EA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E8C4F50-519C-A783-2CC1-DB885CF810E4}"/>
              </a:ext>
            </a:extLst>
          </p:cNvPr>
          <p:cNvSpPr/>
          <p:nvPr/>
        </p:nvSpPr>
        <p:spPr>
          <a:xfrm>
            <a:off x="685800" y="4050610"/>
            <a:ext cx="6840560" cy="2253882"/>
          </a:xfrm>
          <a:prstGeom prst="roundRect">
            <a:avLst>
              <a:gd name="adj" fmla="val 7992"/>
            </a:avLst>
          </a:prstGeom>
          <a:solidFill>
            <a:schemeClr val="bg1"/>
          </a:solidFill>
          <a:ln>
            <a:solidFill>
              <a:srgbClr val="F0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1С:ЭДО без электронной подписи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Электронный обмен документами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между пользователями 1С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95B3179-EF17-E737-5128-0EE116420FD4}"/>
              </a:ext>
            </a:extLst>
          </p:cNvPr>
          <p:cNvSpPr/>
          <p:nvPr/>
        </p:nvSpPr>
        <p:spPr bwMode="auto"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C3E4E8F-F591-41FC-EEC7-56386313095D}"/>
              </a:ext>
            </a:extLst>
          </p:cNvPr>
          <p:cNvSpPr/>
          <p:nvPr/>
        </p:nvSpPr>
        <p:spPr>
          <a:xfrm>
            <a:off x="685800" y="1590290"/>
            <a:ext cx="6840560" cy="2326400"/>
          </a:xfrm>
          <a:prstGeom prst="roundRect">
            <a:avLst>
              <a:gd name="adj" fmla="val 7846"/>
            </a:avLst>
          </a:prstGeom>
          <a:solidFill>
            <a:schemeClr val="bg1"/>
          </a:solidFill>
          <a:ln>
            <a:solidFill>
              <a:srgbClr val="F0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1С:Подпись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Одна лицензия для оформления квалифицированного сертификата электронной подписи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04C0FF-093A-B00C-9EF6-704F6C1740D9}"/>
              </a:ext>
            </a:extLst>
          </p:cNvPr>
          <p:cNvSpPr txBox="1"/>
          <p:nvPr/>
        </p:nvSpPr>
        <p:spPr>
          <a:xfrm>
            <a:off x="783965" y="2973938"/>
            <a:ext cx="65312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Получение КЭП для сдачи отчётности и работы на </a:t>
            </a:r>
            <a:r>
              <a:rPr lang="ru-RU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госпорталах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, оформление подписи без посещения удостоверяющего центра, одна подпись для всех сервисов 1С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3EFB3F-D2E2-41EA-D9FA-B3BA3DF1775E}"/>
              </a:ext>
            </a:extLst>
          </p:cNvPr>
          <p:cNvSpPr txBox="1"/>
          <p:nvPr/>
        </p:nvSpPr>
        <p:spPr>
          <a:xfrm>
            <a:off x="783966" y="5443829"/>
            <a:ext cx="631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Упрощение обмена документами с партнёрами по 1С,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экономия на электронной подписи для внутренних операций, мгновенный обмен без дополнительных сервисов</a:t>
            </a:r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48068036-D3E1-1BEB-7116-8B7FFF7C830E}"/>
              </a:ext>
            </a:extLst>
          </p:cNvPr>
          <p:cNvGrpSpPr/>
          <p:nvPr/>
        </p:nvGrpSpPr>
        <p:grpSpPr>
          <a:xfrm>
            <a:off x="783966" y="2556587"/>
            <a:ext cx="2413544" cy="336185"/>
            <a:chOff x="783966" y="2862545"/>
            <a:chExt cx="2413544" cy="33618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EFFA2836-49D2-5E04-B599-31650B27CF8D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9F177982-FECF-97E7-775E-7A5711EE2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9F0D70E5-9DBE-8D1E-C07B-E360DB66D4B7}"/>
              </a:ext>
            </a:extLst>
          </p:cNvPr>
          <p:cNvGrpSpPr/>
          <p:nvPr/>
        </p:nvGrpSpPr>
        <p:grpSpPr>
          <a:xfrm>
            <a:off x="783966" y="5038892"/>
            <a:ext cx="2413544" cy="336185"/>
            <a:chOff x="783966" y="2862545"/>
            <a:chExt cx="2413544" cy="336185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20C14168-D03D-0560-DF0E-3F099763C356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73C87833-700C-DDB8-154B-04D77FD7B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6E8B97-573F-868A-5A68-C8DBECB01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046" y="1727792"/>
            <a:ext cx="617043" cy="61704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8CEAAF7-B175-D329-D206-AB784989B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242" y="4187488"/>
            <a:ext cx="615600" cy="61560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4352E97-7E83-C663-B2A6-3DA0889A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629400" cy="1054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Сервисы, включенные в тариф</a:t>
            </a:r>
          </a:p>
        </p:txBody>
      </p:sp>
    </p:spTree>
    <p:extLst>
      <p:ext uri="{BB962C8B-B14F-4D97-AF65-F5344CB8AC3E}">
        <p14:creationId xmlns:p14="http://schemas.microsoft.com/office/powerpoint/2010/main" val="3184612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2BA4-A307-4A8E-0469-017BBF1C2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58F9813-3D2F-717D-8A31-AC5B7675D259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1A7D677-CE6D-D6BD-C813-C29B16660D93}"/>
              </a:ext>
            </a:extLst>
          </p:cNvPr>
          <p:cNvSpPr/>
          <p:nvPr/>
        </p:nvSpPr>
        <p:spPr>
          <a:xfrm>
            <a:off x="685800" y="4050610"/>
            <a:ext cx="6840560" cy="2131883"/>
          </a:xfrm>
          <a:prstGeom prst="roundRect">
            <a:avLst>
              <a:gd name="adj" fmla="val 7992"/>
            </a:avLst>
          </a:prstGeom>
          <a:solidFill>
            <a:schemeClr val="bg1"/>
          </a:solidFill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 Бизнес-сеть. Торговая площадка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Поиск поставщиков и покупателей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CAF89B1-819C-60DC-BDC0-FD5BAF5B4104}"/>
              </a:ext>
            </a:extLst>
          </p:cNvPr>
          <p:cNvSpPr/>
          <p:nvPr/>
        </p:nvSpPr>
        <p:spPr bwMode="auto"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F2F1F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51C0121-4942-44E2-84C4-801CE2E9C8C5}"/>
              </a:ext>
            </a:extLst>
          </p:cNvPr>
          <p:cNvSpPr/>
          <p:nvPr/>
        </p:nvSpPr>
        <p:spPr>
          <a:xfrm>
            <a:off x="685800" y="1590290"/>
            <a:ext cx="6840560" cy="2326400"/>
          </a:xfrm>
          <a:prstGeom prst="roundRect">
            <a:avLst>
              <a:gd name="adj" fmla="val 7846"/>
            </a:avLst>
          </a:prstGeom>
          <a:solidFill>
            <a:schemeClr val="bg1"/>
          </a:solidFill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1С:Сканер чеков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Автоматическое заполнение авансовых отчетов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данными из кассовых чеков, 200 чеков на 3 месяца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E4457E-0B59-A178-B606-C9B87299AD47}"/>
              </a:ext>
            </a:extLst>
          </p:cNvPr>
          <p:cNvSpPr txBox="1"/>
          <p:nvPr/>
        </p:nvSpPr>
        <p:spPr>
          <a:xfrm>
            <a:off x="783965" y="3019324"/>
            <a:ext cx="6531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Сокращение времени на подготовку авансовых отчётов, исключение ошибок при ручном вводе, быстрое внесение данных из командировочных и хозяйственных чеков</a:t>
            </a:r>
          </a:p>
          <a:p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85A3D3-05B0-5A95-F20B-ED756B7374A0}"/>
              </a:ext>
            </a:extLst>
          </p:cNvPr>
          <p:cNvSpPr txBox="1"/>
          <p:nvPr/>
        </p:nvSpPr>
        <p:spPr>
          <a:xfrm>
            <a:off x="783966" y="5267710"/>
            <a:ext cx="631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Быстрый поиск новых поставщиков и каналов сбыта, расширение клиентской базы, автоматический обмен коммерческими предложениями, снижение затрат на закупки</a:t>
            </a:r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16EEF384-3D59-41CB-162A-E8099B0B2C7A}"/>
              </a:ext>
            </a:extLst>
          </p:cNvPr>
          <p:cNvGrpSpPr/>
          <p:nvPr/>
        </p:nvGrpSpPr>
        <p:grpSpPr>
          <a:xfrm>
            <a:off x="783966" y="2601973"/>
            <a:ext cx="2413544" cy="336185"/>
            <a:chOff x="783966" y="2862545"/>
            <a:chExt cx="2413544" cy="33618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AD8C5898-CC52-6956-3BA1-68351F17F02B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66A05737-1C69-D409-C32E-10773E69F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CCF93FEF-F506-62CC-D968-1E495CBBF37D}"/>
              </a:ext>
            </a:extLst>
          </p:cNvPr>
          <p:cNvGrpSpPr/>
          <p:nvPr/>
        </p:nvGrpSpPr>
        <p:grpSpPr>
          <a:xfrm>
            <a:off x="783966" y="4862773"/>
            <a:ext cx="2413544" cy="336185"/>
            <a:chOff x="783966" y="2862545"/>
            <a:chExt cx="2413544" cy="336185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70AEA38E-1694-D137-B5B8-4D27653F1B52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C0DA49F-F4D4-8983-6757-FC38FABCC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D75FE0-0F2F-C305-867F-B62E13664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242" y="4197013"/>
            <a:ext cx="615600" cy="6156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E657F6-D690-8C0A-1C22-68F72507D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242" y="1735849"/>
            <a:ext cx="615600" cy="61560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377066A-4813-2B01-10D7-15233D8D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629400" cy="1054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Сервисы, включенные в тариф</a:t>
            </a:r>
          </a:p>
        </p:txBody>
      </p:sp>
    </p:spTree>
    <p:extLst>
      <p:ext uri="{BB962C8B-B14F-4D97-AF65-F5344CB8AC3E}">
        <p14:creationId xmlns:p14="http://schemas.microsoft.com/office/powerpoint/2010/main" val="2655202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5B9A-3708-438E-F79E-00B39C33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9C61630-9F21-FEF2-726D-F4CDCCEC367C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F92170D-B169-3753-F14A-BCC2E0AF272F}"/>
              </a:ext>
            </a:extLst>
          </p:cNvPr>
          <p:cNvSpPr/>
          <p:nvPr/>
        </p:nvSpPr>
        <p:spPr bwMode="auto">
          <a:xfrm>
            <a:off x="685800" y="675507"/>
            <a:ext cx="2110154" cy="336185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47CC5A2-59C7-FB5E-5D2D-38DEE5334563}"/>
              </a:ext>
            </a:extLst>
          </p:cNvPr>
          <p:cNvSpPr/>
          <p:nvPr/>
        </p:nvSpPr>
        <p:spPr>
          <a:xfrm>
            <a:off x="685800" y="1685540"/>
            <a:ext cx="6840560" cy="2326400"/>
          </a:xfrm>
          <a:prstGeom prst="roundRect">
            <a:avLst>
              <a:gd name="adj" fmla="val 7846"/>
            </a:avLst>
          </a:prstGeom>
          <a:solidFill>
            <a:schemeClr val="bg1"/>
          </a:solidFill>
          <a:ln>
            <a:solidFill>
              <a:srgbClr val="E9F5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1С:Бизнес-обучение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Доступ к одному курсу для руководителей и топ-менеджеров ежемесячно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61EF82-37EA-7F7C-D1A5-9720B810897D}"/>
              </a:ext>
            </a:extLst>
          </p:cNvPr>
          <p:cNvSpPr txBox="1"/>
          <p:nvPr/>
        </p:nvSpPr>
        <p:spPr>
          <a:xfrm>
            <a:off x="783965" y="3114574"/>
            <a:ext cx="65312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Повышение квалификации руководителей без отрыва от работы, актуальные знания по управлению и автоматизации, обучение лучшим практикам работы в 1С.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DEDF0B38-BFF1-BA84-42FF-70F9324EA96C}"/>
              </a:ext>
            </a:extLst>
          </p:cNvPr>
          <p:cNvGrpSpPr/>
          <p:nvPr/>
        </p:nvGrpSpPr>
        <p:grpSpPr>
          <a:xfrm>
            <a:off x="783966" y="2697223"/>
            <a:ext cx="2413544" cy="336185"/>
            <a:chOff x="783966" y="2862545"/>
            <a:chExt cx="2413544" cy="33618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7275A859-8E4E-5242-FE07-A1A00B6D5A41}"/>
                </a:ext>
              </a:extLst>
            </p:cNvPr>
            <p:cNvSpPr/>
            <p:nvPr/>
          </p:nvSpPr>
          <p:spPr bwMode="auto">
            <a:xfrm>
              <a:off x="783966" y="2862545"/>
              <a:ext cx="2413544" cy="3361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Польза для клиента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67D981F5-E770-8AF7-2FD9-A220F868E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61325" y="2862545"/>
              <a:ext cx="336185" cy="336185"/>
            </a:xfrm>
            <a:prstGeom prst="rect">
              <a:avLst/>
            </a:prstGeom>
          </p:spPr>
        </p:pic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F33A27-44BF-C4D7-E823-FA5AF16B8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600" y="1831099"/>
            <a:ext cx="615600" cy="61560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582BF55-F724-ACD0-9126-0DC4A77A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629400" cy="1054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Сервисы, включенные в тариф</a:t>
            </a:r>
          </a:p>
        </p:txBody>
      </p:sp>
    </p:spTree>
    <p:extLst>
      <p:ext uri="{BB962C8B-B14F-4D97-AF65-F5344CB8AC3E}">
        <p14:creationId xmlns:p14="http://schemas.microsoft.com/office/powerpoint/2010/main" val="71576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6FE04-428E-7F9C-A89F-C8443EAF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193E918-449A-0C6B-F5D8-1894BCBB9995}"/>
              </a:ext>
            </a:extLst>
          </p:cNvPr>
          <p:cNvSpPr/>
          <p:nvPr/>
        </p:nvSpPr>
        <p:spPr>
          <a:xfrm>
            <a:off x="688229" y="675507"/>
            <a:ext cx="2098934" cy="334409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ПРОФ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A1F793-5BDF-B7C1-D003-9543C46F24B7}"/>
              </a:ext>
            </a:extLst>
          </p:cNvPr>
          <p:cNvSpPr txBox="1"/>
          <p:nvPr/>
        </p:nvSpPr>
        <p:spPr>
          <a:xfrm>
            <a:off x="828674" y="1735780"/>
            <a:ext cx="59721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От малого до крупного бизнеса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Организации с бухгалтерией и кадровой службой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Предприятия, которым важна поддержка 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 сопровождение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Пользователи, которые хотят использовать возможности экосистемы 1С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BBE91-9633-FE81-579A-D47F986A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00437"/>
            <a:ext cx="6629400" cy="1015663"/>
          </a:xfrm>
        </p:spPr>
        <p:txBody>
          <a:bodyPr/>
          <a:lstStyle/>
          <a:p>
            <a:r>
              <a:rPr lang="ru-RU" dirty="0"/>
              <a:t>Кто чаще использует КП ПРОФ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8A61E9F-F4DD-3E23-7D1B-D7B0B9F3F162}"/>
              </a:ext>
            </a:extLst>
          </p:cNvPr>
          <p:cNvSpPr/>
          <p:nvPr/>
        </p:nvSpPr>
        <p:spPr>
          <a:xfrm>
            <a:off x="757237" y="4026239"/>
            <a:ext cx="6486525" cy="2031324"/>
          </a:xfrm>
          <a:prstGeom prst="roundRect">
            <a:avLst>
              <a:gd name="adj" fmla="val 11040"/>
            </a:avLst>
          </a:prstGeom>
          <a:solidFill>
            <a:srgbClr val="F2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Простыми словами: 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комплексное сопровождение 1С для компаний, которым нужны не только обновления,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 и сервисы для сдачи отчетности, электронного документооборота, проверки контрагентов,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удаленной работы и резервного копирования данных,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 также регулярные консультации по работе с 1С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66A63A9-76A4-1F6D-1574-6C2E8312E299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5EC37E6-8D36-249B-15FF-93B41C9ED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49" y="5378732"/>
            <a:ext cx="592079" cy="828206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9CC503E-7CCC-D3C8-7093-7520CE8BF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918" y="5974319"/>
            <a:ext cx="226931" cy="31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15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AC3FEDF-AF72-0CDA-BF67-30E50C31695D}"/>
              </a:ext>
            </a:extLst>
          </p:cNvPr>
          <p:cNvSpPr/>
          <p:nvPr/>
        </p:nvSpPr>
        <p:spPr>
          <a:xfrm>
            <a:off x="685799" y="4216880"/>
            <a:ext cx="5985589" cy="825021"/>
          </a:xfrm>
          <a:prstGeom prst="roundRect">
            <a:avLst>
              <a:gd name="adj" fmla="val 16518"/>
            </a:avLst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Основная цель – соответствие требованиям 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технологическая актуальность</a:t>
            </a:r>
          </a:p>
        </p:txBody>
      </p:sp>
      <p:sp>
        <p:nvSpPr>
          <p:cNvPr id="10" name="Объект 4">
            <a:extLst>
              <a:ext uri="{FF2B5EF4-FFF2-40B4-BE49-F238E27FC236}">
                <a16:creationId xmlns:a16="http://schemas.microsoft.com/office/drawing/2014/main" id="{4026D95A-7F9A-09B8-7C83-71AEB065323D}"/>
              </a:ext>
            </a:extLst>
          </p:cNvPr>
          <p:cNvSpPr txBox="1">
            <a:spLocks/>
          </p:cNvSpPr>
          <p:nvPr/>
        </p:nvSpPr>
        <p:spPr>
          <a:xfrm>
            <a:off x="685800" y="1483440"/>
            <a:ext cx="6284167" cy="690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— это минимальный тариф сопровождения программ «1С:Предприятие»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3932A674-727E-27C9-B39D-7D76808A3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1С:КП Базовый (ИТС Техно)</a:t>
            </a:r>
          </a:p>
        </p:txBody>
      </p:sp>
      <p:pic>
        <p:nvPicPr>
          <p:cNvPr id="12" name="Рисунок 10" descr="Изображение выглядит как черный, темнота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55BF23-3665-AB82-419E-4F29FE656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4263" y="2425250"/>
            <a:ext cx="647700" cy="5251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FBC0DB-3722-F1C0-9946-C286F0054C53}"/>
              </a:ext>
            </a:extLst>
          </p:cNvPr>
          <p:cNvSpPr txBox="1"/>
          <p:nvPr/>
        </p:nvSpPr>
        <p:spPr>
          <a:xfrm>
            <a:off x="1510425" y="2497239"/>
            <a:ext cx="5160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Доступ к официальной поддержке</a:t>
            </a:r>
          </a:p>
        </p:txBody>
      </p:sp>
      <p:pic>
        <p:nvPicPr>
          <p:cNvPr id="16" name="Рисунок 10" descr="Изображение выглядит как черный, темнота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A73E9C-7652-3BEC-4A75-D15CBD420E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4263" y="3056359"/>
            <a:ext cx="647700" cy="5251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7D6FD12-8F22-1E42-5715-0F90D4660FC9}"/>
              </a:ext>
            </a:extLst>
          </p:cNvPr>
          <p:cNvSpPr txBox="1"/>
          <p:nvPr/>
        </p:nvSpPr>
        <p:spPr>
          <a:xfrm>
            <a:off x="1510425" y="3128348"/>
            <a:ext cx="5160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Небольшое количество сервисов 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ED9A141-D834-83ED-1E3D-E320005B0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594" y="4738678"/>
            <a:ext cx="1556494" cy="1501687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BCC6A-8A37-28CF-8FFE-C711FA40591B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108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33B3-BC3A-689C-C852-6835A83C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F307395-3232-A880-6E33-C23183CFB12C}"/>
              </a:ext>
            </a:extLst>
          </p:cNvPr>
          <p:cNvSpPr/>
          <p:nvPr/>
        </p:nvSpPr>
        <p:spPr>
          <a:xfrm>
            <a:off x="685800" y="2775645"/>
            <a:ext cx="5886450" cy="6533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2925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Линия консультаций Фирмы «1С» 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1 обращение в месяц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BD0D13F-527D-7418-9D07-797DC4C671A8}"/>
              </a:ext>
            </a:extLst>
          </p:cNvPr>
          <p:cNvSpPr/>
          <p:nvPr/>
        </p:nvSpPr>
        <p:spPr>
          <a:xfrm>
            <a:off x="688229" y="675507"/>
            <a:ext cx="2445496" cy="3344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1С:КП Базовый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570E9-5E15-E3DD-918A-DCB4AF63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83622"/>
            <a:ext cx="6629400" cy="1198465"/>
          </a:xfrm>
        </p:spPr>
        <p:txBody>
          <a:bodyPr>
            <a:normAutofit/>
          </a:bodyPr>
          <a:lstStyle/>
          <a:p>
            <a:r>
              <a:rPr lang="ru-RU" dirty="0"/>
              <a:t>Что входит в тариф </a:t>
            </a:r>
            <a:br>
              <a:rPr lang="ru-RU" dirty="0"/>
            </a:br>
            <a:r>
              <a:rPr lang="ru-RU" dirty="0"/>
              <a:t>КП Базовый от 1С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9ADB7F4-D46B-3508-0D56-23FD1B3B6785}"/>
              </a:ext>
            </a:extLst>
          </p:cNvPr>
          <p:cNvSpPr/>
          <p:nvPr/>
        </p:nvSpPr>
        <p:spPr>
          <a:xfrm>
            <a:off x="685800" y="2082087"/>
            <a:ext cx="5886450" cy="5402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2925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Обновления программных продуктов 1С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05E300C-9D32-64A6-4AAF-78F6E0013D0E}"/>
              </a:ext>
            </a:extLst>
          </p:cNvPr>
          <p:cNvSpPr/>
          <p:nvPr/>
        </p:nvSpPr>
        <p:spPr>
          <a:xfrm>
            <a:off x="685800" y="3582320"/>
            <a:ext cx="5886450" cy="5402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2925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Личный кабинет Форус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F595E0-A488-BD7A-F2D8-CA2C54C3E75A}"/>
              </a:ext>
            </a:extLst>
          </p:cNvPr>
          <p:cNvSpPr txBox="1"/>
          <p:nvPr/>
        </p:nvSpPr>
        <p:spPr>
          <a:xfrm>
            <a:off x="685798" y="4404718"/>
            <a:ext cx="66198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Услуги партнера по установке обновлений, 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настройке и доработке программ в тариф не входят 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 оплачиваются отдельно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У ГК «Форус» доступ к обновлению </a:t>
            </a:r>
            <a:b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типовой 1С – 60 минут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6388BE9-44CD-59BC-53CE-C483CB0D7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065" y="4901551"/>
            <a:ext cx="1841608" cy="1700160"/>
          </a:xfrm>
          <a:prstGeom prst="rect">
            <a:avLst/>
          </a:prstGeom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E194946-0DE0-60AB-666D-9AFCFADD7B2A}"/>
              </a:ext>
            </a:extLst>
          </p:cNvPr>
          <p:cNvSpPr/>
          <p:nvPr/>
        </p:nvSpPr>
        <p:spPr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A48AA0E-14E9-090C-7C38-E2056ADABC47}"/>
              </a:ext>
            </a:extLst>
          </p:cNvPr>
          <p:cNvGrpSpPr/>
          <p:nvPr/>
        </p:nvGrpSpPr>
        <p:grpSpPr>
          <a:xfrm>
            <a:off x="814019" y="2193045"/>
            <a:ext cx="342403" cy="342403"/>
            <a:chOff x="821387" y="1911814"/>
            <a:chExt cx="605206" cy="605206"/>
          </a:xfrm>
        </p:grpSpPr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43CC9E5D-5066-3851-EA81-27E9A82A098D}"/>
                </a:ext>
              </a:extLst>
            </p:cNvPr>
            <p:cNvSpPr/>
            <p:nvPr/>
          </p:nvSpPr>
          <p:spPr>
            <a:xfrm>
              <a:off x="821387" y="1911814"/>
              <a:ext cx="605206" cy="605206"/>
            </a:xfrm>
            <a:custGeom>
              <a:avLst/>
              <a:gdLst/>
              <a:ahLst/>
              <a:cxnLst/>
              <a:rect l="l" t="t" r="r" b="b"/>
              <a:pathLst>
                <a:path w="718233" h="718233">
                  <a:moveTo>
                    <a:pt x="107735" y="0"/>
                  </a:moveTo>
                  <a:lnTo>
                    <a:pt x="610498" y="0"/>
                  </a:lnTo>
                  <a:cubicBezTo>
                    <a:pt x="669998" y="0"/>
                    <a:pt x="718233" y="48235"/>
                    <a:pt x="718233" y="107735"/>
                  </a:cubicBezTo>
                  <a:lnTo>
                    <a:pt x="718233" y="610498"/>
                  </a:lnTo>
                  <a:cubicBezTo>
                    <a:pt x="718233" y="669998"/>
                    <a:pt x="669998" y="718233"/>
                    <a:pt x="610498" y="718233"/>
                  </a:cubicBezTo>
                  <a:lnTo>
                    <a:pt x="107735" y="718233"/>
                  </a:lnTo>
                  <a:cubicBezTo>
                    <a:pt x="48235" y="718233"/>
                    <a:pt x="0" y="669998"/>
                    <a:pt x="0" y="610498"/>
                  </a:cubicBezTo>
                  <a:lnTo>
                    <a:pt x="0" y="107735"/>
                  </a:lnTo>
                  <a:cubicBezTo>
                    <a:pt x="0" y="48274"/>
                    <a:pt x="48274" y="0"/>
                    <a:pt x="107735" y="0"/>
                  </a:cubicBezTo>
                  <a:close/>
                </a:path>
              </a:pathLst>
            </a:custGeom>
            <a:solidFill>
              <a:srgbClr val="F2F1F8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D3CB3FE0-94AA-4061-64F5-8EE30150E3AA}"/>
                </a:ext>
              </a:extLst>
            </p:cNvPr>
            <p:cNvSpPr/>
            <p:nvPr/>
          </p:nvSpPr>
          <p:spPr>
            <a:xfrm>
              <a:off x="1008083" y="2095383"/>
              <a:ext cx="226952" cy="226952"/>
            </a:xfrm>
            <a:custGeom>
              <a:avLst/>
              <a:gdLst/>
              <a:ahLst/>
              <a:cxnLst/>
              <a:rect l="l" t="t" r="r" b="b"/>
              <a:pathLst>
                <a:path w="269337" h="269337">
                  <a:moveTo>
                    <a:pt x="33667" y="16834"/>
                  </a:moveTo>
                  <a:cubicBezTo>
                    <a:pt x="15098" y="16834"/>
                    <a:pt x="0" y="31931"/>
                    <a:pt x="0" y="50501"/>
                  </a:cubicBezTo>
                  <a:lnTo>
                    <a:pt x="0" y="185169"/>
                  </a:lnTo>
                  <a:cubicBezTo>
                    <a:pt x="0" y="203739"/>
                    <a:pt x="15098" y="218837"/>
                    <a:pt x="33667" y="218837"/>
                  </a:cubicBezTo>
                  <a:lnTo>
                    <a:pt x="109418" y="218837"/>
                  </a:lnTo>
                  <a:lnTo>
                    <a:pt x="101001" y="244087"/>
                  </a:lnTo>
                  <a:lnTo>
                    <a:pt x="63126" y="244087"/>
                  </a:lnTo>
                  <a:cubicBezTo>
                    <a:pt x="56129" y="244087"/>
                    <a:pt x="50501" y="249716"/>
                    <a:pt x="50501" y="256712"/>
                  </a:cubicBezTo>
                  <a:cubicBezTo>
                    <a:pt x="50501" y="263709"/>
                    <a:pt x="56129" y="269337"/>
                    <a:pt x="63126" y="269337"/>
                  </a:cubicBezTo>
                  <a:lnTo>
                    <a:pt x="206211" y="269337"/>
                  </a:lnTo>
                  <a:cubicBezTo>
                    <a:pt x="213208" y="269337"/>
                    <a:pt x="218837" y="263709"/>
                    <a:pt x="218837" y="256712"/>
                  </a:cubicBezTo>
                  <a:cubicBezTo>
                    <a:pt x="218837" y="249716"/>
                    <a:pt x="213208" y="244087"/>
                    <a:pt x="206211" y="244087"/>
                  </a:cubicBezTo>
                  <a:lnTo>
                    <a:pt x="168336" y="244087"/>
                  </a:lnTo>
                  <a:lnTo>
                    <a:pt x="159919" y="218837"/>
                  </a:lnTo>
                  <a:lnTo>
                    <a:pt x="235670" y="218837"/>
                  </a:lnTo>
                  <a:cubicBezTo>
                    <a:pt x="254240" y="218837"/>
                    <a:pt x="269337" y="203739"/>
                    <a:pt x="269337" y="185169"/>
                  </a:cubicBezTo>
                  <a:lnTo>
                    <a:pt x="269337" y="50501"/>
                  </a:lnTo>
                  <a:cubicBezTo>
                    <a:pt x="269337" y="31931"/>
                    <a:pt x="254240" y="16834"/>
                    <a:pt x="235670" y="16834"/>
                  </a:cubicBezTo>
                  <a:lnTo>
                    <a:pt x="33667" y="16834"/>
                  </a:lnTo>
                  <a:close/>
                  <a:moveTo>
                    <a:pt x="50501" y="50501"/>
                  </a:moveTo>
                  <a:lnTo>
                    <a:pt x="218837" y="50501"/>
                  </a:lnTo>
                  <a:cubicBezTo>
                    <a:pt x="228148" y="50501"/>
                    <a:pt x="235670" y="58023"/>
                    <a:pt x="235670" y="67334"/>
                  </a:cubicBezTo>
                  <a:lnTo>
                    <a:pt x="235670" y="151502"/>
                  </a:lnTo>
                  <a:cubicBezTo>
                    <a:pt x="235670" y="160813"/>
                    <a:pt x="228148" y="168336"/>
                    <a:pt x="218837" y="168336"/>
                  </a:cubicBezTo>
                  <a:lnTo>
                    <a:pt x="50501" y="168336"/>
                  </a:lnTo>
                  <a:cubicBezTo>
                    <a:pt x="41190" y="168336"/>
                    <a:pt x="33667" y="160813"/>
                    <a:pt x="33667" y="151502"/>
                  </a:cubicBezTo>
                  <a:lnTo>
                    <a:pt x="33667" y="67334"/>
                  </a:lnTo>
                  <a:cubicBezTo>
                    <a:pt x="33667" y="58023"/>
                    <a:pt x="41190" y="50501"/>
                    <a:pt x="50501" y="50501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31A82ED-372D-9A24-D2B2-1D0771F18E92}"/>
              </a:ext>
            </a:extLst>
          </p:cNvPr>
          <p:cNvGrpSpPr/>
          <p:nvPr/>
        </p:nvGrpSpPr>
        <p:grpSpPr>
          <a:xfrm>
            <a:off x="814019" y="3681237"/>
            <a:ext cx="342403" cy="342403"/>
            <a:chOff x="821387" y="3786923"/>
            <a:chExt cx="605206" cy="605206"/>
          </a:xfrm>
        </p:grpSpPr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BDDEAF3D-204B-EAE8-36BB-79A9FB270D33}"/>
                </a:ext>
              </a:extLst>
            </p:cNvPr>
            <p:cNvSpPr/>
            <p:nvPr/>
          </p:nvSpPr>
          <p:spPr>
            <a:xfrm>
              <a:off x="821387" y="3786923"/>
              <a:ext cx="605206" cy="605206"/>
            </a:xfrm>
            <a:custGeom>
              <a:avLst/>
              <a:gdLst/>
              <a:ahLst/>
              <a:cxnLst/>
              <a:rect l="l" t="t" r="r" b="b"/>
              <a:pathLst>
                <a:path w="718233" h="718233">
                  <a:moveTo>
                    <a:pt x="107735" y="0"/>
                  </a:moveTo>
                  <a:lnTo>
                    <a:pt x="610498" y="0"/>
                  </a:lnTo>
                  <a:cubicBezTo>
                    <a:pt x="669998" y="0"/>
                    <a:pt x="718233" y="48235"/>
                    <a:pt x="718233" y="107735"/>
                  </a:cubicBezTo>
                  <a:lnTo>
                    <a:pt x="718233" y="610498"/>
                  </a:lnTo>
                  <a:cubicBezTo>
                    <a:pt x="718233" y="669998"/>
                    <a:pt x="669998" y="718233"/>
                    <a:pt x="610498" y="718233"/>
                  </a:cubicBezTo>
                  <a:lnTo>
                    <a:pt x="107735" y="718233"/>
                  </a:lnTo>
                  <a:cubicBezTo>
                    <a:pt x="48235" y="718233"/>
                    <a:pt x="0" y="669998"/>
                    <a:pt x="0" y="610498"/>
                  </a:cubicBezTo>
                  <a:lnTo>
                    <a:pt x="0" y="107735"/>
                  </a:lnTo>
                  <a:cubicBezTo>
                    <a:pt x="0" y="48274"/>
                    <a:pt x="48274" y="0"/>
                    <a:pt x="107735" y="0"/>
                  </a:cubicBezTo>
                  <a:close/>
                </a:path>
              </a:pathLst>
            </a:custGeom>
            <a:solidFill>
              <a:srgbClr val="F2F1F8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937A3CD8-AC26-E4C1-9B1A-79C52A604BD1}"/>
                </a:ext>
              </a:extLst>
            </p:cNvPr>
            <p:cNvSpPr/>
            <p:nvPr/>
          </p:nvSpPr>
          <p:spPr>
            <a:xfrm>
              <a:off x="1017847" y="3976050"/>
              <a:ext cx="198583" cy="226952"/>
            </a:xfrm>
            <a:custGeom>
              <a:avLst/>
              <a:gdLst/>
              <a:ahLst/>
              <a:cxnLst/>
              <a:rect l="l" t="t" r="r" b="b"/>
              <a:pathLst>
                <a:path w="235670" h="269337">
                  <a:moveTo>
                    <a:pt x="117835" y="130460"/>
                  </a:moveTo>
                  <a:cubicBezTo>
                    <a:pt x="82995" y="130460"/>
                    <a:pt x="54709" y="102174"/>
                    <a:pt x="54709" y="67334"/>
                  </a:cubicBezTo>
                  <a:cubicBezTo>
                    <a:pt x="54709" y="32494"/>
                    <a:pt x="82995" y="4208"/>
                    <a:pt x="117835" y="4208"/>
                  </a:cubicBezTo>
                  <a:cubicBezTo>
                    <a:pt x="152675" y="4208"/>
                    <a:pt x="180961" y="32494"/>
                    <a:pt x="180961" y="67334"/>
                  </a:cubicBezTo>
                  <a:cubicBezTo>
                    <a:pt x="180961" y="102174"/>
                    <a:pt x="152675" y="130460"/>
                    <a:pt x="117835" y="130460"/>
                  </a:cubicBezTo>
                  <a:close/>
                  <a:moveTo>
                    <a:pt x="101791" y="159919"/>
                  </a:moveTo>
                  <a:lnTo>
                    <a:pt x="133880" y="159919"/>
                  </a:lnTo>
                  <a:cubicBezTo>
                    <a:pt x="138982" y="159919"/>
                    <a:pt x="143085" y="164022"/>
                    <a:pt x="143085" y="169125"/>
                  </a:cubicBezTo>
                  <a:cubicBezTo>
                    <a:pt x="143085" y="171334"/>
                    <a:pt x="142296" y="173438"/>
                    <a:pt x="140876" y="175122"/>
                  </a:cubicBezTo>
                  <a:lnTo>
                    <a:pt x="126462" y="191955"/>
                  </a:lnTo>
                  <a:lnTo>
                    <a:pt x="142770" y="252504"/>
                  </a:lnTo>
                  <a:lnTo>
                    <a:pt x="143085" y="252504"/>
                  </a:lnTo>
                  <a:lnTo>
                    <a:pt x="161287" y="179646"/>
                  </a:lnTo>
                  <a:cubicBezTo>
                    <a:pt x="162444" y="175069"/>
                    <a:pt x="167126" y="172281"/>
                    <a:pt x="171545" y="173965"/>
                  </a:cubicBezTo>
                  <a:cubicBezTo>
                    <a:pt x="204107" y="186379"/>
                    <a:pt x="227253" y="217942"/>
                    <a:pt x="227253" y="254871"/>
                  </a:cubicBezTo>
                  <a:cubicBezTo>
                    <a:pt x="227253" y="262814"/>
                    <a:pt x="220783" y="269285"/>
                    <a:pt x="212840" y="269285"/>
                  </a:cubicBezTo>
                  <a:lnTo>
                    <a:pt x="22831" y="269337"/>
                  </a:lnTo>
                  <a:cubicBezTo>
                    <a:pt x="14887" y="269337"/>
                    <a:pt x="8417" y="262867"/>
                    <a:pt x="8417" y="254924"/>
                  </a:cubicBezTo>
                  <a:cubicBezTo>
                    <a:pt x="8417" y="217995"/>
                    <a:pt x="31563" y="186432"/>
                    <a:pt x="64125" y="174017"/>
                  </a:cubicBezTo>
                  <a:cubicBezTo>
                    <a:pt x="68544" y="172334"/>
                    <a:pt x="73226" y="175122"/>
                    <a:pt x="74383" y="179698"/>
                  </a:cubicBezTo>
                  <a:lnTo>
                    <a:pt x="92585" y="252556"/>
                  </a:lnTo>
                  <a:lnTo>
                    <a:pt x="92900" y="252556"/>
                  </a:lnTo>
                  <a:lnTo>
                    <a:pt x="109208" y="192008"/>
                  </a:lnTo>
                  <a:lnTo>
                    <a:pt x="94794" y="175174"/>
                  </a:lnTo>
                  <a:cubicBezTo>
                    <a:pt x="93374" y="173491"/>
                    <a:pt x="92585" y="171387"/>
                    <a:pt x="92585" y="169177"/>
                  </a:cubicBezTo>
                  <a:cubicBezTo>
                    <a:pt x="92585" y="164075"/>
                    <a:pt x="96688" y="159972"/>
                    <a:pt x="101791" y="159972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779C73-BDF5-4EDD-2673-B3C1E8D86B93}"/>
              </a:ext>
            </a:extLst>
          </p:cNvPr>
          <p:cNvGrpSpPr/>
          <p:nvPr/>
        </p:nvGrpSpPr>
        <p:grpSpPr>
          <a:xfrm>
            <a:off x="814019" y="2923260"/>
            <a:ext cx="342403" cy="342403"/>
            <a:chOff x="821387" y="2859912"/>
            <a:chExt cx="605206" cy="605206"/>
          </a:xfrm>
        </p:grpSpPr>
        <p:sp>
          <p:nvSpPr>
            <p:cNvPr id="28" name="Shape 7">
              <a:extLst>
                <a:ext uri="{FF2B5EF4-FFF2-40B4-BE49-F238E27FC236}">
                  <a16:creationId xmlns:a16="http://schemas.microsoft.com/office/drawing/2014/main" id="{7052098A-FCC8-3108-A82D-DF962A6D7368}"/>
                </a:ext>
              </a:extLst>
            </p:cNvPr>
            <p:cNvSpPr/>
            <p:nvPr/>
          </p:nvSpPr>
          <p:spPr>
            <a:xfrm>
              <a:off x="821387" y="2859912"/>
              <a:ext cx="605206" cy="605206"/>
            </a:xfrm>
            <a:custGeom>
              <a:avLst/>
              <a:gdLst/>
              <a:ahLst/>
              <a:cxnLst/>
              <a:rect l="l" t="t" r="r" b="b"/>
              <a:pathLst>
                <a:path w="718233" h="718233">
                  <a:moveTo>
                    <a:pt x="107735" y="0"/>
                  </a:moveTo>
                  <a:lnTo>
                    <a:pt x="610498" y="0"/>
                  </a:lnTo>
                  <a:cubicBezTo>
                    <a:pt x="669998" y="0"/>
                    <a:pt x="718233" y="48235"/>
                    <a:pt x="718233" y="107735"/>
                  </a:cubicBezTo>
                  <a:lnTo>
                    <a:pt x="718233" y="610498"/>
                  </a:lnTo>
                  <a:cubicBezTo>
                    <a:pt x="718233" y="669998"/>
                    <a:pt x="669998" y="718233"/>
                    <a:pt x="610498" y="718233"/>
                  </a:cubicBezTo>
                  <a:lnTo>
                    <a:pt x="107735" y="718233"/>
                  </a:lnTo>
                  <a:cubicBezTo>
                    <a:pt x="48235" y="718233"/>
                    <a:pt x="0" y="669998"/>
                    <a:pt x="0" y="610498"/>
                  </a:cubicBezTo>
                  <a:lnTo>
                    <a:pt x="0" y="107735"/>
                  </a:lnTo>
                  <a:cubicBezTo>
                    <a:pt x="0" y="48274"/>
                    <a:pt x="48274" y="0"/>
                    <a:pt x="107735" y="0"/>
                  </a:cubicBezTo>
                  <a:close/>
                </a:path>
              </a:pathLst>
            </a:custGeom>
            <a:solidFill>
              <a:srgbClr val="F2F1F8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pic>
          <p:nvPicPr>
            <p:cNvPr id="29" name="Рисунок 28" descr="Picture background">
              <a:extLst>
                <a:ext uri="{FF2B5EF4-FFF2-40B4-BE49-F238E27FC236}">
                  <a16:creationId xmlns:a16="http://schemas.microsoft.com/office/drawing/2014/main" id="{0D473EB3-C0D2-39DD-2AF9-329BAE9F4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33829" y="3069737"/>
              <a:ext cx="380321" cy="185555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348616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A76FEBE-EBCC-6D95-77FB-2C254DCBC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00" y="1063751"/>
            <a:ext cx="1837985" cy="14487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05F17D3-9E8E-0BDC-8C15-95116AB4BF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457" y="1158125"/>
            <a:ext cx="1449918" cy="1398863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A30F8C9-E73C-37A9-A11C-584979D08AA1}"/>
              </a:ext>
            </a:extLst>
          </p:cNvPr>
          <p:cNvSpPr/>
          <p:nvPr/>
        </p:nvSpPr>
        <p:spPr bwMode="auto">
          <a:xfrm>
            <a:off x="5937484" y="1788111"/>
            <a:ext cx="4896000" cy="35268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>
            <a:solidFill>
              <a:srgbClr val="F0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КП Базовый </a:t>
            </a:r>
            <a:endParaRPr lang="ru-RU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для поддержки работоспособности программы. </a:t>
            </a:r>
          </a:p>
          <a:p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Его задача – дать обновления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минимально необходимый набор сервисов для легальной работы в 1С.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Дополнительные сервисы и услуги клиент оплачивает отдельно.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AAAEAC1-13D3-AFF6-46C9-9F5DF0D5E0C6}"/>
              </a:ext>
            </a:extLst>
          </p:cNvPr>
          <p:cNvSpPr/>
          <p:nvPr/>
        </p:nvSpPr>
        <p:spPr bwMode="auto">
          <a:xfrm>
            <a:off x="685800" y="1788111"/>
            <a:ext cx="4896000" cy="3526840"/>
          </a:xfrm>
          <a:prstGeom prst="roundRect">
            <a:avLst>
              <a:gd name="adj" fmla="val 5405"/>
            </a:avLst>
          </a:prstGeom>
          <a:solidFill>
            <a:srgbClr val="E9F5F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КП ПРОФ </a:t>
            </a:r>
            <a:endParaRPr lang="ru-RU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для полноценной 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работы и развития бизнеса в 1С. </a:t>
            </a:r>
          </a:p>
          <a:p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Обновления, расширенные сервисы, полный доступ к методическим материалам и регулярное сопровождение 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 стороны партнера.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 бизнеса закрыты все базовые потребности: 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 обновлений до сдачи отчетности – в одном тарифе.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CBA856-E70E-FCDB-A0B2-05F7EBF937F5}"/>
              </a:ext>
            </a:extLst>
          </p:cNvPr>
          <p:cNvSpPr/>
          <p:nvPr/>
        </p:nvSpPr>
        <p:spPr bwMode="auto">
          <a:xfrm>
            <a:off x="685800" y="675508"/>
            <a:ext cx="2933700" cy="309920"/>
          </a:xfrm>
          <a:prstGeom prst="roundRect">
            <a:avLst>
              <a:gd name="adj" fmla="val 50000"/>
            </a:avLst>
          </a:prstGeom>
          <a:solidFill>
            <a:srgbClr val="F0F5F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Разница КП ПРОФ/Базовый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F5BD0DA-32FF-BB42-BBC5-F8BE308FDC4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85799" y="1023873"/>
            <a:ext cx="6125548" cy="5628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dirty="0"/>
              <a:t>Главное отличие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1BD9D1-DC23-2EF2-E8FB-FD3E6087C7CE}"/>
              </a:ext>
            </a:extLst>
          </p:cNvPr>
          <p:cNvSpPr txBox="1"/>
          <p:nvPr/>
        </p:nvSpPr>
        <p:spPr>
          <a:xfrm>
            <a:off x="685798" y="5478213"/>
            <a:ext cx="101476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большинства организаций КП ПРОФ является более выгодным решением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поскольку включает не только обновления, но и сервисы для работы, а также позволяет пользователям обращаться за качественной поддержкой</a:t>
            </a:r>
          </a:p>
        </p:txBody>
      </p:sp>
    </p:spTree>
    <p:extLst>
      <p:ext uri="{BB962C8B-B14F-4D97-AF65-F5344CB8AC3E}">
        <p14:creationId xmlns:p14="http://schemas.microsoft.com/office/powerpoint/2010/main" val="2206278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42CC4C4B-C469-435C-A238-037034154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142" y="934970"/>
            <a:ext cx="870073" cy="685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77291177-F14F-075D-4D0F-4E24B7C52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070" y="934970"/>
            <a:ext cx="710831" cy="685800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D505936-7A94-1382-A403-22F3C2FC0EB7}"/>
              </a:ext>
            </a:extLst>
          </p:cNvPr>
          <p:cNvSpPr/>
          <p:nvPr/>
        </p:nvSpPr>
        <p:spPr>
          <a:xfrm>
            <a:off x="685799" y="1253110"/>
            <a:ext cx="2505075" cy="540000"/>
          </a:xfrm>
          <a:prstGeom prst="roundRect">
            <a:avLst/>
          </a:prstGeom>
          <a:solidFill>
            <a:srgbClr val="F2F1F8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Параметр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A327EA2-5B65-D084-DF01-F301B6C090CE}"/>
              </a:ext>
            </a:extLst>
          </p:cNvPr>
          <p:cNvSpPr/>
          <p:nvPr/>
        </p:nvSpPr>
        <p:spPr>
          <a:xfrm>
            <a:off x="7514394" y="1253110"/>
            <a:ext cx="3763172" cy="540000"/>
          </a:xfrm>
          <a:prstGeom prst="roundRect">
            <a:avLst/>
          </a:prstGeom>
          <a:solidFill>
            <a:srgbClr val="F2F1F8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1С:КП Базовый (Техно)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2069CD6-EF25-9590-92CD-4F4CE6BED88B}"/>
              </a:ext>
            </a:extLst>
          </p:cNvPr>
          <p:cNvSpPr/>
          <p:nvPr/>
        </p:nvSpPr>
        <p:spPr>
          <a:xfrm>
            <a:off x="3385416" y="1253110"/>
            <a:ext cx="4034886" cy="540000"/>
          </a:xfrm>
          <a:prstGeom prst="roundRect">
            <a:avLst/>
          </a:prstGeom>
          <a:solidFill>
            <a:srgbClr val="F2F1F8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1С:КП ПРОФ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5DABB33-5FB1-0B7B-EC5F-7A9960806D31}"/>
              </a:ext>
            </a:extLst>
          </p:cNvPr>
          <p:cNvSpPr/>
          <p:nvPr/>
        </p:nvSpPr>
        <p:spPr>
          <a:xfrm>
            <a:off x="685799" y="1938910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Ключевая суть</a:t>
            </a:r>
            <a:endParaRPr lang="ru-RU"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0E68AF9-4A23-CB65-E721-BF3BA9A0E5E8}"/>
              </a:ext>
            </a:extLst>
          </p:cNvPr>
          <p:cNvSpPr/>
          <p:nvPr/>
        </p:nvSpPr>
        <p:spPr>
          <a:xfrm>
            <a:off x="7514394" y="1938910"/>
            <a:ext cx="3763172" cy="540000"/>
          </a:xfrm>
          <a:prstGeom prst="roundRect">
            <a:avLst/>
          </a:prstGeom>
          <a:solidFill>
            <a:srgbClr val="FFF7E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Минимальный легальный доступ к обновлениям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5FAFE69-5E45-CE32-0E3A-301C0EACB2A5}"/>
              </a:ext>
            </a:extLst>
          </p:cNvPr>
          <p:cNvSpPr/>
          <p:nvPr/>
        </p:nvSpPr>
        <p:spPr>
          <a:xfrm>
            <a:off x="3385416" y="1938910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Полноценное сопровождение бизнеса "под ключ"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F777FE98-1FCD-150D-E596-B0C8463AEF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2366" y="617538"/>
            <a:ext cx="6629400" cy="539750"/>
          </a:xfrm>
        </p:spPr>
        <p:txBody>
          <a:bodyPr/>
          <a:lstStyle/>
          <a:p>
            <a:r>
              <a:rPr lang="ru-RU" dirty="0"/>
              <a:t>Разница КП Базовый/ПРОФ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41C5832-9FE1-8D16-8E93-103B1B46BB28}"/>
              </a:ext>
            </a:extLst>
          </p:cNvPr>
          <p:cNvSpPr/>
          <p:nvPr/>
        </p:nvSpPr>
        <p:spPr>
          <a:xfrm>
            <a:off x="685799" y="2558035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Обновления 1С</a:t>
            </a:r>
            <a:endParaRPr lang="ru-RU"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7DCB712-1A72-C1D7-7124-25C289146E6D}"/>
              </a:ext>
            </a:extLst>
          </p:cNvPr>
          <p:cNvSpPr/>
          <p:nvPr/>
        </p:nvSpPr>
        <p:spPr>
          <a:xfrm>
            <a:off x="7514394" y="2558035"/>
            <a:ext cx="3763172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Есть, но самостоятельно скачиваете </a:t>
            </a:r>
            <a:b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устанавливаете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938617B1-37B1-F2B0-093F-41600C5F3D8A}"/>
              </a:ext>
            </a:extLst>
          </p:cNvPr>
          <p:cNvSpPr/>
          <p:nvPr/>
        </p:nvSpPr>
        <p:spPr>
          <a:xfrm>
            <a:off x="3385416" y="2558035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Есть, и специалисты партнёра сами всё обновляют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18781C8-E3DC-592C-72A6-ADE9556CDB57}"/>
              </a:ext>
            </a:extLst>
          </p:cNvPr>
          <p:cNvSpPr/>
          <p:nvPr/>
        </p:nvSpPr>
        <p:spPr>
          <a:xfrm>
            <a:off x="685799" y="3159000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Линия консультаций </a:t>
            </a:r>
            <a:b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(1С и партнёры)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1AC2F201-236C-5B04-EE5E-D5DF97771A02}"/>
              </a:ext>
            </a:extLst>
          </p:cNvPr>
          <p:cNvSpPr/>
          <p:nvPr/>
        </p:nvSpPr>
        <p:spPr>
          <a:xfrm>
            <a:off x="7514394" y="3159000"/>
            <a:ext cx="3763172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Одна консультация в месяц </a:t>
            </a:r>
            <a:b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(это очень мало для работы)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7F1C7E7F-B431-7A1B-1791-752C274CAB1F}"/>
              </a:ext>
            </a:extLst>
          </p:cNvPr>
          <p:cNvSpPr/>
          <p:nvPr/>
        </p:nvSpPr>
        <p:spPr>
          <a:xfrm>
            <a:off x="3385416" y="3159000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Неограниченно </a:t>
            </a:r>
            <a:b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(можно спрашивать хоть каждый день)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7B16251D-B0FF-C1D9-1A65-B5845C39AC6E}"/>
              </a:ext>
            </a:extLst>
          </p:cNvPr>
          <p:cNvSpPr/>
          <p:nvPr/>
        </p:nvSpPr>
        <p:spPr>
          <a:xfrm>
            <a:off x="685799" y="3778125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1С:Отчётность</a:t>
            </a:r>
            <a:endParaRPr lang="ru-RU"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B9DC8A7-D399-8074-F056-CB2714F17A98}"/>
              </a:ext>
            </a:extLst>
          </p:cNvPr>
          <p:cNvSpPr/>
          <p:nvPr/>
        </p:nvSpPr>
        <p:spPr>
          <a:xfrm>
            <a:off x="7514394" y="3778125"/>
            <a:ext cx="3763172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входит (отдельная плата ~6 600 ₽/год)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157A760A-9D1C-A294-4305-E0CB611EAF90}"/>
              </a:ext>
            </a:extLst>
          </p:cNvPr>
          <p:cNvSpPr/>
          <p:nvPr/>
        </p:nvSpPr>
        <p:spPr>
          <a:xfrm>
            <a:off x="3385416" y="3778125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Включена для 1 юрлица/ИП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D770712-75F0-75B1-2EF4-CA30BE536418}"/>
              </a:ext>
            </a:extLst>
          </p:cNvPr>
          <p:cNvSpPr/>
          <p:nvPr/>
        </p:nvSpPr>
        <p:spPr>
          <a:xfrm>
            <a:off x="685799" y="4397250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1С:Контрагент </a:t>
            </a:r>
            <a:b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(проверка и автозаполнение)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3D7254AA-9CF0-42E0-5C80-E9C8AE625EE3}"/>
              </a:ext>
            </a:extLst>
          </p:cNvPr>
          <p:cNvSpPr/>
          <p:nvPr/>
        </p:nvSpPr>
        <p:spPr>
          <a:xfrm>
            <a:off x="7514394" y="4397250"/>
            <a:ext cx="3763172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входит (отдельная плата ~4 800 ₽/год)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06109327-52B2-D76B-56C8-6E0769053B2C}"/>
              </a:ext>
            </a:extLst>
          </p:cNvPr>
          <p:cNvSpPr/>
          <p:nvPr/>
        </p:nvSpPr>
        <p:spPr>
          <a:xfrm>
            <a:off x="3385416" y="4397250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Включён (7 200 автозаполнений + 360 досье)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2395A955-DD4A-CEE0-251A-BB0D80401198}"/>
              </a:ext>
            </a:extLst>
          </p:cNvPr>
          <p:cNvSpPr/>
          <p:nvPr/>
        </p:nvSpPr>
        <p:spPr>
          <a:xfrm>
            <a:off x="685799" y="4998215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1С-ЭДО </a:t>
            </a:r>
            <a:b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(электронные счета-фактуры)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E505D444-D68B-4019-B7A4-85C0E903ED8D}"/>
              </a:ext>
            </a:extLst>
          </p:cNvPr>
          <p:cNvSpPr/>
          <p:nvPr/>
        </p:nvSpPr>
        <p:spPr>
          <a:xfrm>
            <a:off x="7514394" y="4998215"/>
            <a:ext cx="3763172" cy="540000"/>
          </a:xfrm>
          <a:prstGeom prst="roundRect">
            <a:avLst/>
          </a:prstGeom>
          <a:solidFill>
            <a:srgbClr val="FFF7E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50 пакетов/мес. на отправку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838A6F96-84E9-FC7A-D555-941B38F44DCA}"/>
              </a:ext>
            </a:extLst>
          </p:cNvPr>
          <p:cNvSpPr/>
          <p:nvPr/>
        </p:nvSpPr>
        <p:spPr>
          <a:xfrm>
            <a:off x="3385416" y="4998215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100 пакетов/мес на отправку </a:t>
            </a:r>
            <a:b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(получение — безлимит)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646927D9-24CF-BD89-DD3C-B92B2B199206}"/>
              </a:ext>
            </a:extLst>
          </p:cNvPr>
          <p:cNvSpPr/>
          <p:nvPr/>
        </p:nvSpPr>
        <p:spPr>
          <a:xfrm>
            <a:off x="685799" y="5617340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1С-Лекторий</a:t>
            </a:r>
            <a:b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(вебинары и семинары)</a:t>
            </a:r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AA6DF9DE-A697-9B52-4B05-C61EED1AECA7}"/>
              </a:ext>
            </a:extLst>
          </p:cNvPr>
          <p:cNvSpPr/>
          <p:nvPr/>
        </p:nvSpPr>
        <p:spPr>
          <a:xfrm>
            <a:off x="7514394" y="5617340"/>
            <a:ext cx="3763172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входит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6ECD46F3-091F-2170-9B8A-FCCD71083E45}"/>
              </a:ext>
            </a:extLst>
          </p:cNvPr>
          <p:cNvSpPr/>
          <p:nvPr/>
        </p:nvSpPr>
        <p:spPr>
          <a:xfrm>
            <a:off x="3385416" y="5617340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Включён (до 10 сотрудников, записи безлимитно)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54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D6FA6-3B9F-0E0B-5C95-E0BD0996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1E11BE4-20E2-0697-718E-EF49DFE23BC5}"/>
              </a:ext>
            </a:extLst>
          </p:cNvPr>
          <p:cNvSpPr/>
          <p:nvPr/>
        </p:nvSpPr>
        <p:spPr>
          <a:xfrm>
            <a:off x="685799" y="1253110"/>
            <a:ext cx="2505075" cy="540000"/>
          </a:xfrm>
          <a:prstGeom prst="roundRect">
            <a:avLst/>
          </a:prstGeom>
          <a:solidFill>
            <a:srgbClr val="F2F1F8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Параметр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ACC8634-DA38-8AC9-5BBE-0B67C560157C}"/>
              </a:ext>
            </a:extLst>
          </p:cNvPr>
          <p:cNvSpPr/>
          <p:nvPr/>
        </p:nvSpPr>
        <p:spPr>
          <a:xfrm>
            <a:off x="685799" y="1938910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Отвечает аудитор </a:t>
            </a: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(письменные консультации </a:t>
            </a:r>
            <a:b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 экспертов 1С)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AAD8000-4C0D-E030-80C4-86E1E4351542}"/>
              </a:ext>
            </a:extLst>
          </p:cNvPr>
          <p:cNvSpPr/>
          <p:nvPr/>
        </p:nvSpPr>
        <p:spPr>
          <a:xfrm>
            <a:off x="7514394" y="1938910"/>
            <a:ext cx="3763172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входит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64749DC-B53A-EFB3-A689-A5F0922242F3}"/>
              </a:ext>
            </a:extLst>
          </p:cNvPr>
          <p:cNvSpPr/>
          <p:nvPr/>
        </p:nvSpPr>
        <p:spPr>
          <a:xfrm>
            <a:off x="3385416" y="1938910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Включён (неограниченно)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E5E8C4F-3F3E-F6DD-7D68-812E5BEC40D8}"/>
              </a:ext>
            </a:extLst>
          </p:cNvPr>
          <p:cNvSpPr/>
          <p:nvPr/>
        </p:nvSpPr>
        <p:spPr>
          <a:xfrm>
            <a:off x="685799" y="2558035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1С:Облачный архив </a:t>
            </a: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(резервное копирование </a:t>
            </a:r>
            <a:b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 облако)</a:t>
            </a:r>
            <a:endParaRPr lang="ru-RU" sz="105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83C766C-9B11-F455-C691-1D7F09588848}"/>
              </a:ext>
            </a:extLst>
          </p:cNvPr>
          <p:cNvSpPr/>
          <p:nvPr/>
        </p:nvSpPr>
        <p:spPr>
          <a:xfrm>
            <a:off x="7514394" y="2558035"/>
            <a:ext cx="3763172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входит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E2AAF80-C95E-0117-5689-D18B6401581A}"/>
              </a:ext>
            </a:extLst>
          </p:cNvPr>
          <p:cNvSpPr/>
          <p:nvPr/>
        </p:nvSpPr>
        <p:spPr>
          <a:xfrm>
            <a:off x="3385416" y="2558035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Включён (20 Гб)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EC166472-79F3-0AA1-A26A-09F9E23A802F}"/>
              </a:ext>
            </a:extLst>
          </p:cNvPr>
          <p:cNvSpPr/>
          <p:nvPr/>
        </p:nvSpPr>
        <p:spPr>
          <a:xfrm>
            <a:off x="685799" y="3159000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1С:Линк</a:t>
            </a: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(удалённый доступ </a:t>
            </a:r>
            <a:b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 1С из дома/филиала)</a:t>
            </a:r>
            <a:endParaRPr lang="ru-RU" sz="105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9BB08069-F890-B144-CF39-1756A20ECA3F}"/>
              </a:ext>
            </a:extLst>
          </p:cNvPr>
          <p:cNvSpPr/>
          <p:nvPr/>
        </p:nvSpPr>
        <p:spPr>
          <a:xfrm>
            <a:off x="7514394" y="3159000"/>
            <a:ext cx="3763172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входит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612671C4-A31C-D2CE-C859-7A32F5599888}"/>
              </a:ext>
            </a:extLst>
          </p:cNvPr>
          <p:cNvSpPr/>
          <p:nvPr/>
        </p:nvSpPr>
        <p:spPr>
          <a:xfrm>
            <a:off x="3385416" y="3159000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Включён (2 базы)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0FC966E-7024-6F41-CAEE-70FFA05A413B}"/>
              </a:ext>
            </a:extLst>
          </p:cNvPr>
          <p:cNvSpPr/>
          <p:nvPr/>
        </p:nvSpPr>
        <p:spPr>
          <a:xfrm>
            <a:off x="685799" y="3778125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1С:Подпись</a:t>
            </a: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  <a:b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(электронная подпись)</a:t>
            </a:r>
            <a:endParaRPr lang="ru-RU" sz="105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F800F593-8126-627E-4E58-78C70D694239}"/>
              </a:ext>
            </a:extLst>
          </p:cNvPr>
          <p:cNvSpPr/>
          <p:nvPr/>
        </p:nvSpPr>
        <p:spPr>
          <a:xfrm>
            <a:off x="7514394" y="3778125"/>
            <a:ext cx="3763172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входит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ADE0CC4E-CB42-92A2-09B0-45685021ADA0}"/>
              </a:ext>
            </a:extLst>
          </p:cNvPr>
          <p:cNvSpPr/>
          <p:nvPr/>
        </p:nvSpPr>
        <p:spPr>
          <a:xfrm>
            <a:off x="3385416" y="3778125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 лицензия в год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30D54219-7743-C573-B5EE-C35983732E67}"/>
              </a:ext>
            </a:extLst>
          </p:cNvPr>
          <p:cNvSpPr/>
          <p:nvPr/>
        </p:nvSpPr>
        <p:spPr>
          <a:xfrm>
            <a:off x="685799" y="4397250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Информационная система </a:t>
            </a: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100" u="sng" dirty="0">
                <a:solidFill>
                  <a:srgbClr val="3964FE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2"/>
              </a:rPr>
              <a:t>its.1c.ru</a:t>
            </a: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  <a:endParaRPr lang="ru-RU" sz="105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4CB27232-E5F1-9240-C3E6-859A9A91E27C}"/>
              </a:ext>
            </a:extLst>
          </p:cNvPr>
          <p:cNvSpPr/>
          <p:nvPr/>
        </p:nvSpPr>
        <p:spPr>
          <a:xfrm>
            <a:off x="7514394" y="4397250"/>
            <a:ext cx="3763172" cy="540000"/>
          </a:xfrm>
          <a:prstGeom prst="roundRect">
            <a:avLst/>
          </a:prstGeom>
          <a:solidFill>
            <a:srgbClr val="FFF7E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Ограниченный доступ </a:t>
            </a:r>
            <a:b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(только новости и методики)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1D137E9B-18FD-819C-C442-C0D482A44420}"/>
              </a:ext>
            </a:extLst>
          </p:cNvPr>
          <p:cNvSpPr/>
          <p:nvPr/>
        </p:nvSpPr>
        <p:spPr>
          <a:xfrm>
            <a:off x="3385416" y="4397250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Полный доступ (справочники, правовая база "Гарант", книги, архивы)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2B1CD605-AE90-95BF-7390-F3480E3B3A54}"/>
              </a:ext>
            </a:extLst>
          </p:cNvPr>
          <p:cNvSpPr/>
          <p:nvPr/>
        </p:nvSpPr>
        <p:spPr>
          <a:xfrm>
            <a:off x="685799" y="4998215"/>
            <a:ext cx="2505075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b="1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Журнал «БУХ.1С» и книги</a:t>
            </a:r>
            <a:endParaRPr lang="ru-RU" sz="105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585E4892-8F24-7312-6352-A3AA302AA3EB}"/>
              </a:ext>
            </a:extLst>
          </p:cNvPr>
          <p:cNvSpPr/>
          <p:nvPr/>
        </p:nvSpPr>
        <p:spPr>
          <a:xfrm>
            <a:off x="7514394" y="4998215"/>
            <a:ext cx="3763172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Только журнал</a:t>
            </a:r>
            <a:endParaRPr lang="ru-RU" sz="105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31934BD5-597E-06AF-7773-FB022AE03A24}"/>
              </a:ext>
            </a:extLst>
          </p:cNvPr>
          <p:cNvSpPr/>
          <p:nvPr/>
        </p:nvSpPr>
        <p:spPr>
          <a:xfrm>
            <a:off x="3385416" y="4998215"/>
            <a:ext cx="4034886" cy="540000"/>
          </a:xfrm>
          <a:prstGeom prst="roundRect">
            <a:avLst/>
          </a:prstGeom>
          <a:solidFill>
            <a:srgbClr val="E9F5F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1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Журнал + электронные книги и аудио </a:t>
            </a:r>
            <a:endParaRPr lang="ru-RU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Заголовок 15">
            <a:extLst>
              <a:ext uri="{FF2B5EF4-FFF2-40B4-BE49-F238E27FC236}">
                <a16:creationId xmlns:a16="http://schemas.microsoft.com/office/drawing/2014/main" id="{08EBF47C-3F3C-0A05-AD67-D9E921E7298A}"/>
              </a:ext>
            </a:extLst>
          </p:cNvPr>
          <p:cNvSpPr txBox="1">
            <a:spLocks/>
          </p:cNvSpPr>
          <p:nvPr/>
        </p:nvSpPr>
        <p:spPr>
          <a:xfrm>
            <a:off x="572366" y="617538"/>
            <a:ext cx="6629400" cy="53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/>
              <a:t>Разница КП Базовый/ПРОФ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A4953F-9638-3D5F-DB61-E5064BF12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142" y="934970"/>
            <a:ext cx="870073" cy="6858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90544A-C390-8A0E-4071-F7E4B63F6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070" y="934970"/>
            <a:ext cx="710831" cy="685800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4670477-BBB8-C372-80A9-0795B866A1F4}"/>
              </a:ext>
            </a:extLst>
          </p:cNvPr>
          <p:cNvSpPr/>
          <p:nvPr/>
        </p:nvSpPr>
        <p:spPr>
          <a:xfrm>
            <a:off x="7514394" y="1253110"/>
            <a:ext cx="3763172" cy="540000"/>
          </a:xfrm>
          <a:prstGeom prst="roundRect">
            <a:avLst/>
          </a:prstGeom>
          <a:solidFill>
            <a:srgbClr val="F2F1F8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1С:КП Базовый (Техно)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B120431-9572-AE08-8A4B-F840BEE4CE34}"/>
              </a:ext>
            </a:extLst>
          </p:cNvPr>
          <p:cNvSpPr/>
          <p:nvPr/>
        </p:nvSpPr>
        <p:spPr>
          <a:xfrm>
            <a:off x="3385416" y="1253110"/>
            <a:ext cx="4034886" cy="540000"/>
          </a:xfrm>
          <a:prstGeom prst="roundRect">
            <a:avLst/>
          </a:prstGeom>
          <a:solidFill>
            <a:srgbClr val="F2F1F8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ru-RU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1С:КП ПРОФ</a:t>
            </a:r>
          </a:p>
        </p:txBody>
      </p:sp>
    </p:spTree>
    <p:extLst>
      <p:ext uri="{BB962C8B-B14F-4D97-AF65-F5344CB8AC3E}">
        <p14:creationId xmlns:p14="http://schemas.microsoft.com/office/powerpoint/2010/main" val="177814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4DF613F-A305-2122-C013-9AC4633AF1E1}"/>
              </a:ext>
            </a:extLst>
          </p:cNvPr>
          <p:cNvSpPr/>
          <p:nvPr/>
        </p:nvSpPr>
        <p:spPr>
          <a:xfrm>
            <a:off x="685799" y="1699593"/>
            <a:ext cx="6374834" cy="2254945"/>
          </a:xfrm>
          <a:prstGeom prst="roundRect">
            <a:avLst>
              <a:gd name="adj" fmla="val 10630"/>
            </a:avLst>
          </a:prstGeom>
          <a:solidFill>
            <a:srgbClr val="F0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ООО «Ромашка»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 сотрудников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Ведет бухгалтерский и налоговый учет в 1С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Сдает отчетность в контролирующие органы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Работает с поставщиками через ЭДО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Периодически обращается на линию консультаций</a:t>
            </a:r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36297690" name="Прямоугольник: скругленные углы 7"/>
          <p:cNvSpPr/>
          <p:nvPr/>
        </p:nvSpPr>
        <p:spPr bwMode="auto"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22805-F913-4185-8F33-2D6851C24571}"/>
              </a:ext>
            </a:extLst>
          </p:cNvPr>
          <p:cNvSpPr txBox="1"/>
          <p:nvPr/>
        </p:nvSpPr>
        <p:spPr bwMode="auto">
          <a:xfrm>
            <a:off x="685800" y="4207983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Сначала приобрели КП Базовый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765D83-474E-4834-A63D-599D97992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4714646"/>
            <a:ext cx="6574860" cy="1394411"/>
          </a:xfrm>
          <a:prstGeom prst="roundRect">
            <a:avLst>
              <a:gd name="adj" fmla="val 9836"/>
            </a:avLst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97D2F-06E2-A603-D703-89049652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>
            <a:normAutofit/>
          </a:bodyPr>
          <a:lstStyle/>
          <a:p>
            <a:r>
              <a:rPr lang="ru-RU" dirty="0"/>
              <a:t>Когда «экономный» выбор становится дороже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7BEEADF-6B0E-604B-7217-5324D8D07D4B}"/>
              </a:ext>
            </a:extLst>
          </p:cNvPr>
          <p:cNvSpPr/>
          <p:nvPr/>
        </p:nvSpPr>
        <p:spPr bwMode="auto">
          <a:xfrm rot="952550">
            <a:off x="5922821" y="1607198"/>
            <a:ext cx="1228724" cy="36761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Клиент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0FCA713-FC46-B323-B502-9B634BE763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6972" flipH="1">
            <a:off x="7233850" y="5790378"/>
            <a:ext cx="226976" cy="9001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1BC8390-5805-7DB2-8479-3A9A8359982E}"/>
              </a:ext>
            </a:extLst>
          </p:cNvPr>
          <p:cNvSpPr/>
          <p:nvPr/>
        </p:nvSpPr>
        <p:spPr>
          <a:xfrm>
            <a:off x="685800" y="4502699"/>
            <a:ext cx="6629400" cy="1608044"/>
          </a:xfrm>
          <a:prstGeom prst="roundRect">
            <a:avLst>
              <a:gd name="adj" fmla="val 9530"/>
            </a:avLst>
          </a:prstGeom>
          <a:solidFill>
            <a:srgbClr val="E9F5F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 ИТС ПРОФ расходы ниже, при этом клиент получает: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Больше сервисов без дополнительных затрат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Расширенную консультационную поддержку 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Увеличенный лимит ЭДО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Удобство работы без необходимости покупать сервисы отдельно</a:t>
            </a:r>
          </a:p>
        </p:txBody>
      </p:sp>
      <p:sp>
        <p:nvSpPr>
          <p:cNvPr id="1936297690" name="Прямоугольник: скругленные углы 7"/>
          <p:cNvSpPr/>
          <p:nvPr/>
        </p:nvSpPr>
        <p:spPr bwMode="auto"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1FC8B0-D866-4298-96DD-99E7EC682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698" y="1404224"/>
            <a:ext cx="3986743" cy="1900010"/>
          </a:xfrm>
          <a:prstGeom prst="roundRect">
            <a:avLst>
              <a:gd name="adj" fmla="val 9836"/>
            </a:avLst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003871-FDF1-477A-B921-2A96AFB2F70E}"/>
              </a:ext>
            </a:extLst>
          </p:cNvPr>
          <p:cNvSpPr txBox="1"/>
          <p:nvPr/>
        </p:nvSpPr>
        <p:spPr bwMode="auto">
          <a:xfrm>
            <a:off x="685800" y="3584379"/>
            <a:ext cx="6629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При выборе КП Базовый клиент дополнительно 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оплатил необходимые сервисы и консультации,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поэтому его расходы составили 71 884 ₽.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B7E5F-43A2-EC0A-79E4-DD4FCC6D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бы сразу приобрели </a:t>
            </a:r>
            <a:br>
              <a:rPr lang="ru-RU" dirty="0"/>
            </a:br>
            <a:r>
              <a:rPr lang="ru-RU" dirty="0"/>
              <a:t>КП ПРОФ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DD850-C40C-855E-43B1-7CD6874A59C8}"/>
              </a:ext>
            </a:extLst>
          </p:cNvPr>
          <p:cNvSpPr txBox="1"/>
          <p:nvPr/>
        </p:nvSpPr>
        <p:spPr>
          <a:xfrm>
            <a:off x="759686" y="1816100"/>
            <a:ext cx="15144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strike="sngStrike" dirty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71 884 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1A35A-EBAB-204F-3C31-9DA0FB5CEA3F}"/>
              </a:ext>
            </a:extLst>
          </p:cNvPr>
          <p:cNvSpPr txBox="1"/>
          <p:nvPr/>
        </p:nvSpPr>
        <p:spPr bwMode="auto">
          <a:xfrm>
            <a:off x="721586" y="2215605"/>
            <a:ext cx="1800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68 400 ₽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1A68E7D-EC2D-169F-25DD-F0480D179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46" y="2154654"/>
            <a:ext cx="2134665" cy="58103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D2A1F9-FE59-C469-B62E-DEC0971785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9762187" flipH="1">
            <a:off x="7232091" y="920909"/>
            <a:ext cx="226976" cy="90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3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9B0CBC-831D-56D9-2C0C-9186A7639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50733">
            <a:off x="114643" y="3664969"/>
            <a:ext cx="1218509" cy="96044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3F1387-893F-C5A1-A703-D8752C50D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772" y="2242742"/>
            <a:ext cx="935040" cy="902114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4114344A-0EBA-1CCB-C1A6-AF59A5B5E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214935"/>
            <a:ext cx="6629400" cy="430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Что разобрали</a:t>
            </a:r>
          </a:p>
        </p:txBody>
      </p:sp>
      <p:pic>
        <p:nvPicPr>
          <p:cNvPr id="15" name="Рисунок 14" descr="Изображение выглядит как черный, снимок экрана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DC3ECC-590C-9C66-0966-39B4E4A3D1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597" y="268244"/>
            <a:ext cx="1706953" cy="1559802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6972AFC-7AAC-3740-BD31-A3B5663DB759}"/>
              </a:ext>
            </a:extLst>
          </p:cNvPr>
          <p:cNvSpPr/>
          <p:nvPr/>
        </p:nvSpPr>
        <p:spPr>
          <a:xfrm>
            <a:off x="685799" y="1792263"/>
            <a:ext cx="6391274" cy="1352593"/>
          </a:xfrm>
          <a:prstGeom prst="roundRect">
            <a:avLst>
              <a:gd name="adj" fmla="val 1651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</a:t>
            </a:r>
            <a:r>
              <a:rPr lang="ru-RU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КП:Базовый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— минимальный тариф для пользователей. 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Даёт официальные обновления, базовый ЭДО 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доступ к поддержке фирмы 1С. 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9545748-EE32-7E4B-D8AF-7001EBD49E3F}"/>
              </a:ext>
            </a:extLst>
          </p:cNvPr>
          <p:cNvSpPr/>
          <p:nvPr/>
        </p:nvSpPr>
        <p:spPr>
          <a:xfrm>
            <a:off x="685799" y="3291971"/>
            <a:ext cx="6391274" cy="2080129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Тариф КП:ПРОФ</a:t>
            </a:r>
          </a:p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— сопровождение под ключ. Включает обновления от партнёров, безлимитные консультации, отчётность, Контрагент, ЭДО, облачный архив и другие сервисы. </a:t>
            </a:r>
          </a:p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тех, кто хочет работать без лишних забот.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D7913D7-49AD-E5ED-F499-F808BA6E6BEF}"/>
              </a:ext>
            </a:extLst>
          </p:cNvPr>
          <p:cNvSpPr/>
          <p:nvPr/>
        </p:nvSpPr>
        <p:spPr>
          <a:xfrm>
            <a:off x="685799" y="5519215"/>
            <a:ext cx="6391274" cy="624514"/>
          </a:xfrm>
          <a:prstGeom prst="roundRect">
            <a:avLst>
              <a:gd name="adj" fmla="val 2261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Ключевые различия тарифов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843BDEE-3E4F-682E-8EC2-81BAE22035B0}"/>
              </a:ext>
            </a:extLst>
          </p:cNvPr>
          <p:cNvSpPr/>
          <p:nvPr/>
        </p:nvSpPr>
        <p:spPr>
          <a:xfrm>
            <a:off x="688228" y="675507"/>
            <a:ext cx="1492997" cy="3344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Итоги урока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55CB581-531E-0E63-1A60-DEAE9FBE93E9}"/>
              </a:ext>
            </a:extLst>
          </p:cNvPr>
          <p:cNvSpPr/>
          <p:nvPr/>
        </p:nvSpPr>
        <p:spPr bwMode="auto"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218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AA2FC-5FB6-C639-36D2-812E2E6A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C03984F-24F6-DCDF-81DC-73BB543ED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85876"/>
            <a:ext cx="3025328" cy="86619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D8468-A55F-D7CA-54FB-08AF5B65F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94840"/>
            <a:ext cx="9829800" cy="2266833"/>
          </a:xfrm>
        </p:spPr>
        <p:txBody>
          <a:bodyPr>
            <a:normAutofit/>
          </a:bodyPr>
          <a:lstStyle/>
          <a:p>
            <a:r>
              <a:rPr lang="ru-RU" sz="5000" b="1" dirty="0"/>
              <a:t>Вперёд к новым </a:t>
            </a:r>
            <a:br>
              <a:rPr lang="ru-RU" sz="5000" b="1" dirty="0"/>
            </a:br>
            <a:r>
              <a:rPr lang="ru-RU" sz="5000" b="1" dirty="0"/>
              <a:t>вершинам!</a:t>
            </a:r>
          </a:p>
        </p:txBody>
      </p:sp>
      <p:pic>
        <p:nvPicPr>
          <p:cNvPr id="10" name="Рисунок 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16DAE2-2981-32C3-6625-DE1B3E382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17" y="3008994"/>
            <a:ext cx="550896" cy="77059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CB7893-F5F0-E4E6-B33A-18D8DF664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727" y="2915506"/>
            <a:ext cx="274737" cy="382404"/>
          </a:xfrm>
          <a:prstGeom prst="rect">
            <a:avLst/>
          </a:prstGeom>
        </p:spPr>
      </p:pic>
      <p:sp>
        <p:nvSpPr>
          <p:cNvPr id="7" name="Подзаголовок 4">
            <a:extLst>
              <a:ext uri="{FF2B5EF4-FFF2-40B4-BE49-F238E27FC236}">
                <a16:creationId xmlns:a16="http://schemas.microsoft.com/office/drawing/2014/main" id="{4CFD28DF-C456-BB2D-6F4C-9BFD1552A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273" y="3340769"/>
            <a:ext cx="5054191" cy="11573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000" b="1" dirty="0"/>
              <a:t>Алина Антипина</a:t>
            </a:r>
            <a:br>
              <a:rPr lang="ru-RU" sz="2000" dirty="0"/>
            </a:br>
            <a:r>
              <a:rPr lang="ru-RU" sz="2000" dirty="0"/>
              <a:t>Ведущий менеджер отдела продаж 1С и ИТС. Коммерция</a:t>
            </a:r>
          </a:p>
        </p:txBody>
      </p:sp>
      <p:pic>
        <p:nvPicPr>
          <p:cNvPr id="13" name="Рисунок 12" descr="Изображение выглядит как щетка, инстр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36DB76-0332-CCC8-6B3E-DB430A6C8F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650" y="2627423"/>
            <a:ext cx="5107087" cy="4058817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BB2938C-DB20-FB99-E2C1-3D433082EBDF}"/>
              </a:ext>
            </a:extLst>
          </p:cNvPr>
          <p:cNvSpPr/>
          <p:nvPr/>
        </p:nvSpPr>
        <p:spPr>
          <a:xfrm>
            <a:off x="781274" y="4710093"/>
            <a:ext cx="2614493" cy="389649"/>
          </a:xfrm>
          <a:prstGeom prst="roundRect">
            <a:avLst>
              <a:gd name="adj" fmla="val 32889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aantipina@forus.ru</a:t>
            </a:r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8" name="Рисунок 17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F7E57A-0DF0-F077-1B79-9DAE88869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13" y="4758673"/>
            <a:ext cx="295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747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Форус">
      <a:dk1>
        <a:srgbClr val="000000"/>
      </a:dk1>
      <a:lt1>
        <a:srgbClr val="FFFFFF"/>
      </a:lt1>
      <a:dk2>
        <a:srgbClr val="385E75"/>
      </a:dk2>
      <a:lt2>
        <a:srgbClr val="FFFFFF"/>
      </a:lt2>
      <a:accent1>
        <a:srgbClr val="FFCF66"/>
      </a:accent1>
      <a:accent2>
        <a:srgbClr val="385E75"/>
      </a:accent2>
      <a:accent3>
        <a:srgbClr val="D64A4A"/>
      </a:accent3>
      <a:accent4>
        <a:srgbClr val="A5A5A5"/>
      </a:accent4>
      <a:accent5>
        <a:srgbClr val="24DB6E"/>
      </a:accent5>
      <a:accent6>
        <a:srgbClr val="610040"/>
      </a:accent6>
      <a:hlink>
        <a:srgbClr val="385E75"/>
      </a:hlink>
      <a:folHlink>
        <a:srgbClr val="BFBFBF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5679</TotalTime>
  <Words>1886</Words>
  <Application>Microsoft Office PowerPoint</Application>
  <PresentationFormat>Широкоэкранный</PresentationFormat>
  <Paragraphs>241</Paragraphs>
  <Slides>24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Aptos</vt:lpstr>
      <vt:lpstr>Arial</vt:lpstr>
      <vt:lpstr>Arial Nova</vt:lpstr>
      <vt:lpstr>Calibri</vt:lpstr>
      <vt:lpstr>Verdana</vt:lpstr>
      <vt:lpstr>Тема Office</vt:lpstr>
      <vt:lpstr>Тарифы 1С:КП  ПРОФ и Базовый</vt:lpstr>
      <vt:lpstr>Цель и структура  обучения</vt:lpstr>
      <vt:lpstr>Договор 1С:КП </vt:lpstr>
      <vt:lpstr>1С:КП ПРОФ</vt:lpstr>
      <vt:lpstr>Что входит в тариф КП ПРОФ от 1С</vt:lpstr>
      <vt:lpstr>Презентация PowerPoint</vt:lpstr>
      <vt:lpstr>Сервисы, включенные в тариф</vt:lpstr>
      <vt:lpstr>Сервисы, включенные в тариф</vt:lpstr>
      <vt:lpstr>Сервисы, включенные в тариф</vt:lpstr>
      <vt:lpstr>Сервисы, включенные в тариф</vt:lpstr>
      <vt:lpstr>Сервисы, включенные в тариф</vt:lpstr>
      <vt:lpstr>Сервисы, включенные в тариф</vt:lpstr>
      <vt:lpstr>Сервисы, включенные в тариф</vt:lpstr>
      <vt:lpstr>Сервисы, включенные в тариф</vt:lpstr>
      <vt:lpstr>Кто чаще использует КП ПРОФ</vt:lpstr>
      <vt:lpstr>1С:КП Базовый (ИТС Техно)</vt:lpstr>
      <vt:lpstr>Что входит в тариф  КП Базовый от 1С</vt:lpstr>
      <vt:lpstr>Главное отличие</vt:lpstr>
      <vt:lpstr>Разница КП Базовый/ПРОФ</vt:lpstr>
      <vt:lpstr>Презентация PowerPoint</vt:lpstr>
      <vt:lpstr>Когда «экономный» выбор становится дороже</vt:lpstr>
      <vt:lpstr>Если бы сразу приобрели  КП ПРОФ</vt:lpstr>
      <vt:lpstr>Презентация PowerPoint</vt:lpstr>
      <vt:lpstr>Вперёд к новым  вершинам!</vt:lpstr>
    </vt:vector>
  </TitlesOfParts>
  <Company>RePack by SPecialiST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Обзор системы 1С:Предприятие 8</dc:title>
  <dc:creator>Черепанова Виктория</dc:creator>
  <cp:lastModifiedBy>Черепанова Виктория</cp:lastModifiedBy>
  <cp:revision>214</cp:revision>
  <dcterms:created xsi:type="dcterms:W3CDTF">2025-12-10T10:28:34Z</dcterms:created>
  <dcterms:modified xsi:type="dcterms:W3CDTF">2026-08-20T01:08:02Z</dcterms:modified>
</cp:coreProperties>
</file>