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2" d="100"/>
          <a:sy n="82" d="100"/>
        </p:scale>
        <p:origin x="696" y="5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4" y="5452140"/>
            <a:ext cx="608488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4" y="5297013"/>
            <a:ext cx="989160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Титульны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pPr>
              <a:defRPr/>
            </a:pPr>
            <a:r>
              <a:rPr lang="ru-RU"/>
              <a:t>Название</a:t>
            </a:r>
            <a:br>
              <a:rPr lang="ru-RU"/>
            </a:br>
            <a:r>
              <a:rPr lang="ru-RU"/>
              <a:t>Заголовок доклада</a:t>
            </a:r>
            <a:endParaRPr/>
          </a:p>
        </p:txBody>
      </p:sp>
      <p:sp>
        <p:nvSpPr>
          <p:cNvPr id="5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4" y="5297013"/>
            <a:ext cx="9891608" cy="776557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Слайд с текст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Слайд с текст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Слайд с текст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Слайд с фон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Слайд с фоном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14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нумерованный список в 2 колонки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865430" y="1129630"/>
            <a:ext cx="5415345" cy="4330604"/>
          </a:xfrm>
        </p:spPr>
        <p:txBody>
          <a:bodyPr lIns="36000" tIns="36000" rIns="36000" bIns="3600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/>
            </a:lvl1pPr>
          </a:lstStyle>
          <a:p>
            <a:pPr lvl="0">
              <a:defRPr/>
            </a:pPr>
            <a:r>
              <a:rPr lang="ru-RU"/>
              <a:t>Первый пункт</a:t>
            </a:r>
            <a:endParaRPr/>
          </a:p>
          <a:p>
            <a:pPr lvl="0">
              <a:defRPr/>
            </a:pPr>
            <a:r>
              <a:rPr lang="ru-RU"/>
              <a:t>Второй пункт </a:t>
            </a:r>
            <a:endParaRPr/>
          </a:p>
          <a:p>
            <a:pPr lvl="0">
              <a:defRPr/>
            </a:pPr>
            <a:r>
              <a:rPr lang="ru-RU"/>
              <a:t>Третий пункт 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74713" y="963647"/>
            <a:ext cx="4620740" cy="2467616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маркированный список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7132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4902" y="1562400"/>
            <a:ext cx="10392697" cy="4012831"/>
          </a:xfrm>
        </p:spPr>
        <p:txBody>
          <a:bodyPr lIns="36000" tIns="36000" rIns="36000" bIns="3600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/>
              <a:buChar char="–"/>
              <a:defRPr sz="1800" b="0"/>
            </a:lvl2pPr>
          </a:lstStyle>
          <a:p>
            <a:pPr lvl="0">
              <a:defRPr/>
            </a:pPr>
            <a:r>
              <a:rPr lang="ru-RU"/>
              <a:t>Первая позиция в списке</a:t>
            </a:r>
            <a:endParaRPr/>
          </a:p>
          <a:p>
            <a:pPr lvl="0">
              <a:defRPr/>
            </a:pPr>
            <a:r>
              <a:rPr lang="ru-RU"/>
              <a:t>Вторая позиция в списке</a:t>
            </a:r>
            <a:endParaRPr/>
          </a:p>
          <a:p>
            <a:pPr lvl="0">
              <a:defRPr/>
            </a:pPr>
            <a:r>
              <a:rPr lang="ru-RU"/>
              <a:t>Третья позиция в списке</a:t>
            </a:r>
            <a:endParaRPr/>
          </a:p>
          <a:p>
            <a:pPr lvl="1">
              <a:defRPr/>
            </a:pPr>
            <a:r>
              <a:rPr lang="ru-RU"/>
              <a:t>Второй уровень списка</a:t>
            </a:r>
            <a:endParaRPr/>
          </a:p>
          <a:p>
            <a:pPr lvl="1">
              <a:defRPr/>
            </a:pPr>
            <a:r>
              <a:rPr lang="ru-RU"/>
              <a:t>Еще строчка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Заголовок и маркированный список в 2 колонки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74713" y="891219"/>
            <a:ext cx="4620740" cy="2467616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759776" y="1047774"/>
            <a:ext cx="5517822" cy="4527457"/>
          </a:xfrm>
        </p:spPr>
        <p:txBody>
          <a:bodyPr lIns="36000" tIns="36000" rIns="36000" bIns="3600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/>
              <a:buChar char="–"/>
              <a:defRPr sz="1800" b="0"/>
            </a:lvl2pPr>
          </a:lstStyle>
          <a:p>
            <a:pPr lvl="0">
              <a:defRPr/>
            </a:pPr>
            <a:r>
              <a:rPr lang="ru-RU"/>
              <a:t>Первая позиция в списке</a:t>
            </a:r>
            <a:endParaRPr/>
          </a:p>
          <a:p>
            <a:pPr lvl="0">
              <a:defRPr/>
            </a:pPr>
            <a:r>
              <a:rPr lang="ru-RU"/>
              <a:t>Вторая позиция в списке</a:t>
            </a:r>
            <a:endParaRPr/>
          </a:p>
          <a:p>
            <a:pPr lvl="0">
              <a:defRPr/>
            </a:pPr>
            <a:r>
              <a:rPr lang="ru-RU"/>
              <a:t>Третья позиция в списке</a:t>
            </a:r>
            <a:endParaRPr/>
          </a:p>
          <a:p>
            <a:pPr lvl="1">
              <a:defRPr/>
            </a:pPr>
            <a:r>
              <a:rPr lang="ru-RU"/>
              <a:t>Второй уровень списка</a:t>
            </a:r>
            <a:endParaRPr/>
          </a:p>
          <a:p>
            <a:pPr lvl="1">
              <a:defRPr/>
            </a:pPr>
            <a:r>
              <a:rPr lang="ru-RU"/>
              <a:t>Еще строчка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объект справ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67697" y="762915"/>
            <a:ext cx="4943168" cy="4645025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_01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01</a:t>
            </a:r>
            <a:endParaRPr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 с цифрой_03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Текст 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6292159" y="478202"/>
            <a:ext cx="4896950" cy="2806239"/>
          </a:xfrm>
        </p:spPr>
        <p:txBody>
          <a:bodyPr lIns="36000" tIns="36000" rIns="36000" bIns="36000" anchor="t" anchorCtr="0">
            <a:noAutofit/>
          </a:bodyPr>
          <a:lstStyle>
            <a:lvl1pPr marL="0" indent="0" algn="ctr">
              <a:buFontTx/>
              <a:buNone/>
              <a:defRPr lang="ru-RU" sz="25000" b="1">
                <a:solidFill>
                  <a:schemeClr val="bg1"/>
                </a:solidFill>
                <a:latin typeface="Stolzl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02</a:t>
            </a:r>
            <a:endParaRPr/>
          </a:p>
        </p:txBody>
      </p:sp>
      <p:sp>
        <p:nvSpPr>
          <p:cNvPr id="9" name="Текст 6"/>
          <p:cNvSpPr>
            <a:spLocks noGrp="1"/>
          </p:cNvSpPr>
          <p:nvPr>
            <p:ph type="body" sz="quarter" idx="13"/>
          </p:nvPr>
        </p:nvSpPr>
        <p:spPr bwMode="auto">
          <a:xfrm>
            <a:off x="7452852" y="4621160"/>
            <a:ext cx="3195484" cy="1400227"/>
          </a:xfrm>
        </p:spPr>
        <p:txBody>
          <a:bodyPr lIns="36000" tIns="36000" rIns="36000" bIns="3600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_04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03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азделитель_04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/>
            </a:lvl1pPr>
          </a:lstStyle>
          <a:p>
            <a:pPr>
              <a:defRPr/>
            </a:pPr>
            <a:r>
              <a:rPr lang="ru-RU"/>
              <a:t>Страница разделитель 04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диаграмм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>
              <a:defRPr/>
            </a:pPr>
            <a:r>
              <a:rPr lang="ru-RU"/>
              <a:t>Описание диаграммы</a:t>
            </a:r>
            <a:endParaRPr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84902" y="1543169"/>
            <a:ext cx="7771376" cy="4179273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63282"/>
            <a:ext cx="10392696" cy="954310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 и круговая диаграмм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 bwMode="auto">
          <a:xfrm>
            <a:off x="6343436" y="441325"/>
            <a:ext cx="4938367" cy="1552267"/>
          </a:xfrm>
        </p:spPr>
        <p:txBody>
          <a:bodyPr anchor="ctr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 bwMode="auto">
          <a:xfrm>
            <a:off x="875071" y="441325"/>
            <a:ext cx="4973493" cy="50971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 bwMode="auto"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36000" tIns="36000" rIns="36000" bIns="36000" rtlCol="0" anchor="t" anchorCtr="0"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Два объекта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390967" y="1595563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84902" y="1595564"/>
            <a:ext cx="4886630" cy="4045156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Рисунок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80704" y="1614516"/>
            <a:ext cx="5005388" cy="4060364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52264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 Рисунка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0535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 bwMode="auto">
          <a:xfrm>
            <a:off x="890535" y="1514633"/>
            <a:ext cx="4782677" cy="2890556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 bwMode="auto"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6518788" y="1504646"/>
            <a:ext cx="4782677" cy="2900543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Объект с подписью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 bwMode="auto"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 bwMode="auto"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 bwMode="auto"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0">
              <a:defRPr/>
            </a:pPr>
            <a:r>
              <a:rPr lang="ru-RU"/>
              <a:t>Описание, краткая информация</a:t>
            </a:r>
            <a:endParaRPr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 bwMode="auto"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Подпись</a:t>
            </a:r>
            <a:endParaRPr/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 bwMode="auto"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9" name="Заголовок 1"/>
          <p:cNvSpPr>
            <a:spLocks noGrp="1"/>
          </p:cNvSpPr>
          <p:nvPr>
            <p:ph type="title"/>
          </p:nvPr>
        </p:nvSpPr>
        <p:spPr bwMode="auto">
          <a:xfrm>
            <a:off x="884902" y="441325"/>
            <a:ext cx="10392696" cy="985273"/>
          </a:xfrm>
        </p:spPr>
        <p:txBody>
          <a:bodyPr anchor="t" anchorCtr="0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следни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4" y="3429000"/>
            <a:ext cx="6084888" cy="1133788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следний слайд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874713" y="3429000"/>
            <a:ext cx="6084888" cy="1133788"/>
          </a:xfrm>
        </p:spPr>
        <p:txBody>
          <a:bodyPr lIns="36000" tIns="36000" rIns="36000" bIns="36000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Имя Фамилия докладчика</a:t>
            </a:r>
            <a:endParaRPr/>
          </a:p>
          <a:p>
            <a:pPr>
              <a:defRPr/>
            </a:pPr>
            <a:r>
              <a:rPr lang="ru-RU" sz="2400"/>
              <a:t>Должность / Служба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/>
            </a:lvl1pPr>
          </a:lstStyle>
          <a:p>
            <a:pPr lvl="0">
              <a:defRPr/>
            </a:pPr>
            <a:r>
              <a:rPr lang="ru-RU"/>
              <a:t>Телефон / эл. почта</a:t>
            </a:r>
            <a:endParaRPr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pPr>
              <a:defRPr/>
            </a:pPr>
            <a:r>
              <a:rPr lang="ru-RU"/>
              <a:t>Благодарю 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36000" tIns="36000" rIns="36000" bIns="36000" rtlCol="0" anchor="ctr" anchorCtr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20EE08BC-0A14-46C9-BD44-38B56F84D1BD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3600" b="1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2400" b="1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>
        <a:lnSpc>
          <a:spcPct val="90000"/>
        </a:lnSpc>
        <a:spcBef>
          <a:spcPts val="500"/>
        </a:spcBef>
        <a:buFont typeface="Arial"/>
        <a:buNone/>
        <a:defRPr sz="1800" b="1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>
        <a:lnSpc>
          <a:spcPct val="90000"/>
        </a:lnSpc>
        <a:spcBef>
          <a:spcPts val="500"/>
        </a:spcBef>
        <a:buFont typeface="Arial"/>
        <a:buNone/>
        <a:defRPr sz="1800" b="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>
        <a:lnSpc>
          <a:spcPct val="90000"/>
        </a:lnSpc>
        <a:spcBef>
          <a:spcPts val="500"/>
        </a:spcBef>
        <a:buFont typeface="Arial"/>
        <a:buNone/>
        <a:defRPr sz="1400" b="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>
        <a:lnSpc>
          <a:spcPct val="90000"/>
        </a:lnSpc>
        <a:spcBef>
          <a:spcPts val="500"/>
        </a:spcBef>
        <a:buFont typeface="Arial"/>
        <a:buNone/>
        <a:defRPr sz="1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1С:Кабинет сотрудника</a:t>
            </a:r>
            <a:endParaRPr/>
          </a:p>
          <a:p>
            <a:pPr>
              <a:spcBef>
                <a:spcPts val="1200"/>
              </a:spcBef>
              <a:defRPr/>
            </a:pPr>
            <a:r>
              <a:rPr sz="1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Кадровый электронный документооборот</a:t>
            </a:r>
            <a:br>
              <a:rPr sz="1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без лишних программ и сложного внедрения</a:t>
            </a:r>
            <a:endParaRPr/>
          </a:p>
          <a:p>
            <a:pPr>
              <a:spcBef>
                <a:spcPts val="1800"/>
              </a:spcBef>
              <a:defRPr/>
            </a:pPr>
            <a:r>
              <a:rPr sz="1400" b="1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Преддемонстрация сервиса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кадровые вопросы — в привычной системе 1С</a:t>
            </a:r>
            <a:b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для сотрудников, руководителей, кадровиков и бухгалтерии</a:t>
            </a:r>
            <a:endParaRPr/>
          </a:p>
        </p:txBody>
      </p:sp>
      <p:pic>
        <p:nvPicPr>
          <p:cNvPr id="5" name="Picture 3" descr="devices_full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401181" y="1119101"/>
            <a:ext cx="6368918" cy="46197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 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группе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компаний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«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Форус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»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Переводим бизнес в «цифру»  ·  www.forus.ru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784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1992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241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год основания</a:t>
            </a:r>
            <a:b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опыт в ИТ</a:t>
            </a:r>
            <a:endParaRPr/>
          </a:p>
        </p:txBody>
      </p:sp>
      <p:sp>
        <p:nvSpPr>
          <p:cNvPr id="8" name="Rounded Rectangle 7"/>
          <p:cNvSpPr/>
          <p:nvPr/>
        </p:nvSpPr>
        <p:spPr bwMode="auto">
          <a:xfrm>
            <a:off x="36301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37216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ru-RU"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8</a:t>
            </a: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00+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37673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сотрудников</a:t>
            </a:r>
            <a:b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команде</a:t>
            </a:r>
            <a:endParaRPr/>
          </a:p>
        </p:txBody>
      </p:sp>
      <p:sp>
        <p:nvSpPr>
          <p:cNvPr id="11" name="Rounded Rectangle 10"/>
          <p:cNvSpPr/>
          <p:nvPr/>
        </p:nvSpPr>
        <p:spPr bwMode="auto">
          <a:xfrm>
            <a:off x="63733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4648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10 000+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5105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клиентов</a:t>
            </a:r>
            <a:b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 сопровождении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9116568" y="1600200"/>
            <a:ext cx="2560320" cy="169164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9208008" y="18288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18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9253728" y="24688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регионов в России</a:t>
            </a:r>
            <a:b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 офис в Монголии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8869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9966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ТОП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996696" y="4160519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крупнейших ИТ-компаний России</a:t>
            </a: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36301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37398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1 место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3739896" y="4160519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сети «1С:БухОбслуживание» с 2017</a:t>
            </a:r>
            <a:endParaRPr/>
          </a:p>
        </p:txBody>
      </p:sp>
      <p:sp>
        <p:nvSpPr>
          <p:cNvPr id="23" name="Rounded Rectangle 22"/>
          <p:cNvSpPr/>
          <p:nvPr/>
        </p:nvSpPr>
        <p:spPr bwMode="auto">
          <a:xfrm>
            <a:off x="63733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64830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ТОП-5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6483096" y="4160519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дистрибьюторов 1С в России</a:t>
            </a:r>
            <a:endParaRPr/>
          </a:p>
        </p:txBody>
      </p:sp>
      <p:sp>
        <p:nvSpPr>
          <p:cNvPr id="26" name="Rounded Rectangle 25"/>
          <p:cNvSpPr/>
          <p:nvPr/>
        </p:nvSpPr>
        <p:spPr bwMode="auto">
          <a:xfrm>
            <a:off x="9116568" y="3520440"/>
            <a:ext cx="2560320" cy="14173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9226296" y="3703320"/>
            <a:ext cx="23408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Центр компетенции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9226296" y="4160519"/>
            <a:ext cx="23408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 кадровому ЭДО (1С)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886968" y="5120640"/>
            <a:ext cx="104241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Внедряем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ИТ-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решения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цифровизируем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процессы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помогаем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компаниям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развиваться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.</a:t>
            </a:r>
            <a:b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</a:b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Направления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: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внедрение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и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сопровождение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1С,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цифровизация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облачные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сервисы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, ЭДО и КЭДО, 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обучение</a:t>
            </a:r>
            <a:r>
              <a:rPr sz="1200" b="1">
                <a:solidFill>
                  <a:schemeClr val="bg1"/>
                </a:solidFill>
                <a:latin typeface="Verdana"/>
                <a:ea typeface="Verdana"/>
                <a:cs typeface="Verdana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компании переходят на КЭДО?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Бумажный кадровый документооборот тормозит работу всей компании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0872" y="1725178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 descr="icon_58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88136" y="214884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1892808" y="1965960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Документы долго согласовываются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892808" y="2468880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Согласования растягиваются на дни, а не на минуты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6327648" y="1691640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9" descr="icon_25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28816" y="2148840"/>
            <a:ext cx="640080" cy="640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 bwMode="auto">
          <a:xfrm>
            <a:off x="7333488" y="1965960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Бумага требует хранения и печати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7333488" y="2468880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Печать, полки, курьеры и риск потери оригиналов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886968" y="3547872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3" descr="icon_70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88136" y="4005072"/>
            <a:ext cx="640080" cy="6400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892808" y="3822192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Удалённые сотрудники едут ради подписи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1892808" y="4325112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Дистанционные сотрудники тратят время на поездки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6327648" y="3547872"/>
            <a:ext cx="5212080" cy="169164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7" descr="icon_27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528816" y="4005072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7333488" y="3822192"/>
            <a:ext cx="3977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Рутина кадровиков и бухгалтерии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7333488" y="4325112"/>
            <a:ext cx="3977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Часы ежедневно уходят на заявления, расчётные и архив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80872" y="5349240"/>
            <a:ext cx="10430256" cy="649653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solidFill>
              <a:srgbClr val="38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914400" y="5328081"/>
            <a:ext cx="259577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3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</a:t>
            </a:r>
            <a:r>
              <a:rPr sz="3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70%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4479594" y="5445252"/>
            <a:ext cx="7132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времени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после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перехода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КЭДО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такое 1С:Кабинет сотрудника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Мобильное взаимодействие сотрудников и бухгалтерии по кадровым вопросам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640080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731520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731520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Заявления, отпуска,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справки, подпись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2560320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2770632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2862072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Руководитель</a:t>
            </a: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2862072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Согласование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со смартфона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4690872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4901184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4992624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1С:Кабинет</a:t>
            </a:r>
            <a:b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сотрудника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4992624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Единое цифровое</a:t>
            </a:r>
            <a:b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пространство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6821424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7031736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7123176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Кадровик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7123176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Документы 1С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без повторного ввода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8951976" y="2743200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→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9162288" y="1828800"/>
            <a:ext cx="1965960" cy="233172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9253728" y="214884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Бухгалтер</a:t>
            </a: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9253728" y="3108960"/>
            <a:ext cx="1783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Расчётные листки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 подтверждением</a:t>
            </a:r>
            <a:endParaRPr/>
          </a:p>
        </p:txBody>
      </p:sp>
      <p:sp>
        <p:nvSpPr>
          <p:cNvPr id="24" name="Rounded Rectangle 23"/>
          <p:cNvSpPr/>
          <p:nvPr/>
        </p:nvSpPr>
        <p:spPr bwMode="auto">
          <a:xfrm>
            <a:off x="886968" y="4572000"/>
            <a:ext cx="1042416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1143000" y="480060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Не требуется отдельная HR-платформа</a:t>
            </a:r>
            <a:endParaRPr/>
          </a:p>
        </p:txBody>
      </p:sp>
      <p:sp>
        <p:nvSpPr>
          <p:cNvPr id="26" name="TextBox 25"/>
          <p:cNvSpPr txBox="1"/>
          <p:nvPr/>
        </p:nvSpPr>
        <p:spPr bwMode="auto">
          <a:xfrm>
            <a:off x="1143000" y="52120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Работа продолжается в привычной 1С. Сотрудники получают расчётный лист, пишут заявления и заказывают справки с телефона или компьютера — без лишних обращений в отдел кадров.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умеет сервис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>
          <a:xfrm>
            <a:off x="655811" y="1566588"/>
            <a:ext cx="10392697" cy="4012831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Ключевые возможности 1С:Кабинет сотрудника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Oval 5"/>
          <p:cNvSpPr/>
          <p:nvPr/>
        </p:nvSpPr>
        <p:spPr bwMode="auto">
          <a:xfrm>
            <a:off x="1024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24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389888" y="1828800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Заявления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3172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 bwMode="auto">
          <a:xfrm>
            <a:off x="3310127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3310127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3675888" y="1828800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Отпуска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5458968" y="1645920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 bwMode="auto">
          <a:xfrm>
            <a:off x="5596128" y="187452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5596128" y="187452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5961888" y="1828800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Отсутствия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886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 bwMode="auto">
          <a:xfrm>
            <a:off x="1024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1024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1389888" y="2670048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Расчётные листки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3172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Oval 21"/>
          <p:cNvSpPr/>
          <p:nvPr/>
        </p:nvSpPr>
        <p:spPr bwMode="auto">
          <a:xfrm>
            <a:off x="3310127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3310127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3675888" y="2670048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Справки</a:t>
            </a: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5458968" y="2487168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5596128" y="271576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5596128" y="271576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5961888" y="2670048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Персональные данные</a:t>
            </a:r>
            <a:endParaRPr/>
          </a:p>
        </p:txBody>
      </p:sp>
      <p:sp>
        <p:nvSpPr>
          <p:cNvPr id="29" name="Rounded Rectangle 28"/>
          <p:cNvSpPr/>
          <p:nvPr/>
        </p:nvSpPr>
        <p:spPr bwMode="auto">
          <a:xfrm>
            <a:off x="886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Oval 29"/>
          <p:cNvSpPr/>
          <p:nvPr/>
        </p:nvSpPr>
        <p:spPr bwMode="auto">
          <a:xfrm>
            <a:off x="1024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TextBox 30"/>
          <p:cNvSpPr txBox="1"/>
          <p:nvPr/>
        </p:nvSpPr>
        <p:spPr bwMode="auto">
          <a:xfrm>
            <a:off x="1024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1389888" y="3511296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Кадровые документы</a:t>
            </a:r>
            <a:endParaRPr/>
          </a:p>
        </p:txBody>
      </p:sp>
      <p:sp>
        <p:nvSpPr>
          <p:cNvPr id="33" name="Rounded Rectangle 32"/>
          <p:cNvSpPr/>
          <p:nvPr/>
        </p:nvSpPr>
        <p:spPr bwMode="auto">
          <a:xfrm>
            <a:off x="3172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Oval 33"/>
          <p:cNvSpPr/>
          <p:nvPr/>
        </p:nvSpPr>
        <p:spPr bwMode="auto">
          <a:xfrm>
            <a:off x="3310127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3310127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36" name="TextBox 35"/>
          <p:cNvSpPr txBox="1"/>
          <p:nvPr/>
        </p:nvSpPr>
        <p:spPr bwMode="auto">
          <a:xfrm>
            <a:off x="3675888" y="3511296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</a:t>
            </a:r>
            <a:endParaRPr/>
          </a:p>
        </p:txBody>
      </p:sp>
      <p:sp>
        <p:nvSpPr>
          <p:cNvPr id="37" name="Rounded Rectangle 36"/>
          <p:cNvSpPr/>
          <p:nvPr/>
        </p:nvSpPr>
        <p:spPr bwMode="auto">
          <a:xfrm>
            <a:off x="5458968" y="3328416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Oval 37"/>
          <p:cNvSpPr/>
          <p:nvPr/>
        </p:nvSpPr>
        <p:spPr bwMode="auto">
          <a:xfrm>
            <a:off x="5596128" y="355701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 bwMode="auto">
          <a:xfrm>
            <a:off x="5596128" y="355701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40" name="TextBox 39"/>
          <p:cNvSpPr txBox="1"/>
          <p:nvPr/>
        </p:nvSpPr>
        <p:spPr bwMode="auto">
          <a:xfrm>
            <a:off x="5961888" y="3511296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Электронная подпись</a:t>
            </a:r>
            <a:endParaRPr/>
          </a:p>
        </p:txBody>
      </p:sp>
      <p:sp>
        <p:nvSpPr>
          <p:cNvPr id="41" name="Rounded Rectangle 40"/>
          <p:cNvSpPr/>
          <p:nvPr/>
        </p:nvSpPr>
        <p:spPr bwMode="auto">
          <a:xfrm>
            <a:off x="886968" y="4169664"/>
            <a:ext cx="2148840" cy="713232"/>
          </a:xfrm>
          <a:prstGeom prst="roundRect">
            <a:avLst>
              <a:gd name="adj" fmla="val 12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Oval 41"/>
          <p:cNvSpPr/>
          <p:nvPr/>
        </p:nvSpPr>
        <p:spPr bwMode="auto">
          <a:xfrm>
            <a:off x="1024128" y="4398264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TextBox 42"/>
          <p:cNvSpPr txBox="1"/>
          <p:nvPr/>
        </p:nvSpPr>
        <p:spPr bwMode="auto">
          <a:xfrm>
            <a:off x="1024128" y="439826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44" name="TextBox 43"/>
          <p:cNvSpPr txBox="1"/>
          <p:nvPr/>
        </p:nvSpPr>
        <p:spPr bwMode="auto">
          <a:xfrm>
            <a:off x="1389888" y="4352544"/>
            <a:ext cx="150875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Госключ</a:t>
            </a:r>
            <a:endParaRPr/>
          </a:p>
        </p:txBody>
      </p:sp>
      <p:pic>
        <p:nvPicPr>
          <p:cNvPr id="45" name="Picture 44" descr="mobile_home_salary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82080" y="1645633"/>
            <a:ext cx="2009086" cy="3937518"/>
          </a:xfrm>
          <a:prstGeom prst="rect">
            <a:avLst/>
          </a:prstGeom>
        </p:spPr>
      </p:pic>
      <p:pic>
        <p:nvPicPr>
          <p:cNvPr id="46" name="Picture 45" descr="mobile_vacation_request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819411" y="1645633"/>
            <a:ext cx="2405690" cy="39375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сотрудникам нравится сервис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кадровые вопросы — со смартфона</a:t>
            </a:r>
            <a:endParaRPr/>
          </a:p>
        </p:txBody>
      </p:sp>
      <p:pic>
        <p:nvPicPr>
          <p:cNvPr id="5" name="Picture 4" descr="mobile_home_salary.png"/>
          <p:cNvPicPr>
            <a:picLocks noChangeAspect="1"/>
          </p:cNvPicPr>
          <p:nvPr/>
        </p:nvPicPr>
        <p:blipFill>
          <a:blip r:embed="rId2"/>
          <a:srcRect l="0" t="1974" r="2864" b="2293"/>
          <a:stretch/>
        </p:blipFill>
        <p:spPr bwMode="auto">
          <a:xfrm>
            <a:off x="974951" y="1543574"/>
            <a:ext cx="2062064" cy="39829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 bwMode="auto">
          <a:xfrm>
            <a:off x="3931920" y="1600200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Oval 6"/>
          <p:cNvSpPr/>
          <p:nvPr/>
        </p:nvSpPr>
        <p:spPr bwMode="auto">
          <a:xfrm>
            <a:off x="4069080" y="170992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069080" y="170992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434840" y="1673352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Посмотреть расчётный листок</a:t>
            </a:r>
            <a:endParaRPr/>
          </a:p>
        </p:txBody>
      </p:sp>
      <p:sp>
        <p:nvSpPr>
          <p:cNvPr id="10" name="Rounded Rectangle 9"/>
          <p:cNvSpPr/>
          <p:nvPr/>
        </p:nvSpPr>
        <p:spPr bwMode="auto">
          <a:xfrm>
            <a:off x="3931920" y="2130552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Oval 10"/>
          <p:cNvSpPr/>
          <p:nvPr/>
        </p:nvSpPr>
        <p:spPr bwMode="auto">
          <a:xfrm>
            <a:off x="4069080" y="2240280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4069080" y="2240280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4434840" y="2203704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Подать заявление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3931920" y="2660904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Oval 14"/>
          <p:cNvSpPr/>
          <p:nvPr/>
        </p:nvSpPr>
        <p:spPr bwMode="auto">
          <a:xfrm>
            <a:off x="4069080" y="2770632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4069080" y="2770632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4434840" y="2734056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Узнать</a:t>
            </a: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остаток</a:t>
            </a: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отпуска</a:t>
            </a:r>
            <a:endParaRPr sz="1300" b="0">
              <a:solidFill>
                <a:srgbClr val="FFFFFF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3931920" y="3191256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Oval 18"/>
          <p:cNvSpPr/>
          <p:nvPr/>
        </p:nvSpPr>
        <p:spPr bwMode="auto">
          <a:xfrm>
            <a:off x="4069080" y="3300984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4069080" y="3300984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4434840" y="3264408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Получить справку</a:t>
            </a:r>
            <a:endParaRPr/>
          </a:p>
        </p:txBody>
      </p:sp>
      <p:sp>
        <p:nvSpPr>
          <p:cNvPr id="22" name="Rounded Rectangle 21"/>
          <p:cNvSpPr/>
          <p:nvPr/>
        </p:nvSpPr>
        <p:spPr bwMode="auto">
          <a:xfrm>
            <a:off x="3931920" y="3721608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Oval 22"/>
          <p:cNvSpPr/>
          <p:nvPr/>
        </p:nvSpPr>
        <p:spPr bwMode="auto">
          <a:xfrm>
            <a:off x="4069080" y="3831336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4069080" y="3831336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4434840" y="3794760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Подписать документ</a:t>
            </a:r>
            <a:endParaRPr/>
          </a:p>
        </p:txBody>
      </p:sp>
      <p:sp>
        <p:nvSpPr>
          <p:cNvPr id="26" name="Rounded Rectangle 25"/>
          <p:cNvSpPr/>
          <p:nvPr/>
        </p:nvSpPr>
        <p:spPr bwMode="auto">
          <a:xfrm>
            <a:off x="3931920" y="4251960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Oval 26"/>
          <p:cNvSpPr/>
          <p:nvPr/>
        </p:nvSpPr>
        <p:spPr bwMode="auto">
          <a:xfrm>
            <a:off x="4069080" y="4361688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4069080" y="4361688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4434840" y="4325112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Найти любой документ</a:t>
            </a:r>
            <a:endParaRPr/>
          </a:p>
        </p:txBody>
      </p:sp>
      <p:sp>
        <p:nvSpPr>
          <p:cNvPr id="30" name="Rounded Rectangle 29"/>
          <p:cNvSpPr/>
          <p:nvPr/>
        </p:nvSpPr>
        <p:spPr bwMode="auto">
          <a:xfrm>
            <a:off x="3931920" y="4782312"/>
            <a:ext cx="7360920" cy="475488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Oval 30"/>
          <p:cNvSpPr/>
          <p:nvPr/>
        </p:nvSpPr>
        <p:spPr bwMode="auto">
          <a:xfrm>
            <a:off x="4069080" y="4892039"/>
            <a:ext cx="256032" cy="256032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4069080" y="4892039"/>
            <a:ext cx="2560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0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33" name="TextBox 32"/>
          <p:cNvSpPr txBox="1"/>
          <p:nvPr/>
        </p:nvSpPr>
        <p:spPr bwMode="auto">
          <a:xfrm>
            <a:off x="4434840" y="4855464"/>
            <a:ext cx="6675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Выпустить подпись самостоятельно</a:t>
            </a:r>
            <a:endParaRPr/>
          </a:p>
        </p:txBody>
      </p:sp>
      <p:sp>
        <p:nvSpPr>
          <p:cNvPr id="34" name="Rounded Rectangle 33"/>
          <p:cNvSpPr/>
          <p:nvPr/>
        </p:nvSpPr>
        <p:spPr bwMode="auto">
          <a:xfrm>
            <a:off x="886968" y="5643501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solidFill>
              <a:srgbClr val="38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TextBox 34"/>
          <p:cNvSpPr txBox="1"/>
          <p:nvPr/>
        </p:nvSpPr>
        <p:spPr bwMode="auto">
          <a:xfrm>
            <a:off x="1066800" y="5733702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: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сейчас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сотрудники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получают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расчётные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листки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кадровик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Меньше рутины — больше контроля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Oval 5"/>
          <p:cNvSpPr/>
          <p:nvPr/>
        </p:nvSpPr>
        <p:spPr bwMode="auto"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Заявления автоматически превращаются в документы 1С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 bwMode="auto"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Данные не нужно вводить повторно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 bwMode="auto"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не теряются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 bwMode="auto"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Все задачи собираются в одном месте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Oval 21"/>
          <p:cNvSpPr/>
          <p:nvPr/>
        </p:nvSpPr>
        <p:spPr bwMode="auto"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ошибок при оформлении</a:t>
            </a: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Электронный архив всегда доступен</a:t>
            </a:r>
            <a:endParaRPr/>
          </a:p>
        </p:txBody>
      </p:sp>
      <p:sp>
        <p:nvSpPr>
          <p:cNvPr id="29" name="Rounded Rectangle 28"/>
          <p:cNvSpPr/>
          <p:nvPr/>
        </p:nvSpPr>
        <p:spPr bwMode="auto">
          <a:xfrm>
            <a:off x="882938" y="5564124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solidFill>
              <a:srgbClr val="38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1052050" y="5632704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: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Сколько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времени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кадровая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служба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тратит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обработку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заявлений</a:t>
            </a: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бухгалтер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Автоматизация без лишней работы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Oval 5"/>
          <p:cNvSpPr/>
          <p:nvPr/>
        </p:nvSpPr>
        <p:spPr bwMode="auto"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Автоматическая отправка расчётных листков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 bwMode="auto"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Подтверждение получения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 bwMode="auto"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обращений сотрудников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 bwMode="auto"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печати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Oval 21"/>
          <p:cNvSpPr/>
          <p:nvPr/>
        </p:nvSpPr>
        <p:spPr bwMode="auto"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Документы формируются прямо из 1С</a:t>
            </a: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Меньше ручного ввода данных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руководитель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Полный контроль процессов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Oval 5"/>
          <p:cNvSpPr/>
          <p:nvPr/>
        </p:nvSpPr>
        <p:spPr bwMode="auto"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 документов с телефона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 bwMode="auto"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Статусы документов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 bwMode="auto"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Видно, кто подписал, а кто нет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 bwMode="auto"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Можно назначить заместителя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Oval 21"/>
          <p:cNvSpPr/>
          <p:nvPr/>
        </p:nvSpPr>
        <p:spPr bwMode="auto"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Быстрее согласование отпусков</a:t>
            </a: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Прозрачность процессов</a:t>
            </a:r>
            <a:endParaRPr/>
          </a:p>
        </p:txBody>
      </p:sp>
      <p:sp>
        <p:nvSpPr>
          <p:cNvPr id="29" name="Rounded Rectangle 28"/>
          <p:cNvSpPr/>
          <p:nvPr/>
        </p:nvSpPr>
        <p:spPr bwMode="auto">
          <a:xfrm>
            <a:off x="914400" y="5543227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26A6E0"/>
          </a:solidFill>
          <a:ln>
            <a:solidFill>
              <a:srgbClr val="38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1143933" y="5556943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Вопрос: Как сейчас руководители согласовывают отпуска?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получает ИТ-специалист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Простое сопровождение без новых систем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Oval 5"/>
          <p:cNvSpPr/>
          <p:nvPr/>
        </p:nvSpPr>
        <p:spPr bwMode="auto">
          <a:xfrm>
            <a:off x="106984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06984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152704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Встроено в 1С — без отдельной HR-платформы</a:t>
            </a:r>
            <a:endParaRPr/>
          </a:p>
        </p:txBody>
      </p:sp>
      <p:sp>
        <p:nvSpPr>
          <p:cNvPr id="9" name="Rounded Rectangle 8"/>
          <p:cNvSpPr/>
          <p:nvPr/>
        </p:nvSpPr>
        <p:spPr bwMode="auto">
          <a:xfrm>
            <a:off x="6327648" y="1645920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Oval 9"/>
          <p:cNvSpPr/>
          <p:nvPr/>
        </p:nvSpPr>
        <p:spPr bwMode="auto">
          <a:xfrm>
            <a:off x="6510528" y="205740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 bwMode="auto">
          <a:xfrm>
            <a:off x="6510528" y="2057400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967728" y="1874520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нужны доп. клиентские лицензии 1С</a:t>
            </a:r>
            <a:endParaRPr/>
          </a:p>
        </p:txBody>
      </p:sp>
      <p:sp>
        <p:nvSpPr>
          <p:cNvPr id="13" name="Rounded Rectangle 12"/>
          <p:cNvSpPr/>
          <p:nvPr/>
        </p:nvSpPr>
        <p:spPr bwMode="auto">
          <a:xfrm>
            <a:off x="88696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 bwMode="auto">
          <a:xfrm>
            <a:off x="106984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106984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152704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прямой нагрузки на базу 1С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6327648" y="2953512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 bwMode="auto">
          <a:xfrm>
            <a:off x="6510528" y="3364992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6510528" y="3364992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6967728" y="3182112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Нет прямого доступа сотрудников к ИБ 1С</a:t>
            </a:r>
            <a:endParaRPr/>
          </a:p>
        </p:txBody>
      </p:sp>
      <p:sp>
        <p:nvSpPr>
          <p:cNvPr id="21" name="Rounded Rectangle 20"/>
          <p:cNvSpPr/>
          <p:nvPr/>
        </p:nvSpPr>
        <p:spPr bwMode="auto">
          <a:xfrm>
            <a:off x="88696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Oval 21"/>
          <p:cNvSpPr/>
          <p:nvPr/>
        </p:nvSpPr>
        <p:spPr bwMode="auto">
          <a:xfrm>
            <a:off x="106984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106984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52704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Облачная и локальная версия</a:t>
            </a:r>
            <a:endParaRPr/>
          </a:p>
        </p:txBody>
      </p:sp>
      <p:sp>
        <p:nvSpPr>
          <p:cNvPr id="25" name="Rounded Rectangle 24"/>
          <p:cNvSpPr/>
          <p:nvPr/>
        </p:nvSpPr>
        <p:spPr bwMode="auto">
          <a:xfrm>
            <a:off x="6327648" y="4261104"/>
            <a:ext cx="5212080" cy="1143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6510528" y="4672584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 bwMode="auto">
          <a:xfrm>
            <a:off x="6510528" y="4672584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✓</a:t>
            </a: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6967728" y="4489704"/>
            <a:ext cx="4343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Хранение документов внутри 1С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Почему именно 1С:Кабинет сотрудника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Сравнение с другими решениями</a:t>
            </a:r>
            <a:endParaRPr/>
          </a:p>
        </p:txBody>
      </p:sp>
      <p:graphicFrame>
        <p:nvGraphicFramePr>
          <p:cNvPr id="5" name="Table 4"/>
          <p:cNvGraphicFramePr>
            <a:graphicFrameLocks xmlns:a="http://schemas.openxmlformats.org/drawingml/2006/main" noGrp="1"/>
          </p:cNvGraphicFramePr>
          <p:nvPr/>
        </p:nvGraphicFramePr>
        <p:xfrm>
          <a:off x="640080" y="1691640"/>
          <a:ext cx="10515600" cy="32918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926080"/>
                <a:gridCol w="1417320"/>
                <a:gridCol w="1417320"/>
                <a:gridCol w="1554480"/>
                <a:gridCol w="1828800"/>
                <a:gridCol w="1371600"/>
              </a:tblGrid>
              <a:tr h="54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Возможность</a:t>
                      </a:r>
                      <a:endParaRPr/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1С КС</a:t>
                      </a:r>
                      <a:endParaRPr/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HRlink</a:t>
                      </a:r>
                      <a:endParaRPr/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VK HR Tek</a:t>
                      </a:r>
                      <a:endParaRPr/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Контур КЭДО</a:t>
                      </a:r>
                      <a:endParaRPr/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Saby</a:t>
                      </a:r>
                      <a:endParaRPr/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Работа внутри 1С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❌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Мобильное приложение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Электронные подписи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Автосоздание документов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48640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Без двойной работы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✅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⚠</a:t>
                      </a:r>
                      <a:endParaRPr/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882938" y="5309463"/>
            <a:ext cx="10424160" cy="628193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1310638" y="5463539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Главное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преимущество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— 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сотрудники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продолжают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работать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в 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привычной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системе</a:t>
            </a:r>
            <a:r>
              <a:rPr sz="14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1С.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Экономический эффект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Реальная экономия по данным проектов и материалов Форус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77724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91440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70%</a:t>
            </a:r>
            <a:endParaRPr/>
          </a:p>
        </p:txBody>
      </p:sp>
      <p:sp>
        <p:nvSpPr>
          <p:cNvPr id="7" name="TextBox 6"/>
          <p:cNvSpPr txBox="1"/>
          <p:nvPr/>
        </p:nvSpPr>
        <p:spPr bwMode="auto">
          <a:xfrm>
            <a:off x="96012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времени</a:t>
            </a:r>
            <a:b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 кадровой рутине</a:t>
            </a:r>
            <a:endParaRPr/>
          </a:p>
        </p:txBody>
      </p:sp>
      <p:sp>
        <p:nvSpPr>
          <p:cNvPr id="8" name="Rounded Rectangle 7"/>
          <p:cNvSpPr/>
          <p:nvPr/>
        </p:nvSpPr>
        <p:spPr bwMode="auto">
          <a:xfrm>
            <a:off x="361188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solidFill>
              <a:srgbClr val="38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374904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475 тыс. ₽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379476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экономии за три месяца</a:t>
            </a:r>
            <a:b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 одном из проектов</a:t>
            </a:r>
            <a:endParaRPr/>
          </a:p>
        </p:txBody>
      </p:sp>
      <p:sp>
        <p:nvSpPr>
          <p:cNvPr id="11" name="Rounded Rectangle 10"/>
          <p:cNvSpPr/>
          <p:nvPr/>
        </p:nvSpPr>
        <p:spPr bwMode="auto">
          <a:xfrm>
            <a:off x="644652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 bwMode="auto">
          <a:xfrm>
            <a:off x="658368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 21 ₽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662940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 сотрудника</a:t>
            </a:r>
            <a:b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месяц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9281160" y="1783080"/>
            <a:ext cx="2651760" cy="3200400"/>
          </a:xfrm>
          <a:prstGeom prst="roundRect">
            <a:avLst>
              <a:gd name="adj" fmla="val 10000"/>
            </a:avLst>
          </a:prstGeom>
          <a:solidFill>
            <a:srgbClr val="26A6E0"/>
          </a:solidFill>
          <a:ln>
            <a:solidFill>
              <a:srgbClr val="38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9418320" y="2423160"/>
            <a:ext cx="2377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Более 5000</a:t>
            </a:r>
            <a:endParaRPr/>
          </a:p>
        </p:txBody>
      </p:sp>
      <p:sp>
        <p:nvSpPr>
          <p:cNvPr id="16" name="TextBox 15"/>
          <p:cNvSpPr txBox="1"/>
          <p:nvPr/>
        </p:nvSpPr>
        <p:spPr bwMode="auto">
          <a:xfrm>
            <a:off x="9464040" y="3611880"/>
            <a:ext cx="2286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клиентов уже</a:t>
            </a:r>
            <a:b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используют сервис</a:t>
            </a:r>
            <a:endParaRPr/>
          </a:p>
        </p:txBody>
      </p:sp>
      <p:sp>
        <p:nvSpPr>
          <p:cNvPr id="17" name="TextBox 16"/>
          <p:cNvSpPr txBox="1"/>
          <p:nvPr/>
        </p:nvSpPr>
        <p:spPr bwMode="auto">
          <a:xfrm>
            <a:off x="886968" y="5074920"/>
            <a:ext cx="10424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Стоимость — от 21 до 30 ₽/мес. на сотрудника (forus.ru). 10 кабинетов — 280 ₽/мес. · 25 — 700 ₽ · 50 — 1 400 ₽ · 100 — 2 800 ₽ при оплате за год.</a:t>
            </a:r>
            <a:b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Кейсы: «Фанат Байкала» полностью ушёл от бумаги; DNS переводит 40 000 сотрудников на КЭДО.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проходит внедрение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Простой путь к запуску без ломки процессов 1С</a:t>
            </a:r>
            <a:endParaRPr/>
          </a:p>
        </p:txBody>
      </p:sp>
      <p:sp>
        <p:nvSpPr>
          <p:cNvPr id="5" name="Rectangle 4"/>
          <p:cNvSpPr/>
          <p:nvPr/>
        </p:nvSpPr>
        <p:spPr bwMode="auto">
          <a:xfrm>
            <a:off x="1280160" y="2331720"/>
            <a:ext cx="9601200" cy="45720"/>
          </a:xfrm>
          <a:prstGeom prst="rect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Oval 5"/>
          <p:cNvSpPr/>
          <p:nvPr/>
        </p:nvSpPr>
        <p:spPr bwMode="auto">
          <a:xfrm>
            <a:off x="1545336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 bwMode="auto">
          <a:xfrm>
            <a:off x="640080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777240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01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777240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Подключение</a:t>
            </a:r>
            <a:endParaRPr/>
          </a:p>
        </p:txBody>
      </p:sp>
      <p:sp>
        <p:nvSpPr>
          <p:cNvPr id="10" name="TextBox 9"/>
          <p:cNvSpPr txBox="1"/>
          <p:nvPr/>
        </p:nvSpPr>
        <p:spPr bwMode="auto">
          <a:xfrm>
            <a:off x="777240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Подключаем сервис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 вашей 1С</a:t>
            </a:r>
            <a:endParaRPr/>
          </a:p>
        </p:txBody>
      </p:sp>
      <p:sp>
        <p:nvSpPr>
          <p:cNvPr id="11" name="Oval 10"/>
          <p:cNvSpPr/>
          <p:nvPr/>
        </p:nvSpPr>
        <p:spPr bwMode="auto">
          <a:xfrm>
            <a:off x="3813048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Rounded Rectangle 11"/>
          <p:cNvSpPr/>
          <p:nvPr/>
        </p:nvSpPr>
        <p:spPr bwMode="auto">
          <a:xfrm>
            <a:off x="2907792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3044952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02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3044952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Настройка</a:t>
            </a:r>
            <a:endParaRPr/>
          </a:p>
        </p:txBody>
      </p:sp>
      <p:sp>
        <p:nvSpPr>
          <p:cNvPr id="15" name="TextBox 14"/>
          <p:cNvSpPr txBox="1"/>
          <p:nvPr/>
        </p:nvSpPr>
        <p:spPr bwMode="auto">
          <a:xfrm>
            <a:off x="3044952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Роли, процессы,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печатные формы</a:t>
            </a:r>
            <a:endParaRPr/>
          </a:p>
        </p:txBody>
      </p:sp>
      <p:sp>
        <p:nvSpPr>
          <p:cNvPr id="16" name="Oval 15"/>
          <p:cNvSpPr/>
          <p:nvPr/>
        </p:nvSpPr>
        <p:spPr bwMode="auto">
          <a:xfrm>
            <a:off x="6080760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5175504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5312664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03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5312664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Выпуск подписей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5312664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УНЭП / Госключ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для сотрудников</a:t>
            </a:r>
            <a:endParaRPr/>
          </a:p>
        </p:txBody>
      </p:sp>
      <p:sp>
        <p:nvSpPr>
          <p:cNvPr id="21" name="Oval 20"/>
          <p:cNvSpPr/>
          <p:nvPr/>
        </p:nvSpPr>
        <p:spPr bwMode="auto">
          <a:xfrm>
            <a:off x="8348471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Rounded Rectangle 21"/>
          <p:cNvSpPr/>
          <p:nvPr/>
        </p:nvSpPr>
        <p:spPr bwMode="auto">
          <a:xfrm>
            <a:off x="7443216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TextBox 22"/>
          <p:cNvSpPr txBox="1"/>
          <p:nvPr/>
        </p:nvSpPr>
        <p:spPr bwMode="auto">
          <a:xfrm>
            <a:off x="7580376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04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7580376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Обучение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7580376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Видеоуроки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и короткие инструкции</a:t>
            </a:r>
            <a:endParaRPr/>
          </a:p>
        </p:txBody>
      </p:sp>
      <p:sp>
        <p:nvSpPr>
          <p:cNvPr id="26" name="Oval 25"/>
          <p:cNvSpPr/>
          <p:nvPr/>
        </p:nvSpPr>
        <p:spPr bwMode="auto">
          <a:xfrm>
            <a:off x="10616184" y="2194560"/>
            <a:ext cx="292608" cy="29260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Rounded Rectangle 26"/>
          <p:cNvSpPr/>
          <p:nvPr/>
        </p:nvSpPr>
        <p:spPr bwMode="auto">
          <a:xfrm>
            <a:off x="9710928" y="2834640"/>
            <a:ext cx="2103120" cy="219456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 bwMode="auto">
          <a:xfrm>
            <a:off x="9848088" y="29718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05</a:t>
            </a:r>
            <a:endParaRPr/>
          </a:p>
        </p:txBody>
      </p:sp>
      <p:sp>
        <p:nvSpPr>
          <p:cNvPr id="29" name="TextBox 28"/>
          <p:cNvSpPr txBox="1"/>
          <p:nvPr/>
        </p:nvSpPr>
        <p:spPr bwMode="auto">
          <a:xfrm>
            <a:off x="9848088" y="33832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Начало работы</a:t>
            </a:r>
            <a:endParaRPr/>
          </a:p>
        </p:txBody>
      </p:sp>
      <p:sp>
        <p:nvSpPr>
          <p:cNvPr id="30" name="TextBox 29"/>
          <p:cNvSpPr txBox="1"/>
          <p:nvPr/>
        </p:nvSpPr>
        <p:spPr bwMode="auto">
          <a:xfrm>
            <a:off x="9848088" y="3931920"/>
            <a:ext cx="1828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Заявления, расчётные,</a:t>
            </a:r>
            <a:b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согласования</a:t>
            </a:r>
            <a:endParaRPr/>
          </a:p>
        </p:txBody>
      </p:sp>
      <p:sp>
        <p:nvSpPr>
          <p:cNvPr id="31" name="Rounded Rectangle 30"/>
          <p:cNvSpPr/>
          <p:nvPr/>
        </p:nvSpPr>
        <p:spPr bwMode="auto">
          <a:xfrm>
            <a:off x="886968" y="530352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 bwMode="auto">
          <a:xfrm>
            <a:off x="1097280" y="5440680"/>
            <a:ext cx="9966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/>
            </a:pPr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Внедрение не меняет привычный процесс работы в 1С.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Сервис глазами сотрудника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Покажите клиенту экраны мобильного приложения до демо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50292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 descr="mobile_home_salary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77402" y="1783080"/>
            <a:ext cx="1796277" cy="3520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59436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экран:</a:t>
            </a:r>
            <a:b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зарплата и отсутствия</a:t>
            </a:r>
            <a:endParaRPr/>
          </a:p>
        </p:txBody>
      </p:sp>
      <p:sp>
        <p:nvSpPr>
          <p:cNvPr id="8" name="Rounded Rectangle 7"/>
          <p:cNvSpPr/>
          <p:nvPr/>
        </p:nvSpPr>
        <p:spPr bwMode="auto">
          <a:xfrm>
            <a:off x="342900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8" descr="mobile_vacation_request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57600" y="1737360"/>
            <a:ext cx="2150869" cy="3520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352044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Заявление</a:t>
            </a:r>
            <a:b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 отпуск</a:t>
            </a:r>
            <a:endParaRPr/>
          </a:p>
        </p:txBody>
      </p:sp>
      <p:sp>
        <p:nvSpPr>
          <p:cNvPr id="11" name="Rounded Rectangle 10"/>
          <p:cNvSpPr/>
          <p:nvPr/>
        </p:nvSpPr>
        <p:spPr bwMode="auto">
          <a:xfrm>
            <a:off x="635508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 descr="mobile_vacation_wishes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462742" y="2232870"/>
            <a:ext cx="2484507" cy="29792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644652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Пожелания</a:t>
            </a:r>
            <a:b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 графику отпусков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9281160" y="1554480"/>
            <a:ext cx="2743200" cy="457200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 descr="mobile_manager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799387" y="1764859"/>
            <a:ext cx="1585874" cy="3520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9372600" y="534924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Раздел</a:t>
            </a:r>
            <a:b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</a:br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руководителя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кадровика прямо в 1С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Заявления превращаются в задачи и документы без двойного ввода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670560" y="1617843"/>
            <a:ext cx="539496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 descr="1c_vacation_task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64302" y="1686276"/>
            <a:ext cx="3515532" cy="21841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859194" y="1853920"/>
            <a:ext cx="160510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Задача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заявлению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на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отпуск</a:t>
            </a:r>
            <a:endParaRPr sz="1200" b="1">
              <a:solidFill>
                <a:srgbClr val="26A6E0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8" name="Rounded Rectangle 7"/>
          <p:cNvSpPr/>
          <p:nvPr/>
        </p:nvSpPr>
        <p:spPr bwMode="auto">
          <a:xfrm>
            <a:off x="6263640" y="1554480"/>
            <a:ext cx="5394960" cy="233172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8" descr="1c_transfer_to_cabinet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812904" y="1691741"/>
            <a:ext cx="4296431" cy="1915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6400800" y="3585923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Кнопка «Передать в 1С:Кабинет сотрудника»</a:t>
            </a:r>
            <a:endParaRPr/>
          </a:p>
        </p:txBody>
      </p:sp>
      <p:sp>
        <p:nvSpPr>
          <p:cNvPr id="11" name="Rounded Rectangle 10"/>
          <p:cNvSpPr/>
          <p:nvPr/>
        </p:nvSpPr>
        <p:spPr bwMode="auto">
          <a:xfrm>
            <a:off x="640080" y="40690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 descr="1c_kedo_documents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77240" y="4161540"/>
            <a:ext cx="5202594" cy="16733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627842" y="5834909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Журнал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документов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кадрового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ЭДО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6263640" y="406908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 descr="1c_hire_print_forms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863947" y="4108503"/>
            <a:ext cx="3642252" cy="19432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6321598" y="4245905"/>
            <a:ext cx="154628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Печатные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формы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при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приёме</a:t>
            </a: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→ в КС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покажем на демонстрации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886968" y="1143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/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После экранов выше — живая демонстрация на ваших процессах</a:t>
            </a:r>
            <a:endParaRPr/>
          </a:p>
        </p:txBody>
      </p:sp>
      <p:sp>
        <p:nvSpPr>
          <p:cNvPr id="5" name="Rounded Rectangle 4"/>
          <p:cNvSpPr/>
          <p:nvPr/>
        </p:nvSpPr>
        <p:spPr bwMode="auto">
          <a:xfrm>
            <a:off x="886968" y="1691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5" descr="icon_55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69848" y="187452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 bwMode="auto">
          <a:xfrm>
            <a:off x="1755648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Оформление отпуска</a:t>
            </a:r>
            <a:endParaRPr/>
          </a:p>
        </p:txBody>
      </p:sp>
      <p:sp>
        <p:nvSpPr>
          <p:cNvPr id="8" name="Rounded Rectangle 7"/>
          <p:cNvSpPr/>
          <p:nvPr/>
        </p:nvSpPr>
        <p:spPr bwMode="auto">
          <a:xfrm>
            <a:off x="6327648" y="169164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8" descr="icon_22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510528" y="187452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7196328" y="192024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Отправка расчётного листка</a:t>
            </a:r>
            <a:endParaRPr/>
          </a:p>
        </p:txBody>
      </p:sp>
      <p:sp>
        <p:nvSpPr>
          <p:cNvPr id="11" name="Rounded Rectangle 10"/>
          <p:cNvSpPr/>
          <p:nvPr/>
        </p:nvSpPr>
        <p:spPr bwMode="auto">
          <a:xfrm>
            <a:off x="886968" y="2743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1" descr="icon_69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9848" y="292608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1755648" y="2971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Согласование руководителем</a:t>
            </a:r>
            <a:endParaRPr/>
          </a:p>
        </p:txBody>
      </p:sp>
      <p:sp>
        <p:nvSpPr>
          <p:cNvPr id="14" name="Rounded Rectangle 13"/>
          <p:cNvSpPr/>
          <p:nvPr/>
        </p:nvSpPr>
        <p:spPr bwMode="auto">
          <a:xfrm>
            <a:off x="6327648" y="27432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4" descr="icon_66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510528" y="2926080"/>
            <a:ext cx="502920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 bwMode="auto">
          <a:xfrm>
            <a:off x="7196328" y="297180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Подписание документов</a:t>
            </a:r>
            <a:endParaRPr/>
          </a:p>
        </p:txBody>
      </p:sp>
      <p:sp>
        <p:nvSpPr>
          <p:cNvPr id="17" name="Rounded Rectangle 16"/>
          <p:cNvSpPr/>
          <p:nvPr/>
        </p:nvSpPr>
        <p:spPr bwMode="auto">
          <a:xfrm>
            <a:off x="886968" y="3794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7" descr="icon_59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69848" y="397764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 bwMode="auto">
          <a:xfrm>
            <a:off x="1755648" y="40233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Выпуск подписи</a:t>
            </a:r>
            <a:endParaRPr/>
          </a:p>
        </p:txBody>
      </p:sp>
      <p:sp>
        <p:nvSpPr>
          <p:cNvPr id="20" name="Rounded Rectangle 19"/>
          <p:cNvSpPr/>
          <p:nvPr/>
        </p:nvSpPr>
        <p:spPr bwMode="auto">
          <a:xfrm>
            <a:off x="6327648" y="379476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0" descr="icon_70.png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510528" y="397764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 bwMode="auto">
          <a:xfrm>
            <a:off x="7196328" y="402336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мобильного приложения</a:t>
            </a:r>
            <a:endParaRPr/>
          </a:p>
        </p:txBody>
      </p:sp>
      <p:sp>
        <p:nvSpPr>
          <p:cNvPr id="23" name="Rounded Rectangle 22"/>
          <p:cNvSpPr/>
          <p:nvPr/>
        </p:nvSpPr>
        <p:spPr bwMode="auto">
          <a:xfrm>
            <a:off x="3607308" y="484632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3" descr="icon_27.png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3790188" y="5029200"/>
            <a:ext cx="502920" cy="502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 bwMode="auto">
          <a:xfrm>
            <a:off x="4475988" y="5074920"/>
            <a:ext cx="4114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/>
            </a:pPr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Работа кадровика в 1С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Обсудим</a:t>
            </a: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ваши</a:t>
            </a: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8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процессы</a:t>
            </a:r>
            <a:endParaRPr sz="2800" b="1">
              <a:solidFill>
                <a:srgbClr val="FFFFFF"/>
              </a:solidFill>
              <a:latin typeface="Verdana"/>
              <a:ea typeface="Verdana"/>
              <a:cs typeface="Verdana"/>
            </a:endParaRPr>
          </a:p>
          <a:p>
            <a:pPr>
              <a:spcBef>
                <a:spcPts val="1800"/>
              </a:spcBef>
              <a:defRPr/>
            </a:pP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Какие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кадровые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задачи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сегодня</a:t>
            </a:r>
            <a:b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</a:b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занимают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больше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всего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 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времени</a:t>
            </a:r>
            <a:r>
              <a:rPr sz="2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?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874714" y="5265327"/>
            <a:ext cx="6084888" cy="776557"/>
          </a:xfrm>
        </p:spPr>
        <p:txBody>
          <a:bodyPr>
            <a:normAutofit/>
          </a:bodyPr>
          <a:lstStyle/>
          <a:p>
            <a:pPr>
              <a:defRPr/>
            </a:pPr>
            <a:b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b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</a:br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8 (3952) 78-00-00</a:t>
            </a:r>
            <a:endParaRPr/>
          </a:p>
        </p:txBody>
      </p:sp>
      <p:pic>
        <p:nvPicPr>
          <p:cNvPr id="4" name="Picture 3" descr="icon_64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509760" y="502920"/>
            <a:ext cx="1737360" cy="1737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Liberation Sans"/>
        <a:cs typeface="Liberation Sans"/>
      </a:majorFont>
      <a:minorFont>
        <a:latin typeface="Verdana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r7-office/2025.4.1.1604</Application>
  <DocSecurity>0</DocSecurity>
  <PresentationFormat>Широкоэкранный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Пользователь</dc:creator>
  <cp:keywords/>
  <dc:description/>
  <dc:identifier/>
  <dc:language/>
  <cp:lastModifiedBy>Блохина Елизавета</cp:lastModifiedBy>
  <cp:revision>215</cp:revision>
  <dcterms:created xsi:type="dcterms:W3CDTF">2020-01-20T06:19:00Z</dcterms:created>
  <dcterms:modified xsi:type="dcterms:W3CDTF">2026-08-12T09:55:51Z</dcterms:modified>
  <cp:category/>
  <cp:contentStatus/>
  <cp:version/>
</cp:coreProperties>
</file>