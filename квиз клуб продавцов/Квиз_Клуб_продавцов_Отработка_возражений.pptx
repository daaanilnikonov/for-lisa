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франовый шаблон" id="{FBFB8EBD-73BD-4F84-9F02-556D73907D89}">
          <p14:sldIdLst>
            <p14:sldId id="277"/>
            <p14:sldId id="297"/>
            <p14:sldId id="296"/>
            <p14:sldId id="278"/>
            <p14:sldId id="295"/>
            <p14:sldId id="309"/>
            <p14:sldId id="310"/>
            <p14:sldId id="319"/>
            <p14:sldId id="318"/>
            <p14:sldId id="314"/>
            <p14:sldId id="271"/>
            <p14:sldId id="261"/>
            <p14:sldId id="294"/>
            <p14:sldId id="279"/>
            <p14:sldId id="280"/>
            <p14:sldId id="290"/>
            <p14:sldId id="281"/>
            <p14:sldId id="291"/>
            <p14:sldId id="300"/>
            <p14:sldId id="298"/>
            <p14:sldId id="299"/>
            <p14:sldId id="306"/>
            <p14:sldId id="292"/>
            <p14:sldId id="293"/>
            <p14:sldId id="308"/>
            <p14:sldId id="313"/>
            <p14:sldId id="316"/>
            <p14:sldId id="303"/>
            <p14:sldId id="272"/>
            <p14:sldId id="273"/>
            <p14:sldId id="305"/>
            <p14:sldId id="304"/>
            <p14:sldId id="258"/>
            <p14:sldId id="259"/>
            <p14:sldId id="260"/>
            <p14:sldId id="282"/>
            <p14:sldId id="307"/>
            <p14:sldId id="284"/>
            <p14:sldId id="301"/>
            <p14:sldId id="285"/>
            <p14:sldId id="288"/>
            <p14:sldId id="315"/>
            <p14:sldId id="320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F66"/>
    <a:srgbClr val="D64A4A"/>
    <a:srgbClr val="385E75"/>
    <a:srgbClr val="F7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6395" autoAdjust="0"/>
  </p:normalViewPr>
  <p:slideViewPr>
    <p:cSldViewPr snapToGrid="0">
      <p:cViewPr varScale="1">
        <p:scale>
          <a:sx n="101" d="100"/>
          <a:sy n="101" d="100"/>
        </p:scale>
        <p:origin x="88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2406" y="-54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78FD9-E883-405F-84A7-48BE6C1C4639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83DF0-6FC0-4BAF-9BAA-AC3E7DD33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420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1DD30-20F5-456A-A91D-5E5E2AE4E96B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D6420-324F-4B35-AE1D-31198132C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85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1592673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452140"/>
            <a:ext cx="608488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86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108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CBBFDCD-7D7F-4B80-B8B1-819A1E32F0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43FBD1AF-C1AA-4706-8044-A437628082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564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3BC5D02F-6A7F-488D-8863-2E7D5E916A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970EFF6-2A86-47BF-957F-C7B6C538C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458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519A18-1BF8-4938-AEC3-A77314E5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D8AD4F86-5FE3-446D-8780-CDA879DFF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0593BBA2-AC45-42A4-9428-FC5859BB9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7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BFBC993-7CB7-4F97-9604-69040108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1CA5DEB-4E80-4943-910F-68B80795D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96E871B4-AA94-4D4E-9BBB-98632F8FC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28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0A5662A-3631-4B64-9763-487A6E3AD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CED77CCE-A060-47D9-A7C0-7E698FE03F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4624F-C505-4ADC-B9EB-36ABDDDDD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321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16A866A-C7E4-46BE-B9A8-81C97693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6EE71620-56CC-413D-BC0A-00E91094C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0E8E5EB6-08F5-41BA-A4BA-A663A9CFB4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4286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нуме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5865430" y="1129630"/>
            <a:ext cx="5415345" cy="4330604"/>
          </a:xfrm>
        </p:spPr>
        <p:txBody>
          <a:bodyPr lIns="0" tIns="0" rIns="0" bIns="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 baseline="0"/>
            </a:lvl1pPr>
          </a:lstStyle>
          <a:p>
            <a:pPr lvl="0"/>
            <a:r>
              <a:rPr lang="ru-RU" dirty="0"/>
              <a:t>Первый пункт</a:t>
            </a:r>
          </a:p>
          <a:p>
            <a:pPr lvl="0"/>
            <a:r>
              <a:rPr lang="ru-RU" dirty="0"/>
              <a:t>Второй пункт </a:t>
            </a:r>
          </a:p>
          <a:p>
            <a:pPr lvl="0"/>
            <a:r>
              <a:rPr lang="ru-RU" dirty="0"/>
              <a:t>Третий пункт 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EE474C4-81A0-46FC-BFAC-275D8A40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963647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3CAE1B9-25FF-48B5-A049-B9DC3BEF1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276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маркированный спис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32A7D44-323D-47D5-A9F0-01D4A9E8A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7132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E477ECF-E540-4493-B86E-B873B16E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6149728-8AE4-4B5A-97C2-EA2E3AC92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272825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марки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D56FE66-88BE-40AA-AAA9-8DDD1F2AD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891219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617602DF-5256-4FDD-94C1-5B638A446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133A49C5-51F3-4E68-A259-6E5B7AC4F3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9776" y="1047774"/>
            <a:ext cx="5517823" cy="4527457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1270566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спр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7697" y="762915"/>
            <a:ext cx="4943168" cy="4645025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2"/>
          <p:cNvSpPr>
            <a:spLocks noGrp="1"/>
          </p:cNvSpPr>
          <p:nvPr>
            <p:ph idx="1" hasCustomPrompt="1"/>
          </p:nvPr>
        </p:nvSpPr>
        <p:spPr>
          <a:xfrm>
            <a:off x="6381135" y="762915"/>
            <a:ext cx="4943168" cy="4633911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C523A1-EB68-423D-8F90-63E750B7F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0566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65238" y="3215148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01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E183D238-B879-455A-91BE-5DFBD2E39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927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 с цифрой_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6">
            <a:extLst>
              <a:ext uri="{FF2B5EF4-FFF2-40B4-BE49-F238E27FC236}">
                <a16:creationId xmlns:a16="http://schemas.microsoft.com/office/drawing/2014/main" id="{F0DFD439-0271-4EDC-9E88-A8C8A5616F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92159" y="478202"/>
            <a:ext cx="4896950" cy="2806239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FontTx/>
              <a:buNone/>
              <a:defRPr lang="ru-RU" sz="25000" b="1" kern="1200" baseline="0" dirty="0">
                <a:solidFill>
                  <a:schemeClr val="bg1"/>
                </a:solidFill>
                <a:latin typeface="Stolzl" panose="00000500000000000000" pitchFamily="50" charset="-52"/>
                <a:ea typeface="+mj-ea"/>
                <a:cs typeface="+mj-cs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94DF25D-F3E4-4185-AB33-DAD8419C2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3820562"/>
            <a:ext cx="5948517" cy="2200826"/>
          </a:xfrm>
        </p:spPr>
        <p:txBody>
          <a:bodyPr anchor="b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02</a:t>
            </a: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7E9D0740-1D71-4366-99A6-C672EF2E2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52852" y="4621161"/>
            <a:ext cx="3195484" cy="1400227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47C20D37-BE6F-4F7A-B249-94EC22728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9776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03</a:t>
            </a:r>
          </a:p>
        </p:txBody>
      </p:sp>
    </p:spTree>
    <p:extLst>
      <p:ext uri="{BB962C8B-B14F-4D97-AF65-F5344CB8AC3E}">
        <p14:creationId xmlns:p14="http://schemas.microsoft.com/office/powerpoint/2010/main" val="1368503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04</a:t>
            </a:r>
          </a:p>
        </p:txBody>
      </p:sp>
    </p:spTree>
    <p:extLst>
      <p:ext uri="{BB962C8B-B14F-4D97-AF65-F5344CB8AC3E}">
        <p14:creationId xmlns:p14="http://schemas.microsoft.com/office/powerpoint/2010/main" val="21896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8835461" y="1534625"/>
            <a:ext cx="2442137" cy="4179272"/>
          </a:xfrm>
        </p:spPr>
        <p:txBody>
          <a:bodyPr anchor="ctr" anchorCtr="0">
            <a:normAutofit/>
          </a:bodyPr>
          <a:lstStyle>
            <a:lvl1pPr>
              <a:defRPr sz="1400" b="0"/>
            </a:lvl1pPr>
            <a:lvl4pPr>
              <a:defRPr/>
            </a:lvl4pPr>
          </a:lstStyle>
          <a:p>
            <a:pPr lvl="0"/>
            <a:r>
              <a:rPr lang="ru-RU" dirty="0"/>
              <a:t>Описание диаграммы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84902" y="1543169"/>
            <a:ext cx="7771376" cy="4179273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F821131-241D-4D09-AE09-799B2959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63282"/>
            <a:ext cx="10392696" cy="954310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F46BE731-9096-4039-BF9A-727DEA4B2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0766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круговая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6343436" y="441325"/>
            <a:ext cx="4938367" cy="1552267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75071" y="441325"/>
            <a:ext cx="4973493" cy="5097156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idx="1" hasCustomPrompt="1"/>
          </p:nvPr>
        </p:nvSpPr>
        <p:spPr>
          <a:xfrm>
            <a:off x="6341806" y="2298393"/>
            <a:ext cx="4940197" cy="324008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1FE05CB-6EF4-4FF8-B36B-867271E4E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1220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390967" y="1595563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84902" y="1595564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11C23E-56A6-4164-B8FF-F10658F2B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7F2573-AD9D-448A-A476-45D5ECB21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77090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0" y="2489588"/>
            <a:ext cx="5196348" cy="31852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80704" y="1614516"/>
            <a:ext cx="5005388" cy="406036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6096000" y="1614516"/>
            <a:ext cx="5196348" cy="7159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75CD4B1-F30F-4145-BA27-A319BB47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52264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5CEB1CE-04E3-42BD-8823-F5452F1C4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14414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Рисунка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90535" y="4965411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90535" y="1514633"/>
            <a:ext cx="4782677" cy="2890556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0535" y="4536785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4" name="Текст 3"/>
          <p:cNvSpPr>
            <a:spLocks noGrp="1"/>
          </p:cNvSpPr>
          <p:nvPr>
            <p:ph type="body" sz="half" idx="16"/>
          </p:nvPr>
        </p:nvSpPr>
        <p:spPr>
          <a:xfrm>
            <a:off x="6518788" y="4965410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7"/>
          </p:nvPr>
        </p:nvSpPr>
        <p:spPr>
          <a:xfrm>
            <a:off x="6518788" y="1504646"/>
            <a:ext cx="4782677" cy="290054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518788" y="4536784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81AEDAF-55A9-4E1C-8323-359C0D96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8FFC0EE2-1895-4B1F-A00C-1F2A313BE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42656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3"/>
          <p:cNvSpPr>
            <a:spLocks noGrp="1"/>
          </p:cNvSpPr>
          <p:nvPr>
            <p:ph type="body" sz="half" idx="2"/>
          </p:nvPr>
        </p:nvSpPr>
        <p:spPr>
          <a:xfrm>
            <a:off x="891280" y="5127584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1280" y="4594184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6"/>
          </p:nvPr>
        </p:nvSpPr>
        <p:spPr>
          <a:xfrm>
            <a:off x="888105" y="1527246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0" name="Текст 3"/>
          <p:cNvSpPr>
            <a:spLocks noGrp="1"/>
          </p:cNvSpPr>
          <p:nvPr>
            <p:ph type="body" sz="half" idx="17"/>
          </p:nvPr>
        </p:nvSpPr>
        <p:spPr>
          <a:xfrm>
            <a:off x="6349420" y="5115850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349420" y="4582450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7" name="Объект 3"/>
          <p:cNvSpPr>
            <a:spLocks noGrp="1"/>
          </p:cNvSpPr>
          <p:nvPr>
            <p:ph sz="half" idx="19"/>
          </p:nvPr>
        </p:nvSpPr>
        <p:spPr>
          <a:xfrm>
            <a:off x="6346213" y="1514593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131546B-EEAC-45C2-AD58-2686120E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54BC83B1-EA69-458C-93CC-D83700FA6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2507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53E90FC-F950-4C4B-B0F4-B43F9D7D1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5078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4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CED1720-7802-4704-90FA-E302964951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137432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3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EA4524E-AC81-4F4C-AAE2-A4D98451D4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752662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7800" y="1376363"/>
            <a:ext cx="4252913" cy="463391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456363" y="1376363"/>
            <a:ext cx="4287836" cy="463391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6DD18E-EC18-44A1-8713-A3D5410D0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247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50" r:id="rId4"/>
    <p:sldLayoutId id="2147483694" r:id="rId5"/>
    <p:sldLayoutId id="2147483695" r:id="rId6"/>
    <p:sldLayoutId id="2147483706" r:id="rId7"/>
    <p:sldLayoutId id="2147483686" r:id="rId8"/>
    <p:sldLayoutId id="2147483704" r:id="rId9"/>
    <p:sldLayoutId id="2147483688" r:id="rId10"/>
    <p:sldLayoutId id="2147483705" r:id="rId11"/>
    <p:sldLayoutId id="2147483665" r:id="rId12"/>
    <p:sldLayoutId id="2147483677" r:id="rId13"/>
    <p:sldLayoutId id="2147483697" r:id="rId14"/>
    <p:sldLayoutId id="2147483698" r:id="rId15"/>
    <p:sldLayoutId id="2147483707" r:id="rId16"/>
    <p:sldLayoutId id="2147483672" r:id="rId17"/>
    <p:sldLayoutId id="2147483671" r:id="rId18"/>
    <p:sldLayoutId id="2147483652" r:id="rId19"/>
    <p:sldLayoutId id="2147483703" r:id="rId20"/>
    <p:sldLayoutId id="2147483675" r:id="rId21"/>
    <p:sldLayoutId id="2147483676" r:id="rId22"/>
    <p:sldLayoutId id="2147483666" r:id="rId23"/>
    <p:sldLayoutId id="2147483701" r:id="rId24"/>
    <p:sldLayoutId id="2147483684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310" userDrawn="1">
          <p15:clr>
            <a:srgbClr val="F26B43"/>
          </p15:clr>
        </p15:guide>
        <p15:guide id="17" pos="370" userDrawn="1">
          <p15:clr>
            <a:srgbClr val="F26B43"/>
          </p15:clr>
        </p15:guide>
        <p15:guide id="20" orient="horz" pos="4042" userDrawn="1">
          <p15:clr>
            <a:srgbClr val="F26B43"/>
          </p15:clr>
        </p15:guide>
        <p15:guide id="21" orient="horz" pos="278" userDrawn="1">
          <p15:clr>
            <a:srgbClr val="F26B43"/>
          </p15:clr>
        </p15:guide>
        <p15:guide id="22" pos="551" userDrawn="1">
          <p15:clr>
            <a:srgbClr val="F26B43"/>
          </p15:clr>
        </p15:guide>
        <p15:guide id="23" pos="71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1.xml"/><Relationship Id="rId11" Type="http://schemas.openxmlformats.org/officeDocument/2006/relationships/slide" Target="slide12.xml"/><Relationship Id="rId12" Type="http://schemas.openxmlformats.org/officeDocument/2006/relationships/slide" Target="slide13.xml"/><Relationship Id="rId13" Type="http://schemas.openxmlformats.org/officeDocument/2006/relationships/slide" Target="slide14.xml"/><Relationship Id="rId14" Type="http://schemas.openxmlformats.org/officeDocument/2006/relationships/slide" Target="slide15.xml"/><Relationship Id="rId15" Type="http://schemas.openxmlformats.org/officeDocument/2006/relationships/slide" Target="slide16.xml"/><Relationship Id="rId16" Type="http://schemas.openxmlformats.org/officeDocument/2006/relationships/slide" Target="slide17.xml"/><Relationship Id="rId17" Type="http://schemas.openxmlformats.org/officeDocument/2006/relationships/slide" Target="slide18.xml"/><Relationship Id="rId18" Type="http://schemas.openxmlformats.org/officeDocument/2006/relationships/slide" Target="slide19.xml"/><Relationship Id="rId19" Type="http://schemas.openxmlformats.org/officeDocument/2006/relationships/slide" Target="slide20.xml"/><Relationship Id="rId20" Type="http://schemas.openxmlformats.org/officeDocument/2006/relationships/slide" Target="slide21.xml"/><Relationship Id="rId21" Type="http://schemas.openxmlformats.org/officeDocument/2006/relationships/slide" Target="slide22.xml"/><Relationship Id="rId22" Type="http://schemas.openxmlformats.org/officeDocument/2006/relationships/slide" Target="slide23.xml"/><Relationship Id="rId23" Type="http://schemas.openxmlformats.org/officeDocument/2006/relationships/slide" Target="slide24.xml"/><Relationship Id="rId24" Type="http://schemas.openxmlformats.org/officeDocument/2006/relationships/slide" Target="slide25.xml"/><Relationship Id="rId25" Type="http://schemas.openxmlformats.org/officeDocument/2006/relationships/slide" Target="slide26.xml"/><Relationship Id="rId26" Type="http://schemas.openxmlformats.org/officeDocument/2006/relationships/slide" Target="slide27.xml"/><Relationship Id="rId27" Type="http://schemas.openxmlformats.org/officeDocument/2006/relationships/slide" Target="slide28.xml"/><Relationship Id="rId28" Type="http://schemas.openxmlformats.org/officeDocument/2006/relationships/slide" Target="slide29.xml"/><Relationship Id="rId29" Type="http://schemas.openxmlformats.org/officeDocument/2006/relationships/slide" Target="slide30.xml"/><Relationship Id="rId30" Type="http://schemas.openxmlformats.org/officeDocument/2006/relationships/slide" Target="slide31.xml"/><Relationship Id="rId31" Type="http://schemas.openxmlformats.org/officeDocument/2006/relationships/slide" Target="slide3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slide" Target="slide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slide" Target="slide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gif"/><Relationship Id="rId3" Type="http://schemas.openxmlformats.org/officeDocument/2006/relationships/slide" Target="slide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slide" Target="slide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gif"/><Relationship Id="rId3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0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Клуб продавцов</a:t>
            </a:r>
          </a:p>
          <a:p>
            <a:pPr>
              <a:spcBef>
                <a:spcPts val="800"/>
              </a:spcBef>
            </a:pPr>
            <a:r>
              <a:rPr sz="3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Отработка возражений</a:t>
            </a:r>
          </a:p>
          <a:p>
            <a:pPr>
              <a:spcBef>
                <a:spcPts val="1400"/>
              </a:spcBef>
            </a:pPr>
            <a:r>
              <a:rPr sz="15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Формат «100 к 1»  ·  командная Своя игра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5 тем  ·  30 кейсов  ·  10 / 30 / 50 / 70 / 100 / 150
Таймер: 1,5 мин (10–50)  ·  2 мин (70–100)  ·  3 мин (150)
При неверном ответе вопрос может перейти другой команде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Игровое поле  ·  100 к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Клик по баллам → кейс  ·  открытые ячейки краснеют  ·  таймер по сложности  ·  «К полю» — назад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148840" cy="713232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Тема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63040"/>
            <a:ext cx="1325880" cy="713232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463040"/>
            <a:ext cx="1325880" cy="713232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463040"/>
            <a:ext cx="1325880" cy="713232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1463040"/>
            <a:ext cx="1325880" cy="713232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463040"/>
            <a:ext cx="1325880" cy="713232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9800" y="1463040"/>
            <a:ext cx="1325880" cy="713232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67712"/>
            <a:ext cx="2148840" cy="713232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13" name="Cell_0_0">
            <a:hlinkClick action="ppaction://hlinksldjump" r:id="rId2"/>
          </p:cNvPr>
          <p:cNvSpPr/>
          <p:nvPr/>
        </p:nvSpPr>
        <p:spPr>
          <a:xfrm>
            <a:off x="2743200" y="2267712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" action="ppaction://hlinksldjump"/>
              </a:rPr>
              <a:t>10</a:t>
            </a:r>
          </a:p>
        </p:txBody>
      </p:sp>
      <p:sp>
        <p:nvSpPr>
          <p:cNvPr id="14" name="Cell_0_1">
            <a:hlinkClick action="ppaction://hlinksldjump" r:id="rId3"/>
          </p:cNvPr>
          <p:cNvSpPr/>
          <p:nvPr/>
        </p:nvSpPr>
        <p:spPr>
          <a:xfrm>
            <a:off x="4160520" y="2267712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3" action="ppaction://hlinksldjump"/>
              </a:rPr>
              <a:t>30</a:t>
            </a:r>
          </a:p>
        </p:txBody>
      </p:sp>
      <p:sp>
        <p:nvSpPr>
          <p:cNvPr id="15" name="Cell_0_2">
            <a:hlinkClick action="ppaction://hlinksldjump" r:id="rId4"/>
          </p:cNvPr>
          <p:cNvSpPr/>
          <p:nvPr/>
        </p:nvSpPr>
        <p:spPr>
          <a:xfrm>
            <a:off x="5577840" y="2267712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4" action="ppaction://hlinksldjump"/>
              </a:rPr>
              <a:t>50</a:t>
            </a:r>
          </a:p>
        </p:txBody>
      </p:sp>
      <p:sp>
        <p:nvSpPr>
          <p:cNvPr id="16" name="Cell_0_3">
            <a:hlinkClick action="ppaction://hlinksldjump" r:id="rId5"/>
          </p:cNvPr>
          <p:cNvSpPr/>
          <p:nvPr/>
        </p:nvSpPr>
        <p:spPr>
          <a:xfrm>
            <a:off x="6995160" y="2267712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5" action="ppaction://hlinksldjump"/>
              </a:rPr>
              <a:t>70</a:t>
            </a:r>
          </a:p>
        </p:txBody>
      </p:sp>
      <p:sp>
        <p:nvSpPr>
          <p:cNvPr id="17" name="Cell_0_4">
            <a:hlinkClick action="ppaction://hlinksldjump" r:id="rId6"/>
          </p:cNvPr>
          <p:cNvSpPr/>
          <p:nvPr/>
        </p:nvSpPr>
        <p:spPr>
          <a:xfrm>
            <a:off x="8412480" y="2267712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6" action="ppaction://hlinksldjump"/>
              </a:rPr>
              <a:t>100</a:t>
            </a:r>
          </a:p>
        </p:txBody>
      </p:sp>
      <p:sp>
        <p:nvSpPr>
          <p:cNvPr id="18" name="Cell_0_5">
            <a:hlinkClick action="ppaction://hlinksldjump" r:id="rId7"/>
          </p:cNvPr>
          <p:cNvSpPr/>
          <p:nvPr/>
        </p:nvSpPr>
        <p:spPr>
          <a:xfrm>
            <a:off x="9829800" y="2267712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7" action="ppaction://hlinksldjump"/>
              </a:rPr>
              <a:t>150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72384"/>
            <a:ext cx="2148840" cy="713232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20" name="Cell_1_0">
            <a:hlinkClick action="ppaction://hlinksldjump" r:id="rId8"/>
          </p:cNvPr>
          <p:cNvSpPr/>
          <p:nvPr/>
        </p:nvSpPr>
        <p:spPr>
          <a:xfrm>
            <a:off x="2743200" y="3072384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8" action="ppaction://hlinksldjump"/>
              </a:rPr>
              <a:t>10</a:t>
            </a:r>
          </a:p>
        </p:txBody>
      </p:sp>
      <p:sp>
        <p:nvSpPr>
          <p:cNvPr id="21" name="Cell_1_1">
            <a:hlinkClick action="ppaction://hlinksldjump" r:id="rId9"/>
          </p:cNvPr>
          <p:cNvSpPr/>
          <p:nvPr/>
        </p:nvSpPr>
        <p:spPr>
          <a:xfrm>
            <a:off x="4160520" y="3072384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9" action="ppaction://hlinksldjump"/>
              </a:rPr>
              <a:t>30</a:t>
            </a:r>
          </a:p>
        </p:txBody>
      </p:sp>
      <p:sp>
        <p:nvSpPr>
          <p:cNvPr id="22" name="Cell_1_2">
            <a:hlinkClick action="ppaction://hlinksldjump" r:id="rId10"/>
          </p:cNvPr>
          <p:cNvSpPr/>
          <p:nvPr/>
        </p:nvSpPr>
        <p:spPr>
          <a:xfrm>
            <a:off x="5577840" y="3072384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0" action="ppaction://hlinksldjump"/>
              </a:rPr>
              <a:t>50</a:t>
            </a:r>
          </a:p>
        </p:txBody>
      </p:sp>
      <p:sp>
        <p:nvSpPr>
          <p:cNvPr id="23" name="Cell_1_3">
            <a:hlinkClick action="ppaction://hlinksldjump" r:id="rId11"/>
          </p:cNvPr>
          <p:cNvSpPr/>
          <p:nvPr/>
        </p:nvSpPr>
        <p:spPr>
          <a:xfrm>
            <a:off x="6995160" y="3072384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1" action="ppaction://hlinksldjump"/>
              </a:rPr>
              <a:t>70</a:t>
            </a:r>
          </a:p>
        </p:txBody>
      </p:sp>
      <p:sp>
        <p:nvSpPr>
          <p:cNvPr id="24" name="Cell_1_4">
            <a:hlinkClick action="ppaction://hlinksldjump" r:id="rId12"/>
          </p:cNvPr>
          <p:cNvSpPr/>
          <p:nvPr/>
        </p:nvSpPr>
        <p:spPr>
          <a:xfrm>
            <a:off x="8412480" y="3072384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2" action="ppaction://hlinksldjump"/>
              </a:rPr>
              <a:t>100</a:t>
            </a:r>
          </a:p>
        </p:txBody>
      </p:sp>
      <p:sp>
        <p:nvSpPr>
          <p:cNvPr id="25" name="Cell_1_5">
            <a:hlinkClick action="ppaction://hlinksldjump" r:id="rId13"/>
          </p:cNvPr>
          <p:cNvSpPr/>
          <p:nvPr/>
        </p:nvSpPr>
        <p:spPr>
          <a:xfrm>
            <a:off x="9829800" y="3072384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3" action="ppaction://hlinksldjump"/>
              </a:rPr>
              <a:t>150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877056"/>
            <a:ext cx="2148840" cy="713232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/ конкурент</a:t>
            </a:r>
          </a:p>
        </p:txBody>
      </p:sp>
      <p:sp>
        <p:nvSpPr>
          <p:cNvPr id="27" name="Cell_2_0">
            <a:hlinkClick action="ppaction://hlinksldjump" r:id="rId14"/>
          </p:cNvPr>
          <p:cNvSpPr/>
          <p:nvPr/>
        </p:nvSpPr>
        <p:spPr>
          <a:xfrm>
            <a:off x="2743200" y="3877056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4" action="ppaction://hlinksldjump"/>
              </a:rPr>
              <a:t>10</a:t>
            </a:r>
          </a:p>
        </p:txBody>
      </p:sp>
      <p:sp>
        <p:nvSpPr>
          <p:cNvPr id="28" name="Cell_2_1">
            <a:hlinkClick action="ppaction://hlinksldjump" r:id="rId15"/>
          </p:cNvPr>
          <p:cNvSpPr/>
          <p:nvPr/>
        </p:nvSpPr>
        <p:spPr>
          <a:xfrm>
            <a:off x="4160520" y="3877056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5" action="ppaction://hlinksldjump"/>
              </a:rPr>
              <a:t>30</a:t>
            </a:r>
          </a:p>
        </p:txBody>
      </p:sp>
      <p:sp>
        <p:nvSpPr>
          <p:cNvPr id="29" name="Cell_2_2">
            <a:hlinkClick action="ppaction://hlinksldjump" r:id="rId16"/>
          </p:cNvPr>
          <p:cNvSpPr/>
          <p:nvPr/>
        </p:nvSpPr>
        <p:spPr>
          <a:xfrm>
            <a:off x="5577840" y="3877056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6" action="ppaction://hlinksldjump"/>
              </a:rPr>
              <a:t>50</a:t>
            </a:r>
          </a:p>
        </p:txBody>
      </p:sp>
      <p:sp>
        <p:nvSpPr>
          <p:cNvPr id="30" name="Cell_2_3">
            <a:hlinkClick action="ppaction://hlinksldjump" r:id="rId17"/>
          </p:cNvPr>
          <p:cNvSpPr/>
          <p:nvPr/>
        </p:nvSpPr>
        <p:spPr>
          <a:xfrm>
            <a:off x="6995160" y="3877056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7" action="ppaction://hlinksldjump"/>
              </a:rPr>
              <a:t>70</a:t>
            </a:r>
          </a:p>
        </p:txBody>
      </p:sp>
      <p:sp>
        <p:nvSpPr>
          <p:cNvPr id="31" name="Cell_2_4">
            <a:hlinkClick action="ppaction://hlinksldjump" r:id="rId18"/>
          </p:cNvPr>
          <p:cNvSpPr/>
          <p:nvPr/>
        </p:nvSpPr>
        <p:spPr>
          <a:xfrm>
            <a:off x="8412480" y="3877056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8" action="ppaction://hlinksldjump"/>
              </a:rPr>
              <a:t>100</a:t>
            </a:r>
          </a:p>
        </p:txBody>
      </p:sp>
      <p:sp>
        <p:nvSpPr>
          <p:cNvPr id="32" name="Cell_2_5">
            <a:hlinkClick action="ppaction://hlinksldjump" r:id="rId19"/>
          </p:cNvPr>
          <p:cNvSpPr/>
          <p:nvPr/>
        </p:nvSpPr>
        <p:spPr>
          <a:xfrm>
            <a:off x="9829800" y="3877056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19" action="ppaction://hlinksldjump"/>
              </a:rPr>
              <a:t>150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681728"/>
            <a:ext cx="2148840" cy="713232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34" name="Cell_3_0">
            <a:hlinkClick action="ppaction://hlinksldjump" r:id="rId20"/>
          </p:cNvPr>
          <p:cNvSpPr/>
          <p:nvPr/>
        </p:nvSpPr>
        <p:spPr>
          <a:xfrm>
            <a:off x="2743200" y="4681728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0" action="ppaction://hlinksldjump"/>
              </a:rPr>
              <a:t>10</a:t>
            </a:r>
          </a:p>
        </p:txBody>
      </p:sp>
      <p:sp>
        <p:nvSpPr>
          <p:cNvPr id="35" name="Cell_3_1">
            <a:hlinkClick action="ppaction://hlinksldjump" r:id="rId21"/>
          </p:cNvPr>
          <p:cNvSpPr/>
          <p:nvPr/>
        </p:nvSpPr>
        <p:spPr>
          <a:xfrm>
            <a:off x="4160520" y="4681728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1" action="ppaction://hlinksldjump"/>
              </a:rPr>
              <a:t>30</a:t>
            </a:r>
          </a:p>
        </p:txBody>
      </p:sp>
      <p:sp>
        <p:nvSpPr>
          <p:cNvPr id="36" name="Cell_3_2">
            <a:hlinkClick action="ppaction://hlinksldjump" r:id="rId22"/>
          </p:cNvPr>
          <p:cNvSpPr/>
          <p:nvPr/>
        </p:nvSpPr>
        <p:spPr>
          <a:xfrm>
            <a:off x="5577840" y="4681728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2" action="ppaction://hlinksldjump"/>
              </a:rPr>
              <a:t>50</a:t>
            </a:r>
          </a:p>
        </p:txBody>
      </p:sp>
      <p:sp>
        <p:nvSpPr>
          <p:cNvPr id="37" name="Cell_3_3">
            <a:hlinkClick action="ppaction://hlinksldjump" r:id="rId23"/>
          </p:cNvPr>
          <p:cNvSpPr/>
          <p:nvPr/>
        </p:nvSpPr>
        <p:spPr>
          <a:xfrm>
            <a:off x="6995160" y="4681728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3" action="ppaction://hlinksldjump"/>
              </a:rPr>
              <a:t>70</a:t>
            </a:r>
          </a:p>
        </p:txBody>
      </p:sp>
      <p:sp>
        <p:nvSpPr>
          <p:cNvPr id="38" name="Cell_3_4">
            <a:hlinkClick action="ppaction://hlinksldjump" r:id="rId24"/>
          </p:cNvPr>
          <p:cNvSpPr/>
          <p:nvPr/>
        </p:nvSpPr>
        <p:spPr>
          <a:xfrm>
            <a:off x="8412480" y="4681728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4" action="ppaction://hlinksldjump"/>
              </a:rPr>
              <a:t>100</a:t>
            </a:r>
          </a:p>
        </p:txBody>
      </p:sp>
      <p:sp>
        <p:nvSpPr>
          <p:cNvPr id="39" name="Cell_3_5">
            <a:hlinkClick action="ppaction://hlinksldjump" r:id="rId25"/>
          </p:cNvPr>
          <p:cNvSpPr/>
          <p:nvPr/>
        </p:nvSpPr>
        <p:spPr>
          <a:xfrm>
            <a:off x="9829800" y="4681728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5" action="ppaction://hlinksldjump"/>
              </a:rPr>
              <a:t>150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486400"/>
            <a:ext cx="2148840" cy="713232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 и политика</a:t>
            </a:r>
          </a:p>
        </p:txBody>
      </p:sp>
      <p:sp>
        <p:nvSpPr>
          <p:cNvPr id="41" name="Cell_4_0">
            <a:hlinkClick action="ppaction://hlinksldjump" r:id="rId26"/>
          </p:cNvPr>
          <p:cNvSpPr/>
          <p:nvPr/>
        </p:nvSpPr>
        <p:spPr>
          <a:xfrm>
            <a:off x="2743200" y="5486400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6" action="ppaction://hlinksldjump"/>
              </a:rPr>
              <a:t>10</a:t>
            </a:r>
          </a:p>
        </p:txBody>
      </p:sp>
      <p:sp>
        <p:nvSpPr>
          <p:cNvPr id="42" name="Cell_4_1">
            <a:hlinkClick action="ppaction://hlinksldjump" r:id="rId27"/>
          </p:cNvPr>
          <p:cNvSpPr/>
          <p:nvPr/>
        </p:nvSpPr>
        <p:spPr>
          <a:xfrm>
            <a:off x="4160520" y="5486400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7" action="ppaction://hlinksldjump"/>
              </a:rPr>
              <a:t>30</a:t>
            </a:r>
          </a:p>
        </p:txBody>
      </p:sp>
      <p:sp>
        <p:nvSpPr>
          <p:cNvPr id="43" name="Cell_4_2">
            <a:hlinkClick action="ppaction://hlinksldjump" r:id="rId28"/>
          </p:cNvPr>
          <p:cNvSpPr/>
          <p:nvPr/>
        </p:nvSpPr>
        <p:spPr>
          <a:xfrm>
            <a:off x="5577840" y="5486400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8" action="ppaction://hlinksldjump"/>
              </a:rPr>
              <a:t>50</a:t>
            </a:r>
          </a:p>
        </p:txBody>
      </p:sp>
      <p:sp>
        <p:nvSpPr>
          <p:cNvPr id="44" name="Cell_4_3">
            <a:hlinkClick action="ppaction://hlinksldjump" r:id="rId29"/>
          </p:cNvPr>
          <p:cNvSpPr/>
          <p:nvPr/>
        </p:nvSpPr>
        <p:spPr>
          <a:xfrm>
            <a:off x="6995160" y="5486400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29" action="ppaction://hlinksldjump"/>
              </a:rPr>
              <a:t>70</a:t>
            </a:r>
          </a:p>
        </p:txBody>
      </p:sp>
      <p:sp>
        <p:nvSpPr>
          <p:cNvPr id="45" name="Cell_4_4">
            <a:hlinkClick action="ppaction://hlinksldjump" r:id="rId30"/>
          </p:cNvPr>
          <p:cNvSpPr/>
          <p:nvPr/>
        </p:nvSpPr>
        <p:spPr>
          <a:xfrm>
            <a:off x="8412480" y="5486400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30" action="ppaction://hlinksldjump"/>
              </a:rPr>
              <a:t>100</a:t>
            </a:r>
          </a:p>
        </p:txBody>
      </p:sp>
      <p:sp>
        <p:nvSpPr>
          <p:cNvPr id="46" name="Cell_4_5">
            <a:hlinkClick action="ppaction://hlinksldjump" r:id="rId31"/>
          </p:cNvPr>
          <p:cNvSpPr/>
          <p:nvPr/>
        </p:nvSpPr>
        <p:spPr>
          <a:xfrm>
            <a:off x="9829800" y="5486400"/>
            <a:ext cx="1325880" cy="713232"/>
          </a:xfrm>
          <a:prstGeom prst="roundRect">
            <a:avLst>
              <a:gd name="adj" fmla="val 12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u="none">
                <a:latin typeface="Verdana"/>
                <a:ea typeface="Verdana"/>
                <a:cs typeface="Verdana"/>
                <a:solidFill>
                  <a:schemeClr val="hlink"/>
                </a:solidFill>
                <a:hlinkClick r:id="rId31" action="ppaction://hlinksldjump"/>
              </a:rPr>
              <a:t>150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ООО «Северный Вкус» — 3 продуктовых магазина в Иркутске (штат ~45 человек).
ЛПР на встрече: Андрей Козлов, собственник.
Ситуация: остатки «плывут», каждую неделю ручная сверка Excel и 1С:БП. Андрей сам считает недополученную маржу и зовёт вас поставить нормальный розничный контур (1С:Розница/УТ) с запуском за 1,5–2 месяца. Вы озвучили вилку по лицензиям + работам.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Андрея: «Дорого. Мы в голове держали до 50 тысяч — как за кассы».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ценовое возражение и выведите на следующий шаг к покупке.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Разобрать, откуда взялись «50 тыс.»; разложить лицензии/работы/сопровождение; посчитать цену ошибок остатков на 3 точках; предложить старт с одного магазина или этапность; зафиксировать дату следующего шага (счёт / договор / обследование).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АО «СибТехМаш» — производство комплектующих, 120 сотрудников, цех + склад комплектации.
ЛПР на встрече: Ирина Белова, начальник производства (бюджет формально у финдиректора).
Ситуация: срывы смен из‑за «потерянных» серий на складе. Ирина продавила интерес к автоматизации склада и передачи в цех на базе 1С. Параллельно закуплен новый сервер и ТСД — железо уже в пути.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Ирины (со слов финдира): «В этом году бюджет только на железо. Софт — в следующем. Давайте пока просто “подключим сканеры к Excel”».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Свяжите уже купленное железо с продажей 1С и доведите до фиксации сделки.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Показать, что ТСД без контура учёта = дорогая полка; предложить минимальный контур “склад+цех”; варианты финансирования (этапы, перенос в OPEX, рассрочка); забронировать слот команды и созвон с финдиром.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ТД «ВостокОпт» — B2B-дистрибуция стройматериалов, 80 менеджеров и кладовщиков, филиал в Улан-Удэ.
ЛПР на встрече: Сергей Никитин, коммерческий директор.
Ситуация: Excel по заказам и отсрочкам не выдерживает рост. Сергей хочет 1С:УТ “под ключ”. Вы провели демо, он сравнил ваше КП с другим интегратором.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Сергея: «У них на 40% дешевле. Объясните, почему я должен переплачивать именно вам».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сравнение с более дешёвым КП и приведите к выбору вас.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Сверить состав “яблоко к яблоку” (объём, роли, обучение, гарантия, SLA); показать риски дешёвого внедрения; предложить ценность/этапы, не гонку скидок; дать сравнительную таблицу и критерий решения.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ГК «АртЛайн» — сеть салонов мебели (6 юрлиц), оборот средний+.
ЛПР на встрече: Марина Орлова, финдиректор группы.
Ситуация: цена и сроки внедрения 1С:УТ согласованы с коммерцией. На финале Марина меняет модель: хочет купить лицензии сама «у знакомого за полцены», а вам оплатить только работы. При этом просит гарантию на весь контур и сопровождение “как будто лицензии тоже ваши”.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Марины: «Лицензии купим сами дешевле. Вы делайте внедрение и отвечайте за результат — иначе пойдём к тем, кто согласится».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схему «серые/чужие лицензии + ваша ответственность» и закройте сделку на безопасных условиях.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Объяснить риски поддержки и обновлений без вашей поставки лицензий; разделить ответственность письменно; предложить пакет “лицензии у вас + работы” со скидкой за комплекс; не брать гарантию на чужой контур.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«БайкалРитейл» — региональная сеть (18 магазинов), ИТ-бюджет централизован.
ЛПР на встрече: Олег Савельев, CIO; на созвоне также юрист компании.
Ситуация: хотят 1С + сопровождение 3 года (развитие, обновления, L2/L3). Сумма устраивает бизнес, но договор упирается в формулировки ответственности.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Олега/юриста: «Оплатим контракт только если в договоре будет гарантия окупаемости проекта. Не окупится — штраф и возврат денег».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Снимите требование “штраф за ROI” и приведите к подписанию управляемого договора.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Отделить ответственность за внедрение/SLA от бизнес-ROI клиента; предложить KPI проекта (сроки, качество, доступность); совместный расчёт эффекта; пилот с метриками вместо штрафной окупаемости.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Цена и бюджет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pic>
        <p:nvPicPr>
          <p:cNvPr id="5" name="Picture 4" descr="timer_18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холдинг «ЕнисейИнвест» — 4 производственных площадки + УК.
ЛПР на встрече: Елена Морозова, финансовый директор холдинга.
Ситуация: закрытие месяца занимает 12–14 рабочих дней, постоянные ручные корректировки. Елена готова рассматривать 1С:ERP/УХ-контур под ускорение close, но без её подписи сделка мертва. Совет директоров просит “цифры, а не красивые слайды”.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Елены: «Покажите ROI за 6 месяцев в цифрах по нашим данным. Без модели — даже на пилот не подпишу».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Соберите ROI-аргументацию на их цифрах и выведите на подписание следующего шага.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Запросить FTE на close, ошибки, пени, дни soft close; модель as-is/to-be; консервативный сценарий 6–12 мес.; этап с быстрым эффектом (регламент + пакет отчётов) как вход в сделку.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3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ООО «Логистика Плюс» — перевозки по Сибири, 60 сотрудников.
ЛПР на встрече: Наталья Ершова, исполнительный директор.
Ситуация: тонут в бумажных УПД и актах, хотят ЭДО, связанный с 1С. Встреча прошла тепло, Наталья кивала на болях “задержки оплат из‑за документов”.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Натальи в конце: «Напишите КП на почту, мы подумаем с бухгалтерией».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Не дайте сделке умереть в “КП на почту” — зафиксируйте конкретный следующий шаг.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Уточнить критерии сравнения и круг согласующих; предложить созвон разбора КП; дата ответа; в КП сразу зашить демо/аудит как следующий шаг.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«ТайгаТрейд» — опт продуктов питания, высокий сезон (май–сентябрь).
ЛПР на встрече: Дмитрий Панов, руководитель отдела продаж.
Ситуация: агенты в полях принимают заказы в мессенджерах, потом вручную бьют в 1С — путают цены и остатки. Дмитрий хочет мобильных агентов.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Дмитрия: «Сейчас сезон, всем не до внедрения. Вернёмся осенью».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Свяжите сезон с ценностью решения и удержите движение к покупке.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Показать стоимость ошибок именно в сезон; пилот на 3–5 агентах; договор/предоплата сейчас + слот внедрения на спад сезона.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клиника «Айсберг» — 2 филиала, 180 сотрудников.
ЛПР на встрече: Юлия Старцева, HR-директор; на демо был главбух.
Ситуация: демо 1С:ЗУП прошло отлично — оба “за”. Вы ждёте решения по лицензиям и проекту.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(в переписке): «Надо посоветоваться с командой» — и 10 дней тишины. Звонки сбрасывают, в почте — прочитано.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Верните контакт, вскройте истинную причину паузы и доведите до шага покупки.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Follow-up с ценностью, не давлением; выяснить, кто ещё в круге решения; мини-встреча “разбор возражений команды”; мягкий дедлайн по слоту.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сеть «ДомУют» — DIY-ритейл, 7 магазинов.
ЛПР на встрече: Павел Громов, операционный директор.
Ситуация: готовят связку онлайн-касс с 1С, тема горячая из‑за учёта и чеков. Параллельно ждут выездную налоговую проверку по одному юрлицу.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Павла: «Сначала переживём проверку — потом любой софт. Сейчас только не раскачивать лодку».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отсрочку “после проверки” и предложите безопасный старт покупки.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Показать риск хаоса учёта на проверке; минимальный контур быстрых побед; развести срочное (кассы/чеки) и развитие; маленький договор на этап 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«МедСервис Байкал» — дистрибуция расходников для клиник.
ЛПР на встрече: Артём Власов, генеральный директор.
Ситуация: цена 1С:УТ согласована, Артём устно сказал «берём». Через неделю на созвоне новая позиция: компания входит в M&amp;A — их хочет купить федеральный дистрибутор. Юристы и инвесторы просят “ничего не подписывать до сделки”.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Артёма: «До закрытия сделки M&amp;A (через 3–5 месяцев) договор на внедрение не подпишем. Но можете бесплатно помочь с due diligence по нашей 1С — вам же потом внедрять».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паузу из‑за M&amp;A и требование бесплатной работы — выйдите на оплачиваемый/фиксирующий шаг.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Не работать due diligence бесплатно “в никуда”; предложить платный пакет аудита с зачётом покупателю/новому контуру; NDA + hold-договор с опцией старта; квалифицировать, жива ли сделка после M&amp;A.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сейчас / подумаем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pic>
        <p:nvPicPr>
          <p:cNvPr id="5" name="Picture 4" descr="timer_18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«НордМайн» — добыча и сервис, стратегический аккаунт для вас.
ЛПР на встрече: Виктор Алексеев, директор по цифровой трансформации.
Ситуация: вы на финале выбора интегратора 1С:ERP. Виктор говорит: «Победили». Но в письме — особые условия старта.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Виктора: «Старт через 9 месяцев. Без предоплаты и без брони команды — просто держите нас в приоритете. Мы же стратегические».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Зафиксируйте взаимные обязательства или честно выведите сделку из иллюзии.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Стоимость висящего слота; договор с отложенным стартом + фиксация; календарный hold; иначе — вернуть в pipeline без статуса “выиграли”.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3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/ конкурент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«СкладСервис 38» — ответственное хранение, 2 склада класса B.
ЛПР на встрече: Роман Демидов, директор склада.
Ситуация: отгрузки срываются из‑за ошибок ячеек в Excel. Кладовщики против “новой программы”. Роман понимает боль, но команда давит.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Романа: «Excel нас устраивает, люди привыкли. Не будем ломать то, что работает».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Вскройте боль без атаки на Excel и выведите на демо/пилот.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Вопросы про стоимость ошибок и время сверок; кейс одного срыва отгрузки; пилот на одной зоне склада без “большого взрыва”.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/ конкурент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«Сибирский Инструмент» — филиалы в Иркутске, Братске, Чите.
ЛПР на встрече: Анна Круглова, главбух управляющей компании.
Ситуация: собственник хочет единую картину остатков и продаж по филиалам. Сейчас у каждого своя локальная логика + общая 1С:Бухгалтерия.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Анны: «У нас уже стоит 1С:Бухгалтерия — этого хватит. Зачем платить ещё за УТ?»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Покажите границу БП и необходимость операционного контура — доведите до интереса/КП.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Отделить регл. учёт от операционного; что БП не закрывает (склады, заказы, филиалы); предложить надстройку/обмен, не “выбросить БП”.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/ конкурент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«ГородУслуг» — сервисная компания (клининг + ремонт), 25 менеджеров.
ЛПР на встрече: Кирилл Новиков, коммерческий директор.
Ситуация: нужна CRM + дисциплина сделок и связь с 1С. Вчера у них был другой вендор с яркой презентацией.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Кирилла: «Нам вчера нарисовали внедрение Битрикс за 2 недели. Вы говорите про месяц–полтора. Зачем нам медленнее?»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“быстрого конкурента” и верните к осознанному выбору с путём к покупке.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Спросить про интеграции с 1С, историю, роли, телефонию; риски “за 2 недели”; сравнительный сценарий под их процесс без антирекламы.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/ конкурент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«ПолимерПак» — производство упаковки, 200 сотрудников.
ЛПР на встрече: Светлана Юрьева, IT-директор.
Ситуация: бюджет на лицензии 1С согласовали. На проектные работы и обучение Светлана хочет сэкономить: “сами настроим по роликам”.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Светланы: «Только лицензии. Без вашего проекта и обучения — у нас есть программист».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Продайте необходимый минимум работ или безопасно оформите only-license.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Риск “лицензии в стол”; пакет запуска (настройка+обучение); письменно зафиксировать границы ответственности при продаже только лицензий.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/ конкурент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«Восточный Альянс» — оптовая фармдистрибуция.
ЛПР на встрече: Игорь Матвеев, заместитель гендиректора по операциям.
Ситуация: качество поддержки текущего интегратора упало, вас зовут “поиграть в конкурс”. Игорь шепотом признаётся в политике.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Игоря: «Текущий подрядчик — родственник учредителя. Формально выбираем вас, фактически победит он. Но КП пришлите».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Определите реальность сделки и найдите путь к покупке — или корректный выход.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Квалифицировать спонсора сильнее родственника; пилот/SLA с эффектом; не демпинговать “для галочки”; при политике — выход с дверью на будущее.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Уже есть / конкурент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pic>
        <p:nvPicPr>
          <p:cNvPr id="5" name="Picture 4" descr="timer_18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«МеталлСтройСнаб» — производство металлоконструкций.
ЛПР на встрече: Денис Кравцов, технический директор.
Ситуация: хотят MES-контур на базе 1С (сменно-суточные, цеховые задания). Денис технически “за”, но коллектив и директор помнят прошлый провал.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Дениса: «Два года назад 1С внедряли — полный провал. Люди до сих пор плюются. Больше 1С не хотим, даже если логично».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травму прошлого внедрения и откройте путь к новой сделке.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Разобрать, что провалилось (цели, подрядчик, данные, люди); диагностика “почему иначе”; пилот на одном участке с жёсткими критериями успеха.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3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агентство «ПромоСибирь» — 35 сотрудников, сейчас 1С на сервере в кабинете админа.
ЛПР на встрече: Максим Лебедев, IT-администратор (решение подтверждает директор).
Ситуация: хотят уйти в облачную 1С, чтобы не обслуживать железо. Максим тревожный: “а если в пятницу вечером…”.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Максима: «А вдруг всё упадёт в пятницу вечером — и мы без базы до понедельника?»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Снимите тревогу по доступности и доведите до пилота/договора.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SLA, бэкапы, регламент инцидентов; кейсы доступности; план отката; пилот на некритичной базе.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«РегионКадры» — аутсорсинг расчёта зарплаты, 90 сотрудников.
ЛПР на встрече: Ольга Витте, директор по персоналу; рядом — специалист ИБ заказчика.
Ситуация: хотят КЭДО (заявления, приказы) с интеграцией в 1С:ЗУП. Бизнес “за”, ИБ тормозит.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Ольги (озвучивает позицию ИБ): «Персональные данные сотрудников в облако не отдадим — даже если удобно».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ИБ-возражение по ПДн и предложите схему, ведущую к покупке.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On-prem / контур заказчика; правовые основания; разграничение доступа; пилот на одном юрлице; подключить ИБ в требования рано.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«ФинТраст Консалт» — финансовый консультант, работает с банками и крупными заёмщиками (не банк, но режим “почти банк”).
ЛПР на встрече: Никита Орлов, директор по информационной безопасности; заказчик проекта — финдиректор Алла Григорьева.
Ситуация: Алла хочет управленческий контур на 1С и уже почти согласовала бюджет. Никита ставит входной билет: до любого договора вы за свой счёт проводите внешний пентест вашего облака/удалённого доступа и даёте отчёт “без замечаний”.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Никиты: «Без пентеста за ваш счёт и закрытия всех findings ИБ даже демо на наших данных не согласует. Это не обсуждается».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требование “пентест за наш счёт до сделки” и найдите путь к демо/договору.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Отделить демо на обезличенных данных от прод-доступа; дать имеющиеся сертификаты/отчёты/архитектуру; оценить пентест как отдельную оплачиваемую услугу или этап после NDA+пилота; не обещать “ноль findings” заранее.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федеральная сеть аптек «Здоровье.РФ» (региональный контур — 22 точки).
ЛПР на встрече: Татьяна Шубина, региональный CIO.
Ситуация: нужна централизованная 1С на регион. Сравнивают вас с крупным федеральным интегратором.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Татьяны: «Вы по сути на Иркутск. Первый Бит — на всю Россию. Вы не потянете поддержку 24/7 на сеть».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статус “локальный подрядчик” и доведите до пилота/контракта.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Факты: команда, линия, регламент, партнёрка, удалёнка; SLA и эскалации; пилот на регионе; продавать управляемость, не оправдания.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«АгроСибХолдинг» — 5 юрлиц, разные базы 1С.
ЛПР на встрече: Роман Сафронов, директор по развитию.
Ситуация: готов смотреть вас как подрядчика, но ставит жёсткий вход.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Романа: «Пилот бесплатно на 3 месяца сразу на всех базах — иначе даже не начинаем разговор с закупкой».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Сузьте пилот так, чтобы он продавал, а не разорял — и закройте оплачиваемый/зачётный шаг.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 юрлицо / 1 процесс / 2–4 недели; критерии успеха заранее; стоимость пилота с зачётом в проект; отказ от “всех баз бесплатно”.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Риски и доверие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pic>
        <p:nvPicPr>
          <p:cNvPr id="5" name="Picture 4" descr="timer_18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МУП «ГорСвет» (окологосударственный заказчик), закупка через процедуру.
ЛПР на встрече: Сергей Ильин, замглавы по экономике; рядом — юрист заказчика.
Ситуация: хотят 1С для учёта и заявок. Бюджет есть, но договорные условия жёсткие “как для подрядчика двора”.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юриста: «В договоре — полная материальная ответственность за любой простой и любую утечку. Иначе закупки не будет».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Соберите договорную конструкцию, при которой сделка ещё возможна.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Лимит ответственности / страхование / исключения; зона ответственности заказчика (инфра, доступы); эскалация к своему юристу; не подписывать безлимит.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3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 и политика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«ТехноПарк Сибирь» — управление площадками, 1С на поддержке одного внутреннего специалиста.
ЛПР на встрече: Евгений Карпов, руководитель IT.
Ситуация: Евгений хочет нормальный контур обновлений и линию поддержки 1С, чтобы “не тушить ночами”. Но боится внутренних согласований.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Евгения: «Надо согласовать с закупками, бухгалтерией и охраной труда — это на месяцы. Давайте после НГ».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Превратите “согласования на месяцы” в управляемый план продажи.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Карта стейкхолдеров; one-pager под каждую роль; kick-off 30 минут со всеми; параллелить согласования, не ждать цепочку.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 и политика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30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«БайкалДент» — сеть стоматологий, 4 клиники.
ЛПР на встрече: Мария Соловьёва, главбух (явный чемпион сделки).
Ситуация: Мария хочет ускорить отчётность и кадровый контур в 1С:ЗУП. Директор сети в разъездах, до него не достучаться.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Марии: «Я не ЛПР. Решает директор — и он недоступен две недели. Я могу только “посоветовать”».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Используйте чемпиона и доберите доступ к ЛПР / решение о следующем шаге.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Интро/слот у директора; скрипт ценности на 5 минут для главбуха; письмо “от неё + от вас”; короткий созвон в окне директора.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 и политика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50</a:t>
            </a:r>
          </a:p>
        </p:txBody>
      </p:sp>
      <p:pic>
        <p:nvPicPr>
          <p:cNvPr id="5" name="Picture 4" descr="timer_9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1:30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«АвтоДом Восток» — дилерский центр.
ЛПР на встрече: Илья Воронов, руководитель продаж.
Ситуация: Илья хочет воронку и дисциплину сделок (CRM/1С). Бюджет коммерции готов. IT-блок пишет в чат: “новых вендоров не пускаем”.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Ильи: «IT против любого нового вендора. Без них счёт не проведут».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Отработайте блок IT и приведите к совместному решению о покупке.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Выяснить страхи IT; демо с их чек-листом; продавать архитектуру и сопровождение, не только хотелки продаж.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1:30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9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 и политика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70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группа «РесурсКапитал» — УК + 3 операционных бизнеса.
ЛПР на встрече: Александр Тимченко, собственник.
Ситуация: Александр хочет прозрачную финмодель. Финдир тянет в одну архитектуру 1С, IT — в другую (свой стек + “потом обмены”). Проект стоит.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Александра: «Финдир и IT блокируют друг друга. Я не хочу быть судьёй — разберитесь сами или приходите, когда договорятся».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Сведите стороны к одному решению и движению к договору.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Фасилитация с критериями выбора; матрица требований фин/IT; роль собственника как арбитра; PoC под общие KPI.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 и политика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100</a:t>
            </a:r>
          </a:p>
        </p:txBody>
      </p:sp>
      <p:pic>
        <p:nvPicPr>
          <p:cNvPr id="5" name="Picture 4" descr="timer_12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2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«ГорноДобыча Плюс» — средний промзаказчик.
ЛПР на встрече: Вера Лапина, руководитель проектного офиса.
Ситуация: по сути вас уже выбрали: хвалят демо и команду. Но закупки обязаны провести формальный тендер.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Веры: «По регламенту победит тот, у кого ниже цена в конверте. Я ничего не могу сделать — только ваш демпинг».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Усильте неценовые критерии и сохраните шанс на победу без убийства маржи.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Помочь заложить SLA/опыт/сроки в критерии; разбить лоты; ТЗ, где демпинг опасен; параллельно усиливать ценность для ЛПР.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2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2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ЛПР и политика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646920" y="347472"/>
            <a:ext cx="1417320" cy="457200"/>
          </a:xfrm>
          <a:prstGeom prst="roundRect">
            <a:avLst>
              <a:gd name="adj" fmla="val 20000"/>
            </a:avLst>
          </a:prstGeom>
          <a:solidFill>
            <a:srgbClr val="F0B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150</a:t>
            </a:r>
          </a:p>
        </p:txBody>
      </p:sp>
      <p:pic>
        <p:nvPicPr>
          <p:cNvPr id="5" name="Picture 4" descr="timer_180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9144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2651760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Таймер 3 мин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8778240" cy="32461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 bIns="73152"/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Кейс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Компания: «ИнноТех Сибирь» — ИТ-интегратор у заказчика (ваш конечный клиент через них), проект 1С почти на подписании.
ЛПР на встрече: бывший спонсор — Пётр Максимов (IT-директор заказчика), вчера уволился; новый директор — Алина Котова.
Ситуация: договор и предоплата были согласованы с Петром. Алина на первом созвоне ставит всё на паузу.</a:t>
            </a:r>
          </a:p>
          <a:p>
            <a:pPr algn="l">
              <a:spcBef>
                <a:spcPts val="500"/>
              </a:spcBef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Возражение Алины: «Я всё ставлю на паузу. Мне нужно 2 месяца войти в курс. Переписку с Петром не считаю основанием».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70832"/>
            <a:ext cx="8503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Задача: За 48 часов спасите сделку или пересоберите цикл под нового ЛПР.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8778240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/>
          <a:lstStyle/>
          <a:p>
            <a:pPr algn="l"/>
            <a:r>
              <a:rPr sz="11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Ключ для ведущего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Найти новых союзников; brief для Алины (проблема→эффект→статус); пауза с рамками; мини-демо под её KPI; не исчезнуть “до лучших времён”.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10896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0B42E"/>
                </a:solidFill>
                <a:latin typeface="Verdana"/>
                <a:ea typeface="Verdana"/>
                <a:cs typeface="Verdana"/>
              </a:rPr>
              <a:t>Ключ ведущего
через 3 мин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9509760" y="49834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← К полю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18000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heme/theme1.xml><?xml version="1.0" encoding="utf-8"?>
<a:theme xmlns:a="http://schemas.openxmlformats.org/drawingml/2006/main" name="Тема Forus2020">
  <a:themeElements>
    <a:clrScheme name="Форус темная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26A6E0"/>
      </a:accent1>
      <a:accent2>
        <a:srgbClr val="3F3F3F"/>
      </a:accent2>
      <a:accent3>
        <a:srgbClr val="767677"/>
      </a:accent3>
      <a:accent4>
        <a:srgbClr val="FFFFFF"/>
      </a:accent4>
      <a:accent5>
        <a:srgbClr val="395F76"/>
      </a:accent5>
      <a:accent6>
        <a:srgbClr val="BFBFBF"/>
      </a:accent6>
      <a:hlink>
        <a:srgbClr val="FFFFFF"/>
      </a:hlink>
      <a:folHlink>
        <a:srgbClr val="C0392B"/>
      </a:folHlink>
    </a:clrScheme>
    <a:fontScheme name="Форус_2020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 anchorCtr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C0392B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C0392B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2829</TotalTime>
  <Words>1673</Words>
  <Application>Microsoft Office PowerPoint</Application>
  <PresentationFormat>Широкоэкранный</PresentationFormat>
  <Paragraphs>330</Paragraphs>
  <Slides>44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0" baseType="lpstr">
      <vt:lpstr>Arial</vt:lpstr>
      <vt:lpstr>Calibri</vt:lpstr>
      <vt:lpstr>Cambria</vt:lpstr>
      <vt:lpstr>Stolzl</vt:lpstr>
      <vt:lpstr>Verdana</vt:lpstr>
      <vt:lpstr>Тема Forus2020</vt:lpstr>
      <vt:lpstr>Темный шаблон презентации</vt:lpstr>
      <vt:lpstr>Второй вариант Название презентации</vt:lpstr>
      <vt:lpstr>Еще один вариант Название презентации</vt:lpstr>
      <vt:lpstr>Типовой лист</vt:lpstr>
      <vt:lpstr>Рабочая область   Весь контент должен заключаться в этой области экрана.  Такое зонирование позволит разместить текст и другую информацию  в максимально комфортном для восприятия месте.  Так же в макете имеются направляющие, по которым можно  выравнивать расположение объектов и не выходить за рамки. </vt:lpstr>
      <vt:lpstr>Имиджевые слайды  о компании</vt:lpstr>
      <vt:lpstr>Презентация PowerPoint</vt:lpstr>
      <vt:lpstr>Презентация PowerPoint</vt:lpstr>
      <vt:lpstr>Презентация PowerPoint</vt:lpstr>
      <vt:lpstr>Презентация PowerPoint</vt:lpstr>
      <vt:lpstr>Слайды  презентации с текстом</vt:lpstr>
      <vt:lpstr>Иерархия заголовков</vt:lpstr>
      <vt:lpstr>Что такое автоматизация</vt:lpstr>
      <vt:lpstr>Выделения и акценты в тексте</vt:lpstr>
      <vt:lpstr>Нумерованный список</vt:lpstr>
      <vt:lpstr>Нумерованный список №2</vt:lpstr>
      <vt:lpstr>Маркированный список</vt:lpstr>
      <vt:lpstr>Маркированный список №2</vt:lpstr>
      <vt:lpstr>Информация  в колонках</vt:lpstr>
      <vt:lpstr>Представление информации в трёх блоках</vt:lpstr>
      <vt:lpstr>Презентация PowerPoint</vt:lpstr>
      <vt:lpstr>Слайд с фото и блоками описания</vt:lpstr>
      <vt:lpstr>Информация с тремя колонками</vt:lpstr>
      <vt:lpstr>Информация с четырьмя колонками</vt:lpstr>
      <vt:lpstr>Как ещё можно разместить</vt:lpstr>
      <vt:lpstr>3 колонки и главная мысль</vt:lpstr>
      <vt:lpstr>Презентация PowerPoint</vt:lpstr>
      <vt:lpstr>Слайды  с фотографиями</vt:lpstr>
      <vt:lpstr>Слайд с фото или скриншотом</vt:lpstr>
      <vt:lpstr>Слайд с двумя фото или скриншотами</vt:lpstr>
      <vt:lpstr>Слайд с тремя фото или скриншотами</vt:lpstr>
      <vt:lpstr>Диаграммы, графики  и таблицы </vt:lpstr>
      <vt:lpstr>Пример круговой диаграммы</vt:lpstr>
      <vt:lpstr>Презентация PowerPoint</vt:lpstr>
      <vt:lpstr>Презентация PowerPoint</vt:lpstr>
      <vt:lpstr>Пример таблицы с выделением ключевой информации</vt:lpstr>
      <vt:lpstr>Как ещё можно изобразить таблицу</vt:lpstr>
      <vt:lpstr>Визуальные элементы Иконки, росчерки</vt:lpstr>
      <vt:lpstr>Иконки двухцветные</vt:lpstr>
      <vt:lpstr>Иконки белые</vt:lpstr>
      <vt:lpstr>Блоки для схем или важной информации</vt:lpstr>
      <vt:lpstr>3D абстрактные фигуры</vt:lpstr>
      <vt:lpstr>Изображения-объекты</vt:lpstr>
      <vt:lpstr>Благодарю 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Черепанова Виктория</cp:lastModifiedBy>
  <cp:revision>212</cp:revision>
  <dcterms:created xsi:type="dcterms:W3CDTF">2020-01-20T06:19:00Z</dcterms:created>
  <dcterms:modified xsi:type="dcterms:W3CDTF">2025-03-10T02:44:05Z</dcterms:modified>
</cp:coreProperties>
</file>