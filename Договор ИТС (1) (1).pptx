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8" r:id="rId3"/>
    <p:sldId id="259" r:id="rId4"/>
    <p:sldId id="278" r:id="rId5"/>
    <p:sldId id="260" r:id="rId6"/>
    <p:sldId id="261" r:id="rId7"/>
    <p:sldId id="264" r:id="rId8"/>
    <p:sldId id="271" r:id="rId9"/>
    <p:sldId id="277" r:id="rId10"/>
    <p:sldId id="268" r:id="rId11"/>
    <p:sldId id="279" r:id="rId12"/>
    <p:sldId id="265" r:id="rId13"/>
    <p:sldId id="280" r:id="rId14"/>
    <p:sldId id="281" r:id="rId15"/>
    <p:sldId id="270" r:id="rId16"/>
    <p:sldId id="275" r:id="rId17"/>
    <p:sldId id="274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воряк Александра" initials="ДА" lastIdx="8" clrIdx="0">
    <p:extLst>
      <p:ext uri="{19B8F6BF-5375-455C-9EA6-DF929625EA0E}">
        <p15:presenceInfo xmlns:p15="http://schemas.microsoft.com/office/powerpoint/2012/main" userId="S::ADvoryak@forus.ru::300ba6f5-b950-4b17-a088-2056938093f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1F8"/>
    <a:srgbClr val="F0F5F9"/>
    <a:srgbClr val="E9F5F2"/>
    <a:srgbClr val="FFF7E6"/>
    <a:srgbClr val="E5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88751" autoAdjust="0"/>
  </p:normalViewPr>
  <p:slideViewPr>
    <p:cSldViewPr snapToGrid="0">
      <p:cViewPr varScale="1">
        <p:scale>
          <a:sx n="87" d="100"/>
          <a:sy n="87" d="100"/>
        </p:scale>
        <p:origin x="52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9D9F8A2-2BBE-444A-93C0-6690B000B1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0A8C93B-77E9-4242-869D-5DC87F27F5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CE08F-693C-40DE-BF27-8857DCE167B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AAA4DB5-2587-41F5-8866-CC181A67EB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992318-D0B9-4E48-9435-99C03812AB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56B4A-5C5C-4533-A7E9-7AAB47CE52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8177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E2EA54-E326-4041-8A7C-57561D63723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1AA01-EE7D-4714-A3C3-235D544C0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176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7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818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8930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995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945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572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7771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27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644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432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9F46A2-5809-EB62-6F6B-8EA61A2148C0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рамках договора КП ПРОФ в ГК </a:t>
            </a:r>
            <a:r>
              <a:rPr lang="ru-RU" dirty="0" err="1"/>
              <a:t>Форус</a:t>
            </a:r>
            <a:r>
              <a:rPr lang="ru-RU" dirty="0"/>
              <a:t> клиенту доступны часы ЛК (4+2), в рамках которой клиент может получить: аудит работы программы, доработки типового функционала, подключить обработки, обучить сотрудников, решить текущие проблемы, перенести базы (смотреть по часам, может не хватить)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2658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1AA01-EE7D-4714-A3C3-235D544C005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71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E52BD4-C712-E46A-BA90-FFD3815E7D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55" y="5968180"/>
            <a:ext cx="1164321" cy="412946"/>
          </a:xfrm>
          <a:prstGeom prst="rect">
            <a:avLst/>
          </a:prstGeom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0BEE8F9-ABA1-D4AE-0D69-FE2848DCB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98298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AA28BEC7-544E-4025-F0A7-30A7F3FAC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602038"/>
            <a:ext cx="98298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2115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5A7B331-CA26-9D0F-1D01-419A03F9F1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55" y="5968180"/>
            <a:ext cx="1164321" cy="412946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1FBB793-7B69-10ED-191B-204200373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98298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F349DCE5-4D0B-E28E-2657-4CD119501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602038"/>
            <a:ext cx="98298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9617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бъект 2">
            <a:extLst>
              <a:ext uri="{FF2B5EF4-FFF2-40B4-BE49-F238E27FC236}">
                <a16:creationId xmlns:a16="http://schemas.microsoft.com/office/drawing/2014/main" id="{83356922-D05E-3B37-9715-CAA55CE29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6B1B9B58-60EF-F684-A747-79C344EFA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97445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EC11C27F-72D5-5A56-15DE-07382E8B6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22D45EC-390E-AAEE-CBD1-DA7095034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23760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>
            <a:extLst>
              <a:ext uri="{FF2B5EF4-FFF2-40B4-BE49-F238E27FC236}">
                <a16:creationId xmlns:a16="http://schemas.microsoft.com/office/drawing/2014/main" id="{BA2AD5A9-CA2D-5BDC-3A84-C7102B064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241256A-7FAA-3B8E-76E6-06324703B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96843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79D4D8CE-ECAF-4CF6-BC4D-6C709FEF8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01291D9F-FED0-54A0-BAC3-3F5DD3D5F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14417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0BDEDDC0-A0C9-4878-CD28-C8067142E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1D172CA-358A-C2A0-7F3E-D67B5690D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33150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DA68190F-2375-B2E9-9E95-8C348C6FC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149592B-515A-76C8-288B-178CDF101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1325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ADBF5DE5-7278-FDDD-DD3A-8BA01FCAD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EE9D964-D224-DFCB-2F81-4EAB3F90B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88605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81040EB4-C71B-7CC9-5404-8DA45197E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90A41D7-0539-AAD8-6A58-433736B9F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654512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>
            <a:extLst>
              <a:ext uri="{FF2B5EF4-FFF2-40B4-BE49-F238E27FC236}">
                <a16:creationId xmlns:a16="http://schemas.microsoft.com/office/drawing/2014/main" id="{40F461DA-CDE7-DB3E-07D8-546D40245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2578D7C-2F4C-EC97-0A96-E8364AD8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79301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9025A71-2EE6-CDDD-20B4-07A338DD50CA}"/>
              </a:ext>
            </a:extLst>
          </p:cNvPr>
          <p:cNvSpPr/>
          <p:nvPr userDrawn="1"/>
        </p:nvSpPr>
        <p:spPr>
          <a:xfrm>
            <a:off x="444500" y="457200"/>
            <a:ext cx="7035800" cy="5956300"/>
          </a:xfrm>
          <a:prstGeom prst="roundRect">
            <a:avLst>
              <a:gd name="adj" fmla="val 4087"/>
            </a:avLst>
          </a:prstGeom>
          <a:solidFill>
            <a:srgbClr val="FFF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0F461DA-CDE7-DB3E-07D8-546D40245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2578D7C-2F4C-EC97-0A96-E8364AD8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97370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9025A71-2EE6-CDDD-20B4-07A338DD50CA}"/>
              </a:ext>
            </a:extLst>
          </p:cNvPr>
          <p:cNvSpPr/>
          <p:nvPr userDrawn="1"/>
        </p:nvSpPr>
        <p:spPr>
          <a:xfrm>
            <a:off x="444500" y="457200"/>
            <a:ext cx="7035800" cy="5956300"/>
          </a:xfrm>
          <a:prstGeom prst="roundRect">
            <a:avLst>
              <a:gd name="adj" fmla="val 4087"/>
            </a:avLst>
          </a:prstGeom>
          <a:solidFill>
            <a:srgbClr val="F0F5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0F461DA-CDE7-DB3E-07D8-546D40245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2578D7C-2F4C-EC97-0A96-E8364AD8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26341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9025A71-2EE6-CDDD-20B4-07A338DD50CA}"/>
              </a:ext>
            </a:extLst>
          </p:cNvPr>
          <p:cNvSpPr/>
          <p:nvPr userDrawn="1"/>
        </p:nvSpPr>
        <p:spPr>
          <a:xfrm>
            <a:off x="444500" y="457200"/>
            <a:ext cx="7035800" cy="5956300"/>
          </a:xfrm>
          <a:prstGeom prst="roundRect">
            <a:avLst>
              <a:gd name="adj" fmla="val 4087"/>
            </a:avLst>
          </a:prstGeom>
          <a:solidFill>
            <a:srgbClr val="F2F1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0F461DA-CDE7-DB3E-07D8-546D40245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2578D7C-2F4C-EC97-0A96-E8364AD8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7866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9025A71-2EE6-CDDD-20B4-07A338DD50CA}"/>
              </a:ext>
            </a:extLst>
          </p:cNvPr>
          <p:cNvSpPr/>
          <p:nvPr userDrawn="1"/>
        </p:nvSpPr>
        <p:spPr>
          <a:xfrm>
            <a:off x="444500" y="457200"/>
            <a:ext cx="7035800" cy="5956300"/>
          </a:xfrm>
          <a:prstGeom prst="roundRect">
            <a:avLst>
              <a:gd name="adj" fmla="val 4087"/>
            </a:avLst>
          </a:prstGeom>
          <a:solidFill>
            <a:srgbClr val="E9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0F461DA-CDE7-DB3E-07D8-546D40245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2578D7C-2F4C-EC97-0A96-E8364AD8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1287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E457715D-FB3F-6F26-D85B-515DEEA8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929848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F765FCB-3EA3-008C-2D37-2C2B97457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58527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6AA9FD2-99C3-F22E-7274-A3B58C18A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143402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A8E095C-ABE2-6070-5E2A-4322413C3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159706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solidFill>
          <a:srgbClr val="F2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6A067A16-065F-4868-A31A-F7747ACE4311}"/>
              </a:ext>
            </a:extLst>
          </p:cNvPr>
          <p:cNvSpPr/>
          <p:nvPr userDrawn="1"/>
        </p:nvSpPr>
        <p:spPr>
          <a:xfrm>
            <a:off x="444500" y="457200"/>
            <a:ext cx="7035800" cy="5956300"/>
          </a:xfrm>
          <a:prstGeom prst="roundRect">
            <a:avLst>
              <a:gd name="adj" fmla="val 40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FD9A14E9-0EF1-4399-B1CD-0BD049825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6660729-DEA9-47A5-830C-AEF7A6B11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119849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solidFill>
          <a:srgbClr val="E9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F4A02F7-6681-40E2-8302-19DB30EB2FCA}"/>
              </a:ext>
            </a:extLst>
          </p:cNvPr>
          <p:cNvSpPr/>
          <p:nvPr userDrawn="1"/>
        </p:nvSpPr>
        <p:spPr>
          <a:xfrm>
            <a:off x="444500" y="457200"/>
            <a:ext cx="7035800" cy="5956300"/>
          </a:xfrm>
          <a:prstGeom prst="roundRect">
            <a:avLst>
              <a:gd name="adj" fmla="val 40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C525A3E8-0883-4163-B3DE-76251232A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103598A-67B9-4310-9E71-B38C6A4F1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67231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1368614-C91C-4759-8B7A-4995DECE055E}"/>
              </a:ext>
            </a:extLst>
          </p:cNvPr>
          <p:cNvSpPr/>
          <p:nvPr userDrawn="1"/>
        </p:nvSpPr>
        <p:spPr>
          <a:xfrm>
            <a:off x="444500" y="457200"/>
            <a:ext cx="7035800" cy="5956300"/>
          </a:xfrm>
          <a:prstGeom prst="roundRect">
            <a:avLst>
              <a:gd name="adj" fmla="val 40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A14C0AE-AC9D-467E-A923-9AD076CD0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9F50580-C85F-416D-B151-34E03749C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092496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solidFill>
          <a:srgbClr val="F0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224FDAE-08C4-42C9-97D3-8111D5F90ED6}"/>
              </a:ext>
            </a:extLst>
          </p:cNvPr>
          <p:cNvSpPr/>
          <p:nvPr userDrawn="1"/>
        </p:nvSpPr>
        <p:spPr>
          <a:xfrm>
            <a:off x="444500" y="457200"/>
            <a:ext cx="7035800" cy="5956300"/>
          </a:xfrm>
          <a:prstGeom prst="roundRect">
            <a:avLst>
              <a:gd name="adj" fmla="val 40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B7A357F2-E01D-4472-8FC5-66DC17203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1037"/>
            <a:ext cx="66294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5CA3A9B-1C3A-4370-A13E-919E91DA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17635"/>
            <a:ext cx="6629400" cy="119846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24661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951CE-2D25-9FFB-0107-0B7D24BA0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38B776-54C8-246C-6744-B3C0A903A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52D969-7547-6E3C-E6A7-9AA932255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82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CF24DCFE-9351-4CF2-9E75-D1F1B05DA29E}" type="datetimeFigureOut">
              <a:rPr lang="ru-RU" smtClean="0"/>
              <a:pPr/>
              <a:t>11.06.2026</a:t>
            </a:fld>
            <a:endParaRPr lang="ru-RU" sz="110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8FE1FC-5153-1591-4E0D-D865005F4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82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endParaRPr lang="ru-RU" sz="110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6EAD03-A57F-6B01-F4F4-C03F43FCA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82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D3B242F3-1981-41BA-AF38-4F45D628B96F}" type="slidenum">
              <a:rPr lang="ru-RU" smtClean="0"/>
              <a:pPr/>
              <a:t>‹#›</a:t>
            </a:fld>
            <a:endParaRPr lang="ru-RU" sz="1100"/>
          </a:p>
        </p:txBody>
      </p:sp>
    </p:spTree>
    <p:extLst>
      <p:ext uri="{BB962C8B-B14F-4D97-AF65-F5344CB8AC3E}">
        <p14:creationId xmlns:p14="http://schemas.microsoft.com/office/powerpoint/2010/main" val="222430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73" r:id="rId4"/>
    <p:sldLayoutId id="2147483670" r:id="rId5"/>
    <p:sldLayoutId id="2147483671" r:id="rId6"/>
    <p:sldLayoutId id="2147483672" r:id="rId7"/>
    <p:sldLayoutId id="2147483669" r:id="rId8"/>
    <p:sldLayoutId id="2147483661" r:id="rId9"/>
    <p:sldLayoutId id="2147483662" r:id="rId10"/>
    <p:sldLayoutId id="2147483663" r:id="rId11"/>
    <p:sldLayoutId id="2147483674" r:id="rId12"/>
    <p:sldLayoutId id="2147483675" r:id="rId13"/>
    <p:sldLayoutId id="2147483676" r:id="rId14"/>
    <p:sldLayoutId id="2147483677" r:id="rId15"/>
    <p:sldLayoutId id="2147483665" r:id="rId16"/>
    <p:sldLayoutId id="2147483666" r:id="rId17"/>
    <p:sldLayoutId id="2147483667" r:id="rId18"/>
    <p:sldLayoutId id="2147483668" r:id="rId19"/>
    <p:sldLayoutId id="2147483678" r:id="rId20"/>
    <p:sldLayoutId id="2147483679" r:id="rId21"/>
    <p:sldLayoutId id="2147483680" r:id="rId22"/>
    <p:sldLayoutId id="2147483681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3BFC7-B825-FBD7-B68E-E91DD0FCF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598" y="1234168"/>
            <a:ext cx="9829800" cy="1699066"/>
          </a:xfrm>
        </p:spPr>
        <p:txBody>
          <a:bodyPr>
            <a:normAutofit/>
          </a:bodyPr>
          <a:lstStyle/>
          <a:p>
            <a:r>
              <a:rPr lang="ru-RU" sz="5000" b="1" dirty="0"/>
              <a:t>Договор 1С:ИТС</a:t>
            </a:r>
          </a:p>
        </p:txBody>
      </p:sp>
      <p:sp>
        <p:nvSpPr>
          <p:cNvPr id="8" name="Подзаголовок 4">
            <a:extLst>
              <a:ext uri="{FF2B5EF4-FFF2-40B4-BE49-F238E27FC236}">
                <a16:creationId xmlns:a16="http://schemas.microsoft.com/office/drawing/2014/main" id="{8989A37F-02F5-F595-A47B-2949575DC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598" y="4787900"/>
            <a:ext cx="5571555" cy="95025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ru-RU" b="1" dirty="0"/>
              <a:t>Алина Антипина</a:t>
            </a:r>
            <a:br>
              <a:rPr lang="ru-RU" dirty="0"/>
            </a:br>
            <a:r>
              <a:rPr lang="ru-RU" dirty="0"/>
              <a:t>Ведущий менеджер отдела продаж 1С и ИТС. Коммерция</a:t>
            </a:r>
          </a:p>
        </p:txBody>
      </p:sp>
      <p:pic>
        <p:nvPicPr>
          <p:cNvPr id="10" name="Рисунок 9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B342C2B-1618-C633-1DEC-8A102912E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153" y="830553"/>
            <a:ext cx="550896" cy="770598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A0ED927-A9C1-2975-3AB6-C710D601A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563" y="737065"/>
            <a:ext cx="274737" cy="382404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B52AEEF-6E23-3B53-85EA-A6951FCBA0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083" y="3908374"/>
            <a:ext cx="391538" cy="39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90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D8179-0BC4-0C1E-A47D-CA3F9BCF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4D1412-B667-126C-20A1-805B211DD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и структура </a:t>
            </a:r>
            <a:br>
              <a:rPr lang="ru-RU" b="1" dirty="0"/>
            </a:br>
            <a:r>
              <a:rPr lang="ru-RU" b="1" dirty="0"/>
              <a:t>обучения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6DD35B-2F07-D63A-B848-232671525B18}"/>
              </a:ext>
            </a:extLst>
          </p:cNvPr>
          <p:cNvSpPr txBox="1"/>
          <p:nvPr/>
        </p:nvSpPr>
        <p:spPr>
          <a:xfrm>
            <a:off x="685800" y="1931095"/>
            <a:ext cx="581977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Цель</a:t>
            </a:r>
          </a:p>
          <a:p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Ознакомление</a:t>
            </a:r>
            <a:b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с системой 1С:ИТС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4421A124-962E-AC15-FEF9-C77FAEC146E0}"/>
              </a:ext>
            </a:extLst>
          </p:cNvPr>
          <p:cNvSpPr/>
          <p:nvPr/>
        </p:nvSpPr>
        <p:spPr>
          <a:xfrm>
            <a:off x="685800" y="3904556"/>
            <a:ext cx="6267450" cy="711200"/>
          </a:xfrm>
          <a:prstGeom prst="roundRect">
            <a:avLst>
              <a:gd name="adj" fmla="val 165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Что такое 1С:ИТС и его виды</a:t>
            </a:r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08A797-AAEB-2ADB-DD65-4FB9FB575F56}"/>
              </a:ext>
            </a:extLst>
          </p:cNvPr>
          <p:cNvSpPr txBox="1"/>
          <p:nvPr/>
        </p:nvSpPr>
        <p:spPr>
          <a:xfrm>
            <a:off x="685800" y="3349725"/>
            <a:ext cx="1876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Структура</a:t>
            </a:r>
            <a:endParaRPr lang="ru-RU" sz="2000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83A5B77-B78F-D10D-6BE2-1F7A01ADC969}"/>
              </a:ext>
            </a:extLst>
          </p:cNvPr>
          <p:cNvSpPr/>
          <p:nvPr/>
        </p:nvSpPr>
        <p:spPr>
          <a:xfrm>
            <a:off x="685800" y="4737702"/>
            <a:ext cx="6267450" cy="711200"/>
          </a:xfrm>
          <a:prstGeom prst="roundRect">
            <a:avLst>
              <a:gd name="adj" fmla="val 138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Порядок действий при подборе договора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1F7B486-BAD4-CD92-C716-69D19C35A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050" y="530339"/>
            <a:ext cx="2326184" cy="140523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3BE4BEE-7FB1-8E39-9619-4F93035610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 rot="21011249">
            <a:off x="5438813" y="166197"/>
            <a:ext cx="2133522" cy="213352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EEEAFAF-ABA8-B843-A365-D0D37935D263}"/>
              </a:ext>
            </a:extLst>
          </p:cNvPr>
          <p:cNvSpPr txBox="1"/>
          <p:nvPr/>
        </p:nvSpPr>
        <p:spPr>
          <a:xfrm>
            <a:off x="719504" y="4893247"/>
            <a:ext cx="438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 Nova" panose="020B0504020202020204" pitchFamily="34" charset="0"/>
                <a:cs typeface="Aharoni" panose="020F0502020204030204" pitchFamily="2" charset="-79"/>
              </a:rPr>
              <a:t>2)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FE0152-727B-9EF5-2C77-6276E63BECEF}"/>
              </a:ext>
            </a:extLst>
          </p:cNvPr>
          <p:cNvSpPr txBox="1"/>
          <p:nvPr/>
        </p:nvSpPr>
        <p:spPr>
          <a:xfrm>
            <a:off x="723900" y="4060101"/>
            <a:ext cx="438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 Nova" panose="020B0504020202020204" pitchFamily="34" charset="0"/>
                <a:cs typeface="Aharoni" panose="020F0502020204030204" pitchFamily="2" charset="-79"/>
              </a:rPr>
              <a:t>1)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46A44F0-9CD7-4018-A782-34BBEBEEEE84}"/>
              </a:ext>
            </a:extLst>
          </p:cNvPr>
          <p:cNvSpPr/>
          <p:nvPr/>
        </p:nvSpPr>
        <p:spPr>
          <a:xfrm>
            <a:off x="685800" y="5570848"/>
            <a:ext cx="6267450" cy="711200"/>
          </a:xfrm>
          <a:prstGeom prst="roundRect">
            <a:avLst>
              <a:gd name="adj" fmla="val 138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ru-RU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Польза КП по ролям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3E6090-5BAA-4BAF-99AF-F62201B88641}"/>
              </a:ext>
            </a:extLst>
          </p:cNvPr>
          <p:cNvSpPr txBox="1"/>
          <p:nvPr/>
        </p:nvSpPr>
        <p:spPr>
          <a:xfrm>
            <a:off x="719504" y="5759992"/>
            <a:ext cx="438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 Nova" panose="020B0504020202020204" pitchFamily="34" charset="0"/>
                <a:cs typeface="Aharoni" panose="020F0502020204030204" pitchFamily="2" charset="-79"/>
              </a:rPr>
              <a:t>3)</a:t>
            </a:r>
          </a:p>
        </p:txBody>
      </p:sp>
    </p:spTree>
    <p:extLst>
      <p:ext uri="{BB962C8B-B14F-4D97-AF65-F5344CB8AC3E}">
        <p14:creationId xmlns:p14="http://schemas.microsoft.com/office/powerpoint/2010/main" val="3020138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EDD804A-6C0F-A540-CB78-73FE8FEC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20310"/>
            <a:ext cx="6629400" cy="11984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dirty="0"/>
              <a:t>Договор 1С:ИТС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A9179D-AA46-280C-1AAB-909D41FD07E8}"/>
              </a:ext>
            </a:extLst>
          </p:cNvPr>
          <p:cNvSpPr txBox="1"/>
          <p:nvPr/>
        </p:nvSpPr>
        <p:spPr>
          <a:xfrm>
            <a:off x="720689" y="2086730"/>
            <a:ext cx="57853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</a:t>
            </a:r>
            <a:r>
              <a:rPr lang="ru-RU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нформационно-технологическое сопровождение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далее  1С:КП (комплект поддержки)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—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latin typeface="Calibri" panose="020F0502020204030204" pitchFamily="34" charset="0"/>
                <a:cs typeface="Times New Roman" panose="02020603050405020304" pitchFamily="18" charset="0"/>
              </a:rPr>
              <a:t>это договор, который даёт пользователям легальной 1С: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1CA3D74-3C1D-B5E1-FCBC-33D3F49F63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212" y="437146"/>
            <a:ext cx="1389618" cy="1145539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2B9CD00-EEE4-13B2-8D41-1EAC29CCE2DF}"/>
              </a:ext>
            </a:extLst>
          </p:cNvPr>
          <p:cNvSpPr/>
          <p:nvPr/>
        </p:nvSpPr>
        <p:spPr>
          <a:xfrm>
            <a:off x="688227" y="675507"/>
            <a:ext cx="2248403" cy="334409"/>
          </a:xfrm>
          <a:prstGeom prst="roundRect">
            <a:avLst>
              <a:gd name="adj" fmla="val 50000"/>
            </a:avLst>
          </a:prstGeom>
          <a:solidFill>
            <a:srgbClr val="F0F5F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Что </a:t>
            </a:r>
            <a:r>
              <a:rPr lang="ru-RU" sz="14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такое ИТС (КП)</a:t>
            </a:r>
            <a:endParaRPr lang="ru-RU" sz="1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B1224317-9BDB-45B6-99C6-7D1E36DD22D6}"/>
              </a:ext>
            </a:extLst>
          </p:cNvPr>
          <p:cNvSpPr/>
          <p:nvPr/>
        </p:nvSpPr>
        <p:spPr>
          <a:xfrm>
            <a:off x="738574" y="3259880"/>
            <a:ext cx="5749552" cy="1477328"/>
          </a:xfrm>
          <a:prstGeom prst="roundRect">
            <a:avLst>
              <a:gd name="adj" fmla="val 16518"/>
            </a:avLst>
          </a:prstGeom>
          <a:noFill/>
          <a:ln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BB7650-0090-42E4-8837-DEBD9D33DA8E}"/>
              </a:ext>
            </a:extLst>
          </p:cNvPr>
          <p:cNvSpPr txBox="1"/>
          <p:nvPr/>
        </p:nvSpPr>
        <p:spPr>
          <a:xfrm>
            <a:off x="1058026" y="3418362"/>
            <a:ext cx="56323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консультации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от специалистов 1С;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сервисы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(сдача отчётности через интернет, проверка контрагентов, удалённая помощь);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обновления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 программ и отчётных форм.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8C86B18-FB19-4A2A-8DFF-8E15F26E5F6B}"/>
              </a:ext>
            </a:extLst>
          </p:cNvPr>
          <p:cNvSpPr/>
          <p:nvPr/>
        </p:nvSpPr>
        <p:spPr>
          <a:xfrm>
            <a:off x="738574" y="5329715"/>
            <a:ext cx="5749552" cy="707080"/>
          </a:xfrm>
          <a:prstGeom prst="roundRect">
            <a:avLst>
              <a:gd name="adj" fmla="val 16518"/>
            </a:avLst>
          </a:prstGeom>
          <a:solidFill>
            <a:srgbClr val="F2F1F8"/>
          </a:solidFill>
          <a:ln>
            <a:solidFill>
              <a:srgbClr val="F2F1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Срок действия: </a:t>
            </a:r>
            <a:r>
              <a:rPr lang="ru-RU" dirty="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договор заключается на 1, 3, 6, 12 или 24 месяца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3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4114344A-0EBA-1CCB-C1A6-AF59A5B5E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360463"/>
            <a:ext cx="6629400" cy="9206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Для заключения договора</a:t>
            </a:r>
          </a:p>
          <a:p>
            <a:pPr marL="0" indent="0">
              <a:buNone/>
            </a:pPr>
            <a:r>
              <a:rPr lang="ru-RU" sz="2400" b="1" dirty="0"/>
              <a:t>1С:КП необходимо:</a:t>
            </a:r>
          </a:p>
        </p:txBody>
      </p:sp>
      <p:pic>
        <p:nvPicPr>
          <p:cNvPr id="15" name="Рисунок 14" descr="Изображение выглядит как черный, снимок экрана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3DC3ECC-590C-9C66-0966-39B4E4A3D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597" y="268244"/>
            <a:ext cx="1706953" cy="1559802"/>
          </a:xfrm>
          <a:prstGeom prst="rect">
            <a:avLst/>
          </a:prstGeom>
        </p:spPr>
      </p:pic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3AC3FEDF-AF72-0CDA-BF67-30E50C31695D}"/>
              </a:ext>
            </a:extLst>
          </p:cNvPr>
          <p:cNvSpPr/>
          <p:nvPr/>
        </p:nvSpPr>
        <p:spPr>
          <a:xfrm>
            <a:off x="685799" y="5185280"/>
            <a:ext cx="6391274" cy="624514"/>
          </a:xfrm>
          <a:prstGeom prst="roundRect">
            <a:avLst>
              <a:gd name="adj" fmla="val 1651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Главная идея: перейти от разовых работ к регулярному сервису по договору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843BDEE-3E4F-682E-8EC2-81BAE22035B0}"/>
              </a:ext>
            </a:extLst>
          </p:cNvPr>
          <p:cNvSpPr/>
          <p:nvPr/>
        </p:nvSpPr>
        <p:spPr>
          <a:xfrm>
            <a:off x="688228" y="675507"/>
            <a:ext cx="2116518" cy="3344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Что такое ИТС (КП)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BC7637-807B-432F-AF03-AAA0CFB8B8F6}"/>
              </a:ext>
            </a:extLst>
          </p:cNvPr>
          <p:cNvSpPr txBox="1"/>
          <p:nvPr/>
        </p:nvSpPr>
        <p:spPr>
          <a:xfrm>
            <a:off x="685799" y="2545735"/>
            <a:ext cx="5785319" cy="188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5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</a:t>
            </a: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бедиться, что у клиента имеется легальная версия программы «1С:Предприятие» (пользователь – юридическое или физическое лицо)</a:t>
            </a:r>
          </a:p>
          <a:p>
            <a:pPr marL="342900" lvl="0" indent="-342900">
              <a:spcBef>
                <a:spcPts val="5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Проверить условия сопровождения продуктов клиента</a:t>
            </a:r>
          </a:p>
          <a:p>
            <a:pPr marL="342900" lvl="0" indent="-342900">
              <a:spcBef>
                <a:spcPts val="5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</a:t>
            </a: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аключить с клиентом договор 1С:КП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286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E1C9DB7-B0D1-37A3-DA60-2C11E7FEC96B}"/>
              </a:ext>
            </a:extLst>
          </p:cNvPr>
          <p:cNvSpPr/>
          <p:nvPr/>
        </p:nvSpPr>
        <p:spPr>
          <a:xfrm>
            <a:off x="688228" y="675507"/>
            <a:ext cx="2573718" cy="3344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Виды договоров 1С:КП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0B3BF9D-4DC1-D2FA-4A4F-39FB03536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212" y="437146"/>
            <a:ext cx="1389618" cy="11455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6C615E-A9BD-48F8-AAE2-77B25B3DD671}"/>
              </a:ext>
            </a:extLst>
          </p:cNvPr>
          <p:cNvSpPr txBox="1"/>
          <p:nvPr/>
        </p:nvSpPr>
        <p:spPr>
          <a:xfrm>
            <a:off x="656241" y="1105631"/>
            <a:ext cx="52114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/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Все договоры КП делятся на группы: 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98736B95-474E-4E44-87D6-13B178C3FD3F}"/>
              </a:ext>
            </a:extLst>
          </p:cNvPr>
          <p:cNvSpPr/>
          <p:nvPr/>
        </p:nvSpPr>
        <p:spPr>
          <a:xfrm>
            <a:off x="656240" y="2253473"/>
            <a:ext cx="4692664" cy="1096047"/>
          </a:xfrm>
          <a:prstGeom prst="roundRect">
            <a:avLst>
              <a:gd name="adj" fmla="val 1651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Стандартные тарифы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– д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ля большинства организаций. Основной набор сервисов и консультаций.</a:t>
            </a:r>
            <a:endParaRPr lang="ru-RU" b="1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7DB00459-9943-47E1-B65E-8B6499A36F90}"/>
              </a:ext>
            </a:extLst>
          </p:cNvPr>
          <p:cNvSpPr/>
          <p:nvPr/>
        </p:nvSpPr>
        <p:spPr>
          <a:xfrm>
            <a:off x="656241" y="3515182"/>
            <a:ext cx="4692664" cy="1096047"/>
          </a:xfrm>
          <a:prstGeom prst="roundRect">
            <a:avLst>
              <a:gd name="adj" fmla="val 1651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Отраслевые решения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–</a:t>
            </a:r>
            <a:r>
              <a:rPr lang="ru-RU" b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д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ля специфических сфер (торговля, строительство, медицина). Учитывают отраслевые особенности.</a:t>
            </a:r>
            <a:endParaRPr lang="ru-RU" b="1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3054989A-4F67-4E27-BC5A-183D2580914F}"/>
              </a:ext>
            </a:extLst>
          </p:cNvPr>
          <p:cNvSpPr/>
          <p:nvPr/>
        </p:nvSpPr>
        <p:spPr>
          <a:xfrm>
            <a:off x="656241" y="4785483"/>
            <a:ext cx="4692663" cy="1455444"/>
          </a:xfrm>
          <a:prstGeom prst="roundRect">
            <a:avLst>
              <a:gd name="adj" fmla="val 1651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b="1" dirty="0">
                <a:solidFill>
                  <a:srgbClr val="0F1115"/>
                </a:solidFill>
                <a:latin typeface="quote-cjk-patch"/>
              </a:rPr>
              <a:t>Специализированные договоры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 – д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ля нестандартных задач: централизованный учёт (ЦГУ), филиальные сети (ДУО), обучение (ВУЗ), стартовые пакеты.</a:t>
            </a:r>
            <a:endParaRPr lang="ru-RU" b="1" dirty="0">
              <a:solidFill>
                <a:srgbClr val="0F1115"/>
              </a:solidFill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267691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6">
            <a:extLst>
              <a:ext uri="{FF2B5EF4-FFF2-40B4-BE49-F238E27FC236}">
                <a16:creationId xmlns:a16="http://schemas.microsoft.com/office/drawing/2014/main" id="{495CB814-ADB0-E1CE-B9AD-A17B0B1CC71D}"/>
              </a:ext>
            </a:extLst>
          </p:cNvPr>
          <p:cNvSpPr txBox="1">
            <a:spLocks/>
          </p:cNvSpPr>
          <p:nvPr/>
        </p:nvSpPr>
        <p:spPr>
          <a:xfrm>
            <a:off x="685800" y="1339920"/>
            <a:ext cx="4324349" cy="9937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080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solidFill>
                  <a:schemeClr val="accent2"/>
                </a:solidFill>
              </a:rPr>
              <a:t>Стандартные договоры –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b="1" dirty="0"/>
              <a:t>подходят для большинства организаций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45CE773-A555-F036-32B5-710CAE6B9BB5}"/>
              </a:ext>
            </a:extLst>
          </p:cNvPr>
          <p:cNvSpPr/>
          <p:nvPr/>
        </p:nvSpPr>
        <p:spPr>
          <a:xfrm>
            <a:off x="688228" y="675507"/>
            <a:ext cx="2547341" cy="334409"/>
          </a:xfrm>
          <a:prstGeom prst="roundRect">
            <a:avLst>
              <a:gd name="adj" fmla="val 50000"/>
            </a:avLst>
          </a:prstGeom>
          <a:solidFill>
            <a:srgbClr val="F2F1F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Виды договоров 1С:КП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CB30A6-B30F-9F70-4EC5-E110E6144005}"/>
              </a:ext>
            </a:extLst>
          </p:cNvPr>
          <p:cNvSpPr txBox="1"/>
          <p:nvPr/>
        </p:nvSpPr>
        <p:spPr>
          <a:xfrm>
            <a:off x="685798" y="2849609"/>
            <a:ext cx="652536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КП ПРОФ – полное сопровождение</a:t>
            </a:r>
            <a:r>
              <a:rPr lang="ru-RU" u="sng" dirty="0">
                <a:latin typeface="Verdana" panose="020B0604030504040204" pitchFamily="34" charset="0"/>
                <a:ea typeface="Verdana" panose="020B0604030504040204" pitchFamily="34" charset="0"/>
              </a:rPr>
              <a:t> бизнеса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ru-RU" i="1" dirty="0">
                <a:latin typeface="Verdana" panose="020B0604030504040204" pitchFamily="34" charset="0"/>
                <a:ea typeface="Verdana" panose="020B0604030504040204" pitchFamily="34" charset="0"/>
              </a:rPr>
              <a:t>программного продукта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) и пользователей 1С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КП Базовый (Техно) – ограниченное сопровождение, техническое сопровождение и обновление программ 1С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КП ГУ ПРОФ – полное сопровождение государственных и бюджетных учреждений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КП ГУ – ограниченное сопровождение государственных и бюджетных учреждений</a:t>
            </a:r>
          </a:p>
        </p:txBody>
      </p:sp>
    </p:spTree>
    <p:extLst>
      <p:ext uri="{BB962C8B-B14F-4D97-AF65-F5344CB8AC3E}">
        <p14:creationId xmlns:p14="http://schemas.microsoft.com/office/powerpoint/2010/main" val="1716410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6FE04-428E-7F9C-A89F-C8443EAF3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193E918-449A-0C6B-F5D8-1894BCBB9995}"/>
              </a:ext>
            </a:extLst>
          </p:cNvPr>
          <p:cNvSpPr/>
          <p:nvPr/>
        </p:nvSpPr>
        <p:spPr>
          <a:xfrm>
            <a:off x="688228" y="675507"/>
            <a:ext cx="2547341" cy="334409"/>
          </a:xfrm>
          <a:prstGeom prst="roundRect">
            <a:avLst>
              <a:gd name="adj" fmla="val 50000"/>
            </a:avLst>
          </a:prstGeom>
          <a:solidFill>
            <a:srgbClr val="E9F5F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Виды договоров 1С:КП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A1F793-5BDF-B7C1-D003-9543C46F24B7}"/>
              </a:ext>
            </a:extLst>
          </p:cNvPr>
          <p:cNvSpPr txBox="1"/>
          <p:nvPr/>
        </p:nvSpPr>
        <p:spPr>
          <a:xfrm>
            <a:off x="685800" y="2792588"/>
            <a:ext cx="66198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КП Ритейл / Ритейл ПРОФ / Старт ритейл – автоматизация розничной торговли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КП Строительство - для строительных, монтажных организаций, предприятий ЖКХ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КП Медицина – для медицинских организаций и учреждений</a:t>
            </a:r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1724DA98-5C6A-470A-9317-F0ECE481BE70}"/>
              </a:ext>
            </a:extLst>
          </p:cNvPr>
          <p:cNvSpPr txBox="1">
            <a:spLocks/>
          </p:cNvSpPr>
          <p:nvPr/>
        </p:nvSpPr>
        <p:spPr>
          <a:xfrm>
            <a:off x="685800" y="1339920"/>
            <a:ext cx="4396154" cy="9937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080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solidFill>
                  <a:schemeClr val="accent2"/>
                </a:solidFill>
              </a:rPr>
              <a:t>Отраслевые договоры –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b="1" dirty="0"/>
              <a:t>подходят для определенных сфер бизнеса</a:t>
            </a:r>
          </a:p>
        </p:txBody>
      </p:sp>
    </p:spTree>
    <p:extLst>
      <p:ext uri="{BB962C8B-B14F-4D97-AF65-F5344CB8AC3E}">
        <p14:creationId xmlns:p14="http://schemas.microsoft.com/office/powerpoint/2010/main" val="3212683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E9CD5-E959-209C-9E4D-9071FE62A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FD13DD3-958A-FEA6-4E16-D88486FC6F27}"/>
              </a:ext>
            </a:extLst>
          </p:cNvPr>
          <p:cNvSpPr/>
          <p:nvPr/>
        </p:nvSpPr>
        <p:spPr>
          <a:xfrm>
            <a:off x="688228" y="675507"/>
            <a:ext cx="2600095" cy="334409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Виды договоров 1С:КП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1B3101FA-DE98-4E89-A0AF-CB225501C132}"/>
              </a:ext>
            </a:extLst>
          </p:cNvPr>
          <p:cNvSpPr txBox="1">
            <a:spLocks/>
          </p:cNvSpPr>
          <p:nvPr/>
        </p:nvSpPr>
        <p:spPr>
          <a:xfrm>
            <a:off x="685800" y="1339920"/>
            <a:ext cx="4396154" cy="9937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080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solidFill>
                  <a:schemeClr val="accent2"/>
                </a:solidFill>
              </a:rPr>
              <a:t>Специализированные договоры –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b="1" dirty="0"/>
              <a:t>подходят для особых задач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E6B42F-964D-4C27-969A-647535983A83}"/>
              </a:ext>
            </a:extLst>
          </p:cNvPr>
          <p:cNvSpPr txBox="1"/>
          <p:nvPr/>
        </p:nvSpPr>
        <p:spPr>
          <a:xfrm>
            <a:off x="685800" y="2663630"/>
            <a:ext cx="66198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КП ПРОФ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ГенДир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– спец тариф с Бизнес обучением внутри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КП ЦГУ – для государственных учреждений, которые обслуживаются в одной централизованной системе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КП ДУО – для обслуживания дополнительных одноимённых программных продуктов в одной организации</a:t>
            </a:r>
          </a:p>
        </p:txBody>
      </p:sp>
    </p:spTree>
    <p:extLst>
      <p:ext uri="{BB962C8B-B14F-4D97-AF65-F5344CB8AC3E}">
        <p14:creationId xmlns:p14="http://schemas.microsoft.com/office/powerpoint/2010/main" val="2098727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E9CD5-E959-209C-9E4D-9071FE62A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6">
            <a:extLst>
              <a:ext uri="{FF2B5EF4-FFF2-40B4-BE49-F238E27FC236}">
                <a16:creationId xmlns:a16="http://schemas.microsoft.com/office/drawing/2014/main" id="{1B3101FA-DE98-4E89-A0AF-CB225501C132}"/>
              </a:ext>
            </a:extLst>
          </p:cNvPr>
          <p:cNvSpPr txBox="1">
            <a:spLocks/>
          </p:cNvSpPr>
          <p:nvPr/>
        </p:nvSpPr>
        <p:spPr>
          <a:xfrm>
            <a:off x="685800" y="1339920"/>
            <a:ext cx="4396154" cy="9937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080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solidFill>
                  <a:schemeClr val="accent2"/>
                </a:solidFill>
              </a:rPr>
              <a:t>Специализированные договоры –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b="1" dirty="0"/>
              <a:t>подходят для особых задач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E6B42F-964D-4C27-969A-647535983A83}"/>
              </a:ext>
            </a:extLst>
          </p:cNvPr>
          <p:cNvSpPr txBox="1"/>
          <p:nvPr/>
        </p:nvSpPr>
        <p:spPr>
          <a:xfrm>
            <a:off x="685800" y="2663630"/>
            <a:ext cx="66198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КП ВУЗ – для учебных заведений (ВУЗов, колледжей, техникумов)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СтартЭДО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– для компаний, которые планируют перейти на электронный документооборот с контрагентами и ФНС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1С:КП для ГРМ – тариф для пользователей 1С:ГРМ, включающий электронную отчетность и базовые инструменты проверки контрагентов.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4512C61-7783-4915-8F40-7C80EC46A0CA}"/>
              </a:ext>
            </a:extLst>
          </p:cNvPr>
          <p:cNvSpPr/>
          <p:nvPr/>
        </p:nvSpPr>
        <p:spPr>
          <a:xfrm>
            <a:off x="688228" y="675507"/>
            <a:ext cx="2600095" cy="334409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Виды договоров 1С:КП</a:t>
            </a:r>
          </a:p>
        </p:txBody>
      </p:sp>
    </p:spTree>
    <p:extLst>
      <p:ext uri="{BB962C8B-B14F-4D97-AF65-F5344CB8AC3E}">
        <p14:creationId xmlns:p14="http://schemas.microsoft.com/office/powerpoint/2010/main" val="633381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0038D-CDDB-4F32-1833-7E983FBE7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33E3D9D-25AD-8E99-E957-833FD1765DAA}"/>
              </a:ext>
            </a:extLst>
          </p:cNvPr>
          <p:cNvSpPr/>
          <p:nvPr/>
        </p:nvSpPr>
        <p:spPr>
          <a:xfrm>
            <a:off x="688228" y="675507"/>
            <a:ext cx="4261841" cy="336185"/>
          </a:xfrm>
          <a:prstGeom prst="roundRect">
            <a:avLst>
              <a:gd name="adj" fmla="val 50000"/>
            </a:avLst>
          </a:prstGeom>
          <a:solidFill>
            <a:srgbClr val="E9F5F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Порядок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действий при подборе договора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59FDE7-14F5-C7FF-7EFD-4A4CFDBF80B0}"/>
              </a:ext>
            </a:extLst>
          </p:cNvPr>
          <p:cNvSpPr txBox="1"/>
          <p:nvPr/>
        </p:nvSpPr>
        <p:spPr>
          <a:xfrm>
            <a:off x="738572" y="2662286"/>
            <a:ext cx="5410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Шаг 1: Аудит текущего состояния продуктов 1С у клиента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15869A6-F95E-613C-3D7D-7E5F98028E00}"/>
              </a:ext>
            </a:extLst>
          </p:cNvPr>
          <p:cNvSpPr/>
          <p:nvPr/>
        </p:nvSpPr>
        <p:spPr>
          <a:xfrm>
            <a:off x="685800" y="3247061"/>
            <a:ext cx="5986078" cy="793613"/>
          </a:xfrm>
          <a:prstGeom prst="roundRect">
            <a:avLst>
              <a:gd name="adj" fmla="val 16518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Прежде чем предлагать договор, нужно понять, что именно нужно поддерживать (какие продукты 1С уже куплены и активны)</a:t>
            </a:r>
          </a:p>
        </p:txBody>
      </p:sp>
      <p:sp>
        <p:nvSpPr>
          <p:cNvPr id="4" name="Объект 7">
            <a:extLst>
              <a:ext uri="{FF2B5EF4-FFF2-40B4-BE49-F238E27FC236}">
                <a16:creationId xmlns:a16="http://schemas.microsoft.com/office/drawing/2014/main" id="{C10C2DC0-2104-6780-AF0D-95A3B7D6ED14}"/>
              </a:ext>
            </a:extLst>
          </p:cNvPr>
          <p:cNvSpPr txBox="1">
            <a:spLocks/>
          </p:cNvSpPr>
          <p:nvPr/>
        </p:nvSpPr>
        <p:spPr>
          <a:xfrm>
            <a:off x="624254" y="1314598"/>
            <a:ext cx="6648450" cy="1366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000" indent="0">
              <a:lnSpc>
                <a:spcPct val="100000"/>
              </a:lnSpc>
              <a:buNone/>
            </a:pPr>
            <a:r>
              <a:rPr lang="ru-RU" sz="2000" b="1" dirty="0">
                <a:solidFill>
                  <a:schemeClr val="accent2"/>
                </a:solidFill>
              </a:rPr>
              <a:t>На этапе определения договора КП для клиента </a:t>
            </a:r>
            <a:br>
              <a:rPr lang="ru-RU" sz="1600" dirty="0"/>
            </a:br>
            <a:r>
              <a:rPr lang="ru-RU" sz="1600" dirty="0"/>
              <a:t>необходимо провести комплексный анализ его текущей ситуации, потребностей и бюджета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68B1C8-9496-4C29-9C8D-14A6EFC47287}"/>
              </a:ext>
            </a:extLst>
          </p:cNvPr>
          <p:cNvSpPr txBox="1"/>
          <p:nvPr/>
        </p:nvSpPr>
        <p:spPr>
          <a:xfrm>
            <a:off x="738572" y="4361945"/>
            <a:ext cx="5410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Шаг 2: Анализ потребностей бизнеса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1D64C385-FA7E-46F5-A2EF-E6369844505D}"/>
              </a:ext>
            </a:extLst>
          </p:cNvPr>
          <p:cNvSpPr/>
          <p:nvPr/>
        </p:nvSpPr>
        <p:spPr>
          <a:xfrm>
            <a:off x="685800" y="4700499"/>
            <a:ext cx="5986078" cy="1008933"/>
          </a:xfrm>
          <a:prstGeom prst="roundRect">
            <a:avLst>
              <a:gd name="adj" fmla="val 16518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Уточнить у клиента какие задачи решает ПО (бух учет, производство и т.д.), есть ли потребность в консультациях техподдержки и какие планы по масштабированию</a:t>
            </a:r>
          </a:p>
        </p:txBody>
      </p:sp>
    </p:spTree>
    <p:extLst>
      <p:ext uri="{BB962C8B-B14F-4D97-AF65-F5344CB8AC3E}">
        <p14:creationId xmlns:p14="http://schemas.microsoft.com/office/powerpoint/2010/main" val="242519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0038D-CDDB-4F32-1833-7E983FBE7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2659FDE7-14F5-C7FF-7EFD-4A4CFDBF80B0}"/>
              </a:ext>
            </a:extLst>
          </p:cNvPr>
          <p:cNvSpPr txBox="1"/>
          <p:nvPr/>
        </p:nvSpPr>
        <p:spPr>
          <a:xfrm>
            <a:off x="685800" y="1642553"/>
            <a:ext cx="5410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Шаг 3: Подбор типа договора КП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15869A6-F95E-613C-3D7D-7E5F98028E00}"/>
              </a:ext>
            </a:extLst>
          </p:cNvPr>
          <p:cNvSpPr/>
          <p:nvPr/>
        </p:nvSpPr>
        <p:spPr>
          <a:xfrm>
            <a:off x="685800" y="2087432"/>
            <a:ext cx="5986078" cy="1008933"/>
          </a:xfrm>
          <a:prstGeom prst="roundRect">
            <a:avLst>
              <a:gd name="adj" fmla="val 16518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 основе ответов выберите договор (стандартный договор КП с типовыми конфигурациями, договор КП для отраслевых решений или специализированный договор)</a:t>
            </a:r>
            <a:endParaRPr lang="ru-RU" sz="1600" b="1" i="0" dirty="0">
              <a:solidFill>
                <a:srgbClr val="292524"/>
              </a:solidFill>
              <a:effectLst/>
              <a:latin typeface="Ubuntu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68B1C8-9496-4C29-9C8D-14A6EFC47287}"/>
              </a:ext>
            </a:extLst>
          </p:cNvPr>
          <p:cNvSpPr txBox="1"/>
          <p:nvPr/>
        </p:nvSpPr>
        <p:spPr>
          <a:xfrm>
            <a:off x="685800" y="3594650"/>
            <a:ext cx="5410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Шаг 4: Расчет стоимости и формирование предложения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1D64C385-FA7E-46F5-A2EF-E6369844505D}"/>
              </a:ext>
            </a:extLst>
          </p:cNvPr>
          <p:cNvSpPr/>
          <p:nvPr/>
        </p:nvSpPr>
        <p:spPr>
          <a:xfrm>
            <a:off x="685800" y="4206514"/>
            <a:ext cx="5986078" cy="1008933"/>
          </a:xfrm>
          <a:prstGeom prst="roundRect">
            <a:avLst>
              <a:gd name="adj" fmla="val 16518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Используйте прайс-лист, учитывайте скидки/акции, презентуйте предложение, при необходимости отработайте возражение и заключите договор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AE92AA7-4A38-4146-8BAA-2E45D33F4636}"/>
              </a:ext>
            </a:extLst>
          </p:cNvPr>
          <p:cNvSpPr/>
          <p:nvPr/>
        </p:nvSpPr>
        <p:spPr>
          <a:xfrm>
            <a:off x="688228" y="675507"/>
            <a:ext cx="4261841" cy="336185"/>
          </a:xfrm>
          <a:prstGeom prst="roundRect">
            <a:avLst>
              <a:gd name="adj" fmla="val 50000"/>
            </a:avLst>
          </a:prstGeom>
          <a:solidFill>
            <a:srgbClr val="E9F5F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Порядок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действий при подборе договора</a:t>
            </a:r>
          </a:p>
        </p:txBody>
      </p:sp>
    </p:spTree>
    <p:extLst>
      <p:ext uri="{BB962C8B-B14F-4D97-AF65-F5344CB8AC3E}">
        <p14:creationId xmlns:p14="http://schemas.microsoft.com/office/powerpoint/2010/main" val="946435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7">
            <a:extLst>
              <a:ext uri="{FF2B5EF4-FFF2-40B4-BE49-F238E27FC236}">
                <a16:creationId xmlns:a16="http://schemas.microsoft.com/office/drawing/2014/main" id="{0B8FAAF9-A964-EA1A-352A-6C43B8654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28" y="1729037"/>
            <a:ext cx="6543942" cy="1325837"/>
          </a:xfrm>
        </p:spPr>
        <p:txBody>
          <a:bodyPr>
            <a:normAutofit fontScale="92500"/>
          </a:bodyPr>
          <a:lstStyle/>
          <a:p>
            <a:pPr marL="108000" indent="0">
              <a:lnSpc>
                <a:spcPct val="100000"/>
              </a:lnSpc>
              <a:buNone/>
            </a:pP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—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/>
              <a:t>это</a:t>
            </a:r>
            <a:r>
              <a:rPr lang="ru-RU" sz="1600" b="0" i="0" dirty="0">
                <a:solidFill>
                  <a:srgbClr val="292524"/>
                </a:solidFill>
                <a:effectLst/>
                <a:latin typeface="Ubuntu"/>
              </a:rPr>
              <a:t> </a:t>
            </a:r>
            <a:r>
              <a:rPr lang="ru-RU" sz="1700" dirty="0"/>
              <a:t>инструмент обеспечения стабильности, легальности и эффективности бизнеса, а не просто обновление.</a:t>
            </a:r>
          </a:p>
          <a:p>
            <a:pPr marL="108000" indent="0">
              <a:lnSpc>
                <a:spcPct val="100000"/>
              </a:lnSpc>
              <a:buNone/>
            </a:pPr>
            <a:r>
              <a:rPr lang="ru-RU" sz="1700" dirty="0"/>
              <a:t>Ценность договора различается для разных ролей в компании.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C9DC548-9EDE-ADA3-F895-68C884DE3119}"/>
              </a:ext>
            </a:extLst>
          </p:cNvPr>
          <p:cNvSpPr/>
          <p:nvPr/>
        </p:nvSpPr>
        <p:spPr>
          <a:xfrm>
            <a:off x="688228" y="675507"/>
            <a:ext cx="2380287" cy="336185"/>
          </a:xfrm>
          <a:prstGeom prst="roundRect">
            <a:avLst>
              <a:gd name="adj" fmla="val 50000"/>
            </a:avLst>
          </a:prstGeom>
          <a:solidFill>
            <a:srgbClr val="F0F5F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Польза КП по ролям</a:t>
            </a:r>
          </a:p>
        </p:txBody>
      </p:sp>
      <p:sp>
        <p:nvSpPr>
          <p:cNvPr id="10" name="Заголовок 2">
            <a:extLst>
              <a:ext uri="{FF2B5EF4-FFF2-40B4-BE49-F238E27FC236}">
                <a16:creationId xmlns:a16="http://schemas.microsoft.com/office/drawing/2014/main" id="{041E64E5-FD91-A95B-8DF5-D70A7CF6B47B}"/>
              </a:ext>
            </a:extLst>
          </p:cNvPr>
          <p:cNvSpPr txBox="1">
            <a:spLocks/>
          </p:cNvSpPr>
          <p:nvPr/>
        </p:nvSpPr>
        <p:spPr>
          <a:xfrm>
            <a:off x="738572" y="1097214"/>
            <a:ext cx="6748077" cy="5463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/>
              <a:t>Комплект поддержки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F18AA4F-FB9B-B9E6-6678-22BCBD787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212" y="437146"/>
            <a:ext cx="1389618" cy="1145539"/>
          </a:xfrm>
          <a:prstGeom prst="rect">
            <a:avLst/>
          </a:prstGeom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3C62266-848B-439C-BD7E-C260A0A2B065}"/>
              </a:ext>
            </a:extLst>
          </p:cNvPr>
          <p:cNvSpPr/>
          <p:nvPr/>
        </p:nvSpPr>
        <p:spPr>
          <a:xfrm>
            <a:off x="738572" y="5149785"/>
            <a:ext cx="6493598" cy="741061"/>
          </a:xfrm>
          <a:prstGeom prst="roundRect">
            <a:avLst>
              <a:gd name="adj" fmla="val 6032"/>
            </a:avLst>
          </a:prstGeom>
          <a:solidFill>
            <a:srgbClr val="F0F5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Продать договор = говорить на языке ценностей каждого</a:t>
            </a:r>
          </a:p>
        </p:txBody>
      </p:sp>
      <p:sp>
        <p:nvSpPr>
          <p:cNvPr id="19" name="Объект 7">
            <a:extLst>
              <a:ext uri="{FF2B5EF4-FFF2-40B4-BE49-F238E27FC236}">
                <a16:creationId xmlns:a16="http://schemas.microsoft.com/office/drawing/2014/main" id="{E0B9D03D-7A7F-4350-B1FD-2243DD9C2D9E}"/>
              </a:ext>
            </a:extLst>
          </p:cNvPr>
          <p:cNvSpPr txBox="1">
            <a:spLocks/>
          </p:cNvSpPr>
          <p:nvPr/>
        </p:nvSpPr>
        <p:spPr>
          <a:xfrm>
            <a:off x="688228" y="3348904"/>
            <a:ext cx="6543942" cy="150685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ru-RU" sz="2100" dirty="0"/>
              <a:t>Каждая</a:t>
            </a:r>
            <a:r>
              <a:rPr lang="ru-RU" sz="1600" dirty="0"/>
              <a:t> </a:t>
            </a:r>
            <a:r>
              <a:rPr lang="ru-RU" sz="2100" dirty="0"/>
              <a:t>роль в компании ищет в нём своё:</a:t>
            </a:r>
          </a:p>
          <a:p>
            <a:pPr algn="l"/>
            <a:endParaRPr lang="ru-RU" sz="21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100" dirty="0"/>
              <a:t>бухгалтер – законность и учёт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100" dirty="0"/>
              <a:t>руководитель – контроль и безопасность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2100" dirty="0"/>
              <a:t>IT – автоматизацию и защиту данных</a:t>
            </a:r>
          </a:p>
        </p:txBody>
      </p:sp>
    </p:spTree>
    <p:extLst>
      <p:ext uri="{BB962C8B-B14F-4D97-AF65-F5344CB8AC3E}">
        <p14:creationId xmlns:p14="http://schemas.microsoft.com/office/powerpoint/2010/main" val="2206278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297690" name="Прямоугольник: скругленные углы 7"/>
          <p:cNvSpPr/>
          <p:nvPr/>
        </p:nvSpPr>
        <p:spPr bwMode="auto">
          <a:xfrm>
            <a:off x="7738532" y="464820"/>
            <a:ext cx="3986743" cy="5935979"/>
          </a:xfrm>
          <a:prstGeom prst="roundRect">
            <a:avLst>
              <a:gd name="adj" fmla="val 5517"/>
            </a:avLst>
          </a:prstGeom>
          <a:noFill/>
          <a:ln w="9525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432659237" name="Рисунок 10" descr="Изображение выглядит как черный, темнота, снимок экрана, Графика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4263" y="1701739"/>
            <a:ext cx="647700" cy="5251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42B3E9-A41D-42C5-B0E2-D8D58CD3D70F}"/>
              </a:ext>
            </a:extLst>
          </p:cNvPr>
          <p:cNvSpPr txBox="1"/>
          <p:nvPr/>
        </p:nvSpPr>
        <p:spPr>
          <a:xfrm>
            <a:off x="685800" y="971245"/>
            <a:ext cx="5410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главного бухгалтера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55EC89A-EE86-4F57-B2C9-8CEE2026B334}"/>
              </a:ext>
            </a:extLst>
          </p:cNvPr>
          <p:cNvSpPr/>
          <p:nvPr/>
        </p:nvSpPr>
        <p:spPr>
          <a:xfrm>
            <a:off x="685801" y="464820"/>
            <a:ext cx="2268414" cy="336185"/>
          </a:xfrm>
          <a:prstGeom prst="roundRect">
            <a:avLst>
              <a:gd name="adj" fmla="val 50000"/>
            </a:avLst>
          </a:prstGeom>
          <a:solidFill>
            <a:srgbClr val="F0F5F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Польза КП по ролям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78F940E-0086-4128-845C-B6F99B4D1FD3}"/>
              </a:ext>
            </a:extLst>
          </p:cNvPr>
          <p:cNvSpPr/>
          <p:nvPr/>
        </p:nvSpPr>
        <p:spPr>
          <a:xfrm>
            <a:off x="1421963" y="1637672"/>
            <a:ext cx="5662228" cy="642821"/>
          </a:xfrm>
          <a:prstGeom prst="roundRect">
            <a:avLst>
              <a:gd name="adj" fmla="val 16518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Главная ценность: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 безопасность от штрафов и экономия времени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F9F5DBD3-4B14-4BF1-9050-069AD49373AD}"/>
              </a:ext>
            </a:extLst>
          </p:cNvPr>
          <p:cNvSpPr/>
          <p:nvPr/>
        </p:nvSpPr>
        <p:spPr bwMode="auto">
          <a:xfrm>
            <a:off x="466725" y="2406107"/>
            <a:ext cx="6163408" cy="4176346"/>
          </a:xfrm>
          <a:prstGeom prst="roundRect">
            <a:avLst>
              <a:gd name="adj" fmla="val 16518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1С:КП предлагает решение:</a:t>
            </a:r>
          </a:p>
          <a:p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Актуальность форм отчетности</a:t>
            </a:r>
          </a:p>
          <a:p>
            <a:r>
              <a:rPr lang="ru-RU" sz="16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Польза: 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бухгалтер не тратит часы на ручную переделку макетов или поиск инструкций. Он формирует отчет «одной кнопкой» с гарантией правильности структуры.</a:t>
            </a:r>
            <a:br>
              <a:rPr lang="ru-RU" sz="16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1600" i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Автоматизацию расчетов</a:t>
            </a:r>
          </a:p>
          <a:p>
            <a:r>
              <a:rPr lang="ru-RU" sz="16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Польза: 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исключение человеческих ошибок при расчетах зарплаты и налогов. Снижение риска доначислений от налоговой инспекции.</a:t>
            </a:r>
          </a:p>
          <a:p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Поддержку типовых сценариев</a:t>
            </a:r>
          </a:p>
          <a:p>
            <a:r>
              <a:rPr lang="ru-RU" sz="16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Польза: 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быстрое решение рабочих вопросов без привлечения дорогих внешних консультантов.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E9CD5-E959-209C-9E4D-9071FE62A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FD13DD3-958A-FEA6-4E16-D88486FC6F27}"/>
              </a:ext>
            </a:extLst>
          </p:cNvPr>
          <p:cNvSpPr/>
          <p:nvPr/>
        </p:nvSpPr>
        <p:spPr>
          <a:xfrm>
            <a:off x="685801" y="464584"/>
            <a:ext cx="2277208" cy="334409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Польза КП по ролям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F11BE8-F2A1-4CF8-A334-FE61C588FBA0}"/>
              </a:ext>
            </a:extLst>
          </p:cNvPr>
          <p:cNvSpPr txBox="1"/>
          <p:nvPr/>
        </p:nvSpPr>
        <p:spPr bwMode="auto">
          <a:xfrm>
            <a:off x="685800" y="971245"/>
            <a:ext cx="5410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руководителя бизнеса</a:t>
            </a:r>
          </a:p>
        </p:txBody>
      </p:sp>
      <p:pic>
        <p:nvPicPr>
          <p:cNvPr id="6" name="Рисунок 10" descr="Изображение выглядит как черный, темнота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79F8E97-F59E-4963-AD53-AC782DB7CF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774263" y="1759333"/>
            <a:ext cx="647700" cy="525112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55AC717-EAF9-45E1-893C-A87A805DABE6}"/>
              </a:ext>
            </a:extLst>
          </p:cNvPr>
          <p:cNvSpPr/>
          <p:nvPr/>
        </p:nvSpPr>
        <p:spPr bwMode="auto">
          <a:xfrm>
            <a:off x="1421963" y="1637672"/>
            <a:ext cx="5515168" cy="768435"/>
          </a:xfrm>
          <a:prstGeom prst="roundRect">
            <a:avLst>
              <a:gd name="adj" fmla="val 16518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Главная ценность: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 контроль над рисками и издержками + непрерывность процессов и законность операций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3FB637F-E908-444A-92A7-4B281E7F9AF0}"/>
              </a:ext>
            </a:extLst>
          </p:cNvPr>
          <p:cNvSpPr/>
          <p:nvPr/>
        </p:nvSpPr>
        <p:spPr bwMode="auto">
          <a:xfrm>
            <a:off x="466725" y="2406107"/>
            <a:ext cx="6936397" cy="4176346"/>
          </a:xfrm>
          <a:prstGeom prst="roundRect">
            <a:avLst>
              <a:gd name="adj" fmla="val 16518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1С:КП предлагает решение:</a:t>
            </a:r>
          </a:p>
          <a:p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Юридическую безопасность</a:t>
            </a:r>
          </a:p>
          <a:p>
            <a:r>
              <a:rPr lang="ru-RU" sz="16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Польза: 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договор КП минимизирует юридические риски компании за счет своевременного обновления данных в программе для учета. Стоимость договора несопоставимо ниже потенциальных штрафов.</a:t>
            </a:r>
            <a:br>
              <a:rPr lang="ru-RU" sz="16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1600" i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Стабильность бизнес-процессов</a:t>
            </a:r>
          </a:p>
          <a:p>
            <a:r>
              <a:rPr lang="ru-RU" sz="16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Польза: 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бизнес работает непрерывно. Сотрудники не простаивают из-за технических проблем.</a:t>
            </a:r>
          </a:p>
          <a:p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Экспертную поддержку </a:t>
            </a:r>
          </a:p>
          <a:p>
            <a:r>
              <a:rPr lang="ru-RU" sz="16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Польза: 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руководитель получает помощь по вопросам, которые обычно решает большой штат специалистов – бухгалтер, юрист, кадровик, айтишник.</a:t>
            </a:r>
          </a:p>
        </p:txBody>
      </p:sp>
    </p:spTree>
    <p:extLst>
      <p:ext uri="{BB962C8B-B14F-4D97-AF65-F5344CB8AC3E}">
        <p14:creationId xmlns:p14="http://schemas.microsoft.com/office/powerpoint/2010/main" val="3678339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167E8-F85A-0C41-1EB8-AB3BAE590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8D097A3-BE2B-5AA1-87D0-A84DFC124E4C}"/>
              </a:ext>
            </a:extLst>
          </p:cNvPr>
          <p:cNvSpPr/>
          <p:nvPr/>
        </p:nvSpPr>
        <p:spPr>
          <a:xfrm>
            <a:off x="685800" y="464583"/>
            <a:ext cx="2274781" cy="334409"/>
          </a:xfrm>
          <a:prstGeom prst="roundRect">
            <a:avLst>
              <a:gd name="adj" fmla="val 50000"/>
            </a:avLst>
          </a:prstGeom>
          <a:solidFill>
            <a:srgbClr val="F2F1F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Польза КП по ролям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40D504-376B-406C-8D19-26A95D499129}"/>
              </a:ext>
            </a:extLst>
          </p:cNvPr>
          <p:cNvSpPr txBox="1"/>
          <p:nvPr/>
        </p:nvSpPr>
        <p:spPr bwMode="auto">
          <a:xfrm>
            <a:off x="685800" y="971245"/>
            <a:ext cx="5410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технического специалиста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6AA16BE-AFB3-4F1F-9F69-41AD541E1D10}"/>
              </a:ext>
            </a:extLst>
          </p:cNvPr>
          <p:cNvSpPr/>
          <p:nvPr/>
        </p:nvSpPr>
        <p:spPr bwMode="auto">
          <a:xfrm>
            <a:off x="1421963" y="1543608"/>
            <a:ext cx="5515168" cy="768435"/>
          </a:xfrm>
          <a:prstGeom prst="roundRect">
            <a:avLst>
              <a:gd name="adj" fmla="val 16518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Главная ценность: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 техническая поддержка, база знаний и снижение нагрузки на разработку.</a:t>
            </a:r>
          </a:p>
        </p:txBody>
      </p:sp>
      <p:pic>
        <p:nvPicPr>
          <p:cNvPr id="21" name="Рисунок 10" descr="Изображение выглядит как черный, темнота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AB69588-F1A7-4C06-A75A-B3E81A89CE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4263" y="1665269"/>
            <a:ext cx="647700" cy="525112"/>
          </a:xfrm>
          <a:prstGeom prst="rect">
            <a:avLst/>
          </a:prstGeom>
        </p:spPr>
      </p:pic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2EF10142-C908-4C37-B0F0-B61FBE7E1ECE}"/>
              </a:ext>
            </a:extLst>
          </p:cNvPr>
          <p:cNvSpPr/>
          <p:nvPr/>
        </p:nvSpPr>
        <p:spPr bwMode="auto">
          <a:xfrm>
            <a:off x="449140" y="2484295"/>
            <a:ext cx="6936397" cy="4176346"/>
          </a:xfrm>
          <a:prstGeom prst="roundRect">
            <a:avLst>
              <a:gd name="adj" fmla="val 16518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1С:КП предлагает решение:</a:t>
            </a:r>
          </a:p>
          <a:p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Доступ к службе технической поддержки</a:t>
            </a:r>
          </a:p>
          <a:p>
            <a:r>
              <a:rPr lang="ru-RU" sz="16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Польза: 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получение официального ответа от экспертов и разработчиков продукта. Это быстрее и надежнее, чем «гуглить форум»</a:t>
            </a:r>
            <a:br>
              <a:rPr lang="ru-RU" sz="16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1600" i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База знаний и методические материалы</a:t>
            </a:r>
          </a:p>
          <a:p>
            <a:r>
              <a:rPr lang="ru-RU" sz="16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Польза: 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экономия времени на поиск решений типовых задач. Возможность быстро обучаться новому функционалу.</a:t>
            </a:r>
          </a:p>
          <a:p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Обновления платформы и безопасности</a:t>
            </a:r>
          </a:p>
          <a:p>
            <a:endParaRPr lang="ru-RU" sz="16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Снижение объема доработок</a:t>
            </a:r>
          </a:p>
          <a:p>
            <a:r>
              <a:rPr lang="ru-RU" sz="16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Польза: 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м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ногие задачи, которые раньше требовали программирования, реализованы в типовых обновлениях и сервисах.</a:t>
            </a:r>
          </a:p>
        </p:txBody>
      </p:sp>
    </p:spTree>
    <p:extLst>
      <p:ext uri="{BB962C8B-B14F-4D97-AF65-F5344CB8AC3E}">
        <p14:creationId xmlns:p14="http://schemas.microsoft.com/office/powerpoint/2010/main" val="2824696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4114344A-0EBA-1CCB-C1A6-AF59A5B5E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214935"/>
            <a:ext cx="6629400" cy="4302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Что разобрали</a:t>
            </a:r>
          </a:p>
        </p:txBody>
      </p:sp>
      <p:pic>
        <p:nvPicPr>
          <p:cNvPr id="15" name="Рисунок 14" descr="Изображение выглядит как черный, снимок экрана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3DC3ECC-590C-9C66-0966-39B4E4A3D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597" y="268244"/>
            <a:ext cx="1706953" cy="1559802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D6972AFC-7AAC-3740-BD31-A3B5663DB759}"/>
              </a:ext>
            </a:extLst>
          </p:cNvPr>
          <p:cNvSpPr/>
          <p:nvPr/>
        </p:nvSpPr>
        <p:spPr>
          <a:xfrm>
            <a:off x="685799" y="1828046"/>
            <a:ext cx="6391274" cy="842972"/>
          </a:xfrm>
          <a:prstGeom prst="roundRect">
            <a:avLst>
              <a:gd name="adj" fmla="val 1651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Договор ИТС (КП)</a:t>
            </a:r>
            <a:br>
              <a:rPr lang="ru-RU" sz="16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— это официальный доступ к поддержке, обновлениям и сервисам 1С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9545748-EE32-7E4B-D8AF-7001EBD49E3F}"/>
              </a:ext>
            </a:extLst>
          </p:cNvPr>
          <p:cNvSpPr/>
          <p:nvPr/>
        </p:nvSpPr>
        <p:spPr>
          <a:xfrm>
            <a:off x="685799" y="2790709"/>
            <a:ext cx="6391274" cy="1459593"/>
          </a:xfrm>
          <a:prstGeom prst="roundRect">
            <a:avLst>
              <a:gd name="adj" fmla="val 1651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Виды КП</a:t>
            </a:r>
          </a:p>
          <a:p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Все договоры КП делятся на три группы — стандартные (для большинства организаций), отраслевые (под специфику бизнеса) и специализированные (под особые задачи) 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5D7913D7-49AD-E5ED-F499-F808BA6E6BEF}"/>
              </a:ext>
            </a:extLst>
          </p:cNvPr>
          <p:cNvSpPr/>
          <p:nvPr/>
        </p:nvSpPr>
        <p:spPr>
          <a:xfrm>
            <a:off x="685799" y="4369993"/>
            <a:ext cx="6391274" cy="624514"/>
          </a:xfrm>
          <a:prstGeom prst="roundRect">
            <a:avLst>
              <a:gd name="adj" fmla="val 1651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Порядок действий при подборе договора</a:t>
            </a:r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3AC3FEDF-AF72-0CDA-BF67-30E50C31695D}"/>
              </a:ext>
            </a:extLst>
          </p:cNvPr>
          <p:cNvSpPr/>
          <p:nvPr/>
        </p:nvSpPr>
        <p:spPr>
          <a:xfrm>
            <a:off x="685799" y="5114198"/>
            <a:ext cx="6391274" cy="1161334"/>
          </a:xfrm>
          <a:prstGeom prst="roundRect">
            <a:avLst>
              <a:gd name="adj" fmla="val 1651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Различия ролей</a:t>
            </a:r>
            <a:b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Один</a:t>
            </a:r>
            <a:r>
              <a:rPr lang="ru-RU" sz="16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договор – разная ценность. Бухгалтер ищет законность, руководитель – контроль рисков, IT – надёжный инструмент работы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843BDEE-3E4F-682E-8EC2-81BAE22035B0}"/>
              </a:ext>
            </a:extLst>
          </p:cNvPr>
          <p:cNvSpPr/>
          <p:nvPr/>
        </p:nvSpPr>
        <p:spPr>
          <a:xfrm>
            <a:off x="688228" y="675507"/>
            <a:ext cx="1492997" cy="3344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Итоги урока</a:t>
            </a:r>
          </a:p>
        </p:txBody>
      </p:sp>
    </p:spTree>
    <p:extLst>
      <p:ext uri="{BB962C8B-B14F-4D97-AF65-F5344CB8AC3E}">
        <p14:creationId xmlns:p14="http://schemas.microsoft.com/office/powerpoint/2010/main" val="895218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AA2FC-5FB6-C639-36D2-812E2E6AC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C03984F-24F6-DCDF-81DC-73BB543ED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85876"/>
            <a:ext cx="3025328" cy="86619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D8468-A55F-D7CA-54FB-08AF5B65FC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94840"/>
            <a:ext cx="9829800" cy="2266833"/>
          </a:xfrm>
        </p:spPr>
        <p:txBody>
          <a:bodyPr>
            <a:normAutofit/>
          </a:bodyPr>
          <a:lstStyle/>
          <a:p>
            <a:r>
              <a:rPr lang="ru-RU" sz="5000" b="1" dirty="0"/>
              <a:t>Вперёд к новым </a:t>
            </a:r>
            <a:br>
              <a:rPr lang="ru-RU" sz="5000" b="1" dirty="0"/>
            </a:br>
            <a:r>
              <a:rPr lang="ru-RU" sz="5000" b="1" dirty="0"/>
              <a:t>вершинам!</a:t>
            </a:r>
          </a:p>
        </p:txBody>
      </p:sp>
      <p:pic>
        <p:nvPicPr>
          <p:cNvPr id="10" name="Рисунок 9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16DAE2-2981-32C3-6625-DE1B3E382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317" y="3008994"/>
            <a:ext cx="550896" cy="770598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6CB7893-F5F0-E4E6-B33A-18D8DF664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727" y="2915506"/>
            <a:ext cx="274737" cy="382404"/>
          </a:xfrm>
          <a:prstGeom prst="rect">
            <a:avLst/>
          </a:prstGeom>
        </p:spPr>
      </p:pic>
      <p:sp>
        <p:nvSpPr>
          <p:cNvPr id="7" name="Подзаголовок 4">
            <a:extLst>
              <a:ext uri="{FF2B5EF4-FFF2-40B4-BE49-F238E27FC236}">
                <a16:creationId xmlns:a16="http://schemas.microsoft.com/office/drawing/2014/main" id="{4CFD28DF-C456-BB2D-6F4C-9BFD1552A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274" y="3844672"/>
            <a:ext cx="4011606" cy="86542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ru-RU" b="1" dirty="0"/>
              <a:t>Алина Антипина</a:t>
            </a:r>
            <a:br>
              <a:rPr lang="ru-RU" dirty="0"/>
            </a:br>
            <a:r>
              <a:rPr lang="ru-RU" dirty="0"/>
              <a:t>Ведущий менеджер отдела продаж 1С и ИТС. Коммерция</a:t>
            </a:r>
          </a:p>
        </p:txBody>
      </p:sp>
      <p:pic>
        <p:nvPicPr>
          <p:cNvPr id="13" name="Рисунок 12" descr="Изображение выглядит как щетка, инстр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36DB76-0332-CCC8-6B3E-DB430A6C8F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650" y="2627423"/>
            <a:ext cx="5107087" cy="4058817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BB2938C-DB20-FB99-E2C1-3D433082EBDF}"/>
              </a:ext>
            </a:extLst>
          </p:cNvPr>
          <p:cNvSpPr/>
          <p:nvPr/>
        </p:nvSpPr>
        <p:spPr>
          <a:xfrm>
            <a:off x="781274" y="4710093"/>
            <a:ext cx="2614493" cy="389649"/>
          </a:xfrm>
          <a:prstGeom prst="roundRect">
            <a:avLst>
              <a:gd name="adj" fmla="val 32889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aantipina@forus.ru</a:t>
            </a:r>
            <a:endParaRPr lang="ru-RU" sz="1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8" name="Рисунок 17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F7E57A-0DF0-F077-1B79-9DAE888697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13" y="4758673"/>
            <a:ext cx="2952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2747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Форус">
      <a:dk1>
        <a:srgbClr val="000000"/>
      </a:dk1>
      <a:lt1>
        <a:srgbClr val="FFFFFF"/>
      </a:lt1>
      <a:dk2>
        <a:srgbClr val="385E75"/>
      </a:dk2>
      <a:lt2>
        <a:srgbClr val="FFFFFF"/>
      </a:lt2>
      <a:accent1>
        <a:srgbClr val="FFCF66"/>
      </a:accent1>
      <a:accent2>
        <a:srgbClr val="385E75"/>
      </a:accent2>
      <a:accent3>
        <a:srgbClr val="D64A4A"/>
      </a:accent3>
      <a:accent4>
        <a:srgbClr val="A5A5A5"/>
      </a:accent4>
      <a:accent5>
        <a:srgbClr val="24DB6E"/>
      </a:accent5>
      <a:accent6>
        <a:srgbClr val="610040"/>
      </a:accent6>
      <a:hlink>
        <a:srgbClr val="385E75"/>
      </a:hlink>
      <a:folHlink>
        <a:srgbClr val="BFBFBF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3300</TotalTime>
  <Words>1129</Words>
  <Application>Microsoft Office PowerPoint</Application>
  <PresentationFormat>Широкоэкранный</PresentationFormat>
  <Paragraphs>139</Paragraphs>
  <Slides>17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6" baseType="lpstr">
      <vt:lpstr>Aptos</vt:lpstr>
      <vt:lpstr>Arial</vt:lpstr>
      <vt:lpstr>Arial Nova</vt:lpstr>
      <vt:lpstr>Calibri</vt:lpstr>
      <vt:lpstr>quote-cjk-patch</vt:lpstr>
      <vt:lpstr>Times New Roman</vt:lpstr>
      <vt:lpstr>Ubuntu</vt:lpstr>
      <vt:lpstr>Verdana</vt:lpstr>
      <vt:lpstr>Тема Office</vt:lpstr>
      <vt:lpstr>Договор 1С:ИТС</vt:lpstr>
      <vt:lpstr>Цель и структура  обучения</vt:lpstr>
      <vt:lpstr>Договор 1С:ИТС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Вперёд к новым  вершинам!</vt:lpstr>
    </vt:vector>
  </TitlesOfParts>
  <Company>RePack by SPecialiST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Обзор системы 1С:Предприятие 8</dc:title>
  <dc:creator>Черепанова Виктория</dc:creator>
  <cp:lastModifiedBy>Антипина Алина</cp:lastModifiedBy>
  <cp:revision>107</cp:revision>
  <dcterms:created xsi:type="dcterms:W3CDTF">2025-12-10T10:28:34Z</dcterms:created>
  <dcterms:modified xsi:type="dcterms:W3CDTF">2026-06-11T06:51:07Z</dcterms:modified>
</cp:coreProperties>
</file>